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42"/>
  </p:notesMasterIdLst>
  <p:sldIdLst>
    <p:sldId id="256" r:id="rId2"/>
    <p:sldId id="397" r:id="rId3"/>
    <p:sldId id="372" r:id="rId4"/>
    <p:sldId id="481" r:id="rId5"/>
    <p:sldId id="480" r:id="rId6"/>
    <p:sldId id="482" r:id="rId7"/>
    <p:sldId id="483" r:id="rId8"/>
    <p:sldId id="484" r:id="rId9"/>
    <p:sldId id="485" r:id="rId10"/>
    <p:sldId id="486" r:id="rId11"/>
    <p:sldId id="487" r:id="rId12"/>
    <p:sldId id="273" r:id="rId13"/>
    <p:sldId id="427" r:id="rId14"/>
    <p:sldId id="488" r:id="rId15"/>
    <p:sldId id="489" r:id="rId16"/>
    <p:sldId id="490" r:id="rId17"/>
    <p:sldId id="491" r:id="rId18"/>
    <p:sldId id="492" r:id="rId19"/>
    <p:sldId id="493" r:id="rId20"/>
    <p:sldId id="494" r:id="rId21"/>
    <p:sldId id="495" r:id="rId22"/>
    <p:sldId id="497" r:id="rId23"/>
    <p:sldId id="434" r:id="rId24"/>
    <p:sldId id="499" r:id="rId25"/>
    <p:sldId id="500" r:id="rId26"/>
    <p:sldId id="501" r:id="rId27"/>
    <p:sldId id="502" r:id="rId28"/>
    <p:sldId id="503" r:id="rId29"/>
    <p:sldId id="504" r:id="rId30"/>
    <p:sldId id="436" r:id="rId31"/>
    <p:sldId id="507" r:id="rId32"/>
    <p:sldId id="514" r:id="rId33"/>
    <p:sldId id="508" r:id="rId34"/>
    <p:sldId id="509" r:id="rId35"/>
    <p:sldId id="510" r:id="rId36"/>
    <p:sldId id="511" r:id="rId37"/>
    <p:sldId id="513" r:id="rId38"/>
    <p:sldId id="512" r:id="rId39"/>
    <p:sldId id="305" r:id="rId40"/>
    <p:sldId id="306" r:id="rId41"/>
  </p:sldIdLst>
  <p:sldSz cx="12192000" cy="6858000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Cambria Math" panose="02040503050406030204" pitchFamily="18" charset="0"/>
      <p:regular r:id="rId47"/>
    </p:embeddedFon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Roboto Slab" panose="020B0604020202020204" charset="0"/>
      <p:regular r:id="rId56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ry Arcila" initials="HA" lastIdx="1" clrIdx="0">
    <p:extLst>
      <p:ext uri="{19B8F6BF-5375-455C-9EA6-DF929625EA0E}">
        <p15:presenceInfo xmlns:p15="http://schemas.microsoft.com/office/powerpoint/2012/main" userId="fa81e750b1be2331" providerId="Windows Live"/>
      </p:ext>
    </p:extLst>
  </p:cmAuthor>
  <p:cmAuthor id="2" name="HENRY ALBERTO ARCILA RAMIREZ" initials="HAAR" lastIdx="2" clrIdx="1">
    <p:extLst>
      <p:ext uri="{19B8F6BF-5375-455C-9EA6-DF929625EA0E}">
        <p15:presenceInfo xmlns:p15="http://schemas.microsoft.com/office/powerpoint/2012/main" userId="HENRY ALBERTO ARCILA RAMIR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A3598-7CB8-4345-8D95-17CE05F158A0}">
  <a:tblStyle styleId="{AD6A3598-7CB8-4345-8D95-17CE05F158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2081" autoAdjust="0"/>
  </p:normalViewPr>
  <p:slideViewPr>
    <p:cSldViewPr snapToGrid="0">
      <p:cViewPr varScale="1">
        <p:scale>
          <a:sx n="63" d="100"/>
          <a:sy n="63" d="100"/>
        </p:scale>
        <p:origin x="852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42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8364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3968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241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897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907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2686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235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8463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435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80368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5225775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42978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63532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94217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66348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98258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3610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319981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64374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121976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901049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186711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50077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961070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214218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5913723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568189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985741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41332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77370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439251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95784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949537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548247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858442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91542c71b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91542c71b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78358aba0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78358aba08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OBJECT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OBJECT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OBJECT_1_1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-1" y="0"/>
            <a:ext cx="12203100" cy="68580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-3" y="2362201"/>
            <a:ext cx="12203100" cy="21336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>
            <a:spLocks noGrp="1"/>
          </p:cNvSpPr>
          <p:nvPr>
            <p:ph type="ctrTitle"/>
          </p:nvPr>
        </p:nvSpPr>
        <p:spPr>
          <a:xfrm>
            <a:off x="502025" y="2952025"/>
            <a:ext cx="72276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68" name="Google Shape;68;p6"/>
          <p:cNvCxnSpPr/>
          <p:nvPr/>
        </p:nvCxnSpPr>
        <p:spPr>
          <a:xfrm>
            <a:off x="2239617" y="3190047"/>
            <a:ext cx="47310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9" name="Google Shape;6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3479" y="2875817"/>
            <a:ext cx="3522904" cy="1106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Final">
  <p:cSld name="TITLE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-1" y="0"/>
            <a:ext cx="12203100" cy="68580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-3" y="2362201"/>
            <a:ext cx="12203100" cy="21336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77" name="Google Shape;7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53153" y="2757784"/>
            <a:ext cx="4274582" cy="134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Slab"/>
              <a:buNone/>
              <a:defRPr sz="32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  <a:defRPr sz="2600" i="0" u="none" strike="noStrike" cap="none">
                <a:solidFill>
                  <a:schemeClr val="dk1"/>
                </a:solidFill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 i="0" u="none" strike="noStrike" cap="none">
                <a:solidFill>
                  <a:schemeClr val="dk1"/>
                </a:solidFill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 i="0" u="none" strike="noStrike" cap="none">
                <a:solidFill>
                  <a:schemeClr val="dk1"/>
                </a:solidFill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 i="0" u="none" strike="noStrike" cap="none">
                <a:solidFill>
                  <a:schemeClr val="dk1"/>
                </a:solidFill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 i="0" u="none" strike="noStrike" cap="none">
                <a:solidFill>
                  <a:schemeClr val="dk1"/>
                </a:solidFill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 i="0" u="none" strike="noStrike" cap="none">
                <a:solidFill>
                  <a:schemeClr val="dk1"/>
                </a:solidFill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38.png"/><Relationship Id="rId15" Type="http://schemas.openxmlformats.org/officeDocument/2006/relationships/image" Target="../media/image42.png"/><Relationship Id="rId19" Type="http://schemas.openxmlformats.org/officeDocument/2006/relationships/image" Target="../media/image46.png"/><Relationship Id="rId1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1" Type="http://schemas.openxmlformats.org/officeDocument/2006/relationships/image" Target="../media/image23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8.png"/><Relationship Id="rId15" Type="http://schemas.openxmlformats.org/officeDocument/2006/relationships/image" Target="../media/image42.png"/><Relationship Id="rId23" Type="http://schemas.openxmlformats.org/officeDocument/2006/relationships/image" Target="../media/image25.png"/><Relationship Id="rId19" Type="http://schemas.openxmlformats.org/officeDocument/2006/relationships/image" Target="../media/image22.png"/><Relationship Id="rId14" Type="http://schemas.openxmlformats.org/officeDocument/2006/relationships/image" Target="../media/image41.png"/><Relationship Id="rId22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michalpitr.substack.com/p/how-does-sqlite-store-data" TargetMode="External"/><Relationship Id="rId13" Type="http://schemas.openxmlformats.org/officeDocument/2006/relationships/hyperlink" Target="https://tinydb.readthedocs.io/en/latest/" TargetMode="External"/><Relationship Id="rId3" Type="http://schemas.openxmlformats.org/officeDocument/2006/relationships/hyperlink" Target="https://www.mongodb.com/resources/basics/databases/nosql-explained" TargetMode="External"/><Relationship Id="rId7" Type="http://schemas.openxmlformats.org/officeDocument/2006/relationships/hyperlink" Target="https://medium.com/@pablo.lopez.santori/what-do-postgres-tables-actually-look-like-426028eabc1a" TargetMode="External"/><Relationship Id="rId12" Type="http://schemas.openxmlformats.org/officeDocument/2006/relationships/hyperlink" Target="https://github.com/quazi-irfan/pySimpleDB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velup.gitconnected.com/postgresql-deep-dive-the-anatomy-of-disk-file-and-page-layout-part-2-9b6fb7ede383" TargetMode="External"/><Relationship Id="rId11" Type="http://schemas.openxmlformats.org/officeDocument/2006/relationships/hyperlink" Target="https://simpledb-java.netlify.app/#/" TargetMode="External"/><Relationship Id="rId5" Type="http://schemas.openxmlformats.org/officeDocument/2006/relationships/hyperlink" Target="https://cs186berkeley.net/notes/note17/" TargetMode="External"/><Relationship Id="rId10" Type="http://schemas.openxmlformats.org/officeDocument/2006/relationships/hyperlink" Target="https://github.com/MIT-DB-Class/simple-db-hw" TargetMode="External"/><Relationship Id="rId4" Type="http://schemas.openxmlformats.org/officeDocument/2006/relationships/hyperlink" Target="https://blog.bytebytego.com/p/sql-vs-nosql-choosing-the-right-database" TargetMode="External"/><Relationship Id="rId9" Type="http://schemas.openxmlformats.org/officeDocument/2006/relationships/hyperlink" Target="https://cs186berkeley.net/notes/note3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5" y="2964875"/>
            <a:ext cx="7356900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sz="3200" b="1" dirty="0"/>
              <a:t>Curso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Estructuras de datos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Clase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5</a:t>
            </a:r>
            <a:r>
              <a:rPr lang="es-ES" dirty="0"/>
              <a:t> –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/>
              <a:t>Archivos (Parte 2)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Sobre el curso</a:t>
            </a: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CF851078-B9A5-498B-8A59-BAB678895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650" y="999331"/>
            <a:ext cx="10515600" cy="175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200" dirty="0"/>
              <a:t>En este curso se abordaran algunos conceptos relacionados con el diseño y la implementación de sistemas de gestión de bases de datos orientados a disco.</a:t>
            </a:r>
          </a:p>
          <a:p>
            <a:pPr marL="342900" indent="-342900"/>
            <a:r>
              <a:rPr lang="es-MX" sz="2200" dirty="0"/>
              <a:t>No es un curso sobre cómo usar una base de datos para construir aplicaciones ni sobre cómo administrar una base de datos.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0F7EB7B-9910-4868-98B2-3FFA99FAF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206" y="2875236"/>
            <a:ext cx="539115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9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Base de datos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1087132" y="902096"/>
            <a:ext cx="10723635" cy="20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200" dirty="0"/>
              <a:t>La clase anterior tratamos algunos de los siguientes conceptos</a:t>
            </a:r>
          </a:p>
          <a:p>
            <a:pPr marL="342900"/>
            <a:r>
              <a:rPr lang="es-MX" sz="2000" dirty="0"/>
              <a:t>Base de datos</a:t>
            </a:r>
          </a:p>
          <a:p>
            <a:pPr marL="342900"/>
            <a:r>
              <a:rPr lang="es-MX" sz="2000" dirty="0"/>
              <a:t>Manejo de bases de datos:</a:t>
            </a:r>
          </a:p>
          <a:p>
            <a:pPr marL="800100" lvl="1"/>
            <a:r>
              <a:rPr lang="es-MX" sz="2000" b="1" dirty="0"/>
              <a:t>Forma antigua</a:t>
            </a:r>
            <a:r>
              <a:rPr lang="es-MX" sz="2000" dirty="0"/>
              <a:t>: Sistemas basados en archivos</a:t>
            </a:r>
          </a:p>
          <a:p>
            <a:pPr marL="800100" lvl="1"/>
            <a:r>
              <a:rPr lang="es-MX" sz="2000" b="1" dirty="0"/>
              <a:t>Actual</a:t>
            </a:r>
            <a:r>
              <a:rPr lang="es-MX" sz="2000" dirty="0"/>
              <a:t>: Motor de bases de datos (DBSM)</a:t>
            </a:r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89DCCC7-1A4B-4538-9BE0-E39EEBADE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608" y="3781124"/>
            <a:ext cx="4884160" cy="28276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A5E2BB-6DAC-455A-9334-270BB473C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483" y="4053103"/>
            <a:ext cx="4193089" cy="244467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8BE9A13-6726-4E18-9F6F-041ACAA3160E}"/>
              </a:ext>
            </a:extLst>
          </p:cNvPr>
          <p:cNvSpPr txBox="1"/>
          <p:nvPr/>
        </p:nvSpPr>
        <p:spPr>
          <a:xfrm>
            <a:off x="2534933" y="3195657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Sistemas basados en archivos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A8B84B-AD99-4E6B-B3A1-470D7A3B99D0}"/>
              </a:ext>
            </a:extLst>
          </p:cNvPr>
          <p:cNvSpPr txBox="1"/>
          <p:nvPr/>
        </p:nvSpPr>
        <p:spPr>
          <a:xfrm>
            <a:off x="7752068" y="3195657"/>
            <a:ext cx="2937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Motor de bases de datos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40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Base de datos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1087132" y="902096"/>
            <a:ext cx="10723635" cy="64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¿Cómo se representan los datos en un DBMS?</a:t>
            </a:r>
          </a:p>
          <a:p>
            <a:endParaRPr lang="es-CO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7093C694-D3D4-4ABD-80C8-1ACFCD31C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817991"/>
              </p:ext>
            </p:extLst>
          </p:nvPr>
        </p:nvGraphicFramePr>
        <p:xfrm>
          <a:off x="1773380" y="3785580"/>
          <a:ext cx="4322620" cy="1524000"/>
        </p:xfrm>
        <a:graphic>
          <a:graphicData uri="http://schemas.openxmlformats.org/drawingml/2006/table">
            <a:tbl>
              <a:tblPr/>
              <a:tblGrid>
                <a:gridCol w="484911">
                  <a:extLst>
                    <a:ext uri="{9D8B030D-6E8A-4147-A177-3AD203B41FA5}">
                      <a16:colId xmlns:a16="http://schemas.microsoft.com/office/drawing/2014/main" val="4171863402"/>
                    </a:ext>
                  </a:extLst>
                </a:gridCol>
                <a:gridCol w="1177637">
                  <a:extLst>
                    <a:ext uri="{9D8B030D-6E8A-4147-A177-3AD203B41FA5}">
                      <a16:colId xmlns:a16="http://schemas.microsoft.com/office/drawing/2014/main" val="1178716260"/>
                    </a:ext>
                  </a:extLst>
                </a:gridCol>
                <a:gridCol w="1177637">
                  <a:extLst>
                    <a:ext uri="{9D8B030D-6E8A-4147-A177-3AD203B41FA5}">
                      <a16:colId xmlns:a16="http://schemas.microsoft.com/office/drawing/2014/main" val="2360111845"/>
                    </a:ext>
                  </a:extLst>
                </a:gridCol>
                <a:gridCol w="678872">
                  <a:extLst>
                    <a:ext uri="{9D8B030D-6E8A-4147-A177-3AD203B41FA5}">
                      <a16:colId xmlns:a16="http://schemas.microsoft.com/office/drawing/2014/main" val="2492268695"/>
                    </a:ext>
                  </a:extLst>
                </a:gridCol>
                <a:gridCol w="803563">
                  <a:extLst>
                    <a:ext uri="{9D8B030D-6E8A-4147-A177-3AD203B41FA5}">
                      <a16:colId xmlns:a16="http://schemas.microsoft.com/office/drawing/2014/main" val="3250207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First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33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Simpson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226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Simpson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63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Flanders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2704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Skinner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Seymour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54283"/>
                  </a:ext>
                </a:extLst>
              </a:tr>
            </a:tbl>
          </a:graphicData>
        </a:graphic>
      </p:graphicFrame>
      <p:sp>
        <p:nvSpPr>
          <p:cNvPr id="11" name="Cilindro 10">
            <a:extLst>
              <a:ext uri="{FF2B5EF4-FFF2-40B4-BE49-F238E27FC236}">
                <a16:creationId xmlns:a16="http://schemas.microsoft.com/office/drawing/2014/main" id="{7CD3BBAB-92CD-4CAC-9362-B6C94648A2D9}"/>
              </a:ext>
            </a:extLst>
          </p:cNvPr>
          <p:cNvSpPr/>
          <p:nvPr/>
        </p:nvSpPr>
        <p:spPr>
          <a:xfrm>
            <a:off x="8147370" y="3446143"/>
            <a:ext cx="3261171" cy="220287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7378E147-25EB-4EA2-96DE-5E16902076B2}"/>
              </a:ext>
            </a:extLst>
          </p:cNvPr>
          <p:cNvSpPr/>
          <p:nvPr/>
        </p:nvSpPr>
        <p:spPr>
          <a:xfrm>
            <a:off x="6581343" y="4478304"/>
            <a:ext cx="1114645" cy="42949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59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Representación de los datos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1087133" y="902095"/>
            <a:ext cx="6322722" cy="3043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Conceptos claves</a:t>
            </a:r>
          </a:p>
          <a:p>
            <a:pPr marL="0" indent="0">
              <a:buNone/>
            </a:pPr>
            <a:r>
              <a:rPr lang="es-MX" sz="2000" b="1" dirty="0"/>
              <a:t>Archivo</a:t>
            </a:r>
            <a:r>
              <a:rPr lang="es-MX" sz="2000" dirty="0"/>
              <a:t> (File DB)</a:t>
            </a:r>
          </a:p>
          <a:p>
            <a:pPr marL="457200" lvl="1" indent="0">
              <a:buNone/>
            </a:pPr>
            <a:endParaRPr lang="es-MX" sz="2000" dirty="0"/>
          </a:p>
          <a:p>
            <a:pPr marL="914400" lvl="2" indent="0">
              <a:buNone/>
            </a:pPr>
            <a:r>
              <a:rPr lang="es-MX" sz="2000" b="1" dirty="0"/>
              <a:t>Pagina</a:t>
            </a:r>
            <a:r>
              <a:rPr lang="es-MX" sz="2000" dirty="0"/>
              <a:t> (Page)</a:t>
            </a:r>
          </a:p>
          <a:p>
            <a:pPr marL="914400" lvl="2" indent="0">
              <a:buNone/>
            </a:pPr>
            <a:endParaRPr lang="es-MX" sz="2000" dirty="0"/>
          </a:p>
          <a:p>
            <a:pPr marL="1828800" lvl="4" indent="0">
              <a:buNone/>
            </a:pPr>
            <a:r>
              <a:rPr lang="es-MX" sz="2000" b="1" dirty="0"/>
              <a:t>Registro</a:t>
            </a:r>
            <a:r>
              <a:rPr lang="es-MX" sz="2000" dirty="0"/>
              <a:t> (Record)</a:t>
            </a:r>
          </a:p>
          <a:p>
            <a:pPr marL="1371600" lvl="3" indent="0">
              <a:buNone/>
            </a:pPr>
            <a:endParaRPr lang="es-MX" sz="2000" dirty="0"/>
          </a:p>
          <a:p>
            <a:pPr marL="2743200" lvl="6" indent="0">
              <a:buNone/>
            </a:pPr>
            <a:r>
              <a:rPr lang="es-MX" sz="2000" b="1" dirty="0"/>
              <a:t>Campo</a:t>
            </a:r>
            <a:r>
              <a:rPr lang="es-MX" sz="2000" dirty="0"/>
              <a:t> (Field)</a:t>
            </a:r>
          </a:p>
          <a:p>
            <a:endParaRPr lang="es-CO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F6B209AA-EBAF-4D9A-9273-4C3CC873D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912645"/>
              </p:ext>
            </p:extLst>
          </p:nvPr>
        </p:nvGraphicFramePr>
        <p:xfrm>
          <a:off x="7715336" y="1323289"/>
          <a:ext cx="3632007" cy="1371600"/>
        </p:xfrm>
        <a:graphic>
          <a:graphicData uri="http://schemas.openxmlformats.org/drawingml/2006/table">
            <a:tbl>
              <a:tblPr/>
              <a:tblGrid>
                <a:gridCol w="503615">
                  <a:extLst>
                    <a:ext uri="{9D8B030D-6E8A-4147-A177-3AD203B41FA5}">
                      <a16:colId xmlns:a16="http://schemas.microsoft.com/office/drawing/2014/main" val="4171863402"/>
                    </a:ext>
                  </a:extLst>
                </a:gridCol>
                <a:gridCol w="967083">
                  <a:extLst>
                    <a:ext uri="{9D8B030D-6E8A-4147-A177-3AD203B41FA5}">
                      <a16:colId xmlns:a16="http://schemas.microsoft.com/office/drawing/2014/main" val="1178716260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2360111845"/>
                    </a:ext>
                  </a:extLst>
                </a:gridCol>
                <a:gridCol w="488603">
                  <a:extLst>
                    <a:ext uri="{9D8B030D-6E8A-4147-A177-3AD203B41FA5}">
                      <a16:colId xmlns:a16="http://schemas.microsoft.com/office/drawing/2014/main" val="2492268695"/>
                    </a:ext>
                  </a:extLst>
                </a:gridCol>
                <a:gridCol w="675179">
                  <a:extLst>
                    <a:ext uri="{9D8B030D-6E8A-4147-A177-3AD203B41FA5}">
                      <a16:colId xmlns:a16="http://schemas.microsoft.com/office/drawing/2014/main" val="3250207032"/>
                    </a:ext>
                  </a:extLst>
                </a:gridCol>
              </a:tblGrid>
              <a:tr h="185651">
                <a:tc>
                  <a:txBody>
                    <a:bodyPr/>
                    <a:lstStyle/>
                    <a:p>
                      <a:r>
                        <a:rPr lang="es-CO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First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33149"/>
                  </a:ext>
                </a:extLst>
              </a:tr>
              <a:tr h="185651"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Simpson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226260"/>
                  </a:ext>
                </a:extLst>
              </a:tr>
              <a:tr h="185651"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Simpson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633836"/>
                  </a:ext>
                </a:extLst>
              </a:tr>
              <a:tr h="185651"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Flanders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2704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Skinner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Seymour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$400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54283"/>
                  </a:ext>
                </a:extLst>
              </a:tr>
            </a:tbl>
          </a:graphicData>
        </a:graphic>
      </p:graphicFrame>
      <p:sp>
        <p:nvSpPr>
          <p:cNvPr id="25" name="CuadroTexto 24">
            <a:extLst>
              <a:ext uri="{FF2B5EF4-FFF2-40B4-BE49-F238E27FC236}">
                <a16:creationId xmlns:a16="http://schemas.microsoft.com/office/drawing/2014/main" id="{309C4A39-2A00-41DB-A8EA-08D860B02966}"/>
              </a:ext>
            </a:extLst>
          </p:cNvPr>
          <p:cNvSpPr txBox="1"/>
          <p:nvPr/>
        </p:nvSpPr>
        <p:spPr>
          <a:xfrm>
            <a:off x="7626436" y="961660"/>
            <a:ext cx="2745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Relation (table)</a:t>
            </a:r>
          </a:p>
        </p:txBody>
      </p:sp>
      <p:grpSp>
        <p:nvGrpSpPr>
          <p:cNvPr id="26" name="Group 12" descr="Bob, Harmon, M, 32, 400" title="Record">
            <a:extLst>
              <a:ext uri="{FF2B5EF4-FFF2-40B4-BE49-F238E27FC236}">
                <a16:creationId xmlns:a16="http://schemas.microsoft.com/office/drawing/2014/main" id="{6F6A564C-63B8-45EC-941B-DCC13150C9AD}"/>
              </a:ext>
            </a:extLst>
          </p:cNvPr>
          <p:cNvGrpSpPr/>
          <p:nvPr/>
        </p:nvGrpSpPr>
        <p:grpSpPr>
          <a:xfrm>
            <a:off x="1029713" y="4053552"/>
            <a:ext cx="3145111" cy="858620"/>
            <a:chOff x="109404" y="1070849"/>
            <a:chExt cx="3145111" cy="858620"/>
          </a:xfrm>
        </p:grpSpPr>
        <p:sp>
          <p:nvSpPr>
            <p:cNvPr id="27" name="TextBox 43">
              <a:extLst>
                <a:ext uri="{FF2B5EF4-FFF2-40B4-BE49-F238E27FC236}">
                  <a16:creationId xmlns:a16="http://schemas.microsoft.com/office/drawing/2014/main" id="{74F77E49-9BA3-4387-A303-48E58F4CA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04" y="1070849"/>
              <a:ext cx="314511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buNone/>
                <a:defRPr/>
              </a:pPr>
              <a:r>
                <a:rPr lang="en-US" altLang="en-US" sz="12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Record</a:t>
              </a:r>
              <a:endParaRPr lang="en-US" altLang="en-US" sz="1050" b="1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endParaRPr>
            </a:p>
          </p:txBody>
        </p:sp>
        <p:grpSp>
          <p:nvGrpSpPr>
            <p:cNvPr id="28" name="Group 44">
              <a:extLst>
                <a:ext uri="{FF2B5EF4-FFF2-40B4-BE49-F238E27FC236}">
                  <a16:creationId xmlns:a16="http://schemas.microsoft.com/office/drawing/2014/main" id="{03846768-1836-4EC8-9ED1-1D79936791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404" y="1375916"/>
              <a:ext cx="3145111" cy="332767"/>
              <a:chOff x="4555518" y="4778432"/>
              <a:chExt cx="4286576" cy="503582"/>
            </a:xfrm>
          </p:grpSpPr>
          <p:sp>
            <p:nvSpPr>
              <p:cNvPr id="34" name="Rectangle 139">
                <a:extLst>
                  <a:ext uri="{FF2B5EF4-FFF2-40B4-BE49-F238E27FC236}">
                    <a16:creationId xmlns:a16="http://schemas.microsoft.com/office/drawing/2014/main" id="{4026B4FA-3EBD-456B-965C-56BD1B7428E9}"/>
                  </a:ext>
                </a:extLst>
              </p:cNvPr>
              <p:cNvSpPr/>
              <p:nvPr/>
            </p:nvSpPr>
            <p:spPr bwMode="auto">
              <a:xfrm>
                <a:off x="4556035" y="4778366"/>
                <a:ext cx="751132" cy="504429"/>
              </a:xfrm>
              <a:prstGeom prst="rect">
                <a:avLst/>
              </a:prstGeom>
              <a:noFill/>
              <a:ln w="25400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Bob</a:t>
                </a:r>
              </a:p>
            </p:txBody>
          </p:sp>
          <p:sp>
            <p:nvSpPr>
              <p:cNvPr id="35" name="Rectangle 140">
                <a:extLst>
                  <a:ext uri="{FF2B5EF4-FFF2-40B4-BE49-F238E27FC236}">
                    <a16:creationId xmlns:a16="http://schemas.microsoft.com/office/drawing/2014/main" id="{ED155F42-08BA-40C5-8059-62BC4F2D32E8}"/>
                  </a:ext>
                </a:extLst>
              </p:cNvPr>
              <p:cNvSpPr/>
              <p:nvPr/>
            </p:nvSpPr>
            <p:spPr bwMode="auto">
              <a:xfrm>
                <a:off x="6469596" y="4778366"/>
                <a:ext cx="624091" cy="504429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M</a:t>
                </a:r>
              </a:p>
            </p:txBody>
          </p:sp>
          <p:sp>
            <p:nvSpPr>
              <p:cNvPr id="36" name="Rectangle 141">
                <a:extLst>
                  <a:ext uri="{FF2B5EF4-FFF2-40B4-BE49-F238E27FC236}">
                    <a16:creationId xmlns:a16="http://schemas.microsoft.com/office/drawing/2014/main" id="{3AD2259F-7E0F-429F-9141-ED6DC5EFDC7D}"/>
                  </a:ext>
                </a:extLst>
              </p:cNvPr>
              <p:cNvSpPr/>
              <p:nvPr/>
            </p:nvSpPr>
            <p:spPr bwMode="auto">
              <a:xfrm>
                <a:off x="7093687" y="4778366"/>
                <a:ext cx="622503" cy="504429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32</a:t>
                </a:r>
              </a:p>
            </p:txBody>
          </p:sp>
          <p:sp>
            <p:nvSpPr>
              <p:cNvPr id="37" name="Rectangle 142">
                <a:extLst>
                  <a:ext uri="{FF2B5EF4-FFF2-40B4-BE49-F238E27FC236}">
                    <a16:creationId xmlns:a16="http://schemas.microsoft.com/office/drawing/2014/main" id="{B4290628-FAC8-4261-9DC1-5070B7201068}"/>
                  </a:ext>
                </a:extLst>
              </p:cNvPr>
              <p:cNvSpPr/>
              <p:nvPr/>
            </p:nvSpPr>
            <p:spPr bwMode="auto">
              <a:xfrm>
                <a:off x="7716190" y="4778366"/>
                <a:ext cx="1125904" cy="504429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94703</a:t>
                </a:r>
              </a:p>
            </p:txBody>
          </p:sp>
          <p:sp>
            <p:nvSpPr>
              <p:cNvPr id="38" name="Rectangle 143">
                <a:extLst>
                  <a:ext uri="{FF2B5EF4-FFF2-40B4-BE49-F238E27FC236}">
                    <a16:creationId xmlns:a16="http://schemas.microsoft.com/office/drawing/2014/main" id="{0599FB75-04EE-4657-8432-7E389A6B1FCC}"/>
                  </a:ext>
                </a:extLst>
              </p:cNvPr>
              <p:cNvSpPr/>
              <p:nvPr/>
            </p:nvSpPr>
            <p:spPr bwMode="auto">
              <a:xfrm>
                <a:off x="5307167" y="4778366"/>
                <a:ext cx="1162429" cy="504429"/>
              </a:xfrm>
              <a:prstGeom prst="rect">
                <a:avLst/>
              </a:prstGeom>
              <a:noFill/>
              <a:ln w="25400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Harmon</a:t>
                </a:r>
              </a:p>
            </p:txBody>
          </p:sp>
        </p:grpSp>
        <p:sp>
          <p:nvSpPr>
            <p:cNvPr id="29" name="TextBox 134">
              <a:extLst>
                <a:ext uri="{FF2B5EF4-FFF2-40B4-BE49-F238E27FC236}">
                  <a16:creationId xmlns:a16="http://schemas.microsoft.com/office/drawing/2014/main" id="{34D023C6-10EE-44AD-AAED-6086EFF1DF67}"/>
                </a:ext>
              </a:extLst>
            </p:cNvPr>
            <p:cNvSpPr txBox="1"/>
            <p:nvPr/>
          </p:nvSpPr>
          <p:spPr bwMode="auto">
            <a:xfrm>
              <a:off x="109404" y="1698385"/>
              <a:ext cx="633507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varchar</a:t>
              </a:r>
            </a:p>
          </p:txBody>
        </p:sp>
        <p:sp>
          <p:nvSpPr>
            <p:cNvPr id="30" name="TextBox 135">
              <a:extLst>
                <a:ext uri="{FF2B5EF4-FFF2-40B4-BE49-F238E27FC236}">
                  <a16:creationId xmlns:a16="http://schemas.microsoft.com/office/drawing/2014/main" id="{274B5708-EB0F-488A-9F3A-6AA5F4456700}"/>
                </a:ext>
              </a:extLst>
            </p:cNvPr>
            <p:cNvSpPr txBox="1"/>
            <p:nvPr/>
          </p:nvSpPr>
          <p:spPr bwMode="auto">
            <a:xfrm>
              <a:off x="796458" y="1698637"/>
              <a:ext cx="633507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varchar</a:t>
              </a:r>
            </a:p>
          </p:txBody>
        </p:sp>
        <p:sp>
          <p:nvSpPr>
            <p:cNvPr id="31" name="TextBox 136">
              <a:extLst>
                <a:ext uri="{FF2B5EF4-FFF2-40B4-BE49-F238E27FC236}">
                  <a16:creationId xmlns:a16="http://schemas.microsoft.com/office/drawing/2014/main" id="{5D653262-B197-4AEA-83C5-539DDF4BB600}"/>
                </a:ext>
              </a:extLst>
            </p:cNvPr>
            <p:cNvSpPr txBox="1"/>
            <p:nvPr/>
          </p:nvSpPr>
          <p:spPr bwMode="auto">
            <a:xfrm>
              <a:off x="1550257" y="1692428"/>
              <a:ext cx="441146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c</a:t>
              </a:r>
              <a:r>
                <a:rPr lang="en-US" sz="9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har</a:t>
              </a:r>
            </a:p>
          </p:txBody>
        </p:sp>
        <p:sp>
          <p:nvSpPr>
            <p:cNvPr id="32" name="TextBox 137">
              <a:extLst>
                <a:ext uri="{FF2B5EF4-FFF2-40B4-BE49-F238E27FC236}">
                  <a16:creationId xmlns:a16="http://schemas.microsoft.com/office/drawing/2014/main" id="{539A804D-6E4E-4C73-BACE-A3B0E35E630F}"/>
                </a:ext>
              </a:extLst>
            </p:cNvPr>
            <p:cNvSpPr txBox="1"/>
            <p:nvPr/>
          </p:nvSpPr>
          <p:spPr bwMode="auto">
            <a:xfrm>
              <a:off x="2040432" y="1692429"/>
              <a:ext cx="377026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i</a:t>
              </a:r>
              <a:r>
                <a:rPr lang="en-US" sz="9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nt</a:t>
              </a:r>
            </a:p>
          </p:txBody>
        </p:sp>
        <p:sp>
          <p:nvSpPr>
            <p:cNvPr id="33" name="TextBox 138">
              <a:extLst>
                <a:ext uri="{FF2B5EF4-FFF2-40B4-BE49-F238E27FC236}">
                  <a16:creationId xmlns:a16="http://schemas.microsoft.com/office/drawing/2014/main" id="{3729CF89-86D4-43E6-8D64-E237A4F3CA87}"/>
                </a:ext>
              </a:extLst>
            </p:cNvPr>
            <p:cNvSpPr txBox="1"/>
            <p:nvPr/>
          </p:nvSpPr>
          <p:spPr bwMode="auto">
            <a:xfrm>
              <a:off x="2682428" y="1694525"/>
              <a:ext cx="377026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i</a:t>
              </a:r>
              <a:r>
                <a:rPr lang="en-US" sz="9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nt</a:t>
              </a: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4184E5-EAEA-44FD-BF1C-236DA922A474}"/>
              </a:ext>
            </a:extLst>
          </p:cNvPr>
          <p:cNvGrpSpPr/>
          <p:nvPr/>
        </p:nvGrpSpPr>
        <p:grpSpPr>
          <a:xfrm>
            <a:off x="1379936" y="5889414"/>
            <a:ext cx="2489595" cy="406007"/>
            <a:chOff x="2620956" y="2980062"/>
            <a:chExt cx="2489595" cy="406007"/>
          </a:xfrm>
        </p:grpSpPr>
        <p:grpSp>
          <p:nvGrpSpPr>
            <p:cNvPr id="40" name="Group 61">
              <a:extLst>
                <a:ext uri="{FF2B5EF4-FFF2-40B4-BE49-F238E27FC236}">
                  <a16:creationId xmlns:a16="http://schemas.microsoft.com/office/drawing/2014/main" id="{2609360E-9E38-4929-8A20-39B4D7BE15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0956" y="2980064"/>
              <a:ext cx="2489595" cy="406005"/>
              <a:chOff x="4737655" y="2904117"/>
              <a:chExt cx="3318816" cy="541482"/>
            </a:xfrm>
            <a:effectLst/>
          </p:grpSpPr>
          <p:sp>
            <p:nvSpPr>
              <p:cNvPr id="42" name="Rectangle 151">
                <a:extLst>
                  <a:ext uri="{FF2B5EF4-FFF2-40B4-BE49-F238E27FC236}">
                    <a16:creationId xmlns:a16="http://schemas.microsoft.com/office/drawing/2014/main" id="{8AE17903-7221-4491-BBAC-41EC14C6EBCE}"/>
                  </a:ext>
                </a:extLst>
              </p:cNvPr>
              <p:cNvSpPr/>
              <p:nvPr/>
            </p:nvSpPr>
            <p:spPr bwMode="auto">
              <a:xfrm>
                <a:off x="4737655" y="2904119"/>
                <a:ext cx="1439584" cy="503370"/>
              </a:xfrm>
              <a:prstGeom prst="rect">
                <a:avLst/>
              </a:prstGeom>
              <a:solidFill>
                <a:srgbClr val="2980B9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kern="0" dirty="0"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Header</a:t>
                </a:r>
              </a:p>
            </p:txBody>
          </p:sp>
          <p:sp>
            <p:nvSpPr>
              <p:cNvPr id="43" name="Rectangle 152">
                <a:extLst>
                  <a:ext uri="{FF2B5EF4-FFF2-40B4-BE49-F238E27FC236}">
                    <a16:creationId xmlns:a16="http://schemas.microsoft.com/office/drawing/2014/main" id="{8978DE1E-3243-4931-91ED-8A625866DAB3}"/>
                  </a:ext>
                </a:extLst>
              </p:cNvPr>
              <p:cNvSpPr/>
              <p:nvPr/>
            </p:nvSpPr>
            <p:spPr bwMode="auto">
              <a:xfrm>
                <a:off x="5682032" y="2972399"/>
                <a:ext cx="211096" cy="366810"/>
              </a:xfrm>
              <a:prstGeom prst="rect">
                <a:avLst/>
              </a:prstGeom>
              <a:solidFill>
                <a:srgbClr val="C00000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44" name="Rectangle 153">
                <a:extLst>
                  <a:ext uri="{FF2B5EF4-FFF2-40B4-BE49-F238E27FC236}">
                    <a16:creationId xmlns:a16="http://schemas.microsoft.com/office/drawing/2014/main" id="{BC93A25E-B6DD-469B-8F70-7534F19F049A}"/>
                  </a:ext>
                </a:extLst>
              </p:cNvPr>
              <p:cNvSpPr/>
              <p:nvPr/>
            </p:nvSpPr>
            <p:spPr bwMode="auto">
              <a:xfrm>
                <a:off x="5929634" y="2972399"/>
                <a:ext cx="211096" cy="366810"/>
              </a:xfrm>
              <a:prstGeom prst="rect">
                <a:avLst/>
              </a:prstGeom>
              <a:solidFill>
                <a:srgbClr val="C00000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45" name="Rectangle 154">
                <a:extLst>
                  <a:ext uri="{FF2B5EF4-FFF2-40B4-BE49-F238E27FC236}">
                    <a16:creationId xmlns:a16="http://schemas.microsoft.com/office/drawing/2014/main" id="{7C5CAF69-2243-485F-9AA4-2242248448BE}"/>
                  </a:ext>
                </a:extLst>
              </p:cNvPr>
              <p:cNvSpPr/>
              <p:nvPr/>
            </p:nvSpPr>
            <p:spPr bwMode="auto">
              <a:xfrm>
                <a:off x="6170887" y="2904119"/>
                <a:ext cx="206335" cy="503370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25" kern="0" dirty="0">
                    <a:solidFill>
                      <a:schemeClr val="bg1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M</a:t>
                </a:r>
              </a:p>
            </p:txBody>
          </p:sp>
          <p:sp>
            <p:nvSpPr>
              <p:cNvPr id="46" name="Rectangle 156">
                <a:extLst>
                  <a:ext uri="{FF2B5EF4-FFF2-40B4-BE49-F238E27FC236}">
                    <a16:creationId xmlns:a16="http://schemas.microsoft.com/office/drawing/2014/main" id="{5C34C5FF-1806-4AB4-8EDC-743A39B7A042}"/>
                  </a:ext>
                </a:extLst>
              </p:cNvPr>
              <p:cNvSpPr/>
              <p:nvPr/>
            </p:nvSpPr>
            <p:spPr bwMode="auto">
              <a:xfrm rot="16200000">
                <a:off x="6377903" y="3070097"/>
                <a:ext cx="503370" cy="171417"/>
              </a:xfrm>
              <a:prstGeom prst="rect">
                <a:avLst/>
              </a:prstGeom>
              <a:solidFill>
                <a:srgbClr val="0070C0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525" kern="0" dirty="0">
                    <a:solidFill>
                      <a:schemeClr val="bg1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94703</a:t>
                </a:r>
              </a:p>
            </p:txBody>
          </p:sp>
          <p:sp>
            <p:nvSpPr>
              <p:cNvPr id="47" name="Rectangle 157">
                <a:extLst>
                  <a:ext uri="{FF2B5EF4-FFF2-40B4-BE49-F238E27FC236}">
                    <a16:creationId xmlns:a16="http://schemas.microsoft.com/office/drawing/2014/main" id="{3D483051-B280-4900-AED5-A8334C265550}"/>
                  </a:ext>
                </a:extLst>
              </p:cNvPr>
              <p:cNvSpPr/>
              <p:nvPr/>
            </p:nvSpPr>
            <p:spPr bwMode="auto">
              <a:xfrm>
                <a:off x="6715297" y="2904118"/>
                <a:ext cx="525359" cy="503369"/>
              </a:xfrm>
              <a:prstGeom prst="rect">
                <a:avLst/>
              </a:prstGeom>
              <a:solidFill>
                <a:srgbClr val="15405B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700" kern="0" dirty="0">
                    <a:solidFill>
                      <a:schemeClr val="bg1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Bob</a:t>
                </a:r>
              </a:p>
            </p:txBody>
          </p:sp>
          <p:sp>
            <p:nvSpPr>
              <p:cNvPr id="48" name="Rectangle 158">
                <a:extLst>
                  <a:ext uri="{FF2B5EF4-FFF2-40B4-BE49-F238E27FC236}">
                    <a16:creationId xmlns:a16="http://schemas.microsoft.com/office/drawing/2014/main" id="{B190F3C8-95F9-444E-94F8-7BA2448DB98D}"/>
                  </a:ext>
                </a:extLst>
              </p:cNvPr>
              <p:cNvSpPr/>
              <p:nvPr/>
            </p:nvSpPr>
            <p:spPr bwMode="auto">
              <a:xfrm>
                <a:off x="7240655" y="2904117"/>
                <a:ext cx="780898" cy="503369"/>
              </a:xfrm>
              <a:prstGeom prst="rect">
                <a:avLst/>
              </a:prstGeom>
              <a:solidFill>
                <a:srgbClr val="15405B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25" kern="0" dirty="0">
                    <a:solidFill>
                      <a:schemeClr val="bg1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Harmon</a:t>
                </a:r>
              </a:p>
            </p:txBody>
          </p:sp>
          <p:cxnSp>
            <p:nvCxnSpPr>
              <p:cNvPr id="49" name="Elbow Connector 37">
                <a:extLst>
                  <a:ext uri="{FF2B5EF4-FFF2-40B4-BE49-F238E27FC236}">
                    <a16:creationId xmlns:a16="http://schemas.microsoft.com/office/drawing/2014/main" id="{92936C64-A53B-44C9-8BB1-14BFEF078C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391342" y="2596151"/>
                <a:ext cx="251461" cy="1447434"/>
              </a:xfrm>
              <a:prstGeom prst="bentConnector3">
                <a:avLst>
                  <a:gd name="adj1" fmla="val 190907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Elbow Connector 42">
                <a:extLst>
                  <a:ext uri="{FF2B5EF4-FFF2-40B4-BE49-F238E27FC236}">
                    <a16:creationId xmlns:a16="http://schemas.microsoft.com/office/drawing/2014/main" id="{6197B6CB-A607-4E57-B8FC-9E051129709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899354" y="2325057"/>
                <a:ext cx="251461" cy="1989622"/>
              </a:xfrm>
              <a:prstGeom prst="bentConnector3">
                <a:avLst>
                  <a:gd name="adj1" fmla="val 241412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" name="Oval 161">
                <a:extLst>
                  <a:ext uri="{FF2B5EF4-FFF2-40B4-BE49-F238E27FC236}">
                    <a16:creationId xmlns:a16="http://schemas.microsoft.com/office/drawing/2014/main" id="{89AC2899-96B5-46C4-8430-E97FA0C241F2}"/>
                  </a:ext>
                </a:extLst>
              </p:cNvPr>
              <p:cNvSpPr/>
              <p:nvPr/>
            </p:nvSpPr>
            <p:spPr bwMode="auto">
              <a:xfrm>
                <a:off x="5756629" y="3116900"/>
                <a:ext cx="73011" cy="77808"/>
              </a:xfrm>
              <a:prstGeom prst="ellipse">
                <a:avLst/>
              </a:prstGeom>
              <a:solidFill>
                <a:srgbClr val="95A5A6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2" name="Oval 162">
                <a:extLst>
                  <a:ext uri="{FF2B5EF4-FFF2-40B4-BE49-F238E27FC236}">
                    <a16:creationId xmlns:a16="http://schemas.microsoft.com/office/drawing/2014/main" id="{7862470C-0693-4352-BA7C-76AAD67B1BFB}"/>
                  </a:ext>
                </a:extLst>
              </p:cNvPr>
              <p:cNvSpPr/>
              <p:nvPr/>
            </p:nvSpPr>
            <p:spPr bwMode="auto">
              <a:xfrm>
                <a:off x="5993121" y="3116900"/>
                <a:ext cx="73011" cy="77808"/>
              </a:xfrm>
              <a:prstGeom prst="ellipse">
                <a:avLst/>
              </a:prstGeom>
              <a:solidFill>
                <a:srgbClr val="95A5A6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3" name="Oval 163">
                <a:extLst>
                  <a:ext uri="{FF2B5EF4-FFF2-40B4-BE49-F238E27FC236}">
                    <a16:creationId xmlns:a16="http://schemas.microsoft.com/office/drawing/2014/main" id="{DA9B0B5B-1B94-46FB-8B94-0B9E38C780D1}"/>
                  </a:ext>
                </a:extLst>
              </p:cNvPr>
              <p:cNvSpPr/>
              <p:nvPr/>
            </p:nvSpPr>
            <p:spPr bwMode="auto">
              <a:xfrm>
                <a:off x="7204148" y="3369379"/>
                <a:ext cx="73011" cy="76220"/>
              </a:xfrm>
              <a:prstGeom prst="ellipse">
                <a:avLst/>
              </a:prstGeom>
              <a:solidFill>
                <a:srgbClr val="95A5A6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4" name="Oval 164">
                <a:extLst>
                  <a:ext uri="{FF2B5EF4-FFF2-40B4-BE49-F238E27FC236}">
                    <a16:creationId xmlns:a16="http://schemas.microsoft.com/office/drawing/2014/main" id="{5DBD39E6-3FEA-4ECC-93C3-E9A4A38772C0}"/>
                  </a:ext>
                </a:extLst>
              </p:cNvPr>
              <p:cNvSpPr/>
              <p:nvPr/>
            </p:nvSpPr>
            <p:spPr bwMode="auto">
              <a:xfrm>
                <a:off x="7983460" y="3369379"/>
                <a:ext cx="73011" cy="76220"/>
              </a:xfrm>
              <a:prstGeom prst="ellipse">
                <a:avLst/>
              </a:prstGeom>
              <a:solidFill>
                <a:srgbClr val="95A5A6"/>
              </a:solidFill>
              <a:ln w="127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sp>
          <p:nvSpPr>
            <p:cNvPr id="41" name="Rectangle 119">
              <a:extLst>
                <a:ext uri="{FF2B5EF4-FFF2-40B4-BE49-F238E27FC236}">
                  <a16:creationId xmlns:a16="http://schemas.microsoft.com/office/drawing/2014/main" id="{50602B7B-0727-465F-8F3F-1ADD715568E0}"/>
                </a:ext>
              </a:extLst>
            </p:cNvPr>
            <p:cNvSpPr/>
            <p:nvPr/>
          </p:nvSpPr>
          <p:spPr bwMode="auto">
            <a:xfrm rot="16200000">
              <a:off x="3726564" y="3104483"/>
              <a:ext cx="377429" cy="128588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525" kern="0" dirty="0">
                  <a:solidFill>
                    <a:schemeClr val="bg1"/>
                  </a:solidFill>
                  <a:latin typeface="Consolas" panose="020B0609020204030204" pitchFamily="49" charset="0"/>
                  <a:ea typeface="Helvetica Neue" charset="0"/>
                  <a:cs typeface="Helvetica Neue" charset="0"/>
                </a:rPr>
                <a:t>32</a:t>
              </a:r>
            </a:p>
          </p:txBody>
        </p:sp>
      </p:grpSp>
      <p:sp>
        <p:nvSpPr>
          <p:cNvPr id="55" name="TextBox 20">
            <a:extLst>
              <a:ext uri="{FF2B5EF4-FFF2-40B4-BE49-F238E27FC236}">
                <a16:creationId xmlns:a16="http://schemas.microsoft.com/office/drawing/2014/main" id="{A77DAD8B-75C0-4D9C-BB1E-BCA7FE334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934" y="5556040"/>
            <a:ext cx="24621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entury Gothic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entury Gothic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entury Gothic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9pPr>
          </a:lstStyle>
          <a:p>
            <a:pPr algn="ctr" defTabSz="685800">
              <a:spcBef>
                <a:spcPct val="0"/>
              </a:spcBef>
              <a:buNone/>
              <a:defRPr/>
            </a:pPr>
            <a:r>
              <a:rPr lang="en-US" altLang="en-US" sz="1200" b="1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Byte Representation of Record</a:t>
            </a:r>
          </a:p>
        </p:txBody>
      </p:sp>
      <p:sp>
        <p:nvSpPr>
          <p:cNvPr id="56" name="Down Arrow 131">
            <a:extLst>
              <a:ext uri="{FF2B5EF4-FFF2-40B4-BE49-F238E27FC236}">
                <a16:creationId xmlns:a16="http://schemas.microsoft.com/office/drawing/2014/main" id="{359DC777-1A77-40CD-A430-9CB41FCA63C3}"/>
              </a:ext>
            </a:extLst>
          </p:cNvPr>
          <p:cNvSpPr/>
          <p:nvPr/>
        </p:nvSpPr>
        <p:spPr>
          <a:xfrm>
            <a:off x="2485758" y="5003599"/>
            <a:ext cx="226460" cy="42469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139">
            <a:extLst>
              <a:ext uri="{FF2B5EF4-FFF2-40B4-BE49-F238E27FC236}">
                <a16:creationId xmlns:a16="http://schemas.microsoft.com/office/drawing/2014/main" id="{64568F54-47FA-4C60-93C3-2F60BBA12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589" y="4152334"/>
            <a:ext cx="25062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entury Gothic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entury Gothic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entury Gothic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9pPr>
          </a:lstStyle>
          <a:p>
            <a:pPr algn="ctr" defTabSz="685800">
              <a:spcBef>
                <a:spcPct val="0"/>
              </a:spcBef>
              <a:buNone/>
              <a:defRPr/>
            </a:pPr>
            <a:r>
              <a:rPr lang="en-US" altLang="en-US" sz="1200" b="1" kern="0" dirty="0"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Slotted Page</a:t>
            </a:r>
          </a:p>
        </p:txBody>
      </p:sp>
      <p:sp>
        <p:nvSpPr>
          <p:cNvPr id="58" name="Folded Corner 166">
            <a:extLst>
              <a:ext uri="{FF2B5EF4-FFF2-40B4-BE49-F238E27FC236}">
                <a16:creationId xmlns:a16="http://schemas.microsoft.com/office/drawing/2014/main" id="{9AE161A1-2A78-430D-8B99-F159B8224F9F}"/>
              </a:ext>
            </a:extLst>
          </p:cNvPr>
          <p:cNvSpPr/>
          <p:nvPr/>
        </p:nvSpPr>
        <p:spPr bwMode="auto">
          <a:xfrm>
            <a:off x="4812351" y="4442043"/>
            <a:ext cx="2567297" cy="1547813"/>
          </a:xfrm>
          <a:prstGeom prst="foldedCorner">
            <a:avLst>
              <a:gd name="adj" fmla="val 10513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9" name="Rectangle 168">
            <a:extLst>
              <a:ext uri="{FF2B5EF4-FFF2-40B4-BE49-F238E27FC236}">
                <a16:creationId xmlns:a16="http://schemas.microsoft.com/office/drawing/2014/main" id="{4225E034-BE75-43EC-A4E4-C53F29829F4C}"/>
              </a:ext>
            </a:extLst>
          </p:cNvPr>
          <p:cNvSpPr/>
          <p:nvPr/>
        </p:nvSpPr>
        <p:spPr bwMode="auto">
          <a:xfrm>
            <a:off x="4903589" y="4506605"/>
            <a:ext cx="1744266" cy="378619"/>
          </a:xfrm>
          <a:prstGeom prst="rect">
            <a:avLst/>
          </a:prstGeom>
          <a:solidFill>
            <a:srgbClr val="2980B9"/>
          </a:solidFill>
          <a:ln w="25400" cap="flat" cmpd="sng" algn="ctr">
            <a:solidFill>
              <a:srgbClr val="95A5A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900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Page</a:t>
            </a:r>
            <a:br>
              <a:rPr lang="en-US" sz="900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</a:br>
            <a:r>
              <a:rPr lang="en-US" sz="900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Header</a:t>
            </a:r>
          </a:p>
        </p:txBody>
      </p:sp>
      <p:grpSp>
        <p:nvGrpSpPr>
          <p:cNvPr id="60" name="Group 169">
            <a:extLst>
              <a:ext uri="{FF2B5EF4-FFF2-40B4-BE49-F238E27FC236}">
                <a16:creationId xmlns:a16="http://schemas.microsoft.com/office/drawing/2014/main" id="{542B5A10-EBE2-466C-A0B2-359EC2B02B4D}"/>
              </a:ext>
            </a:extLst>
          </p:cNvPr>
          <p:cNvGrpSpPr>
            <a:grpSpLocks/>
          </p:cNvGrpSpPr>
          <p:nvPr/>
        </p:nvGrpSpPr>
        <p:grpSpPr bwMode="auto">
          <a:xfrm>
            <a:off x="5547147" y="4561673"/>
            <a:ext cx="1016227" cy="274390"/>
            <a:chOff x="1247675" y="4823303"/>
            <a:chExt cx="1355362" cy="365970"/>
          </a:xfrm>
        </p:grpSpPr>
        <p:grpSp>
          <p:nvGrpSpPr>
            <p:cNvPr id="61" name="Group 6">
              <a:extLst>
                <a:ext uri="{FF2B5EF4-FFF2-40B4-BE49-F238E27FC236}">
                  <a16:creationId xmlns:a16="http://schemas.microsoft.com/office/drawing/2014/main" id="{875A63F0-810A-4207-947F-81CE484DDD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675" y="4823303"/>
              <a:ext cx="211059" cy="365970"/>
              <a:chOff x="5790463" y="2643797"/>
              <a:chExt cx="211059" cy="365970"/>
            </a:xfrm>
          </p:grpSpPr>
          <p:sp>
            <p:nvSpPr>
              <p:cNvPr id="74" name="Rectangle 234">
                <a:extLst>
                  <a:ext uri="{FF2B5EF4-FFF2-40B4-BE49-F238E27FC236}">
                    <a16:creationId xmlns:a16="http://schemas.microsoft.com/office/drawing/2014/main" id="{7A4A2F84-8DD9-4774-82C8-95BFF1A5C351}"/>
                  </a:ext>
                </a:extLst>
              </p:cNvPr>
              <p:cNvSpPr/>
              <p:nvPr/>
            </p:nvSpPr>
            <p:spPr bwMode="auto">
              <a:xfrm>
                <a:off x="5791223" y="2643399"/>
                <a:ext cx="222314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5" name="Oval 235">
                <a:extLst>
                  <a:ext uri="{FF2B5EF4-FFF2-40B4-BE49-F238E27FC236}">
                    <a16:creationId xmlns:a16="http://schemas.microsoft.com/office/drawing/2014/main" id="{0B291A45-E7A2-46DF-A582-8C88E656C7BD}"/>
                  </a:ext>
                </a:extLst>
              </p:cNvPr>
              <p:cNvSpPr/>
              <p:nvPr/>
            </p:nvSpPr>
            <p:spPr bwMode="auto">
              <a:xfrm>
                <a:off x="5870621" y="2787907"/>
                <a:ext cx="74634" cy="77813"/>
              </a:xfrm>
              <a:prstGeom prst="ellipse">
                <a:avLst/>
              </a:prstGeom>
              <a:solidFill>
                <a:srgbClr val="95A5A6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62" name="Group 149">
              <a:extLst>
                <a:ext uri="{FF2B5EF4-FFF2-40B4-BE49-F238E27FC236}">
                  <a16:creationId xmlns:a16="http://schemas.microsoft.com/office/drawing/2014/main" id="{F4E04766-0878-4E51-B993-731A222A4D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3751" y="4823303"/>
              <a:ext cx="211059" cy="365970"/>
              <a:chOff x="5790463" y="2643797"/>
              <a:chExt cx="211059" cy="365970"/>
            </a:xfrm>
          </p:grpSpPr>
          <p:sp>
            <p:nvSpPr>
              <p:cNvPr id="72" name="Rectangle 232">
                <a:extLst>
                  <a:ext uri="{FF2B5EF4-FFF2-40B4-BE49-F238E27FC236}">
                    <a16:creationId xmlns:a16="http://schemas.microsoft.com/office/drawing/2014/main" id="{AD1ABCCC-E428-4652-8DEC-A507AB955C7F}"/>
                  </a:ext>
                </a:extLst>
              </p:cNvPr>
              <p:cNvSpPr/>
              <p:nvPr/>
            </p:nvSpPr>
            <p:spPr bwMode="auto">
              <a:xfrm>
                <a:off x="5790980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3" name="Oval 233">
                <a:extLst>
                  <a:ext uri="{FF2B5EF4-FFF2-40B4-BE49-F238E27FC236}">
                    <a16:creationId xmlns:a16="http://schemas.microsoft.com/office/drawing/2014/main" id="{AA661C78-304B-4056-BEFA-0339C19DAD56}"/>
                  </a:ext>
                </a:extLst>
              </p:cNvPr>
              <p:cNvSpPr/>
              <p:nvPr/>
            </p:nvSpPr>
            <p:spPr bwMode="auto">
              <a:xfrm>
                <a:off x="5859262" y="2787907"/>
                <a:ext cx="74635" cy="77813"/>
              </a:xfrm>
              <a:prstGeom prst="ellipse">
                <a:avLst/>
              </a:prstGeom>
              <a:solidFill>
                <a:srgbClr val="95A5A6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63" name="Group 165">
              <a:extLst>
                <a:ext uri="{FF2B5EF4-FFF2-40B4-BE49-F238E27FC236}">
                  <a16:creationId xmlns:a16="http://schemas.microsoft.com/office/drawing/2014/main" id="{04D467ED-E7C3-4174-8B64-1F17A53C83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9827" y="4823303"/>
              <a:ext cx="211059" cy="365970"/>
              <a:chOff x="5790463" y="2643797"/>
              <a:chExt cx="211059" cy="365970"/>
            </a:xfrm>
          </p:grpSpPr>
          <p:sp>
            <p:nvSpPr>
              <p:cNvPr id="70" name="Rectangle 230">
                <a:extLst>
                  <a:ext uri="{FF2B5EF4-FFF2-40B4-BE49-F238E27FC236}">
                    <a16:creationId xmlns:a16="http://schemas.microsoft.com/office/drawing/2014/main" id="{1F39C770-13BF-4558-A524-6590425F0A8F}"/>
                  </a:ext>
                </a:extLst>
              </p:cNvPr>
              <p:cNvSpPr/>
              <p:nvPr/>
            </p:nvSpPr>
            <p:spPr bwMode="auto">
              <a:xfrm>
                <a:off x="5790737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1" name="Oval 231">
                <a:extLst>
                  <a:ext uri="{FF2B5EF4-FFF2-40B4-BE49-F238E27FC236}">
                    <a16:creationId xmlns:a16="http://schemas.microsoft.com/office/drawing/2014/main" id="{9D7E3EC6-4194-4FF7-B6D5-F665C10221B7}"/>
                  </a:ext>
                </a:extLst>
              </p:cNvPr>
              <p:cNvSpPr/>
              <p:nvPr/>
            </p:nvSpPr>
            <p:spPr bwMode="auto">
              <a:xfrm>
                <a:off x="5859019" y="2787907"/>
                <a:ext cx="74635" cy="77813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64" name="Group 172">
              <a:extLst>
                <a:ext uri="{FF2B5EF4-FFF2-40B4-BE49-F238E27FC236}">
                  <a16:creationId xmlns:a16="http://schemas.microsoft.com/office/drawing/2014/main" id="{A18918E7-82D5-4736-97C8-54E55ADAFB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5903" y="4823303"/>
              <a:ext cx="211059" cy="365970"/>
              <a:chOff x="5790463" y="2643797"/>
              <a:chExt cx="211059" cy="365970"/>
            </a:xfrm>
          </p:grpSpPr>
          <p:sp>
            <p:nvSpPr>
              <p:cNvPr id="68" name="Rectangle 228">
                <a:extLst>
                  <a:ext uri="{FF2B5EF4-FFF2-40B4-BE49-F238E27FC236}">
                    <a16:creationId xmlns:a16="http://schemas.microsoft.com/office/drawing/2014/main" id="{63E992F0-CE15-48EB-A4E7-88595E48A8E1}"/>
                  </a:ext>
                </a:extLst>
              </p:cNvPr>
              <p:cNvSpPr/>
              <p:nvPr/>
            </p:nvSpPr>
            <p:spPr bwMode="auto">
              <a:xfrm>
                <a:off x="5790494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9" name="Oval 229">
                <a:extLst>
                  <a:ext uri="{FF2B5EF4-FFF2-40B4-BE49-F238E27FC236}">
                    <a16:creationId xmlns:a16="http://schemas.microsoft.com/office/drawing/2014/main" id="{4B2433B8-DB39-4458-A4F6-6E01B3D067CD}"/>
                  </a:ext>
                </a:extLst>
              </p:cNvPr>
              <p:cNvSpPr/>
              <p:nvPr/>
            </p:nvSpPr>
            <p:spPr bwMode="auto">
              <a:xfrm>
                <a:off x="5858776" y="2787907"/>
                <a:ext cx="74635" cy="77813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65" name="Group 190">
              <a:extLst>
                <a:ext uri="{FF2B5EF4-FFF2-40B4-BE49-F238E27FC236}">
                  <a16:creationId xmlns:a16="http://schemas.microsoft.com/office/drawing/2014/main" id="{5375DD65-396E-409A-984E-67ED959D6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1978" y="4823303"/>
              <a:ext cx="211059" cy="365970"/>
              <a:chOff x="5790463" y="2643797"/>
              <a:chExt cx="211059" cy="365970"/>
            </a:xfrm>
          </p:grpSpPr>
          <p:sp>
            <p:nvSpPr>
              <p:cNvPr id="66" name="Rectangle 226">
                <a:extLst>
                  <a:ext uri="{FF2B5EF4-FFF2-40B4-BE49-F238E27FC236}">
                    <a16:creationId xmlns:a16="http://schemas.microsoft.com/office/drawing/2014/main" id="{118C704B-6F04-47F3-863A-93A80D0026C4}"/>
                  </a:ext>
                </a:extLst>
              </p:cNvPr>
              <p:cNvSpPr/>
              <p:nvPr/>
            </p:nvSpPr>
            <p:spPr bwMode="auto">
              <a:xfrm>
                <a:off x="5790252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7" name="Oval 227">
                <a:extLst>
                  <a:ext uri="{FF2B5EF4-FFF2-40B4-BE49-F238E27FC236}">
                    <a16:creationId xmlns:a16="http://schemas.microsoft.com/office/drawing/2014/main" id="{6F256DCE-0936-4059-984E-719BCB2C9096}"/>
                  </a:ext>
                </a:extLst>
              </p:cNvPr>
              <p:cNvSpPr/>
              <p:nvPr/>
            </p:nvSpPr>
            <p:spPr bwMode="auto">
              <a:xfrm>
                <a:off x="5858534" y="2787907"/>
                <a:ext cx="74635" cy="77813"/>
              </a:xfrm>
              <a:prstGeom prst="ellipse">
                <a:avLst/>
              </a:prstGeom>
              <a:solidFill>
                <a:srgbClr val="95A5A6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</p:grpSp>
      <p:grpSp>
        <p:nvGrpSpPr>
          <p:cNvPr id="76" name="Group 225">
            <a:extLst>
              <a:ext uri="{FF2B5EF4-FFF2-40B4-BE49-F238E27FC236}">
                <a16:creationId xmlns:a16="http://schemas.microsoft.com/office/drawing/2014/main" id="{3CC788B6-59AA-42AF-97A9-8F1F622EA7E9}"/>
              </a:ext>
            </a:extLst>
          </p:cNvPr>
          <p:cNvGrpSpPr>
            <a:grpSpLocks/>
          </p:cNvGrpSpPr>
          <p:nvPr/>
        </p:nvGrpSpPr>
        <p:grpSpPr bwMode="auto">
          <a:xfrm>
            <a:off x="5992536" y="5154814"/>
            <a:ext cx="1323839" cy="192769"/>
            <a:chOff x="5388934" y="2903927"/>
            <a:chExt cx="3337100" cy="541672"/>
          </a:xfrm>
        </p:grpSpPr>
        <p:sp>
          <p:nvSpPr>
            <p:cNvPr id="77" name="Rectangle 207">
              <a:extLst>
                <a:ext uri="{FF2B5EF4-FFF2-40B4-BE49-F238E27FC236}">
                  <a16:creationId xmlns:a16="http://schemas.microsoft.com/office/drawing/2014/main" id="{4935A516-F002-4424-9D02-3309A0932790}"/>
                </a:ext>
              </a:extLst>
            </p:cNvPr>
            <p:cNvSpPr/>
            <p:nvPr/>
          </p:nvSpPr>
          <p:spPr bwMode="auto">
            <a:xfrm>
              <a:off x="5390131" y="2902498"/>
              <a:ext cx="789340" cy="505185"/>
            </a:xfrm>
            <a:prstGeom prst="rect">
              <a:avLst/>
            </a:prstGeom>
            <a:solidFill>
              <a:srgbClr val="2980B9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8" name="Rectangle 208">
              <a:extLst>
                <a:ext uri="{FF2B5EF4-FFF2-40B4-BE49-F238E27FC236}">
                  <a16:creationId xmlns:a16="http://schemas.microsoft.com/office/drawing/2014/main" id="{F15843AC-9A68-46B5-A48D-55A3A5F121C6}"/>
                </a:ext>
              </a:extLst>
            </p:cNvPr>
            <p:cNvSpPr/>
            <p:nvPr/>
          </p:nvSpPr>
          <p:spPr bwMode="auto">
            <a:xfrm>
              <a:off x="5681256" y="2972755"/>
              <a:ext cx="213093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9" name="Rectangle 209">
              <a:extLst>
                <a:ext uri="{FF2B5EF4-FFF2-40B4-BE49-F238E27FC236}">
                  <a16:creationId xmlns:a16="http://schemas.microsoft.com/office/drawing/2014/main" id="{1CA888A7-EFDA-43C7-B5A5-98EED0E7505D}"/>
                </a:ext>
              </a:extLst>
            </p:cNvPr>
            <p:cNvSpPr/>
            <p:nvPr/>
          </p:nvSpPr>
          <p:spPr bwMode="auto">
            <a:xfrm>
              <a:off x="5930364" y="2972755"/>
              <a:ext cx="210091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80" name="Rectangle 210">
              <a:extLst>
                <a:ext uri="{FF2B5EF4-FFF2-40B4-BE49-F238E27FC236}">
                  <a16:creationId xmlns:a16="http://schemas.microsoft.com/office/drawing/2014/main" id="{0C6ED9FC-2B9D-46EB-A122-730489C25C0B}"/>
                </a:ext>
              </a:extLst>
            </p:cNvPr>
            <p:cNvSpPr/>
            <p:nvPr/>
          </p:nvSpPr>
          <p:spPr bwMode="auto">
            <a:xfrm>
              <a:off x="6170468" y="2902498"/>
              <a:ext cx="207089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81" name="Rectangle 211">
              <a:extLst>
                <a:ext uri="{FF2B5EF4-FFF2-40B4-BE49-F238E27FC236}">
                  <a16:creationId xmlns:a16="http://schemas.microsoft.com/office/drawing/2014/main" id="{F2B9BE9B-8F09-4345-BA04-F5621BD5DFD9}"/>
                </a:ext>
              </a:extLst>
            </p:cNvPr>
            <p:cNvSpPr/>
            <p:nvPr/>
          </p:nvSpPr>
          <p:spPr bwMode="auto">
            <a:xfrm>
              <a:off x="6377556" y="2902498"/>
              <a:ext cx="207090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82" name="Rectangle 212">
              <a:extLst>
                <a:ext uri="{FF2B5EF4-FFF2-40B4-BE49-F238E27FC236}">
                  <a16:creationId xmlns:a16="http://schemas.microsoft.com/office/drawing/2014/main" id="{9C06B1EC-C9A7-4499-AE13-3C7A837E57A4}"/>
                </a:ext>
              </a:extLst>
            </p:cNvPr>
            <p:cNvSpPr/>
            <p:nvPr/>
          </p:nvSpPr>
          <p:spPr bwMode="auto">
            <a:xfrm rot="16200000">
              <a:off x="6408587" y="3069553"/>
              <a:ext cx="505185" cy="17107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83" name="Rectangle 213">
              <a:extLst>
                <a:ext uri="{FF2B5EF4-FFF2-40B4-BE49-F238E27FC236}">
                  <a16:creationId xmlns:a16="http://schemas.microsoft.com/office/drawing/2014/main" id="{A24097CD-22E0-43DF-B64F-C22D4F2D38DC}"/>
                </a:ext>
              </a:extLst>
            </p:cNvPr>
            <p:cNvSpPr/>
            <p:nvPr/>
          </p:nvSpPr>
          <p:spPr bwMode="auto">
            <a:xfrm>
              <a:off x="6740714" y="2902498"/>
              <a:ext cx="501216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84" name="Rectangle 214">
              <a:extLst>
                <a:ext uri="{FF2B5EF4-FFF2-40B4-BE49-F238E27FC236}">
                  <a16:creationId xmlns:a16="http://schemas.microsoft.com/office/drawing/2014/main" id="{CA05D993-748E-4834-BFF4-049DEA95712E}"/>
                </a:ext>
              </a:extLst>
            </p:cNvPr>
            <p:cNvSpPr/>
            <p:nvPr/>
          </p:nvSpPr>
          <p:spPr bwMode="auto">
            <a:xfrm>
              <a:off x="7241930" y="2902498"/>
              <a:ext cx="1449627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85" name="Elbow Connector 236">
              <a:extLst>
                <a:ext uri="{FF2B5EF4-FFF2-40B4-BE49-F238E27FC236}">
                  <a16:creationId xmlns:a16="http://schemas.microsoft.com/office/drawing/2014/main" id="{622C19D6-0A5D-4E9E-8C61-3AE22DB0FB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391342" y="2596151"/>
              <a:ext cx="251461" cy="1447434"/>
            </a:xfrm>
            <a:prstGeom prst="bentConnector3">
              <a:avLst>
                <a:gd name="adj1" fmla="val 19090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Elbow Connector 237">
              <a:extLst>
                <a:ext uri="{FF2B5EF4-FFF2-40B4-BE49-F238E27FC236}">
                  <a16:creationId xmlns:a16="http://schemas.microsoft.com/office/drawing/2014/main" id="{05279E36-67E5-43B7-A4D8-83EB235AFB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234134" y="1990275"/>
              <a:ext cx="251463" cy="2659185"/>
            </a:xfrm>
            <a:prstGeom prst="bentConnector3">
              <a:avLst>
                <a:gd name="adj1" fmla="val 246306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Oval 217">
              <a:extLst>
                <a:ext uri="{FF2B5EF4-FFF2-40B4-BE49-F238E27FC236}">
                  <a16:creationId xmlns:a16="http://schemas.microsoft.com/office/drawing/2014/main" id="{6DFEBEE0-1519-4AD5-A97F-94B9B1A1B9F8}"/>
                </a:ext>
              </a:extLst>
            </p:cNvPr>
            <p:cNvSpPr/>
            <p:nvPr/>
          </p:nvSpPr>
          <p:spPr bwMode="auto">
            <a:xfrm>
              <a:off x="5756289" y="3116617"/>
              <a:ext cx="75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88" name="Oval 218">
              <a:extLst>
                <a:ext uri="{FF2B5EF4-FFF2-40B4-BE49-F238E27FC236}">
                  <a16:creationId xmlns:a16="http://schemas.microsoft.com/office/drawing/2014/main" id="{CF1B7B59-DC36-4405-A0EB-14787F725A9B}"/>
                </a:ext>
              </a:extLst>
            </p:cNvPr>
            <p:cNvSpPr/>
            <p:nvPr/>
          </p:nvSpPr>
          <p:spPr bwMode="auto">
            <a:xfrm>
              <a:off x="5993390" y="3116617"/>
              <a:ext cx="75033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89" name="Oval 219">
              <a:extLst>
                <a:ext uri="{FF2B5EF4-FFF2-40B4-BE49-F238E27FC236}">
                  <a16:creationId xmlns:a16="http://schemas.microsoft.com/office/drawing/2014/main" id="{5B699EEF-BF02-4EBB-BAD5-7734BF9C22D4}"/>
                </a:ext>
              </a:extLst>
            </p:cNvPr>
            <p:cNvSpPr/>
            <p:nvPr/>
          </p:nvSpPr>
          <p:spPr bwMode="auto">
            <a:xfrm>
              <a:off x="7202914" y="3367536"/>
              <a:ext cx="75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0" name="Oval 220">
              <a:extLst>
                <a:ext uri="{FF2B5EF4-FFF2-40B4-BE49-F238E27FC236}">
                  <a16:creationId xmlns:a16="http://schemas.microsoft.com/office/drawing/2014/main" id="{B0C66423-91FF-44AC-9C24-A2BD7BB19314}"/>
                </a:ext>
              </a:extLst>
            </p:cNvPr>
            <p:cNvSpPr/>
            <p:nvPr/>
          </p:nvSpPr>
          <p:spPr bwMode="auto">
            <a:xfrm>
              <a:off x="8652540" y="336753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</p:grpSp>
      <p:grpSp>
        <p:nvGrpSpPr>
          <p:cNvPr id="91" name="Group 205">
            <a:extLst>
              <a:ext uri="{FF2B5EF4-FFF2-40B4-BE49-F238E27FC236}">
                <a16:creationId xmlns:a16="http://schemas.microsoft.com/office/drawing/2014/main" id="{CB3B46AA-413C-4397-842C-05A2B33470BB}"/>
              </a:ext>
            </a:extLst>
          </p:cNvPr>
          <p:cNvGrpSpPr>
            <a:grpSpLocks/>
          </p:cNvGrpSpPr>
          <p:nvPr/>
        </p:nvGrpSpPr>
        <p:grpSpPr bwMode="auto">
          <a:xfrm>
            <a:off x="4948565" y="5154814"/>
            <a:ext cx="1058221" cy="192769"/>
            <a:chOff x="5388934" y="2903927"/>
            <a:chExt cx="2667537" cy="541672"/>
          </a:xfrm>
        </p:grpSpPr>
        <p:sp>
          <p:nvSpPr>
            <p:cNvPr id="92" name="Rectangle 193">
              <a:extLst>
                <a:ext uri="{FF2B5EF4-FFF2-40B4-BE49-F238E27FC236}">
                  <a16:creationId xmlns:a16="http://schemas.microsoft.com/office/drawing/2014/main" id="{764DB70B-FF37-4FFA-8F6F-A44772636BB3}"/>
                </a:ext>
              </a:extLst>
            </p:cNvPr>
            <p:cNvSpPr/>
            <p:nvPr/>
          </p:nvSpPr>
          <p:spPr bwMode="auto">
            <a:xfrm>
              <a:off x="5389607" y="2902498"/>
              <a:ext cx="789342" cy="505185"/>
            </a:xfrm>
            <a:prstGeom prst="rect">
              <a:avLst/>
            </a:prstGeom>
            <a:solidFill>
              <a:srgbClr val="2980B9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3" name="Rectangle 194">
              <a:extLst>
                <a:ext uri="{FF2B5EF4-FFF2-40B4-BE49-F238E27FC236}">
                  <a16:creationId xmlns:a16="http://schemas.microsoft.com/office/drawing/2014/main" id="{B1FC212C-E9BD-4F91-A510-1B458CA729C0}"/>
                </a:ext>
              </a:extLst>
            </p:cNvPr>
            <p:cNvSpPr/>
            <p:nvPr/>
          </p:nvSpPr>
          <p:spPr bwMode="auto">
            <a:xfrm>
              <a:off x="5683734" y="2972755"/>
              <a:ext cx="210091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4" name="Rectangle 195">
              <a:extLst>
                <a:ext uri="{FF2B5EF4-FFF2-40B4-BE49-F238E27FC236}">
                  <a16:creationId xmlns:a16="http://schemas.microsoft.com/office/drawing/2014/main" id="{F195992A-8F5A-4D42-90B8-CB2EEEDEB1AA}"/>
                </a:ext>
              </a:extLst>
            </p:cNvPr>
            <p:cNvSpPr/>
            <p:nvPr/>
          </p:nvSpPr>
          <p:spPr bwMode="auto">
            <a:xfrm>
              <a:off x="5929841" y="2972755"/>
              <a:ext cx="213093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5" name="Rectangle 196">
              <a:extLst>
                <a:ext uri="{FF2B5EF4-FFF2-40B4-BE49-F238E27FC236}">
                  <a16:creationId xmlns:a16="http://schemas.microsoft.com/office/drawing/2014/main" id="{F0EE1022-F89D-4774-B494-2F60AE187E27}"/>
                </a:ext>
              </a:extLst>
            </p:cNvPr>
            <p:cNvSpPr/>
            <p:nvPr/>
          </p:nvSpPr>
          <p:spPr bwMode="auto">
            <a:xfrm>
              <a:off x="6169945" y="2902498"/>
              <a:ext cx="210091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6" name="Rectangle 197">
              <a:extLst>
                <a:ext uri="{FF2B5EF4-FFF2-40B4-BE49-F238E27FC236}">
                  <a16:creationId xmlns:a16="http://schemas.microsoft.com/office/drawing/2014/main" id="{85822E99-4C45-47A9-B781-DF8584E89131}"/>
                </a:ext>
              </a:extLst>
            </p:cNvPr>
            <p:cNvSpPr/>
            <p:nvPr/>
          </p:nvSpPr>
          <p:spPr bwMode="auto">
            <a:xfrm>
              <a:off x="6380036" y="2902498"/>
              <a:ext cx="207091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7" name="Rectangle 198">
              <a:extLst>
                <a:ext uri="{FF2B5EF4-FFF2-40B4-BE49-F238E27FC236}">
                  <a16:creationId xmlns:a16="http://schemas.microsoft.com/office/drawing/2014/main" id="{812CE2C8-1138-46FB-94D9-93A3AD018C1A}"/>
                </a:ext>
              </a:extLst>
            </p:cNvPr>
            <p:cNvSpPr/>
            <p:nvPr/>
          </p:nvSpPr>
          <p:spPr bwMode="auto">
            <a:xfrm rot="16200000">
              <a:off x="6409567" y="3068052"/>
              <a:ext cx="505185" cy="17407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8" name="Rectangle 199">
              <a:extLst>
                <a:ext uri="{FF2B5EF4-FFF2-40B4-BE49-F238E27FC236}">
                  <a16:creationId xmlns:a16="http://schemas.microsoft.com/office/drawing/2014/main" id="{0B8B96ED-9639-4836-8CF9-AE0A8FCB7223}"/>
                </a:ext>
              </a:extLst>
            </p:cNvPr>
            <p:cNvSpPr/>
            <p:nvPr/>
          </p:nvSpPr>
          <p:spPr bwMode="auto">
            <a:xfrm>
              <a:off x="6740191" y="2902498"/>
              <a:ext cx="501218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9" name="Rectangle 200">
              <a:extLst>
                <a:ext uri="{FF2B5EF4-FFF2-40B4-BE49-F238E27FC236}">
                  <a16:creationId xmlns:a16="http://schemas.microsoft.com/office/drawing/2014/main" id="{23B0A6F6-2153-4AEA-B45D-186F8F23510C}"/>
                </a:ext>
              </a:extLst>
            </p:cNvPr>
            <p:cNvSpPr/>
            <p:nvPr/>
          </p:nvSpPr>
          <p:spPr bwMode="auto">
            <a:xfrm>
              <a:off x="7241409" y="2902498"/>
              <a:ext cx="783338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100" name="Elbow Connector 218">
              <a:extLst>
                <a:ext uri="{FF2B5EF4-FFF2-40B4-BE49-F238E27FC236}">
                  <a16:creationId xmlns:a16="http://schemas.microsoft.com/office/drawing/2014/main" id="{0600EA78-13EC-49F5-84CC-4C42F86C49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391342" y="2596151"/>
              <a:ext cx="251461" cy="1447434"/>
            </a:xfrm>
            <a:prstGeom prst="bentConnector3">
              <a:avLst>
                <a:gd name="adj1" fmla="val 19090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Elbow Connector 219">
              <a:extLst>
                <a:ext uri="{FF2B5EF4-FFF2-40B4-BE49-F238E27FC236}">
                  <a16:creationId xmlns:a16="http://schemas.microsoft.com/office/drawing/2014/main" id="{2AC3B38D-FE84-4432-AC60-34856E2418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899354" y="2325057"/>
              <a:ext cx="251461" cy="1989622"/>
            </a:xfrm>
            <a:prstGeom prst="bentConnector3">
              <a:avLst>
                <a:gd name="adj1" fmla="val 241412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" name="Oval 203">
              <a:extLst>
                <a:ext uri="{FF2B5EF4-FFF2-40B4-BE49-F238E27FC236}">
                  <a16:creationId xmlns:a16="http://schemas.microsoft.com/office/drawing/2014/main" id="{113630AA-7C1E-4B55-B903-0BF9C1D952FD}"/>
                </a:ext>
              </a:extLst>
            </p:cNvPr>
            <p:cNvSpPr/>
            <p:nvPr/>
          </p:nvSpPr>
          <p:spPr bwMode="auto">
            <a:xfrm>
              <a:off x="5758768" y="311661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03" name="Oval 204">
              <a:extLst>
                <a:ext uri="{FF2B5EF4-FFF2-40B4-BE49-F238E27FC236}">
                  <a16:creationId xmlns:a16="http://schemas.microsoft.com/office/drawing/2014/main" id="{AFA2E001-1DF2-4D7E-83D5-B21B6D1200E5}"/>
                </a:ext>
              </a:extLst>
            </p:cNvPr>
            <p:cNvSpPr/>
            <p:nvPr/>
          </p:nvSpPr>
          <p:spPr bwMode="auto">
            <a:xfrm>
              <a:off x="5995869" y="311661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04" name="Oval 205">
              <a:extLst>
                <a:ext uri="{FF2B5EF4-FFF2-40B4-BE49-F238E27FC236}">
                  <a16:creationId xmlns:a16="http://schemas.microsoft.com/office/drawing/2014/main" id="{6CF4A96A-7F68-4DF3-965D-97DC95801539}"/>
                </a:ext>
              </a:extLst>
            </p:cNvPr>
            <p:cNvSpPr/>
            <p:nvPr/>
          </p:nvSpPr>
          <p:spPr bwMode="auto">
            <a:xfrm>
              <a:off x="7205394" y="336753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05" name="Oval 206">
              <a:extLst>
                <a:ext uri="{FF2B5EF4-FFF2-40B4-BE49-F238E27FC236}">
                  <a16:creationId xmlns:a16="http://schemas.microsoft.com/office/drawing/2014/main" id="{618FCD9F-9BB6-44FC-BC55-71740FFDAA51}"/>
                </a:ext>
              </a:extLst>
            </p:cNvPr>
            <p:cNvSpPr/>
            <p:nvPr/>
          </p:nvSpPr>
          <p:spPr bwMode="auto">
            <a:xfrm>
              <a:off x="7985731" y="336753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</p:grpSp>
      <p:sp>
        <p:nvSpPr>
          <p:cNvPr id="106" name="Oval 172">
            <a:extLst>
              <a:ext uri="{FF2B5EF4-FFF2-40B4-BE49-F238E27FC236}">
                <a16:creationId xmlns:a16="http://schemas.microsoft.com/office/drawing/2014/main" id="{42A714AB-3DA3-47B1-8E26-E4C9C35EE81D}"/>
              </a:ext>
            </a:extLst>
          </p:cNvPr>
          <p:cNvSpPr/>
          <p:nvPr/>
        </p:nvSpPr>
        <p:spPr bwMode="auto">
          <a:xfrm>
            <a:off x="4929782" y="5130493"/>
            <a:ext cx="28575" cy="27384"/>
          </a:xfrm>
          <a:prstGeom prst="ellipse">
            <a:avLst/>
          </a:prstGeom>
          <a:solidFill>
            <a:srgbClr val="95A5A6"/>
          </a:solidFill>
          <a:ln w="25400" cap="flat" cmpd="sng" algn="ctr">
            <a:solidFill>
              <a:srgbClr val="95A5A6">
                <a:shade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7" name="Oval 173">
            <a:extLst>
              <a:ext uri="{FF2B5EF4-FFF2-40B4-BE49-F238E27FC236}">
                <a16:creationId xmlns:a16="http://schemas.microsoft.com/office/drawing/2014/main" id="{CD51B997-6B4B-4791-A561-C81BF5FB57D1}"/>
              </a:ext>
            </a:extLst>
          </p:cNvPr>
          <p:cNvSpPr/>
          <p:nvPr/>
        </p:nvSpPr>
        <p:spPr bwMode="auto">
          <a:xfrm>
            <a:off x="5983486" y="5131683"/>
            <a:ext cx="29766" cy="27385"/>
          </a:xfrm>
          <a:prstGeom prst="ellipse">
            <a:avLst/>
          </a:prstGeom>
          <a:solidFill>
            <a:srgbClr val="95A5A6"/>
          </a:solidFill>
          <a:ln w="25400" cap="flat" cmpd="sng" algn="ctr">
            <a:solidFill>
              <a:srgbClr val="95A5A6">
                <a:shade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cxnSp>
        <p:nvCxnSpPr>
          <p:cNvPr id="108" name="Elbow Connector 246">
            <a:extLst>
              <a:ext uri="{FF2B5EF4-FFF2-40B4-BE49-F238E27FC236}">
                <a16:creationId xmlns:a16="http://schemas.microsoft.com/office/drawing/2014/main" id="{79C2E23C-C5FA-4260-B510-8BBD6F4E706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083471" y="4587956"/>
            <a:ext cx="403082" cy="682519"/>
          </a:xfrm>
          <a:prstGeom prst="bentConnector3">
            <a:avLst>
              <a:gd name="adj1" fmla="val 70009"/>
            </a:avLst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" name="Elbow Connector 251">
            <a:extLst>
              <a:ext uri="{FF2B5EF4-FFF2-40B4-BE49-F238E27FC236}">
                <a16:creationId xmlns:a16="http://schemas.microsoft.com/office/drawing/2014/main" id="{C0D865EE-EC9E-4DE3-9C97-4E0EDFBB2D9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717628" y="4850811"/>
            <a:ext cx="403807" cy="15753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0" name="Group 254">
            <a:extLst>
              <a:ext uri="{FF2B5EF4-FFF2-40B4-BE49-F238E27FC236}">
                <a16:creationId xmlns:a16="http://schemas.microsoft.com/office/drawing/2014/main" id="{9E896117-7E0F-458D-AF76-F54978C92366}"/>
              </a:ext>
            </a:extLst>
          </p:cNvPr>
          <p:cNvGrpSpPr>
            <a:grpSpLocks/>
          </p:cNvGrpSpPr>
          <p:nvPr/>
        </p:nvGrpSpPr>
        <p:grpSpPr bwMode="auto">
          <a:xfrm>
            <a:off x="4954586" y="5572856"/>
            <a:ext cx="1771700" cy="192769"/>
            <a:chOff x="5388934" y="2903927"/>
            <a:chExt cx="4466058" cy="541672"/>
          </a:xfrm>
        </p:grpSpPr>
        <p:sp>
          <p:nvSpPr>
            <p:cNvPr id="111" name="Rectangle 179">
              <a:extLst>
                <a:ext uri="{FF2B5EF4-FFF2-40B4-BE49-F238E27FC236}">
                  <a16:creationId xmlns:a16="http://schemas.microsoft.com/office/drawing/2014/main" id="{A60FE633-AFE5-4DB2-9B71-D95515AF01F2}"/>
                </a:ext>
              </a:extLst>
            </p:cNvPr>
            <p:cNvSpPr/>
            <p:nvPr/>
          </p:nvSpPr>
          <p:spPr bwMode="auto">
            <a:xfrm>
              <a:off x="5389437" y="2905474"/>
              <a:ext cx="789340" cy="501841"/>
            </a:xfrm>
            <a:prstGeom prst="rect">
              <a:avLst/>
            </a:prstGeom>
            <a:solidFill>
              <a:srgbClr val="2980B9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12" name="Rectangle 180">
              <a:extLst>
                <a:ext uri="{FF2B5EF4-FFF2-40B4-BE49-F238E27FC236}">
                  <a16:creationId xmlns:a16="http://schemas.microsoft.com/office/drawing/2014/main" id="{C55C9F56-5B4C-4BE7-94EC-408A1912F811}"/>
                </a:ext>
              </a:extLst>
            </p:cNvPr>
            <p:cNvSpPr/>
            <p:nvPr/>
          </p:nvSpPr>
          <p:spPr bwMode="auto">
            <a:xfrm>
              <a:off x="5683564" y="2972386"/>
              <a:ext cx="210091" cy="364670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13" name="Rectangle 181">
              <a:extLst>
                <a:ext uri="{FF2B5EF4-FFF2-40B4-BE49-F238E27FC236}">
                  <a16:creationId xmlns:a16="http://schemas.microsoft.com/office/drawing/2014/main" id="{DEC5A651-7563-4E03-A3F7-FDAD09C4C089}"/>
                </a:ext>
              </a:extLst>
            </p:cNvPr>
            <p:cNvSpPr/>
            <p:nvPr/>
          </p:nvSpPr>
          <p:spPr bwMode="auto">
            <a:xfrm>
              <a:off x="5929671" y="2972386"/>
              <a:ext cx="213091" cy="364670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14" name="Rectangle 182">
              <a:extLst>
                <a:ext uri="{FF2B5EF4-FFF2-40B4-BE49-F238E27FC236}">
                  <a16:creationId xmlns:a16="http://schemas.microsoft.com/office/drawing/2014/main" id="{1C810F85-7FA4-429B-9176-FDD6AE5E1CED}"/>
                </a:ext>
              </a:extLst>
            </p:cNvPr>
            <p:cNvSpPr/>
            <p:nvPr/>
          </p:nvSpPr>
          <p:spPr bwMode="auto">
            <a:xfrm>
              <a:off x="6169774" y="2905474"/>
              <a:ext cx="210091" cy="501841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15" name="Rectangle 183">
              <a:extLst>
                <a:ext uri="{FF2B5EF4-FFF2-40B4-BE49-F238E27FC236}">
                  <a16:creationId xmlns:a16="http://schemas.microsoft.com/office/drawing/2014/main" id="{B2B737A8-9E9D-4A51-A0BB-102F41CC9051}"/>
                </a:ext>
              </a:extLst>
            </p:cNvPr>
            <p:cNvSpPr/>
            <p:nvPr/>
          </p:nvSpPr>
          <p:spPr bwMode="auto">
            <a:xfrm>
              <a:off x="6379865" y="2905474"/>
              <a:ext cx="207089" cy="501841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16" name="Rectangle 184">
              <a:extLst>
                <a:ext uri="{FF2B5EF4-FFF2-40B4-BE49-F238E27FC236}">
                  <a16:creationId xmlns:a16="http://schemas.microsoft.com/office/drawing/2014/main" id="{BC41DDB2-FB0D-4471-89AE-550679989E99}"/>
                </a:ext>
              </a:extLst>
            </p:cNvPr>
            <p:cNvSpPr/>
            <p:nvPr/>
          </p:nvSpPr>
          <p:spPr bwMode="auto">
            <a:xfrm rot="16200000">
              <a:off x="6411066" y="3069357"/>
              <a:ext cx="501841" cy="17407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17" name="Rectangle 185">
              <a:extLst>
                <a:ext uri="{FF2B5EF4-FFF2-40B4-BE49-F238E27FC236}">
                  <a16:creationId xmlns:a16="http://schemas.microsoft.com/office/drawing/2014/main" id="{52600B77-2907-43DF-BC2D-6E0F5B2D4574}"/>
                </a:ext>
              </a:extLst>
            </p:cNvPr>
            <p:cNvSpPr/>
            <p:nvPr/>
          </p:nvSpPr>
          <p:spPr bwMode="auto">
            <a:xfrm>
              <a:off x="6740021" y="2905474"/>
              <a:ext cx="2289989" cy="501841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18" name="Rectangle 186">
              <a:extLst>
                <a:ext uri="{FF2B5EF4-FFF2-40B4-BE49-F238E27FC236}">
                  <a16:creationId xmlns:a16="http://schemas.microsoft.com/office/drawing/2014/main" id="{A0439D06-59AC-4F29-AE29-1A061154E1D2}"/>
                </a:ext>
              </a:extLst>
            </p:cNvPr>
            <p:cNvSpPr/>
            <p:nvPr/>
          </p:nvSpPr>
          <p:spPr bwMode="auto">
            <a:xfrm>
              <a:off x="9039015" y="2905474"/>
              <a:ext cx="783338" cy="501841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119" name="Elbow Connector 264">
              <a:extLst>
                <a:ext uri="{FF2B5EF4-FFF2-40B4-BE49-F238E27FC236}">
                  <a16:creationId xmlns:a16="http://schemas.microsoft.com/office/drawing/2014/main" id="{449AA134-1354-402D-9484-E480ACA5E8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282984" y="1704508"/>
              <a:ext cx="251463" cy="3230720"/>
            </a:xfrm>
            <a:prstGeom prst="bentConnector3">
              <a:avLst>
                <a:gd name="adj1" fmla="val 291523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Elbow Connector 265">
              <a:extLst>
                <a:ext uri="{FF2B5EF4-FFF2-40B4-BE49-F238E27FC236}">
                  <a16:creationId xmlns:a16="http://schemas.microsoft.com/office/drawing/2014/main" id="{D272835E-74F7-4475-AEF3-70CD03752A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798613" y="1425796"/>
              <a:ext cx="251463" cy="3788143"/>
            </a:xfrm>
            <a:prstGeom prst="bentConnector3">
              <a:avLst>
                <a:gd name="adj1" fmla="val 211796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1" name="Oval 189">
              <a:extLst>
                <a:ext uri="{FF2B5EF4-FFF2-40B4-BE49-F238E27FC236}">
                  <a16:creationId xmlns:a16="http://schemas.microsoft.com/office/drawing/2014/main" id="{E7EE95A7-3359-4265-96B9-0719F435CB35}"/>
                </a:ext>
              </a:extLst>
            </p:cNvPr>
            <p:cNvSpPr/>
            <p:nvPr/>
          </p:nvSpPr>
          <p:spPr bwMode="auto">
            <a:xfrm>
              <a:off x="5758596" y="311624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22" name="Oval 190">
              <a:extLst>
                <a:ext uri="{FF2B5EF4-FFF2-40B4-BE49-F238E27FC236}">
                  <a16:creationId xmlns:a16="http://schemas.microsoft.com/office/drawing/2014/main" id="{7BD314BD-6E33-4403-8F82-6BFB28E529B9}"/>
                </a:ext>
              </a:extLst>
            </p:cNvPr>
            <p:cNvSpPr/>
            <p:nvPr/>
          </p:nvSpPr>
          <p:spPr bwMode="auto">
            <a:xfrm>
              <a:off x="5992697" y="3116246"/>
              <a:ext cx="75033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23" name="Oval 191">
              <a:extLst>
                <a:ext uri="{FF2B5EF4-FFF2-40B4-BE49-F238E27FC236}">
                  <a16:creationId xmlns:a16="http://schemas.microsoft.com/office/drawing/2014/main" id="{ABCBD312-C211-4FF9-8965-4FB2A730CC92}"/>
                </a:ext>
              </a:extLst>
            </p:cNvPr>
            <p:cNvSpPr/>
            <p:nvPr/>
          </p:nvSpPr>
          <p:spPr bwMode="auto">
            <a:xfrm>
              <a:off x="8987992" y="336716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24" name="Oval 192">
              <a:extLst>
                <a:ext uri="{FF2B5EF4-FFF2-40B4-BE49-F238E27FC236}">
                  <a16:creationId xmlns:a16="http://schemas.microsoft.com/office/drawing/2014/main" id="{0CDD26E5-A208-4E49-A1F2-E12080AEDB29}"/>
                </a:ext>
              </a:extLst>
            </p:cNvPr>
            <p:cNvSpPr/>
            <p:nvPr/>
          </p:nvSpPr>
          <p:spPr bwMode="auto">
            <a:xfrm>
              <a:off x="9783337" y="336716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</p:grpSp>
      <p:sp>
        <p:nvSpPr>
          <p:cNvPr id="125" name="Oval 177">
            <a:extLst>
              <a:ext uri="{FF2B5EF4-FFF2-40B4-BE49-F238E27FC236}">
                <a16:creationId xmlns:a16="http://schemas.microsoft.com/office/drawing/2014/main" id="{E3B70FF4-A85C-41A2-8018-EB1D8967E610}"/>
              </a:ext>
            </a:extLst>
          </p:cNvPr>
          <p:cNvSpPr/>
          <p:nvPr/>
        </p:nvSpPr>
        <p:spPr bwMode="auto">
          <a:xfrm>
            <a:off x="4935736" y="5536496"/>
            <a:ext cx="28575" cy="27385"/>
          </a:xfrm>
          <a:prstGeom prst="ellipse">
            <a:avLst/>
          </a:prstGeom>
          <a:solidFill>
            <a:srgbClr val="95A5A6"/>
          </a:solidFill>
          <a:ln w="25400" cap="flat" cmpd="sng" algn="ctr">
            <a:solidFill>
              <a:srgbClr val="95A5A6">
                <a:shade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cxnSp>
        <p:nvCxnSpPr>
          <p:cNvPr id="126" name="Elbow Connector 271">
            <a:extLst>
              <a:ext uri="{FF2B5EF4-FFF2-40B4-BE49-F238E27FC236}">
                <a16:creationId xmlns:a16="http://schemas.microsoft.com/office/drawing/2014/main" id="{3919C9C6-7D1B-499C-9326-84BC1D0DE80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298681" y="4364257"/>
            <a:ext cx="822152" cy="1548986"/>
          </a:xfrm>
          <a:prstGeom prst="bentConnector4">
            <a:avLst>
              <a:gd name="adj1" fmla="val 29171"/>
              <a:gd name="adj2" fmla="val 103454"/>
            </a:avLst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Conector: angular 127">
            <a:extLst>
              <a:ext uri="{FF2B5EF4-FFF2-40B4-BE49-F238E27FC236}">
                <a16:creationId xmlns:a16="http://schemas.microsoft.com/office/drawing/2014/main" id="{0D743887-F444-4A08-8C23-CA2D36600E74}"/>
              </a:ext>
            </a:extLst>
          </p:cNvPr>
          <p:cNvCxnSpPr>
            <a:cxnSpLocks/>
            <a:stCxn id="92" idx="1"/>
            <a:endCxn id="48" idx="3"/>
          </p:cNvCxnSpPr>
          <p:nvPr/>
        </p:nvCxnSpPr>
        <p:spPr>
          <a:xfrm rot="10800000" flipV="1">
            <a:off x="3843338" y="5244196"/>
            <a:ext cx="1105495" cy="83393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Down Arrow 131">
            <a:extLst>
              <a:ext uri="{FF2B5EF4-FFF2-40B4-BE49-F238E27FC236}">
                <a16:creationId xmlns:a16="http://schemas.microsoft.com/office/drawing/2014/main" id="{0C86FA33-36EE-4C12-86E5-FC5CD997983F}"/>
              </a:ext>
            </a:extLst>
          </p:cNvPr>
          <p:cNvSpPr/>
          <p:nvPr/>
        </p:nvSpPr>
        <p:spPr>
          <a:xfrm>
            <a:off x="9642896" y="2781225"/>
            <a:ext cx="205881" cy="59164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echa: doblada 1">
            <a:extLst>
              <a:ext uri="{FF2B5EF4-FFF2-40B4-BE49-F238E27FC236}">
                <a16:creationId xmlns:a16="http://schemas.microsoft.com/office/drawing/2014/main" id="{699FAD7C-C8D7-4C21-ADEB-F159E69587E4}"/>
              </a:ext>
            </a:extLst>
          </p:cNvPr>
          <p:cNvSpPr/>
          <p:nvPr/>
        </p:nvSpPr>
        <p:spPr>
          <a:xfrm rot="10800000" flipH="1">
            <a:off x="1483940" y="1909676"/>
            <a:ext cx="435174" cy="487680"/>
          </a:xfrm>
          <a:prstGeom prst="ben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31" name="Flecha: doblada 130">
            <a:extLst>
              <a:ext uri="{FF2B5EF4-FFF2-40B4-BE49-F238E27FC236}">
                <a16:creationId xmlns:a16="http://schemas.microsoft.com/office/drawing/2014/main" id="{BEEAC3AC-263A-4497-B6A5-A3C4F812D8DA}"/>
              </a:ext>
            </a:extLst>
          </p:cNvPr>
          <p:cNvSpPr/>
          <p:nvPr/>
        </p:nvSpPr>
        <p:spPr>
          <a:xfrm rot="10800000" flipH="1">
            <a:off x="2410062" y="2605357"/>
            <a:ext cx="435174" cy="487680"/>
          </a:xfrm>
          <a:prstGeom prst="ben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32" name="Flecha: doblada 131">
            <a:extLst>
              <a:ext uri="{FF2B5EF4-FFF2-40B4-BE49-F238E27FC236}">
                <a16:creationId xmlns:a16="http://schemas.microsoft.com/office/drawing/2014/main" id="{4441B53E-79A7-4E6A-98F7-316DB5D61EEC}"/>
              </a:ext>
            </a:extLst>
          </p:cNvPr>
          <p:cNvSpPr/>
          <p:nvPr/>
        </p:nvSpPr>
        <p:spPr>
          <a:xfrm rot="10800000" flipH="1">
            <a:off x="3379588" y="3301341"/>
            <a:ext cx="435174" cy="487680"/>
          </a:xfrm>
          <a:prstGeom prst="ben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F73DE378-7F9F-4441-BF0D-BE46D6E7E41D}"/>
              </a:ext>
            </a:extLst>
          </p:cNvPr>
          <p:cNvGrpSpPr/>
          <p:nvPr/>
        </p:nvGrpSpPr>
        <p:grpSpPr>
          <a:xfrm>
            <a:off x="8290432" y="3241693"/>
            <a:ext cx="2965516" cy="3053727"/>
            <a:chOff x="8693084" y="1737190"/>
            <a:chExt cx="2965516" cy="3053727"/>
          </a:xfrm>
        </p:grpSpPr>
        <p:sp>
          <p:nvSpPr>
            <p:cNvPr id="134" name="Rectángulo: esquina doblada 133">
              <a:extLst>
                <a:ext uri="{FF2B5EF4-FFF2-40B4-BE49-F238E27FC236}">
                  <a16:creationId xmlns:a16="http://schemas.microsoft.com/office/drawing/2014/main" id="{515B1F75-F825-40F4-9FC2-55B229BF32E5}"/>
                </a:ext>
              </a:extLst>
            </p:cNvPr>
            <p:cNvSpPr/>
            <p:nvPr/>
          </p:nvSpPr>
          <p:spPr>
            <a:xfrm flipV="1">
              <a:off x="8788334" y="2067083"/>
              <a:ext cx="2870266" cy="2723834"/>
            </a:xfrm>
            <a:prstGeom prst="foldedCorner">
              <a:avLst>
                <a:gd name="adj" fmla="val 1055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5" name="CuadroTexto 134">
              <a:extLst>
                <a:ext uri="{FF2B5EF4-FFF2-40B4-BE49-F238E27FC236}">
                  <a16:creationId xmlns:a16="http://schemas.microsoft.com/office/drawing/2014/main" id="{FCAD93BC-4A16-48A4-847F-D7E942C2F1AB}"/>
                </a:ext>
              </a:extLst>
            </p:cNvPr>
            <p:cNvSpPr txBox="1"/>
            <p:nvPr/>
          </p:nvSpPr>
          <p:spPr>
            <a:xfrm>
              <a:off x="8693084" y="1737190"/>
              <a:ext cx="8047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File</a:t>
              </a:r>
            </a:p>
          </p:txBody>
        </p:sp>
        <p:pic>
          <p:nvPicPr>
            <p:cNvPr id="136" name="Imagen 135">
              <a:extLst>
                <a:ext uri="{FF2B5EF4-FFF2-40B4-BE49-F238E27FC236}">
                  <a16:creationId xmlns:a16="http://schemas.microsoft.com/office/drawing/2014/main" id="{0F9D3112-F2CA-47E0-9EA7-6C0DA3D8B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9731" y="2317314"/>
              <a:ext cx="1066800" cy="655320"/>
            </a:xfrm>
            <a:prstGeom prst="rect">
              <a:avLst/>
            </a:prstGeom>
          </p:spPr>
        </p:pic>
        <p:pic>
          <p:nvPicPr>
            <p:cNvPr id="137" name="Imagen 136">
              <a:extLst>
                <a:ext uri="{FF2B5EF4-FFF2-40B4-BE49-F238E27FC236}">
                  <a16:creationId xmlns:a16="http://schemas.microsoft.com/office/drawing/2014/main" id="{920096F8-087F-45E4-846B-E9E8FCCB2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1429" y="2317314"/>
              <a:ext cx="1066800" cy="655320"/>
            </a:xfrm>
            <a:prstGeom prst="rect">
              <a:avLst/>
            </a:prstGeom>
          </p:spPr>
        </p:pic>
        <p:pic>
          <p:nvPicPr>
            <p:cNvPr id="138" name="Imagen 137">
              <a:extLst>
                <a:ext uri="{FF2B5EF4-FFF2-40B4-BE49-F238E27FC236}">
                  <a16:creationId xmlns:a16="http://schemas.microsoft.com/office/drawing/2014/main" id="{CB03E216-04F7-46CF-B742-9DCD47D4B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9731" y="3171350"/>
              <a:ext cx="1066800" cy="655320"/>
            </a:xfrm>
            <a:prstGeom prst="rect">
              <a:avLst/>
            </a:prstGeom>
          </p:spPr>
        </p:pic>
        <p:pic>
          <p:nvPicPr>
            <p:cNvPr id="139" name="Imagen 138">
              <a:extLst>
                <a:ext uri="{FF2B5EF4-FFF2-40B4-BE49-F238E27FC236}">
                  <a16:creationId xmlns:a16="http://schemas.microsoft.com/office/drawing/2014/main" id="{0FC7D078-CFB0-4752-9E3C-EE68B6B7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1429" y="3171350"/>
              <a:ext cx="1066800" cy="655320"/>
            </a:xfrm>
            <a:prstGeom prst="rect">
              <a:avLst/>
            </a:prstGeom>
          </p:spPr>
        </p:pic>
        <p:pic>
          <p:nvPicPr>
            <p:cNvPr id="140" name="Imagen 139">
              <a:extLst>
                <a:ext uri="{FF2B5EF4-FFF2-40B4-BE49-F238E27FC236}">
                  <a16:creationId xmlns:a16="http://schemas.microsoft.com/office/drawing/2014/main" id="{577BC813-396B-4086-ABD5-206DFDA9F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9731" y="3938689"/>
              <a:ext cx="1066800" cy="655320"/>
            </a:xfrm>
            <a:prstGeom prst="rect">
              <a:avLst/>
            </a:prstGeom>
          </p:spPr>
        </p:pic>
        <p:pic>
          <p:nvPicPr>
            <p:cNvPr id="141" name="Imagen 140">
              <a:extLst>
                <a:ext uri="{FF2B5EF4-FFF2-40B4-BE49-F238E27FC236}">
                  <a16:creationId xmlns:a16="http://schemas.microsoft.com/office/drawing/2014/main" id="{D721F682-07F8-4FDE-A892-71916AB66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1429" y="3938689"/>
              <a:ext cx="1066800" cy="655320"/>
            </a:xfrm>
            <a:prstGeom prst="rect">
              <a:avLst/>
            </a:prstGeom>
          </p:spPr>
        </p:pic>
      </p:grpSp>
      <p:cxnSp>
        <p:nvCxnSpPr>
          <p:cNvPr id="142" name="Conector: angular 141">
            <a:extLst>
              <a:ext uri="{FF2B5EF4-FFF2-40B4-BE49-F238E27FC236}">
                <a16:creationId xmlns:a16="http://schemas.microsoft.com/office/drawing/2014/main" id="{8F985F0E-C29A-4CB2-8F6C-434EE53800B8}"/>
              </a:ext>
            </a:extLst>
          </p:cNvPr>
          <p:cNvCxnSpPr>
            <a:cxnSpLocks/>
            <a:stCxn id="136" idx="1"/>
          </p:cNvCxnSpPr>
          <p:nvPr/>
        </p:nvCxnSpPr>
        <p:spPr>
          <a:xfrm rot="10800000" flipV="1">
            <a:off x="7379651" y="4149477"/>
            <a:ext cx="1277429" cy="106647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16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Buffer Pool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1087133" y="902095"/>
            <a:ext cx="6322722" cy="60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Conceptos claves</a:t>
            </a:r>
          </a:p>
          <a:p>
            <a:endParaRPr lang="es-CO" dirty="0"/>
          </a:p>
        </p:txBody>
      </p: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49EAEA7A-0EE2-4102-8A39-F87FE0E23057}"/>
              </a:ext>
            </a:extLst>
          </p:cNvPr>
          <p:cNvGrpSpPr/>
          <p:nvPr/>
        </p:nvGrpSpPr>
        <p:grpSpPr>
          <a:xfrm>
            <a:off x="916650" y="1851595"/>
            <a:ext cx="5188766" cy="3269045"/>
            <a:chOff x="4905363" y="1843332"/>
            <a:chExt cx="7127026" cy="4292430"/>
          </a:xfrm>
        </p:grpSpPr>
        <p:sp>
          <p:nvSpPr>
            <p:cNvPr id="133" name="Rectángulo 132">
              <a:extLst>
                <a:ext uri="{FF2B5EF4-FFF2-40B4-BE49-F238E27FC236}">
                  <a16:creationId xmlns:a16="http://schemas.microsoft.com/office/drawing/2014/main" id="{F2B55F42-8917-4EC9-BBDF-A5C1C63BEFDD}"/>
                </a:ext>
              </a:extLst>
            </p:cNvPr>
            <p:cNvSpPr/>
            <p:nvPr/>
          </p:nvSpPr>
          <p:spPr>
            <a:xfrm>
              <a:off x="6977986" y="1843332"/>
              <a:ext cx="3967065" cy="17508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34" name="Google Shape;155;p35">
              <a:extLst>
                <a:ext uri="{FF2B5EF4-FFF2-40B4-BE49-F238E27FC236}">
                  <a16:creationId xmlns:a16="http://schemas.microsoft.com/office/drawing/2014/main" id="{9219FFC6-B829-427E-880C-6F0CEF2B4DE5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837829" y="4712451"/>
              <a:ext cx="830906" cy="92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61;p35">
              <a:extLst>
                <a:ext uri="{FF2B5EF4-FFF2-40B4-BE49-F238E27FC236}">
                  <a16:creationId xmlns:a16="http://schemas.microsoft.com/office/drawing/2014/main" id="{B9B0C54A-5E0F-46A8-884C-1B1D12B01781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31874" y="2267051"/>
              <a:ext cx="1000515" cy="8527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Cilindro 135">
              <a:extLst>
                <a:ext uri="{FF2B5EF4-FFF2-40B4-BE49-F238E27FC236}">
                  <a16:creationId xmlns:a16="http://schemas.microsoft.com/office/drawing/2014/main" id="{371D01D8-485D-460A-8DC8-65B060BB0ADC}"/>
                </a:ext>
              </a:extLst>
            </p:cNvPr>
            <p:cNvSpPr/>
            <p:nvPr/>
          </p:nvSpPr>
          <p:spPr>
            <a:xfrm>
              <a:off x="7224292" y="4346075"/>
              <a:ext cx="3474451" cy="1789687"/>
            </a:xfrm>
            <a:prstGeom prst="ca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7" name="Rectángulo 136">
              <a:extLst>
                <a:ext uri="{FF2B5EF4-FFF2-40B4-BE49-F238E27FC236}">
                  <a16:creationId xmlns:a16="http://schemas.microsoft.com/office/drawing/2014/main" id="{A7281452-9D60-477C-9796-3599A13D8D30}"/>
                </a:ext>
              </a:extLst>
            </p:cNvPr>
            <p:cNvSpPr/>
            <p:nvPr/>
          </p:nvSpPr>
          <p:spPr>
            <a:xfrm>
              <a:off x="8599177" y="2447565"/>
              <a:ext cx="2345873" cy="114666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CO" sz="1600" b="1" dirty="0">
                  <a:solidFill>
                    <a:schemeClr val="bg1">
                      <a:lumMod val="50000"/>
                    </a:schemeClr>
                  </a:solidFill>
                </a:rPr>
                <a:t>Buffer</a:t>
              </a:r>
              <a:endParaRPr lang="es-CO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5F40753D-3C54-4C93-B176-FAAE33E75616}"/>
                </a:ext>
              </a:extLst>
            </p:cNvPr>
            <p:cNvGrpSpPr/>
            <p:nvPr/>
          </p:nvGrpSpPr>
          <p:grpSpPr>
            <a:xfrm>
              <a:off x="8854853" y="3074368"/>
              <a:ext cx="657197" cy="343486"/>
              <a:chOff x="9540746" y="3024469"/>
              <a:chExt cx="657197" cy="343486"/>
            </a:xfrm>
          </p:grpSpPr>
          <p:sp>
            <p:nvSpPr>
              <p:cNvPr id="172" name="Rectángulo 171">
                <a:extLst>
                  <a:ext uri="{FF2B5EF4-FFF2-40B4-BE49-F238E27FC236}">
                    <a16:creationId xmlns:a16="http://schemas.microsoft.com/office/drawing/2014/main" id="{64969338-2CFE-417F-8B6C-C21323704EA0}"/>
                  </a:ext>
                </a:extLst>
              </p:cNvPr>
              <p:cNvSpPr/>
              <p:nvPr/>
            </p:nvSpPr>
            <p:spPr>
              <a:xfrm>
                <a:off x="9540746" y="3024469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3" name="Rectángulo 172">
                <a:extLst>
                  <a:ext uri="{FF2B5EF4-FFF2-40B4-BE49-F238E27FC236}">
                    <a16:creationId xmlns:a16="http://schemas.microsoft.com/office/drawing/2014/main" id="{531DCD6A-076C-429D-B56E-CE1A8195F17B}"/>
                  </a:ext>
                </a:extLst>
              </p:cNvPr>
              <p:cNvSpPr/>
              <p:nvPr/>
            </p:nvSpPr>
            <p:spPr>
              <a:xfrm>
                <a:off x="9914435" y="3024469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139" name="Grupo 138">
              <a:extLst>
                <a:ext uri="{FF2B5EF4-FFF2-40B4-BE49-F238E27FC236}">
                  <a16:creationId xmlns:a16="http://schemas.microsoft.com/office/drawing/2014/main" id="{8BFD210E-E0BA-46E3-BFC0-BB652ADFBFC6}"/>
                </a:ext>
              </a:extLst>
            </p:cNvPr>
            <p:cNvGrpSpPr/>
            <p:nvPr/>
          </p:nvGrpSpPr>
          <p:grpSpPr>
            <a:xfrm>
              <a:off x="8854853" y="1954642"/>
              <a:ext cx="1401218" cy="347490"/>
              <a:chOff x="9540746" y="1904743"/>
              <a:chExt cx="1401218" cy="347490"/>
            </a:xfrm>
          </p:grpSpPr>
          <p:sp>
            <p:nvSpPr>
              <p:cNvPr id="168" name="Rectángulo 167">
                <a:extLst>
                  <a:ext uri="{FF2B5EF4-FFF2-40B4-BE49-F238E27FC236}">
                    <a16:creationId xmlns:a16="http://schemas.microsoft.com/office/drawing/2014/main" id="{B8FF7723-C3E1-4C94-BD0D-B8D4B7290897}"/>
                  </a:ext>
                </a:extLst>
              </p:cNvPr>
              <p:cNvSpPr/>
              <p:nvPr/>
            </p:nvSpPr>
            <p:spPr>
              <a:xfrm>
                <a:off x="9540746" y="1908747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9" name="Rectángulo 168">
                <a:extLst>
                  <a:ext uri="{FF2B5EF4-FFF2-40B4-BE49-F238E27FC236}">
                    <a16:creationId xmlns:a16="http://schemas.microsoft.com/office/drawing/2014/main" id="{3FB56DB0-A943-4ADE-95FF-3DF583941F9C}"/>
                  </a:ext>
                </a:extLst>
              </p:cNvPr>
              <p:cNvSpPr/>
              <p:nvPr/>
            </p:nvSpPr>
            <p:spPr>
              <a:xfrm>
                <a:off x="9914435" y="1908747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0" name="Rectángulo 169">
                <a:extLst>
                  <a:ext uri="{FF2B5EF4-FFF2-40B4-BE49-F238E27FC236}">
                    <a16:creationId xmlns:a16="http://schemas.microsoft.com/office/drawing/2014/main" id="{69FA6B89-E1E8-4187-A109-7CFBD06BD587}"/>
                  </a:ext>
                </a:extLst>
              </p:cNvPr>
              <p:cNvSpPr/>
              <p:nvPr/>
            </p:nvSpPr>
            <p:spPr>
              <a:xfrm>
                <a:off x="10288124" y="1906474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1" name="Rectángulo 170">
                <a:extLst>
                  <a:ext uri="{FF2B5EF4-FFF2-40B4-BE49-F238E27FC236}">
                    <a16:creationId xmlns:a16="http://schemas.microsoft.com/office/drawing/2014/main" id="{CA5F12B9-66CB-4949-9038-429EA60C615D}"/>
                  </a:ext>
                </a:extLst>
              </p:cNvPr>
              <p:cNvSpPr/>
              <p:nvPr/>
            </p:nvSpPr>
            <p:spPr>
              <a:xfrm>
                <a:off x="10658456" y="1904743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140" name="Grupo 139">
              <a:extLst>
                <a:ext uri="{FF2B5EF4-FFF2-40B4-BE49-F238E27FC236}">
                  <a16:creationId xmlns:a16="http://schemas.microsoft.com/office/drawing/2014/main" id="{D822E9A3-B36A-474F-A420-6FF2D9F46A27}"/>
                </a:ext>
              </a:extLst>
            </p:cNvPr>
            <p:cNvGrpSpPr/>
            <p:nvPr/>
          </p:nvGrpSpPr>
          <p:grpSpPr>
            <a:xfrm>
              <a:off x="7131384" y="2547038"/>
              <a:ext cx="657197" cy="343486"/>
              <a:chOff x="9540746" y="3024469"/>
              <a:chExt cx="657197" cy="343486"/>
            </a:xfrm>
          </p:grpSpPr>
          <p:sp>
            <p:nvSpPr>
              <p:cNvPr id="166" name="Rectángulo 165">
                <a:extLst>
                  <a:ext uri="{FF2B5EF4-FFF2-40B4-BE49-F238E27FC236}">
                    <a16:creationId xmlns:a16="http://schemas.microsoft.com/office/drawing/2014/main" id="{56B88306-F8BC-4EB9-8FAC-648D48BCF9FE}"/>
                  </a:ext>
                </a:extLst>
              </p:cNvPr>
              <p:cNvSpPr/>
              <p:nvPr/>
            </p:nvSpPr>
            <p:spPr>
              <a:xfrm>
                <a:off x="9540746" y="3024469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7" name="Rectángulo 166">
                <a:extLst>
                  <a:ext uri="{FF2B5EF4-FFF2-40B4-BE49-F238E27FC236}">
                    <a16:creationId xmlns:a16="http://schemas.microsoft.com/office/drawing/2014/main" id="{8C122B83-993A-4749-A775-43B0272B5982}"/>
                  </a:ext>
                </a:extLst>
              </p:cNvPr>
              <p:cNvSpPr/>
              <p:nvPr/>
            </p:nvSpPr>
            <p:spPr>
              <a:xfrm>
                <a:off x="9914435" y="3024469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141" name="Grupo 140">
              <a:extLst>
                <a:ext uri="{FF2B5EF4-FFF2-40B4-BE49-F238E27FC236}">
                  <a16:creationId xmlns:a16="http://schemas.microsoft.com/office/drawing/2014/main" id="{F7412594-3E7B-4684-A90D-4EE48EB31ADB}"/>
                </a:ext>
              </a:extLst>
            </p:cNvPr>
            <p:cNvGrpSpPr/>
            <p:nvPr/>
          </p:nvGrpSpPr>
          <p:grpSpPr>
            <a:xfrm>
              <a:off x="7135856" y="3004788"/>
              <a:ext cx="1030886" cy="345759"/>
              <a:chOff x="9540746" y="1906474"/>
              <a:chExt cx="1030886" cy="345759"/>
            </a:xfrm>
          </p:grpSpPr>
          <p:sp>
            <p:nvSpPr>
              <p:cNvPr id="163" name="Rectángulo 162">
                <a:extLst>
                  <a:ext uri="{FF2B5EF4-FFF2-40B4-BE49-F238E27FC236}">
                    <a16:creationId xmlns:a16="http://schemas.microsoft.com/office/drawing/2014/main" id="{4FBC9711-E3C8-4D71-86D8-74B14F06E2DD}"/>
                  </a:ext>
                </a:extLst>
              </p:cNvPr>
              <p:cNvSpPr/>
              <p:nvPr/>
            </p:nvSpPr>
            <p:spPr>
              <a:xfrm>
                <a:off x="9540746" y="1908747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4" name="Rectángulo 163">
                <a:extLst>
                  <a:ext uri="{FF2B5EF4-FFF2-40B4-BE49-F238E27FC236}">
                    <a16:creationId xmlns:a16="http://schemas.microsoft.com/office/drawing/2014/main" id="{FF3CEA66-6A36-4CA0-8F51-97D24D821E83}"/>
                  </a:ext>
                </a:extLst>
              </p:cNvPr>
              <p:cNvSpPr/>
              <p:nvPr/>
            </p:nvSpPr>
            <p:spPr>
              <a:xfrm>
                <a:off x="9914435" y="1908747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5" name="Rectángulo 164">
                <a:extLst>
                  <a:ext uri="{FF2B5EF4-FFF2-40B4-BE49-F238E27FC236}">
                    <a16:creationId xmlns:a16="http://schemas.microsoft.com/office/drawing/2014/main" id="{6C5F583E-3305-43C3-B5BD-35CD8EC6143B}"/>
                  </a:ext>
                </a:extLst>
              </p:cNvPr>
              <p:cNvSpPr/>
              <p:nvPr/>
            </p:nvSpPr>
            <p:spPr>
              <a:xfrm>
                <a:off x="10288124" y="1906474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142" name="CuadroTexto 141">
              <a:extLst>
                <a:ext uri="{FF2B5EF4-FFF2-40B4-BE49-F238E27FC236}">
                  <a16:creationId xmlns:a16="http://schemas.microsoft.com/office/drawing/2014/main" id="{3966AF79-EEDF-467E-AC34-980A43C9E495}"/>
                </a:ext>
              </a:extLst>
            </p:cNvPr>
            <p:cNvSpPr txBox="1"/>
            <p:nvPr/>
          </p:nvSpPr>
          <p:spPr>
            <a:xfrm>
              <a:off x="7043816" y="1937821"/>
              <a:ext cx="1094848" cy="606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1200" b="1" dirty="0">
                  <a:solidFill>
                    <a:schemeClr val="bg1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RAM Pages</a:t>
              </a:r>
            </a:p>
          </p:txBody>
        </p:sp>
        <p:sp>
          <p:nvSpPr>
            <p:cNvPr id="143" name="CuadroTexto 142">
              <a:extLst>
                <a:ext uri="{FF2B5EF4-FFF2-40B4-BE49-F238E27FC236}">
                  <a16:creationId xmlns:a16="http://schemas.microsoft.com/office/drawing/2014/main" id="{FA6261BD-A524-4A5A-A971-578076D4399D}"/>
                </a:ext>
              </a:extLst>
            </p:cNvPr>
            <p:cNvSpPr txBox="1"/>
            <p:nvPr/>
          </p:nvSpPr>
          <p:spPr>
            <a:xfrm>
              <a:off x="9524898" y="3017936"/>
              <a:ext cx="526069" cy="3435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s-CO" sz="1100" b="1" dirty="0">
                  <a:solidFill>
                    <a:schemeClr val="bg1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 . .</a:t>
              </a:r>
            </a:p>
          </p:txBody>
        </p:sp>
        <p:sp>
          <p:nvSpPr>
            <p:cNvPr id="144" name="Rectángulo: esquinas redondeadas 143">
              <a:extLst>
                <a:ext uri="{FF2B5EF4-FFF2-40B4-BE49-F238E27FC236}">
                  <a16:creationId xmlns:a16="http://schemas.microsoft.com/office/drawing/2014/main" id="{648C1782-10ED-46DB-A9D2-1EC541DD7AE0}"/>
                </a:ext>
              </a:extLst>
            </p:cNvPr>
            <p:cNvSpPr/>
            <p:nvPr/>
          </p:nvSpPr>
          <p:spPr>
            <a:xfrm>
              <a:off x="8526473" y="5380065"/>
              <a:ext cx="1971153" cy="51157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45" name="Grupo 144">
              <a:extLst>
                <a:ext uri="{FF2B5EF4-FFF2-40B4-BE49-F238E27FC236}">
                  <a16:creationId xmlns:a16="http://schemas.microsoft.com/office/drawing/2014/main" id="{872413D4-6729-4899-808B-D51B441EE620}"/>
                </a:ext>
              </a:extLst>
            </p:cNvPr>
            <p:cNvGrpSpPr/>
            <p:nvPr/>
          </p:nvGrpSpPr>
          <p:grpSpPr>
            <a:xfrm>
              <a:off x="8642411" y="4888256"/>
              <a:ext cx="1778004" cy="400308"/>
              <a:chOff x="9342818" y="4809329"/>
              <a:chExt cx="1778004" cy="400308"/>
            </a:xfrm>
          </p:grpSpPr>
          <p:sp>
            <p:nvSpPr>
              <p:cNvPr id="158" name="Rectángulo 157">
                <a:extLst>
                  <a:ext uri="{FF2B5EF4-FFF2-40B4-BE49-F238E27FC236}">
                    <a16:creationId xmlns:a16="http://schemas.microsoft.com/office/drawing/2014/main" id="{D9EE4245-B2BB-4B38-BACA-F2FCEF4180C6}"/>
                  </a:ext>
                </a:extLst>
              </p:cNvPr>
              <p:cNvSpPr/>
              <p:nvPr/>
            </p:nvSpPr>
            <p:spPr>
              <a:xfrm>
                <a:off x="9342818" y="4866151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9" name="Rectángulo 158">
                <a:extLst>
                  <a:ext uri="{FF2B5EF4-FFF2-40B4-BE49-F238E27FC236}">
                    <a16:creationId xmlns:a16="http://schemas.microsoft.com/office/drawing/2014/main" id="{339FBB94-8259-432F-9CA4-533ACCEF8D32}"/>
                  </a:ext>
                </a:extLst>
              </p:cNvPr>
              <p:cNvSpPr/>
              <p:nvPr/>
            </p:nvSpPr>
            <p:spPr>
              <a:xfrm>
                <a:off x="9716507" y="4866151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0" name="Rectángulo 159">
                <a:extLst>
                  <a:ext uri="{FF2B5EF4-FFF2-40B4-BE49-F238E27FC236}">
                    <a16:creationId xmlns:a16="http://schemas.microsoft.com/office/drawing/2014/main" id="{DDFF01C2-76DF-4E9D-AE83-458569CD72EB}"/>
                  </a:ext>
                </a:extLst>
              </p:cNvPr>
              <p:cNvSpPr/>
              <p:nvPr/>
            </p:nvSpPr>
            <p:spPr>
              <a:xfrm>
                <a:off x="10090196" y="4863878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1" name="Rectángulo 160">
                <a:extLst>
                  <a:ext uri="{FF2B5EF4-FFF2-40B4-BE49-F238E27FC236}">
                    <a16:creationId xmlns:a16="http://schemas.microsoft.com/office/drawing/2014/main" id="{8A47ED3C-FC7A-4F51-A052-EDEC1A5D1D51}"/>
                  </a:ext>
                </a:extLst>
              </p:cNvPr>
              <p:cNvSpPr/>
              <p:nvPr/>
            </p:nvSpPr>
            <p:spPr>
              <a:xfrm>
                <a:off x="10837314" y="4863878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2" name="CuadroTexto 161">
                <a:extLst>
                  <a:ext uri="{FF2B5EF4-FFF2-40B4-BE49-F238E27FC236}">
                    <a16:creationId xmlns:a16="http://schemas.microsoft.com/office/drawing/2014/main" id="{7C2B411A-D5BF-46E6-BE18-C91A485FAF58}"/>
                  </a:ext>
                </a:extLst>
              </p:cNvPr>
              <p:cNvSpPr txBox="1"/>
              <p:nvPr/>
            </p:nvSpPr>
            <p:spPr>
              <a:xfrm>
                <a:off x="10342475" y="4809329"/>
                <a:ext cx="526070" cy="34350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s-CO" sz="11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. . .</a:t>
                </a:r>
              </a:p>
            </p:txBody>
          </p:sp>
        </p:grpSp>
        <p:grpSp>
          <p:nvGrpSpPr>
            <p:cNvPr id="146" name="Grupo 145">
              <a:extLst>
                <a:ext uri="{FF2B5EF4-FFF2-40B4-BE49-F238E27FC236}">
                  <a16:creationId xmlns:a16="http://schemas.microsoft.com/office/drawing/2014/main" id="{BE5ED860-70A0-4C29-8A60-31F17E08F373}"/>
                </a:ext>
              </a:extLst>
            </p:cNvPr>
            <p:cNvGrpSpPr/>
            <p:nvPr/>
          </p:nvGrpSpPr>
          <p:grpSpPr>
            <a:xfrm>
              <a:off x="8635896" y="5409819"/>
              <a:ext cx="1778004" cy="400308"/>
              <a:chOff x="9342818" y="4809329"/>
              <a:chExt cx="1778004" cy="400308"/>
            </a:xfrm>
          </p:grpSpPr>
          <p:sp>
            <p:nvSpPr>
              <p:cNvPr id="153" name="Rectángulo 152">
                <a:extLst>
                  <a:ext uri="{FF2B5EF4-FFF2-40B4-BE49-F238E27FC236}">
                    <a16:creationId xmlns:a16="http://schemas.microsoft.com/office/drawing/2014/main" id="{BCA7CC4A-A078-4A0E-81A7-756D04372643}"/>
                  </a:ext>
                </a:extLst>
              </p:cNvPr>
              <p:cNvSpPr/>
              <p:nvPr/>
            </p:nvSpPr>
            <p:spPr>
              <a:xfrm>
                <a:off x="9342818" y="4866151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4" name="Rectángulo 153">
                <a:extLst>
                  <a:ext uri="{FF2B5EF4-FFF2-40B4-BE49-F238E27FC236}">
                    <a16:creationId xmlns:a16="http://schemas.microsoft.com/office/drawing/2014/main" id="{4BBC3F87-5882-472C-9131-24BC464E1692}"/>
                  </a:ext>
                </a:extLst>
              </p:cNvPr>
              <p:cNvSpPr/>
              <p:nvPr/>
            </p:nvSpPr>
            <p:spPr>
              <a:xfrm>
                <a:off x="9716507" y="4866151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5" name="Rectángulo 154">
                <a:extLst>
                  <a:ext uri="{FF2B5EF4-FFF2-40B4-BE49-F238E27FC236}">
                    <a16:creationId xmlns:a16="http://schemas.microsoft.com/office/drawing/2014/main" id="{4B288384-E00B-4011-B462-437E7FED17FC}"/>
                  </a:ext>
                </a:extLst>
              </p:cNvPr>
              <p:cNvSpPr/>
              <p:nvPr/>
            </p:nvSpPr>
            <p:spPr>
              <a:xfrm>
                <a:off x="10090196" y="4863878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6" name="Rectángulo 155">
                <a:extLst>
                  <a:ext uri="{FF2B5EF4-FFF2-40B4-BE49-F238E27FC236}">
                    <a16:creationId xmlns:a16="http://schemas.microsoft.com/office/drawing/2014/main" id="{2263554D-2573-4186-A365-BC3FD70874A8}"/>
                  </a:ext>
                </a:extLst>
              </p:cNvPr>
              <p:cNvSpPr/>
              <p:nvPr/>
            </p:nvSpPr>
            <p:spPr>
              <a:xfrm>
                <a:off x="10837314" y="4863878"/>
                <a:ext cx="283508" cy="343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7" name="CuadroTexto 156">
                <a:extLst>
                  <a:ext uri="{FF2B5EF4-FFF2-40B4-BE49-F238E27FC236}">
                    <a16:creationId xmlns:a16="http://schemas.microsoft.com/office/drawing/2014/main" id="{C59705CF-74D4-4DC5-8310-89588062B494}"/>
                  </a:ext>
                </a:extLst>
              </p:cNvPr>
              <p:cNvSpPr txBox="1"/>
              <p:nvPr/>
            </p:nvSpPr>
            <p:spPr>
              <a:xfrm>
                <a:off x="10342475" y="4809329"/>
                <a:ext cx="526070" cy="34350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s-CO" sz="11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. . .</a:t>
                </a:r>
              </a:p>
            </p:txBody>
          </p:sp>
        </p:grpSp>
        <p:sp>
          <p:nvSpPr>
            <p:cNvPr id="147" name="Google Shape;162;p35">
              <a:extLst>
                <a:ext uri="{FF2B5EF4-FFF2-40B4-BE49-F238E27FC236}">
                  <a16:creationId xmlns:a16="http://schemas.microsoft.com/office/drawing/2014/main" id="{12F025FB-B588-4426-A8F0-E412D222D775}"/>
                </a:ext>
              </a:extLst>
            </p:cNvPr>
            <p:cNvSpPr txBox="1"/>
            <p:nvPr/>
          </p:nvSpPr>
          <p:spPr>
            <a:xfrm>
              <a:off x="5452236" y="4032755"/>
              <a:ext cx="867109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b="1" dirty="0">
                  <a:solidFill>
                    <a:schemeClr val="dk2"/>
                  </a:solidFill>
                  <a:highlight>
                    <a:schemeClr val="lt1"/>
                  </a:highlight>
                  <a:latin typeface="Roboto" panose="02000000000000000000" pitchFamily="2" charset="0"/>
                  <a:ea typeface="Roboto" panose="02000000000000000000" pitchFamily="2" charset="0"/>
                </a:rPr>
                <a:t>Table</a:t>
              </a:r>
              <a:endParaRPr b="1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8" name="CuadroTexto 147">
              <a:extLst>
                <a:ext uri="{FF2B5EF4-FFF2-40B4-BE49-F238E27FC236}">
                  <a16:creationId xmlns:a16="http://schemas.microsoft.com/office/drawing/2014/main" id="{D6AC5801-D497-4677-8B61-CA2E9C98C3AE}"/>
                </a:ext>
              </a:extLst>
            </p:cNvPr>
            <p:cNvSpPr txBox="1"/>
            <p:nvPr/>
          </p:nvSpPr>
          <p:spPr>
            <a:xfrm>
              <a:off x="7993805" y="5464369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200" b="1" dirty="0">
                  <a:solidFill>
                    <a:schemeClr val="bg1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File</a:t>
              </a:r>
            </a:p>
          </p:txBody>
        </p: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A477EF94-93E9-4B12-B513-4CA9A7688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5363" y="4432834"/>
              <a:ext cx="1960858" cy="1190522"/>
            </a:xfrm>
            <a:prstGeom prst="rect">
              <a:avLst/>
            </a:prstGeom>
          </p:spPr>
        </p:pic>
        <p:sp>
          <p:nvSpPr>
            <p:cNvPr id="150" name="Flecha: arriba y abajo 149">
              <a:extLst>
                <a:ext uri="{FF2B5EF4-FFF2-40B4-BE49-F238E27FC236}">
                  <a16:creationId xmlns:a16="http://schemas.microsoft.com/office/drawing/2014/main" id="{8F7D924E-8A04-473A-A655-7EA5D0A3BB40}"/>
                </a:ext>
              </a:extLst>
            </p:cNvPr>
            <p:cNvSpPr/>
            <p:nvPr/>
          </p:nvSpPr>
          <p:spPr>
            <a:xfrm rot="5400000">
              <a:off x="8463429" y="2373535"/>
              <a:ext cx="262553" cy="690492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1" name="Flecha: arriba y abajo 150">
              <a:extLst>
                <a:ext uri="{FF2B5EF4-FFF2-40B4-BE49-F238E27FC236}">
                  <a16:creationId xmlns:a16="http://schemas.microsoft.com/office/drawing/2014/main" id="{EAE79AEC-DE73-44B1-9EFA-B199C507A0CE}"/>
                </a:ext>
              </a:extLst>
            </p:cNvPr>
            <p:cNvSpPr/>
            <p:nvPr/>
          </p:nvSpPr>
          <p:spPr>
            <a:xfrm rot="10800000">
              <a:off x="8799128" y="3655583"/>
              <a:ext cx="216951" cy="92340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2" name="Flecha: arriba y abajo 151">
              <a:extLst>
                <a:ext uri="{FF2B5EF4-FFF2-40B4-BE49-F238E27FC236}">
                  <a16:creationId xmlns:a16="http://schemas.microsoft.com/office/drawing/2014/main" id="{148D02A1-B586-403F-A70D-6EDD7E532A18}"/>
                </a:ext>
              </a:extLst>
            </p:cNvPr>
            <p:cNvSpPr/>
            <p:nvPr/>
          </p:nvSpPr>
          <p:spPr>
            <a:xfrm rot="6221610">
              <a:off x="7283243" y="4506401"/>
              <a:ext cx="227649" cy="1368828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216" name="Imagen 215">
            <a:extLst>
              <a:ext uri="{FF2B5EF4-FFF2-40B4-BE49-F238E27FC236}">
                <a16:creationId xmlns:a16="http://schemas.microsoft.com/office/drawing/2014/main" id="{BDC2864A-5FC1-48BF-978C-53B99CEF1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124" y="2311769"/>
            <a:ext cx="5412652" cy="250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8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Buffer Pool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1087133" y="902095"/>
            <a:ext cx="6322722" cy="60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Conceptos claves</a:t>
            </a:r>
          </a:p>
          <a:p>
            <a:endParaRPr lang="es-CO" dirty="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1B33E657-62EB-48CF-A199-48E92B6C3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616" y="2042354"/>
            <a:ext cx="4124947" cy="1891786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61106F25-C8FC-4EC3-A70F-E8FFDE66C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041" y="1958154"/>
            <a:ext cx="4269218" cy="1965960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AD35E4A0-BC97-46E9-9F3A-F3A05C92E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616" y="4653803"/>
            <a:ext cx="4361094" cy="2007094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99596B86-9307-4E73-B3A1-4ABDB9089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004" y="4644013"/>
            <a:ext cx="4219291" cy="1906566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2D7C2475-6D84-4521-9CC7-A8FF7746ED79}"/>
              </a:ext>
            </a:extLst>
          </p:cNvPr>
          <p:cNvSpPr/>
          <p:nvPr/>
        </p:nvSpPr>
        <p:spPr>
          <a:xfrm>
            <a:off x="1190778" y="1622874"/>
            <a:ext cx="345427" cy="335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  <a:endParaRPr lang="es-CO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C9DBFCD5-84A8-4CBC-87C8-6E212E63B7EE}"/>
              </a:ext>
            </a:extLst>
          </p:cNvPr>
          <p:cNvSpPr/>
          <p:nvPr/>
        </p:nvSpPr>
        <p:spPr>
          <a:xfrm>
            <a:off x="6661891" y="1508760"/>
            <a:ext cx="345427" cy="335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es-CO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B4CD727-1365-42CE-917B-DD3489ABC322}"/>
              </a:ext>
            </a:extLst>
          </p:cNvPr>
          <p:cNvSpPr/>
          <p:nvPr/>
        </p:nvSpPr>
        <p:spPr>
          <a:xfrm>
            <a:off x="1190777" y="4153208"/>
            <a:ext cx="345427" cy="335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endParaRPr lang="es-CO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943A5958-E7B5-4CC7-ADD7-7769ED19CF91}"/>
              </a:ext>
            </a:extLst>
          </p:cNvPr>
          <p:cNvSpPr/>
          <p:nvPr/>
        </p:nvSpPr>
        <p:spPr>
          <a:xfrm>
            <a:off x="6661891" y="4153208"/>
            <a:ext cx="345427" cy="335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endParaRPr lang="es-CO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C52DA8D-55E5-48BF-9A4C-64D2D63AC48A}"/>
              </a:ext>
            </a:extLst>
          </p:cNvPr>
          <p:cNvSpPr txBox="1"/>
          <p:nvPr/>
        </p:nvSpPr>
        <p:spPr>
          <a:xfrm>
            <a:off x="1593611" y="1457579"/>
            <a:ext cx="3257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Solicitud de Datos por el Motor de Ejecución</a:t>
            </a:r>
            <a:endParaRPr lang="es-CO" sz="1600" b="1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AA51014-4E30-41CD-9687-3D927068FB66}"/>
              </a:ext>
            </a:extLst>
          </p:cNvPr>
          <p:cNvSpPr txBox="1"/>
          <p:nvPr/>
        </p:nvSpPr>
        <p:spPr>
          <a:xfrm>
            <a:off x="7052927" y="1441553"/>
            <a:ext cx="4439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Verificación del </a:t>
            </a:r>
            <a:r>
              <a:rPr lang="es-MX" sz="1600" b="1" u="sng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Directorio de paginas</a:t>
            </a:r>
            <a:r>
              <a:rPr lang="es-MX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y Detección de </a:t>
            </a:r>
            <a:r>
              <a:rPr lang="es-MX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Buffer Miss</a:t>
            </a:r>
            <a:endParaRPr lang="es-CO" sz="1600" b="1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BD80DB0-21FC-4EB1-8B99-2109F641914C}"/>
              </a:ext>
            </a:extLst>
          </p:cNvPr>
          <p:cNvSpPr txBox="1"/>
          <p:nvPr/>
        </p:nvSpPr>
        <p:spPr>
          <a:xfrm>
            <a:off x="1593611" y="4059238"/>
            <a:ext cx="39364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Operación de E/S: Recuperación del Bloque Físico</a:t>
            </a:r>
            <a:endParaRPr lang="es-CO" sz="1600" b="1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D202CCC-F533-4EA1-92FB-1457F271B314}"/>
              </a:ext>
            </a:extLst>
          </p:cNvPr>
          <p:cNvSpPr txBox="1"/>
          <p:nvPr/>
        </p:nvSpPr>
        <p:spPr>
          <a:xfrm>
            <a:off x="7096189" y="4059238"/>
            <a:ext cx="39693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Operación de E/S: Recuperación del Bloque Físico</a:t>
            </a:r>
            <a:endParaRPr lang="es-CO" sz="1600" b="1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38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Buffer Pool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1087133" y="902095"/>
            <a:ext cx="6322722" cy="60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Conceptos claves</a:t>
            </a:r>
          </a:p>
          <a:p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BA89C4-5022-4AD9-BBDC-677471A0A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102" y="2355230"/>
            <a:ext cx="4788218" cy="21475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F674CD8-DB75-401D-84AD-A90E81B23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913" y="2202830"/>
            <a:ext cx="5050967" cy="2332933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9B21CA64-A17F-4617-AABF-6EE0973CFF9D}"/>
              </a:ext>
            </a:extLst>
          </p:cNvPr>
          <p:cNvSpPr/>
          <p:nvPr/>
        </p:nvSpPr>
        <p:spPr>
          <a:xfrm>
            <a:off x="1201102" y="1683955"/>
            <a:ext cx="345427" cy="335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  <a:endParaRPr lang="es-CO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491C89A-306C-4C69-B0FA-C65CBC591586}"/>
              </a:ext>
            </a:extLst>
          </p:cNvPr>
          <p:cNvSpPr/>
          <p:nvPr/>
        </p:nvSpPr>
        <p:spPr>
          <a:xfrm>
            <a:off x="6672217" y="1683955"/>
            <a:ext cx="345427" cy="335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  <a:endParaRPr lang="es-CO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19C233-98D7-4BD2-AAAF-D2E86D26C9E4}"/>
              </a:ext>
            </a:extLst>
          </p:cNvPr>
          <p:cNvSpPr txBox="1"/>
          <p:nvPr/>
        </p:nvSpPr>
        <p:spPr>
          <a:xfrm>
            <a:off x="1727955" y="1594185"/>
            <a:ext cx="44696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Vinculación Lógica mediante Punteros de Memoria</a:t>
            </a:r>
            <a:endParaRPr lang="es-CO" sz="1600" b="1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DEE4636-E286-472D-A101-9FAB1A2C0B17}"/>
              </a:ext>
            </a:extLst>
          </p:cNvPr>
          <p:cNvSpPr txBox="1"/>
          <p:nvPr/>
        </p:nvSpPr>
        <p:spPr>
          <a:xfrm>
            <a:off x="7170856" y="1607824"/>
            <a:ext cx="46873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Actualización de Registros y sincronización</a:t>
            </a:r>
            <a:endParaRPr lang="es-CO" sz="1600" b="1" dirty="0">
              <a:solidFill>
                <a:schemeClr val="accent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7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Archivo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916649" y="858553"/>
            <a:ext cx="7472607" cy="60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Archivos no ordenados (Unordered heap files)</a:t>
            </a:r>
          </a:p>
          <a:p>
            <a:endParaRPr lang="es-CO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4BC641D-97BC-4766-B235-62DB860B6082}"/>
              </a:ext>
            </a:extLst>
          </p:cNvPr>
          <p:cNvGrpSpPr/>
          <p:nvPr/>
        </p:nvGrpSpPr>
        <p:grpSpPr>
          <a:xfrm>
            <a:off x="1115716" y="2818278"/>
            <a:ext cx="2870266" cy="1976038"/>
            <a:chOff x="7752463" y="4106107"/>
            <a:chExt cx="2870266" cy="1976038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81208E58-6E15-4CFC-BC80-607D8A32F657}"/>
                </a:ext>
              </a:extLst>
            </p:cNvPr>
            <p:cNvGrpSpPr/>
            <p:nvPr/>
          </p:nvGrpSpPr>
          <p:grpSpPr>
            <a:xfrm>
              <a:off x="7818569" y="4398818"/>
              <a:ext cx="2804160" cy="1683327"/>
              <a:chOff x="7719061" y="4641270"/>
              <a:chExt cx="2804160" cy="1683327"/>
            </a:xfrm>
          </p:grpSpPr>
          <p:sp>
            <p:nvSpPr>
              <p:cNvPr id="17" name="Rectángulo: esquina doblada 16">
                <a:extLst>
                  <a:ext uri="{FF2B5EF4-FFF2-40B4-BE49-F238E27FC236}">
                    <a16:creationId xmlns:a16="http://schemas.microsoft.com/office/drawing/2014/main" id="{6561027C-44AC-4264-8A41-A80F39A6EAE2}"/>
                  </a:ext>
                </a:extLst>
              </p:cNvPr>
              <p:cNvSpPr/>
              <p:nvPr/>
            </p:nvSpPr>
            <p:spPr>
              <a:xfrm flipV="1">
                <a:off x="7719061" y="4641270"/>
                <a:ext cx="2804160" cy="1683327"/>
              </a:xfrm>
              <a:prstGeom prst="foldedCorner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CB5CF41B-D2D9-4C92-846A-E3856F12D738}"/>
                  </a:ext>
                </a:extLst>
              </p:cNvPr>
              <p:cNvGrpSpPr/>
              <p:nvPr/>
            </p:nvGrpSpPr>
            <p:grpSpPr>
              <a:xfrm>
                <a:off x="7897091" y="4755573"/>
                <a:ext cx="2300657" cy="1444181"/>
                <a:chOff x="7897091" y="4755573"/>
                <a:chExt cx="2300657" cy="1444181"/>
              </a:xfrm>
            </p:grpSpPr>
            <p:grpSp>
              <p:nvGrpSpPr>
                <p:cNvPr id="19" name="Grupo 18">
                  <a:extLst>
                    <a:ext uri="{FF2B5EF4-FFF2-40B4-BE49-F238E27FC236}">
                      <a16:creationId xmlns:a16="http://schemas.microsoft.com/office/drawing/2014/main" id="{1B827AA2-FA00-48E7-93DD-299E2DE27293}"/>
                    </a:ext>
                  </a:extLst>
                </p:cNvPr>
                <p:cNvGrpSpPr/>
                <p:nvPr/>
              </p:nvGrpSpPr>
              <p:grpSpPr>
                <a:xfrm>
                  <a:off x="7897091" y="4755573"/>
                  <a:ext cx="2300657" cy="415636"/>
                  <a:chOff x="7897091" y="4755573"/>
                  <a:chExt cx="2300657" cy="415636"/>
                </a:xfrm>
              </p:grpSpPr>
              <p:sp>
                <p:nvSpPr>
                  <p:cNvPr id="26" name="Rectángulo 25">
                    <a:extLst>
                      <a:ext uri="{FF2B5EF4-FFF2-40B4-BE49-F238E27FC236}">
                        <a16:creationId xmlns:a16="http://schemas.microsoft.com/office/drawing/2014/main" id="{EB092377-A029-4790-9824-B5E059F1D035}"/>
                      </a:ext>
                    </a:extLst>
                  </p:cNvPr>
                  <p:cNvSpPr/>
                  <p:nvPr/>
                </p:nvSpPr>
                <p:spPr>
                  <a:xfrm>
                    <a:off x="7897091" y="4755573"/>
                    <a:ext cx="1080654" cy="415636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b="1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rPr>
                      <a:t>Page 1</a:t>
                    </a:r>
                  </a:p>
                </p:txBody>
              </p:sp>
              <p:sp>
                <p:nvSpPr>
                  <p:cNvPr id="27" name="Rectángulo 26">
                    <a:extLst>
                      <a:ext uri="{FF2B5EF4-FFF2-40B4-BE49-F238E27FC236}">
                        <a16:creationId xmlns:a16="http://schemas.microsoft.com/office/drawing/2014/main" id="{FBC2689C-2E07-40EA-8FB8-55202F808019}"/>
                      </a:ext>
                    </a:extLst>
                  </p:cNvPr>
                  <p:cNvSpPr/>
                  <p:nvPr/>
                </p:nvSpPr>
                <p:spPr>
                  <a:xfrm>
                    <a:off x="9117094" y="4755573"/>
                    <a:ext cx="1080654" cy="415636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b="1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rPr>
                      <a:t>Page 2</a:t>
                    </a:r>
                  </a:p>
                </p:txBody>
              </p:sp>
            </p:grpSp>
            <p:grpSp>
              <p:nvGrpSpPr>
                <p:cNvPr id="20" name="Grupo 19">
                  <a:extLst>
                    <a:ext uri="{FF2B5EF4-FFF2-40B4-BE49-F238E27FC236}">
                      <a16:creationId xmlns:a16="http://schemas.microsoft.com/office/drawing/2014/main" id="{E081224C-F40C-46A6-8E08-D6E2B041D60B}"/>
                    </a:ext>
                  </a:extLst>
                </p:cNvPr>
                <p:cNvGrpSpPr/>
                <p:nvPr/>
              </p:nvGrpSpPr>
              <p:grpSpPr>
                <a:xfrm>
                  <a:off x="7897091" y="5269557"/>
                  <a:ext cx="2300657" cy="415636"/>
                  <a:chOff x="7897091" y="5314950"/>
                  <a:chExt cx="2300657" cy="415636"/>
                </a:xfrm>
              </p:grpSpPr>
              <p:sp>
                <p:nvSpPr>
                  <p:cNvPr id="24" name="Rectángulo 23">
                    <a:extLst>
                      <a:ext uri="{FF2B5EF4-FFF2-40B4-BE49-F238E27FC236}">
                        <a16:creationId xmlns:a16="http://schemas.microsoft.com/office/drawing/2014/main" id="{EE0EE0B2-6A19-4872-A39F-D8B61CDAC038}"/>
                      </a:ext>
                    </a:extLst>
                  </p:cNvPr>
                  <p:cNvSpPr/>
                  <p:nvPr/>
                </p:nvSpPr>
                <p:spPr>
                  <a:xfrm>
                    <a:off x="7897091" y="5314950"/>
                    <a:ext cx="1080654" cy="415636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b="1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rPr>
                      <a:t>Page 3</a:t>
                    </a:r>
                  </a:p>
                </p:txBody>
              </p:sp>
              <p:sp>
                <p:nvSpPr>
                  <p:cNvPr id="25" name="Rectángulo 24">
                    <a:extLst>
                      <a:ext uri="{FF2B5EF4-FFF2-40B4-BE49-F238E27FC236}">
                        <a16:creationId xmlns:a16="http://schemas.microsoft.com/office/drawing/2014/main" id="{4F8A83CF-76DC-443F-9D66-F99FB9036AF7}"/>
                      </a:ext>
                    </a:extLst>
                  </p:cNvPr>
                  <p:cNvSpPr/>
                  <p:nvPr/>
                </p:nvSpPr>
                <p:spPr>
                  <a:xfrm>
                    <a:off x="9117094" y="5314950"/>
                    <a:ext cx="1080654" cy="415636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b="1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rPr>
                      <a:t>Page 4</a:t>
                    </a:r>
                  </a:p>
                </p:txBody>
              </p:sp>
            </p:grpSp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BB319DD9-89E1-49D2-BEA2-E427AED01E99}"/>
                    </a:ext>
                  </a:extLst>
                </p:cNvPr>
                <p:cNvGrpSpPr/>
                <p:nvPr/>
              </p:nvGrpSpPr>
              <p:grpSpPr>
                <a:xfrm>
                  <a:off x="7897091" y="5784118"/>
                  <a:ext cx="2300657" cy="415636"/>
                  <a:chOff x="7897091" y="5874327"/>
                  <a:chExt cx="2300657" cy="415636"/>
                </a:xfrm>
              </p:grpSpPr>
              <p:sp>
                <p:nvSpPr>
                  <p:cNvPr id="22" name="Rectángulo 21">
                    <a:extLst>
                      <a:ext uri="{FF2B5EF4-FFF2-40B4-BE49-F238E27FC236}">
                        <a16:creationId xmlns:a16="http://schemas.microsoft.com/office/drawing/2014/main" id="{D131C38C-FD18-486F-A679-97904069C255}"/>
                      </a:ext>
                    </a:extLst>
                  </p:cNvPr>
                  <p:cNvSpPr/>
                  <p:nvPr/>
                </p:nvSpPr>
                <p:spPr>
                  <a:xfrm>
                    <a:off x="7897091" y="5874327"/>
                    <a:ext cx="1080654" cy="415636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b="1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rPr>
                      <a:t>Page 5</a:t>
                    </a:r>
                  </a:p>
                </p:txBody>
              </p:sp>
              <p:sp>
                <p:nvSpPr>
                  <p:cNvPr id="23" name="Rectángulo 22">
                    <a:extLst>
                      <a:ext uri="{FF2B5EF4-FFF2-40B4-BE49-F238E27FC236}">
                        <a16:creationId xmlns:a16="http://schemas.microsoft.com/office/drawing/2014/main" id="{05FB759D-EC84-4E62-9C1D-C055BE7104C5}"/>
                      </a:ext>
                    </a:extLst>
                  </p:cNvPr>
                  <p:cNvSpPr/>
                  <p:nvPr/>
                </p:nvSpPr>
                <p:spPr>
                  <a:xfrm>
                    <a:off x="9117094" y="5874327"/>
                    <a:ext cx="1080654" cy="415636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b="1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rPr>
                      <a:t>Page 6</a:t>
                    </a:r>
                  </a:p>
                </p:txBody>
              </p:sp>
            </p:grpSp>
          </p:grp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93916CB-CBD8-4879-AE5F-396608B2932F}"/>
                </a:ext>
              </a:extLst>
            </p:cNvPr>
            <p:cNvSpPr txBox="1"/>
            <p:nvPr/>
          </p:nvSpPr>
          <p:spPr>
            <a:xfrm>
              <a:off x="7752463" y="4106107"/>
              <a:ext cx="8047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File</a:t>
              </a:r>
            </a:p>
          </p:txBody>
        </p:sp>
      </p:grpSp>
      <p:pic>
        <p:nvPicPr>
          <p:cNvPr id="28" name="Imagen 27">
            <a:extLst>
              <a:ext uri="{FF2B5EF4-FFF2-40B4-BE49-F238E27FC236}">
                <a16:creationId xmlns:a16="http://schemas.microsoft.com/office/drawing/2014/main" id="{1B167CEB-5765-4C06-921C-186F70971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077" y="1695923"/>
            <a:ext cx="5036457" cy="180860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5CEB71E-ECEB-42F9-B1E1-C64957BAE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946" y="4073113"/>
            <a:ext cx="3005408" cy="2177928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0E2C67E-102F-49FB-82E4-6770D6ECF926}"/>
              </a:ext>
            </a:extLst>
          </p:cNvPr>
          <p:cNvSpPr/>
          <p:nvPr/>
        </p:nvSpPr>
        <p:spPr>
          <a:xfrm>
            <a:off x="4652952" y="2090057"/>
            <a:ext cx="1646248" cy="8418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latin typeface="Roboto" panose="02000000000000000000" pitchFamily="2" charset="0"/>
                <a:ea typeface="Roboto" panose="02000000000000000000" pitchFamily="2" charset="0"/>
              </a:rPr>
              <a:t>Lista enlazada 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9DABDBE-7E75-4885-B9A4-159AE4057359}"/>
              </a:ext>
            </a:extLst>
          </p:cNvPr>
          <p:cNvSpPr/>
          <p:nvPr/>
        </p:nvSpPr>
        <p:spPr>
          <a:xfrm>
            <a:off x="4674077" y="4822961"/>
            <a:ext cx="1646248" cy="8418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latin typeface="Roboto" panose="02000000000000000000" pitchFamily="2" charset="0"/>
                <a:ea typeface="Roboto" panose="02000000000000000000" pitchFamily="2" charset="0"/>
              </a:rPr>
              <a:t>Lista de directorios 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5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Archivo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942316" y="817492"/>
            <a:ext cx="7472607" cy="60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Paginas</a:t>
            </a:r>
          </a:p>
          <a:p>
            <a:endParaRPr lang="es-CO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AAFD88DD-6D7E-4CA9-AA4C-6EAF0E23E1B8}"/>
              </a:ext>
            </a:extLst>
          </p:cNvPr>
          <p:cNvGrpSpPr/>
          <p:nvPr/>
        </p:nvGrpSpPr>
        <p:grpSpPr>
          <a:xfrm>
            <a:off x="1548830" y="2577675"/>
            <a:ext cx="2597504" cy="1837522"/>
            <a:chOff x="5235941" y="2926217"/>
            <a:chExt cx="2597504" cy="1837522"/>
          </a:xfrm>
        </p:grpSpPr>
        <p:sp>
          <p:nvSpPr>
            <p:cNvPr id="31" name="TextBox 139">
              <a:extLst>
                <a:ext uri="{FF2B5EF4-FFF2-40B4-BE49-F238E27FC236}">
                  <a16:creationId xmlns:a16="http://schemas.microsoft.com/office/drawing/2014/main" id="{F007F6D4-4ABD-4DD5-96DC-BD1BD6F94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7179" y="2926217"/>
              <a:ext cx="250626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buNone/>
                <a:defRPr/>
              </a:pPr>
              <a:r>
                <a:rPr lang="en-US" altLang="en-US" sz="1600" b="1" kern="0" dirty="0"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Page</a:t>
              </a:r>
            </a:p>
          </p:txBody>
        </p:sp>
        <p:sp>
          <p:nvSpPr>
            <p:cNvPr id="33" name="Folded Corner 166">
              <a:extLst>
                <a:ext uri="{FF2B5EF4-FFF2-40B4-BE49-F238E27FC236}">
                  <a16:creationId xmlns:a16="http://schemas.microsoft.com/office/drawing/2014/main" id="{9F4781B1-FC49-46E3-B9A6-0C8C2BCC3858}"/>
                </a:ext>
              </a:extLst>
            </p:cNvPr>
            <p:cNvSpPr/>
            <p:nvPr/>
          </p:nvSpPr>
          <p:spPr bwMode="auto">
            <a:xfrm>
              <a:off x="5235941" y="3215926"/>
              <a:ext cx="2567297" cy="1547813"/>
            </a:xfrm>
            <a:prstGeom prst="foldedCorner">
              <a:avLst>
                <a:gd name="adj" fmla="val 10513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34" name="Rectangle 168">
              <a:extLst>
                <a:ext uri="{FF2B5EF4-FFF2-40B4-BE49-F238E27FC236}">
                  <a16:creationId xmlns:a16="http://schemas.microsoft.com/office/drawing/2014/main" id="{D18A9DFA-6123-4C62-97CA-23F3C3A925AF}"/>
                </a:ext>
              </a:extLst>
            </p:cNvPr>
            <p:cNvSpPr/>
            <p:nvPr/>
          </p:nvSpPr>
          <p:spPr bwMode="auto">
            <a:xfrm>
              <a:off x="5327179" y="3280488"/>
              <a:ext cx="1744266" cy="378619"/>
            </a:xfrm>
            <a:prstGeom prst="rect">
              <a:avLst/>
            </a:prstGeom>
            <a:solidFill>
              <a:srgbClr val="2980B9"/>
            </a:solidFill>
            <a:ln w="25400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Page</a:t>
              </a:r>
              <a:br>
                <a:rPr lang="en-US" sz="900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</a:br>
              <a:r>
                <a:rPr lang="en-US" sz="900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Header</a:t>
              </a:r>
            </a:p>
          </p:txBody>
        </p:sp>
        <p:grpSp>
          <p:nvGrpSpPr>
            <p:cNvPr id="35" name="Group 169">
              <a:extLst>
                <a:ext uri="{FF2B5EF4-FFF2-40B4-BE49-F238E27FC236}">
                  <a16:creationId xmlns:a16="http://schemas.microsoft.com/office/drawing/2014/main" id="{2540377B-8590-4046-B90C-7637AA18C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0737" y="3335556"/>
              <a:ext cx="1016227" cy="274390"/>
              <a:chOff x="1247675" y="4823303"/>
              <a:chExt cx="1355362" cy="365970"/>
            </a:xfrm>
          </p:grpSpPr>
          <p:grpSp>
            <p:nvGrpSpPr>
              <p:cNvPr id="87" name="Group 6">
                <a:extLst>
                  <a:ext uri="{FF2B5EF4-FFF2-40B4-BE49-F238E27FC236}">
                    <a16:creationId xmlns:a16="http://schemas.microsoft.com/office/drawing/2014/main" id="{BBEDB351-7C82-4B77-BC87-1FE43A4ED1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7675" y="4823303"/>
                <a:ext cx="211059" cy="365970"/>
                <a:chOff x="5790463" y="2643797"/>
                <a:chExt cx="211059" cy="365970"/>
              </a:xfrm>
            </p:grpSpPr>
            <p:sp>
              <p:nvSpPr>
                <p:cNvPr id="100" name="Rectangle 234">
                  <a:extLst>
                    <a:ext uri="{FF2B5EF4-FFF2-40B4-BE49-F238E27FC236}">
                      <a16:creationId xmlns:a16="http://schemas.microsoft.com/office/drawing/2014/main" id="{69050A6E-B23C-4B75-B692-37BC1D181B75}"/>
                    </a:ext>
                  </a:extLst>
                </p:cNvPr>
                <p:cNvSpPr/>
                <p:nvPr/>
              </p:nvSpPr>
              <p:spPr bwMode="auto">
                <a:xfrm>
                  <a:off x="5791223" y="2643399"/>
                  <a:ext cx="222314" cy="366828"/>
                </a:xfrm>
                <a:prstGeom prst="rect">
                  <a:avLst/>
                </a:prstGeom>
                <a:solidFill>
                  <a:srgbClr val="C00000"/>
                </a:solidFill>
                <a:ln w="25400" cap="flat" cmpd="sng" algn="ctr">
                  <a:solidFill>
                    <a:srgbClr val="5F0702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  <p:sp>
              <p:nvSpPr>
                <p:cNvPr id="101" name="Oval 235">
                  <a:extLst>
                    <a:ext uri="{FF2B5EF4-FFF2-40B4-BE49-F238E27FC236}">
                      <a16:creationId xmlns:a16="http://schemas.microsoft.com/office/drawing/2014/main" id="{AB9D171D-E84E-41F9-B063-847CAC8B59AF}"/>
                    </a:ext>
                  </a:extLst>
                </p:cNvPr>
                <p:cNvSpPr/>
                <p:nvPr/>
              </p:nvSpPr>
              <p:spPr bwMode="auto">
                <a:xfrm>
                  <a:off x="5870621" y="2787907"/>
                  <a:ext cx="74634" cy="77813"/>
                </a:xfrm>
                <a:prstGeom prst="ellipse">
                  <a:avLst/>
                </a:prstGeom>
                <a:solidFill>
                  <a:srgbClr val="95A5A6"/>
                </a:solidFill>
                <a:ln w="25400" cap="flat" cmpd="sng" algn="ctr">
                  <a:solidFill>
                    <a:srgbClr val="95A5A6">
                      <a:shade val="50000"/>
                    </a:srgbClr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</p:grpSp>
          <p:grpSp>
            <p:nvGrpSpPr>
              <p:cNvPr id="88" name="Group 149">
                <a:extLst>
                  <a:ext uri="{FF2B5EF4-FFF2-40B4-BE49-F238E27FC236}">
                    <a16:creationId xmlns:a16="http://schemas.microsoft.com/office/drawing/2014/main" id="{C3CBEEC0-41FF-4D6B-B2E0-2BFEB1AA71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3751" y="4823303"/>
                <a:ext cx="211059" cy="365970"/>
                <a:chOff x="5790463" y="2643797"/>
                <a:chExt cx="211059" cy="365970"/>
              </a:xfrm>
            </p:grpSpPr>
            <p:sp>
              <p:nvSpPr>
                <p:cNvPr id="98" name="Rectangle 232">
                  <a:extLst>
                    <a:ext uri="{FF2B5EF4-FFF2-40B4-BE49-F238E27FC236}">
                      <a16:creationId xmlns:a16="http://schemas.microsoft.com/office/drawing/2014/main" id="{D9A0E0AE-8595-44D4-BAA2-D3D4BA3762A0}"/>
                    </a:ext>
                  </a:extLst>
                </p:cNvPr>
                <p:cNvSpPr/>
                <p:nvPr/>
              </p:nvSpPr>
              <p:spPr bwMode="auto">
                <a:xfrm>
                  <a:off x="5790980" y="2643399"/>
                  <a:ext cx="211198" cy="366828"/>
                </a:xfrm>
                <a:prstGeom prst="rect">
                  <a:avLst/>
                </a:prstGeom>
                <a:solidFill>
                  <a:srgbClr val="C00000"/>
                </a:solidFill>
                <a:ln w="25400" cap="flat" cmpd="sng" algn="ctr">
                  <a:solidFill>
                    <a:srgbClr val="5F0702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  <p:sp>
              <p:nvSpPr>
                <p:cNvPr id="99" name="Oval 233">
                  <a:extLst>
                    <a:ext uri="{FF2B5EF4-FFF2-40B4-BE49-F238E27FC236}">
                      <a16:creationId xmlns:a16="http://schemas.microsoft.com/office/drawing/2014/main" id="{4DF061CC-104B-4A2A-B160-9608D3662918}"/>
                    </a:ext>
                  </a:extLst>
                </p:cNvPr>
                <p:cNvSpPr/>
                <p:nvPr/>
              </p:nvSpPr>
              <p:spPr bwMode="auto">
                <a:xfrm>
                  <a:off x="5859262" y="2787907"/>
                  <a:ext cx="74635" cy="77813"/>
                </a:xfrm>
                <a:prstGeom prst="ellipse">
                  <a:avLst/>
                </a:prstGeom>
                <a:solidFill>
                  <a:srgbClr val="95A5A6"/>
                </a:solidFill>
                <a:ln w="25400" cap="flat" cmpd="sng" algn="ctr">
                  <a:solidFill>
                    <a:srgbClr val="95A5A6">
                      <a:shade val="50000"/>
                    </a:srgbClr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</p:grpSp>
          <p:grpSp>
            <p:nvGrpSpPr>
              <p:cNvPr id="89" name="Group 165">
                <a:extLst>
                  <a:ext uri="{FF2B5EF4-FFF2-40B4-BE49-F238E27FC236}">
                    <a16:creationId xmlns:a16="http://schemas.microsoft.com/office/drawing/2014/main" id="{81B3FBE5-0D96-424E-9064-FB094417E2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9827" y="4823303"/>
                <a:ext cx="211059" cy="365970"/>
                <a:chOff x="5790463" y="2643797"/>
                <a:chExt cx="211059" cy="365970"/>
              </a:xfrm>
            </p:grpSpPr>
            <p:sp>
              <p:nvSpPr>
                <p:cNvPr id="96" name="Rectangle 230">
                  <a:extLst>
                    <a:ext uri="{FF2B5EF4-FFF2-40B4-BE49-F238E27FC236}">
                      <a16:creationId xmlns:a16="http://schemas.microsoft.com/office/drawing/2014/main" id="{D8559B91-8827-4EC4-B0AF-8F78AADC1801}"/>
                    </a:ext>
                  </a:extLst>
                </p:cNvPr>
                <p:cNvSpPr/>
                <p:nvPr/>
              </p:nvSpPr>
              <p:spPr bwMode="auto">
                <a:xfrm>
                  <a:off x="5790737" y="2643399"/>
                  <a:ext cx="211198" cy="366828"/>
                </a:xfrm>
                <a:prstGeom prst="rect">
                  <a:avLst/>
                </a:prstGeom>
                <a:solidFill>
                  <a:srgbClr val="C00000"/>
                </a:solidFill>
                <a:ln w="25400" cap="flat" cmpd="sng" algn="ctr">
                  <a:solidFill>
                    <a:srgbClr val="5F0702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  <p:sp>
              <p:nvSpPr>
                <p:cNvPr id="97" name="Oval 231">
                  <a:extLst>
                    <a:ext uri="{FF2B5EF4-FFF2-40B4-BE49-F238E27FC236}">
                      <a16:creationId xmlns:a16="http://schemas.microsoft.com/office/drawing/2014/main" id="{C44F6F79-5DF7-4D61-A4B3-E22C2497C817}"/>
                    </a:ext>
                  </a:extLst>
                </p:cNvPr>
                <p:cNvSpPr/>
                <p:nvPr/>
              </p:nvSpPr>
              <p:spPr bwMode="auto">
                <a:xfrm>
                  <a:off x="5859019" y="2787907"/>
                  <a:ext cx="74635" cy="7781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95A5A6">
                      <a:shade val="50000"/>
                    </a:srgbClr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</p:grpSp>
          <p:grpSp>
            <p:nvGrpSpPr>
              <p:cNvPr id="90" name="Group 172">
                <a:extLst>
                  <a:ext uri="{FF2B5EF4-FFF2-40B4-BE49-F238E27FC236}">
                    <a16:creationId xmlns:a16="http://schemas.microsoft.com/office/drawing/2014/main" id="{4EA21348-A302-46CE-8C84-0AFD4A944E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5903" y="4823303"/>
                <a:ext cx="211059" cy="365970"/>
                <a:chOff x="5790463" y="2643797"/>
                <a:chExt cx="211059" cy="365970"/>
              </a:xfrm>
            </p:grpSpPr>
            <p:sp>
              <p:nvSpPr>
                <p:cNvPr id="94" name="Rectangle 228">
                  <a:extLst>
                    <a:ext uri="{FF2B5EF4-FFF2-40B4-BE49-F238E27FC236}">
                      <a16:creationId xmlns:a16="http://schemas.microsoft.com/office/drawing/2014/main" id="{7E1C154C-FADC-4648-A661-0ECAFD3AFF22}"/>
                    </a:ext>
                  </a:extLst>
                </p:cNvPr>
                <p:cNvSpPr/>
                <p:nvPr/>
              </p:nvSpPr>
              <p:spPr bwMode="auto">
                <a:xfrm>
                  <a:off x="5790494" y="2643399"/>
                  <a:ext cx="211198" cy="366828"/>
                </a:xfrm>
                <a:prstGeom prst="rect">
                  <a:avLst/>
                </a:prstGeom>
                <a:solidFill>
                  <a:srgbClr val="C00000"/>
                </a:solidFill>
                <a:ln w="25400" cap="flat" cmpd="sng" algn="ctr">
                  <a:solidFill>
                    <a:srgbClr val="5F0702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  <p:sp>
              <p:nvSpPr>
                <p:cNvPr id="95" name="Oval 229">
                  <a:extLst>
                    <a:ext uri="{FF2B5EF4-FFF2-40B4-BE49-F238E27FC236}">
                      <a16:creationId xmlns:a16="http://schemas.microsoft.com/office/drawing/2014/main" id="{D4962573-4342-4FF4-8318-98163EB6FCE5}"/>
                    </a:ext>
                  </a:extLst>
                </p:cNvPr>
                <p:cNvSpPr/>
                <p:nvPr/>
              </p:nvSpPr>
              <p:spPr bwMode="auto">
                <a:xfrm>
                  <a:off x="5858776" y="2787907"/>
                  <a:ext cx="74635" cy="77813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rgbClr val="95A5A6">
                      <a:shade val="50000"/>
                    </a:srgbClr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</p:grpSp>
          <p:grpSp>
            <p:nvGrpSpPr>
              <p:cNvPr id="91" name="Group 190">
                <a:extLst>
                  <a:ext uri="{FF2B5EF4-FFF2-40B4-BE49-F238E27FC236}">
                    <a16:creationId xmlns:a16="http://schemas.microsoft.com/office/drawing/2014/main" id="{DA49C3FF-5E60-4063-8137-10669A704D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1978" y="4823303"/>
                <a:ext cx="211059" cy="365970"/>
                <a:chOff x="5790463" y="2643797"/>
                <a:chExt cx="211059" cy="365970"/>
              </a:xfrm>
            </p:grpSpPr>
            <p:sp>
              <p:nvSpPr>
                <p:cNvPr id="92" name="Rectangle 226">
                  <a:extLst>
                    <a:ext uri="{FF2B5EF4-FFF2-40B4-BE49-F238E27FC236}">
                      <a16:creationId xmlns:a16="http://schemas.microsoft.com/office/drawing/2014/main" id="{B0B1FB0E-C2C1-49D3-9BE3-2A3164CC8A7F}"/>
                    </a:ext>
                  </a:extLst>
                </p:cNvPr>
                <p:cNvSpPr/>
                <p:nvPr/>
              </p:nvSpPr>
              <p:spPr bwMode="auto">
                <a:xfrm>
                  <a:off x="5790252" y="2643399"/>
                  <a:ext cx="211198" cy="366828"/>
                </a:xfrm>
                <a:prstGeom prst="rect">
                  <a:avLst/>
                </a:prstGeom>
                <a:solidFill>
                  <a:srgbClr val="C00000"/>
                </a:solidFill>
                <a:ln w="25400" cap="flat" cmpd="sng" algn="ctr">
                  <a:solidFill>
                    <a:srgbClr val="5F0702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  <p:sp>
              <p:nvSpPr>
                <p:cNvPr id="93" name="Oval 227">
                  <a:extLst>
                    <a:ext uri="{FF2B5EF4-FFF2-40B4-BE49-F238E27FC236}">
                      <a16:creationId xmlns:a16="http://schemas.microsoft.com/office/drawing/2014/main" id="{1098A1B6-1430-4B5B-B812-B02DAAEBA6D1}"/>
                    </a:ext>
                  </a:extLst>
                </p:cNvPr>
                <p:cNvSpPr/>
                <p:nvPr/>
              </p:nvSpPr>
              <p:spPr bwMode="auto">
                <a:xfrm>
                  <a:off x="5858534" y="2787907"/>
                  <a:ext cx="74635" cy="77813"/>
                </a:xfrm>
                <a:prstGeom prst="ellipse">
                  <a:avLst/>
                </a:prstGeom>
                <a:solidFill>
                  <a:srgbClr val="95A5A6"/>
                </a:solidFill>
                <a:ln w="25400" cap="flat" cmpd="sng" algn="ctr">
                  <a:solidFill>
                    <a:srgbClr val="95A5A6">
                      <a:shade val="50000"/>
                    </a:srgbClr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200" kern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endParaRPr>
                </a:p>
              </p:txBody>
            </p:sp>
          </p:grpSp>
        </p:grpSp>
        <p:grpSp>
          <p:nvGrpSpPr>
            <p:cNvPr id="36" name="Group 225">
              <a:extLst>
                <a:ext uri="{FF2B5EF4-FFF2-40B4-BE49-F238E27FC236}">
                  <a16:creationId xmlns:a16="http://schemas.microsoft.com/office/drawing/2014/main" id="{25966134-F006-4013-A4C7-4ADEEAAC0C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6126" y="3928697"/>
              <a:ext cx="1323839" cy="192769"/>
              <a:chOff x="5388934" y="2903927"/>
              <a:chExt cx="3337100" cy="541672"/>
            </a:xfrm>
          </p:grpSpPr>
          <p:sp>
            <p:nvSpPr>
              <p:cNvPr id="73" name="Rectangle 207">
                <a:extLst>
                  <a:ext uri="{FF2B5EF4-FFF2-40B4-BE49-F238E27FC236}">
                    <a16:creationId xmlns:a16="http://schemas.microsoft.com/office/drawing/2014/main" id="{FC71770D-7411-436B-9F1C-A0F0521C2686}"/>
                  </a:ext>
                </a:extLst>
              </p:cNvPr>
              <p:cNvSpPr/>
              <p:nvPr/>
            </p:nvSpPr>
            <p:spPr bwMode="auto">
              <a:xfrm>
                <a:off x="5390131" y="2902498"/>
                <a:ext cx="789340" cy="505185"/>
              </a:xfrm>
              <a:prstGeom prst="rect">
                <a:avLst/>
              </a:prstGeom>
              <a:solidFill>
                <a:srgbClr val="2980B9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4" name="Rectangle 208">
                <a:extLst>
                  <a:ext uri="{FF2B5EF4-FFF2-40B4-BE49-F238E27FC236}">
                    <a16:creationId xmlns:a16="http://schemas.microsoft.com/office/drawing/2014/main" id="{C9A5F07C-6550-446F-92DC-CB4B16F25C6C}"/>
                  </a:ext>
                </a:extLst>
              </p:cNvPr>
              <p:cNvSpPr/>
              <p:nvPr/>
            </p:nvSpPr>
            <p:spPr bwMode="auto">
              <a:xfrm>
                <a:off x="5681256" y="2972755"/>
                <a:ext cx="213093" cy="364672"/>
              </a:xfrm>
              <a:prstGeom prst="rect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5" name="Rectangle 209">
                <a:extLst>
                  <a:ext uri="{FF2B5EF4-FFF2-40B4-BE49-F238E27FC236}">
                    <a16:creationId xmlns:a16="http://schemas.microsoft.com/office/drawing/2014/main" id="{6D42FBDF-D86D-47A2-86A3-CA0A36F89943}"/>
                  </a:ext>
                </a:extLst>
              </p:cNvPr>
              <p:cNvSpPr/>
              <p:nvPr/>
            </p:nvSpPr>
            <p:spPr bwMode="auto">
              <a:xfrm>
                <a:off x="5930364" y="2972755"/>
                <a:ext cx="210091" cy="364672"/>
              </a:xfrm>
              <a:prstGeom prst="rect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6" name="Rectangle 210">
                <a:extLst>
                  <a:ext uri="{FF2B5EF4-FFF2-40B4-BE49-F238E27FC236}">
                    <a16:creationId xmlns:a16="http://schemas.microsoft.com/office/drawing/2014/main" id="{8DDD9483-2807-4A17-A41D-0FE5D84AFC87}"/>
                  </a:ext>
                </a:extLst>
              </p:cNvPr>
              <p:cNvSpPr/>
              <p:nvPr/>
            </p:nvSpPr>
            <p:spPr bwMode="auto">
              <a:xfrm>
                <a:off x="6170468" y="2902498"/>
                <a:ext cx="207089" cy="50518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7" name="Rectangle 211">
                <a:extLst>
                  <a:ext uri="{FF2B5EF4-FFF2-40B4-BE49-F238E27FC236}">
                    <a16:creationId xmlns:a16="http://schemas.microsoft.com/office/drawing/2014/main" id="{4CEBA251-7B22-428F-93EB-92DDBD80AEC7}"/>
                  </a:ext>
                </a:extLst>
              </p:cNvPr>
              <p:cNvSpPr/>
              <p:nvPr/>
            </p:nvSpPr>
            <p:spPr bwMode="auto">
              <a:xfrm>
                <a:off x="6377556" y="2902498"/>
                <a:ext cx="207090" cy="50518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525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8" name="Rectangle 212">
                <a:extLst>
                  <a:ext uri="{FF2B5EF4-FFF2-40B4-BE49-F238E27FC236}">
                    <a16:creationId xmlns:a16="http://schemas.microsoft.com/office/drawing/2014/main" id="{789B85CA-0347-437B-9BBC-48EE6314A9DF}"/>
                  </a:ext>
                </a:extLst>
              </p:cNvPr>
              <p:cNvSpPr/>
              <p:nvPr/>
            </p:nvSpPr>
            <p:spPr bwMode="auto">
              <a:xfrm rot="16200000">
                <a:off x="6408587" y="3069553"/>
                <a:ext cx="505185" cy="17107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525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9" name="Rectangle 213">
                <a:extLst>
                  <a:ext uri="{FF2B5EF4-FFF2-40B4-BE49-F238E27FC236}">
                    <a16:creationId xmlns:a16="http://schemas.microsoft.com/office/drawing/2014/main" id="{B1AF1FE0-E272-4D89-B2AA-6CC71F2BCC3F}"/>
                  </a:ext>
                </a:extLst>
              </p:cNvPr>
              <p:cNvSpPr/>
              <p:nvPr/>
            </p:nvSpPr>
            <p:spPr bwMode="auto">
              <a:xfrm>
                <a:off x="6740714" y="2902498"/>
                <a:ext cx="501216" cy="505185"/>
              </a:xfrm>
              <a:prstGeom prst="rect">
                <a:avLst/>
              </a:prstGeom>
              <a:solidFill>
                <a:srgbClr val="15405B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80" name="Rectangle 214">
                <a:extLst>
                  <a:ext uri="{FF2B5EF4-FFF2-40B4-BE49-F238E27FC236}">
                    <a16:creationId xmlns:a16="http://schemas.microsoft.com/office/drawing/2014/main" id="{0CD2BC01-8924-47AA-B13F-BAA882446B58}"/>
                  </a:ext>
                </a:extLst>
              </p:cNvPr>
              <p:cNvSpPr/>
              <p:nvPr/>
            </p:nvSpPr>
            <p:spPr bwMode="auto">
              <a:xfrm>
                <a:off x="7241930" y="2902498"/>
                <a:ext cx="1449627" cy="505185"/>
              </a:xfrm>
              <a:prstGeom prst="rect">
                <a:avLst/>
              </a:prstGeom>
              <a:solidFill>
                <a:srgbClr val="15405B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cxnSp>
            <p:nvCxnSpPr>
              <p:cNvPr id="81" name="Elbow Connector 236">
                <a:extLst>
                  <a:ext uri="{FF2B5EF4-FFF2-40B4-BE49-F238E27FC236}">
                    <a16:creationId xmlns:a16="http://schemas.microsoft.com/office/drawing/2014/main" id="{0B1E6880-63AC-4FFC-A595-7C337BD17BF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391342" y="2596151"/>
                <a:ext cx="251461" cy="1447434"/>
              </a:xfrm>
              <a:prstGeom prst="bentConnector3">
                <a:avLst>
                  <a:gd name="adj1" fmla="val 190907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Elbow Connector 237">
                <a:extLst>
                  <a:ext uri="{FF2B5EF4-FFF2-40B4-BE49-F238E27FC236}">
                    <a16:creationId xmlns:a16="http://schemas.microsoft.com/office/drawing/2014/main" id="{0E0CF8FC-D76D-4D9E-9C1B-B1CE614850A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7234134" y="1990275"/>
                <a:ext cx="251463" cy="2659185"/>
              </a:xfrm>
              <a:prstGeom prst="bentConnector3">
                <a:avLst>
                  <a:gd name="adj1" fmla="val 246306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3" name="Oval 217">
                <a:extLst>
                  <a:ext uri="{FF2B5EF4-FFF2-40B4-BE49-F238E27FC236}">
                    <a16:creationId xmlns:a16="http://schemas.microsoft.com/office/drawing/2014/main" id="{AD0F346E-87B9-4F8B-B29C-66C331058FBC}"/>
                  </a:ext>
                </a:extLst>
              </p:cNvPr>
              <p:cNvSpPr/>
              <p:nvPr/>
            </p:nvSpPr>
            <p:spPr bwMode="auto">
              <a:xfrm>
                <a:off x="5756289" y="3116617"/>
                <a:ext cx="75031" cy="76948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84" name="Oval 218">
                <a:extLst>
                  <a:ext uri="{FF2B5EF4-FFF2-40B4-BE49-F238E27FC236}">
                    <a16:creationId xmlns:a16="http://schemas.microsoft.com/office/drawing/2014/main" id="{431DA4EB-EFBE-4EA1-BB93-8986083B7880}"/>
                  </a:ext>
                </a:extLst>
              </p:cNvPr>
              <p:cNvSpPr/>
              <p:nvPr/>
            </p:nvSpPr>
            <p:spPr bwMode="auto">
              <a:xfrm>
                <a:off x="5993390" y="3116617"/>
                <a:ext cx="75033" cy="76948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85" name="Oval 219">
                <a:extLst>
                  <a:ext uri="{FF2B5EF4-FFF2-40B4-BE49-F238E27FC236}">
                    <a16:creationId xmlns:a16="http://schemas.microsoft.com/office/drawing/2014/main" id="{B13BCCFC-8E11-4A87-BCD5-0E2B8A2F81B9}"/>
                  </a:ext>
                </a:extLst>
              </p:cNvPr>
              <p:cNvSpPr/>
              <p:nvPr/>
            </p:nvSpPr>
            <p:spPr bwMode="auto">
              <a:xfrm>
                <a:off x="7202914" y="3367536"/>
                <a:ext cx="75031" cy="76950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86" name="Oval 220">
                <a:extLst>
                  <a:ext uri="{FF2B5EF4-FFF2-40B4-BE49-F238E27FC236}">
                    <a16:creationId xmlns:a16="http://schemas.microsoft.com/office/drawing/2014/main" id="{DCBFBFE4-7B9B-4D02-93E0-A8B3FCF7093E}"/>
                  </a:ext>
                </a:extLst>
              </p:cNvPr>
              <p:cNvSpPr/>
              <p:nvPr/>
            </p:nvSpPr>
            <p:spPr bwMode="auto">
              <a:xfrm>
                <a:off x="8652540" y="3367536"/>
                <a:ext cx="72031" cy="76950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37" name="Group 205">
              <a:extLst>
                <a:ext uri="{FF2B5EF4-FFF2-40B4-BE49-F238E27FC236}">
                  <a16:creationId xmlns:a16="http://schemas.microsoft.com/office/drawing/2014/main" id="{5FB2B652-E1B7-4887-A8B8-D9FDBF1812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2155" y="3928697"/>
              <a:ext cx="1058221" cy="192769"/>
              <a:chOff x="5388934" y="2903927"/>
              <a:chExt cx="2667537" cy="541672"/>
            </a:xfrm>
          </p:grpSpPr>
          <p:sp>
            <p:nvSpPr>
              <p:cNvPr id="59" name="Rectangle 193">
                <a:extLst>
                  <a:ext uri="{FF2B5EF4-FFF2-40B4-BE49-F238E27FC236}">
                    <a16:creationId xmlns:a16="http://schemas.microsoft.com/office/drawing/2014/main" id="{BA6D138F-01FC-4423-A423-2765336C4C4E}"/>
                  </a:ext>
                </a:extLst>
              </p:cNvPr>
              <p:cNvSpPr/>
              <p:nvPr/>
            </p:nvSpPr>
            <p:spPr bwMode="auto">
              <a:xfrm>
                <a:off x="5389607" y="2902498"/>
                <a:ext cx="789342" cy="505185"/>
              </a:xfrm>
              <a:prstGeom prst="rect">
                <a:avLst/>
              </a:prstGeom>
              <a:solidFill>
                <a:srgbClr val="2980B9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0" name="Rectangle 194">
                <a:extLst>
                  <a:ext uri="{FF2B5EF4-FFF2-40B4-BE49-F238E27FC236}">
                    <a16:creationId xmlns:a16="http://schemas.microsoft.com/office/drawing/2014/main" id="{259E84DE-57C9-4E0C-A990-31BB42E1CB2E}"/>
                  </a:ext>
                </a:extLst>
              </p:cNvPr>
              <p:cNvSpPr/>
              <p:nvPr/>
            </p:nvSpPr>
            <p:spPr bwMode="auto">
              <a:xfrm>
                <a:off x="5683734" y="2972755"/>
                <a:ext cx="210091" cy="364672"/>
              </a:xfrm>
              <a:prstGeom prst="rect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1" name="Rectangle 195">
                <a:extLst>
                  <a:ext uri="{FF2B5EF4-FFF2-40B4-BE49-F238E27FC236}">
                    <a16:creationId xmlns:a16="http://schemas.microsoft.com/office/drawing/2014/main" id="{16275011-4A9E-4D0D-8493-34C2024398BF}"/>
                  </a:ext>
                </a:extLst>
              </p:cNvPr>
              <p:cNvSpPr/>
              <p:nvPr/>
            </p:nvSpPr>
            <p:spPr bwMode="auto">
              <a:xfrm>
                <a:off x="5929841" y="2972755"/>
                <a:ext cx="213093" cy="364672"/>
              </a:xfrm>
              <a:prstGeom prst="rect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2" name="Rectangle 196">
                <a:extLst>
                  <a:ext uri="{FF2B5EF4-FFF2-40B4-BE49-F238E27FC236}">
                    <a16:creationId xmlns:a16="http://schemas.microsoft.com/office/drawing/2014/main" id="{DC327DFA-35EE-4985-9305-B8CAD0403367}"/>
                  </a:ext>
                </a:extLst>
              </p:cNvPr>
              <p:cNvSpPr/>
              <p:nvPr/>
            </p:nvSpPr>
            <p:spPr bwMode="auto">
              <a:xfrm>
                <a:off x="6169945" y="2902498"/>
                <a:ext cx="210091" cy="50518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3" name="Rectangle 197">
                <a:extLst>
                  <a:ext uri="{FF2B5EF4-FFF2-40B4-BE49-F238E27FC236}">
                    <a16:creationId xmlns:a16="http://schemas.microsoft.com/office/drawing/2014/main" id="{86E7F2C5-9D0E-4FEE-A038-EE1ACC7A2E78}"/>
                  </a:ext>
                </a:extLst>
              </p:cNvPr>
              <p:cNvSpPr/>
              <p:nvPr/>
            </p:nvSpPr>
            <p:spPr bwMode="auto">
              <a:xfrm>
                <a:off x="6380036" y="2902498"/>
                <a:ext cx="207091" cy="50518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525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4" name="Rectangle 198">
                <a:extLst>
                  <a:ext uri="{FF2B5EF4-FFF2-40B4-BE49-F238E27FC236}">
                    <a16:creationId xmlns:a16="http://schemas.microsoft.com/office/drawing/2014/main" id="{A6822285-FDE2-44C8-A23D-0B4FF33A2B6F}"/>
                  </a:ext>
                </a:extLst>
              </p:cNvPr>
              <p:cNvSpPr/>
              <p:nvPr/>
            </p:nvSpPr>
            <p:spPr bwMode="auto">
              <a:xfrm rot="16200000">
                <a:off x="6409567" y="3068052"/>
                <a:ext cx="505185" cy="17407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525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5" name="Rectangle 199">
                <a:extLst>
                  <a:ext uri="{FF2B5EF4-FFF2-40B4-BE49-F238E27FC236}">
                    <a16:creationId xmlns:a16="http://schemas.microsoft.com/office/drawing/2014/main" id="{47C65CB3-A9C0-415A-A667-732945DF83D8}"/>
                  </a:ext>
                </a:extLst>
              </p:cNvPr>
              <p:cNvSpPr/>
              <p:nvPr/>
            </p:nvSpPr>
            <p:spPr bwMode="auto">
              <a:xfrm>
                <a:off x="6740191" y="2902498"/>
                <a:ext cx="501218" cy="505185"/>
              </a:xfrm>
              <a:prstGeom prst="rect">
                <a:avLst/>
              </a:prstGeom>
              <a:solidFill>
                <a:srgbClr val="15405B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66" name="Rectangle 200">
                <a:extLst>
                  <a:ext uri="{FF2B5EF4-FFF2-40B4-BE49-F238E27FC236}">
                    <a16:creationId xmlns:a16="http://schemas.microsoft.com/office/drawing/2014/main" id="{CC1C9562-E738-4033-BCD2-41253CFB8BE6}"/>
                  </a:ext>
                </a:extLst>
              </p:cNvPr>
              <p:cNvSpPr/>
              <p:nvPr/>
            </p:nvSpPr>
            <p:spPr bwMode="auto">
              <a:xfrm>
                <a:off x="7241409" y="2902498"/>
                <a:ext cx="783338" cy="505185"/>
              </a:xfrm>
              <a:prstGeom prst="rect">
                <a:avLst/>
              </a:prstGeom>
              <a:solidFill>
                <a:srgbClr val="15405B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cxnSp>
            <p:nvCxnSpPr>
              <p:cNvPr id="67" name="Elbow Connector 218">
                <a:extLst>
                  <a:ext uri="{FF2B5EF4-FFF2-40B4-BE49-F238E27FC236}">
                    <a16:creationId xmlns:a16="http://schemas.microsoft.com/office/drawing/2014/main" id="{6CFA5977-2A7B-420A-AE26-67EAD362AE1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391342" y="2596151"/>
                <a:ext cx="251461" cy="1447434"/>
              </a:xfrm>
              <a:prstGeom prst="bentConnector3">
                <a:avLst>
                  <a:gd name="adj1" fmla="val 190907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" name="Elbow Connector 219">
                <a:extLst>
                  <a:ext uri="{FF2B5EF4-FFF2-40B4-BE49-F238E27FC236}">
                    <a16:creationId xmlns:a16="http://schemas.microsoft.com/office/drawing/2014/main" id="{39CFDEDF-981B-4F11-AA8C-B43F6BA103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899354" y="2325057"/>
                <a:ext cx="251461" cy="1989622"/>
              </a:xfrm>
              <a:prstGeom prst="bentConnector3">
                <a:avLst>
                  <a:gd name="adj1" fmla="val 241412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9" name="Oval 203">
                <a:extLst>
                  <a:ext uri="{FF2B5EF4-FFF2-40B4-BE49-F238E27FC236}">
                    <a16:creationId xmlns:a16="http://schemas.microsoft.com/office/drawing/2014/main" id="{C7CE560B-A149-40B9-977B-B4D16F998410}"/>
                  </a:ext>
                </a:extLst>
              </p:cNvPr>
              <p:cNvSpPr/>
              <p:nvPr/>
            </p:nvSpPr>
            <p:spPr bwMode="auto">
              <a:xfrm>
                <a:off x="5758768" y="3116617"/>
                <a:ext cx="72031" cy="76948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0" name="Oval 204">
                <a:extLst>
                  <a:ext uri="{FF2B5EF4-FFF2-40B4-BE49-F238E27FC236}">
                    <a16:creationId xmlns:a16="http://schemas.microsoft.com/office/drawing/2014/main" id="{D5E4EA92-4882-49D6-9322-FB00DF990774}"/>
                  </a:ext>
                </a:extLst>
              </p:cNvPr>
              <p:cNvSpPr/>
              <p:nvPr/>
            </p:nvSpPr>
            <p:spPr bwMode="auto">
              <a:xfrm>
                <a:off x="5995869" y="3116617"/>
                <a:ext cx="72031" cy="76948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1" name="Oval 205">
                <a:extLst>
                  <a:ext uri="{FF2B5EF4-FFF2-40B4-BE49-F238E27FC236}">
                    <a16:creationId xmlns:a16="http://schemas.microsoft.com/office/drawing/2014/main" id="{118C1B06-259F-4197-B09B-9FDDD2CC7802}"/>
                  </a:ext>
                </a:extLst>
              </p:cNvPr>
              <p:cNvSpPr/>
              <p:nvPr/>
            </p:nvSpPr>
            <p:spPr bwMode="auto">
              <a:xfrm>
                <a:off x="7205394" y="3367536"/>
                <a:ext cx="72031" cy="76950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72" name="Oval 206">
                <a:extLst>
                  <a:ext uri="{FF2B5EF4-FFF2-40B4-BE49-F238E27FC236}">
                    <a16:creationId xmlns:a16="http://schemas.microsoft.com/office/drawing/2014/main" id="{F71DD1E9-9BDF-411B-9096-3F81601D1B56}"/>
                  </a:ext>
                </a:extLst>
              </p:cNvPr>
              <p:cNvSpPr/>
              <p:nvPr/>
            </p:nvSpPr>
            <p:spPr bwMode="auto">
              <a:xfrm>
                <a:off x="7985731" y="3367536"/>
                <a:ext cx="72031" cy="76950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sp>
          <p:nvSpPr>
            <p:cNvPr id="38" name="Oval 172">
              <a:extLst>
                <a:ext uri="{FF2B5EF4-FFF2-40B4-BE49-F238E27FC236}">
                  <a16:creationId xmlns:a16="http://schemas.microsoft.com/office/drawing/2014/main" id="{95CE5F23-694E-41E6-8607-24BD7980F10F}"/>
                </a:ext>
              </a:extLst>
            </p:cNvPr>
            <p:cNvSpPr/>
            <p:nvPr/>
          </p:nvSpPr>
          <p:spPr bwMode="auto">
            <a:xfrm>
              <a:off x="5353372" y="3904376"/>
              <a:ext cx="28575" cy="27384"/>
            </a:xfrm>
            <a:prstGeom prst="ellipse">
              <a:avLst/>
            </a:prstGeom>
            <a:solidFill>
              <a:srgbClr val="95A5A6"/>
            </a:solidFill>
            <a:ln w="25400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39" name="Oval 173">
              <a:extLst>
                <a:ext uri="{FF2B5EF4-FFF2-40B4-BE49-F238E27FC236}">
                  <a16:creationId xmlns:a16="http://schemas.microsoft.com/office/drawing/2014/main" id="{71D6F941-F36B-47DA-97D5-4FC51E0BF012}"/>
                </a:ext>
              </a:extLst>
            </p:cNvPr>
            <p:cNvSpPr/>
            <p:nvPr/>
          </p:nvSpPr>
          <p:spPr bwMode="auto">
            <a:xfrm>
              <a:off x="6407076" y="3905566"/>
              <a:ext cx="29766" cy="27385"/>
            </a:xfrm>
            <a:prstGeom prst="ellipse">
              <a:avLst/>
            </a:prstGeom>
            <a:solidFill>
              <a:srgbClr val="95A5A6"/>
            </a:solidFill>
            <a:ln w="25400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40" name="Elbow Connector 246">
              <a:extLst>
                <a:ext uri="{FF2B5EF4-FFF2-40B4-BE49-F238E27FC236}">
                  <a16:creationId xmlns:a16="http://schemas.microsoft.com/office/drawing/2014/main" id="{9D40D825-6EA6-46EC-A682-47C89CD879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507061" y="3361839"/>
              <a:ext cx="403082" cy="682519"/>
            </a:xfrm>
            <a:prstGeom prst="bentConnector3">
              <a:avLst>
                <a:gd name="adj1" fmla="val 70009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Elbow Connector 251">
              <a:extLst>
                <a:ext uri="{FF2B5EF4-FFF2-40B4-BE49-F238E27FC236}">
                  <a16:creationId xmlns:a16="http://schemas.microsoft.com/office/drawing/2014/main" id="{7EE29415-21FB-4C0E-A0E7-8089AE70AE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141218" y="3624694"/>
              <a:ext cx="403807" cy="157532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2" name="Group 254">
              <a:extLst>
                <a:ext uri="{FF2B5EF4-FFF2-40B4-BE49-F238E27FC236}">
                  <a16:creationId xmlns:a16="http://schemas.microsoft.com/office/drawing/2014/main" id="{F9CF46C8-C931-434D-A136-3FD805AECF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8176" y="4346739"/>
              <a:ext cx="1771700" cy="192769"/>
              <a:chOff x="5388934" y="2903927"/>
              <a:chExt cx="4466058" cy="541672"/>
            </a:xfrm>
          </p:grpSpPr>
          <p:sp>
            <p:nvSpPr>
              <p:cNvPr id="45" name="Rectangle 179">
                <a:extLst>
                  <a:ext uri="{FF2B5EF4-FFF2-40B4-BE49-F238E27FC236}">
                    <a16:creationId xmlns:a16="http://schemas.microsoft.com/office/drawing/2014/main" id="{EDE13CF2-CB04-4762-BEF3-0F164081A2C3}"/>
                  </a:ext>
                </a:extLst>
              </p:cNvPr>
              <p:cNvSpPr/>
              <p:nvPr/>
            </p:nvSpPr>
            <p:spPr bwMode="auto">
              <a:xfrm>
                <a:off x="5389437" y="2905474"/>
                <a:ext cx="789340" cy="501841"/>
              </a:xfrm>
              <a:prstGeom prst="rect">
                <a:avLst/>
              </a:prstGeom>
              <a:solidFill>
                <a:srgbClr val="2980B9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46" name="Rectangle 180">
                <a:extLst>
                  <a:ext uri="{FF2B5EF4-FFF2-40B4-BE49-F238E27FC236}">
                    <a16:creationId xmlns:a16="http://schemas.microsoft.com/office/drawing/2014/main" id="{6128A11D-D4C4-46F9-9FC8-060194A8F053}"/>
                  </a:ext>
                </a:extLst>
              </p:cNvPr>
              <p:cNvSpPr/>
              <p:nvPr/>
            </p:nvSpPr>
            <p:spPr bwMode="auto">
              <a:xfrm>
                <a:off x="5683564" y="2972386"/>
                <a:ext cx="210091" cy="364670"/>
              </a:xfrm>
              <a:prstGeom prst="rect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47" name="Rectangle 181">
                <a:extLst>
                  <a:ext uri="{FF2B5EF4-FFF2-40B4-BE49-F238E27FC236}">
                    <a16:creationId xmlns:a16="http://schemas.microsoft.com/office/drawing/2014/main" id="{49B9B0B7-17C0-4A1E-8214-BB55481AB993}"/>
                  </a:ext>
                </a:extLst>
              </p:cNvPr>
              <p:cNvSpPr/>
              <p:nvPr/>
            </p:nvSpPr>
            <p:spPr bwMode="auto">
              <a:xfrm>
                <a:off x="5929671" y="2972386"/>
                <a:ext cx="213091" cy="364670"/>
              </a:xfrm>
              <a:prstGeom prst="rect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48" name="Rectangle 182">
                <a:extLst>
                  <a:ext uri="{FF2B5EF4-FFF2-40B4-BE49-F238E27FC236}">
                    <a16:creationId xmlns:a16="http://schemas.microsoft.com/office/drawing/2014/main" id="{D1C1CB5D-D7D2-4189-8233-FE953D7E0E55}"/>
                  </a:ext>
                </a:extLst>
              </p:cNvPr>
              <p:cNvSpPr/>
              <p:nvPr/>
            </p:nvSpPr>
            <p:spPr bwMode="auto">
              <a:xfrm>
                <a:off x="6169774" y="2905474"/>
                <a:ext cx="210091" cy="501841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49" name="Rectangle 183">
                <a:extLst>
                  <a:ext uri="{FF2B5EF4-FFF2-40B4-BE49-F238E27FC236}">
                    <a16:creationId xmlns:a16="http://schemas.microsoft.com/office/drawing/2014/main" id="{1A2F75E6-05EB-4F92-BB39-E4AED8A33F02}"/>
                  </a:ext>
                </a:extLst>
              </p:cNvPr>
              <p:cNvSpPr/>
              <p:nvPr/>
            </p:nvSpPr>
            <p:spPr bwMode="auto">
              <a:xfrm>
                <a:off x="6379865" y="2905474"/>
                <a:ext cx="207089" cy="501841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525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0" name="Rectangle 184">
                <a:extLst>
                  <a:ext uri="{FF2B5EF4-FFF2-40B4-BE49-F238E27FC236}">
                    <a16:creationId xmlns:a16="http://schemas.microsoft.com/office/drawing/2014/main" id="{08D4CBD5-FF17-49BB-B6D7-4A7C38A85EAB}"/>
                  </a:ext>
                </a:extLst>
              </p:cNvPr>
              <p:cNvSpPr/>
              <p:nvPr/>
            </p:nvSpPr>
            <p:spPr bwMode="auto">
              <a:xfrm rot="16200000">
                <a:off x="6411066" y="3069357"/>
                <a:ext cx="501841" cy="17407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525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1" name="Rectangle 185">
                <a:extLst>
                  <a:ext uri="{FF2B5EF4-FFF2-40B4-BE49-F238E27FC236}">
                    <a16:creationId xmlns:a16="http://schemas.microsoft.com/office/drawing/2014/main" id="{4D5853E5-B341-498D-BC8B-6444DE48A564}"/>
                  </a:ext>
                </a:extLst>
              </p:cNvPr>
              <p:cNvSpPr/>
              <p:nvPr/>
            </p:nvSpPr>
            <p:spPr bwMode="auto">
              <a:xfrm>
                <a:off x="6740021" y="2905474"/>
                <a:ext cx="2289989" cy="501841"/>
              </a:xfrm>
              <a:prstGeom prst="rect">
                <a:avLst/>
              </a:prstGeom>
              <a:solidFill>
                <a:srgbClr val="15405B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2" name="Rectangle 186">
                <a:extLst>
                  <a:ext uri="{FF2B5EF4-FFF2-40B4-BE49-F238E27FC236}">
                    <a16:creationId xmlns:a16="http://schemas.microsoft.com/office/drawing/2014/main" id="{488E3BC6-164E-4AB0-BB12-621ACF9954E5}"/>
                  </a:ext>
                </a:extLst>
              </p:cNvPr>
              <p:cNvSpPr/>
              <p:nvPr/>
            </p:nvSpPr>
            <p:spPr bwMode="auto">
              <a:xfrm>
                <a:off x="9039015" y="2905474"/>
                <a:ext cx="783338" cy="501841"/>
              </a:xfrm>
              <a:prstGeom prst="rect">
                <a:avLst/>
              </a:prstGeom>
              <a:solidFill>
                <a:srgbClr val="15405B"/>
              </a:solidFill>
              <a:ln w="9525" cap="flat" cmpd="sng" algn="ctr">
                <a:solidFill>
                  <a:srgbClr val="95A5A6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cxnSp>
            <p:nvCxnSpPr>
              <p:cNvPr id="53" name="Elbow Connector 264">
                <a:extLst>
                  <a:ext uri="{FF2B5EF4-FFF2-40B4-BE49-F238E27FC236}">
                    <a16:creationId xmlns:a16="http://schemas.microsoft.com/office/drawing/2014/main" id="{1415E811-97F4-4AF3-A0A6-71A40AD7F2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7282984" y="1704508"/>
                <a:ext cx="251463" cy="3230720"/>
              </a:xfrm>
              <a:prstGeom prst="bentConnector3">
                <a:avLst>
                  <a:gd name="adj1" fmla="val 291523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Elbow Connector 265">
                <a:extLst>
                  <a:ext uri="{FF2B5EF4-FFF2-40B4-BE49-F238E27FC236}">
                    <a16:creationId xmlns:a16="http://schemas.microsoft.com/office/drawing/2014/main" id="{2F6F52EC-8730-48BC-912F-AF6AE92B6C2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7798613" y="1425796"/>
                <a:ext cx="251463" cy="3788143"/>
              </a:xfrm>
              <a:prstGeom prst="bentConnector3">
                <a:avLst>
                  <a:gd name="adj1" fmla="val 211796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5" name="Oval 189">
                <a:extLst>
                  <a:ext uri="{FF2B5EF4-FFF2-40B4-BE49-F238E27FC236}">
                    <a16:creationId xmlns:a16="http://schemas.microsoft.com/office/drawing/2014/main" id="{CF918BEE-038A-44C2-9A0D-A0E7BDF713E5}"/>
                  </a:ext>
                </a:extLst>
              </p:cNvPr>
              <p:cNvSpPr/>
              <p:nvPr/>
            </p:nvSpPr>
            <p:spPr bwMode="auto">
              <a:xfrm>
                <a:off x="5758596" y="3116246"/>
                <a:ext cx="72031" cy="76950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6" name="Oval 190">
                <a:extLst>
                  <a:ext uri="{FF2B5EF4-FFF2-40B4-BE49-F238E27FC236}">
                    <a16:creationId xmlns:a16="http://schemas.microsoft.com/office/drawing/2014/main" id="{7C670962-DDA0-49BB-A2C8-962814D80A2E}"/>
                  </a:ext>
                </a:extLst>
              </p:cNvPr>
              <p:cNvSpPr/>
              <p:nvPr/>
            </p:nvSpPr>
            <p:spPr bwMode="auto">
              <a:xfrm>
                <a:off x="5992697" y="3116246"/>
                <a:ext cx="75033" cy="76950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7" name="Oval 191">
                <a:extLst>
                  <a:ext uri="{FF2B5EF4-FFF2-40B4-BE49-F238E27FC236}">
                    <a16:creationId xmlns:a16="http://schemas.microsoft.com/office/drawing/2014/main" id="{25C44E7D-AC0E-4EFB-8445-0DECC2A1D0B0}"/>
                  </a:ext>
                </a:extLst>
              </p:cNvPr>
              <p:cNvSpPr/>
              <p:nvPr/>
            </p:nvSpPr>
            <p:spPr bwMode="auto">
              <a:xfrm>
                <a:off x="8987992" y="3367167"/>
                <a:ext cx="72031" cy="76948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58" name="Oval 192">
                <a:extLst>
                  <a:ext uri="{FF2B5EF4-FFF2-40B4-BE49-F238E27FC236}">
                    <a16:creationId xmlns:a16="http://schemas.microsoft.com/office/drawing/2014/main" id="{BDDF4134-5E42-41FD-B4DD-1EF865123E04}"/>
                  </a:ext>
                </a:extLst>
              </p:cNvPr>
              <p:cNvSpPr/>
              <p:nvPr/>
            </p:nvSpPr>
            <p:spPr bwMode="auto">
              <a:xfrm>
                <a:off x="9783337" y="3367167"/>
                <a:ext cx="72031" cy="76948"/>
              </a:xfrm>
              <a:prstGeom prst="ellipse">
                <a:avLst/>
              </a:prstGeom>
              <a:solidFill>
                <a:srgbClr val="95A5A6"/>
              </a:solidFill>
              <a:ln w="9525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sp>
          <p:nvSpPr>
            <p:cNvPr id="43" name="Oval 177">
              <a:extLst>
                <a:ext uri="{FF2B5EF4-FFF2-40B4-BE49-F238E27FC236}">
                  <a16:creationId xmlns:a16="http://schemas.microsoft.com/office/drawing/2014/main" id="{A4A5C75A-6EC1-40C9-B2B6-6B72754858A7}"/>
                </a:ext>
              </a:extLst>
            </p:cNvPr>
            <p:cNvSpPr/>
            <p:nvPr/>
          </p:nvSpPr>
          <p:spPr bwMode="auto">
            <a:xfrm>
              <a:off x="5359326" y="4310379"/>
              <a:ext cx="28575" cy="27385"/>
            </a:xfrm>
            <a:prstGeom prst="ellipse">
              <a:avLst/>
            </a:prstGeom>
            <a:solidFill>
              <a:srgbClr val="95A5A6"/>
            </a:solidFill>
            <a:ln w="25400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44" name="Elbow Connector 271">
              <a:extLst>
                <a:ext uri="{FF2B5EF4-FFF2-40B4-BE49-F238E27FC236}">
                  <a16:creationId xmlns:a16="http://schemas.microsoft.com/office/drawing/2014/main" id="{0896ECEE-77DD-4C6B-81A6-EF042A40BC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722271" y="3138140"/>
              <a:ext cx="822152" cy="1548986"/>
            </a:xfrm>
            <a:prstGeom prst="bentConnector4">
              <a:avLst>
                <a:gd name="adj1" fmla="val 29171"/>
                <a:gd name="adj2" fmla="val 103454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102" name="Picture 2">
            <a:extLst>
              <a:ext uri="{FF2B5EF4-FFF2-40B4-BE49-F238E27FC236}">
                <a16:creationId xmlns:a16="http://schemas.microsoft.com/office/drawing/2014/main" id="{541E9DAD-71B0-483C-9C3E-C14704AB6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848" y="1109201"/>
            <a:ext cx="6522502" cy="238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4C091A04-447E-4E8B-8E81-A58951D21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52" y="3827447"/>
            <a:ext cx="2957981" cy="230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4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Archivo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81315430-90B4-4095-8F0E-17CF140264BB}"/>
              </a:ext>
            </a:extLst>
          </p:cNvPr>
          <p:cNvSpPr txBox="1">
            <a:spLocks/>
          </p:cNvSpPr>
          <p:nvPr/>
        </p:nvSpPr>
        <p:spPr>
          <a:xfrm>
            <a:off x="942316" y="817492"/>
            <a:ext cx="7472607" cy="60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400" b="1" dirty="0">
                <a:solidFill>
                  <a:srgbClr val="92D050"/>
                </a:solidFill>
              </a:rPr>
              <a:t>Registros</a:t>
            </a:r>
          </a:p>
          <a:p>
            <a:endParaRPr lang="es-CO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0B5E144-5AF1-43DE-9905-F1BE25204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92042"/>
              </p:ext>
            </p:extLst>
          </p:nvPr>
        </p:nvGraphicFramePr>
        <p:xfrm>
          <a:off x="1925974" y="1455744"/>
          <a:ext cx="3258011" cy="3566160"/>
        </p:xfrm>
        <a:graphic>
          <a:graphicData uri="http://schemas.openxmlformats.org/drawingml/2006/table">
            <a:tbl>
              <a:tblPr/>
              <a:tblGrid>
                <a:gridCol w="649605">
                  <a:extLst>
                    <a:ext uri="{9D8B030D-6E8A-4147-A177-3AD203B41FA5}">
                      <a16:colId xmlns:a16="http://schemas.microsoft.com/office/drawing/2014/main" val="2953673394"/>
                    </a:ext>
                  </a:extLst>
                </a:gridCol>
                <a:gridCol w="924243">
                  <a:extLst>
                    <a:ext uri="{9D8B030D-6E8A-4147-A177-3AD203B41FA5}">
                      <a16:colId xmlns:a16="http://schemas.microsoft.com/office/drawing/2014/main" val="2737808994"/>
                    </a:ext>
                  </a:extLst>
                </a:gridCol>
                <a:gridCol w="1003033">
                  <a:extLst>
                    <a:ext uri="{9D8B030D-6E8A-4147-A177-3AD203B41FA5}">
                      <a16:colId xmlns:a16="http://schemas.microsoft.com/office/drawing/2014/main" val="3149482195"/>
                    </a:ext>
                  </a:extLst>
                </a:gridCol>
                <a:gridCol w="681130">
                  <a:extLst>
                    <a:ext uri="{9D8B030D-6E8A-4147-A177-3AD203B41FA5}">
                      <a16:colId xmlns:a16="http://schemas.microsoft.com/office/drawing/2014/main" val="3322426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dept_name</a:t>
                      </a:r>
                      <a:endParaRPr lang="es-CO" sz="1200" b="1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20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22222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Einstein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40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12121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Wu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32343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 Said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8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45565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Katz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38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98345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Elec</a:t>
                      </a:r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. Eng.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924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Crick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Biology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72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Srinivasan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352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58583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Califieri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10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83821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Brandt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15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15151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Mozart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Music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22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52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76543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Singh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17982"/>
                  </a:ext>
                </a:extLst>
              </a:tr>
            </a:tbl>
          </a:graphicData>
        </a:graphic>
      </p:graphicFrame>
      <p:sp>
        <p:nvSpPr>
          <p:cNvPr id="105" name="CuadroTexto 104">
            <a:extLst>
              <a:ext uri="{FF2B5EF4-FFF2-40B4-BE49-F238E27FC236}">
                <a16:creationId xmlns:a16="http://schemas.microsoft.com/office/drawing/2014/main" id="{6314688C-8FE4-48F2-98A5-356C14BEC700}"/>
              </a:ext>
            </a:extLst>
          </p:cNvPr>
          <p:cNvSpPr txBox="1"/>
          <p:nvPr/>
        </p:nvSpPr>
        <p:spPr>
          <a:xfrm>
            <a:off x="903923" y="5419781"/>
            <a:ext cx="309956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type</a:t>
            </a:r>
            <a:r>
              <a:rPr lang="en-US" altLang="en-US" sz="1200" dirty="0">
                <a:latin typeface="Consolas" panose="020B0609020204030204" pitchFamily="49" charset="0"/>
              </a:rPr>
              <a:t> </a:t>
            </a:r>
            <a:r>
              <a:rPr lang="en-US" altLang="en-US" sz="1200" i="1" dirty="0">
                <a:latin typeface="Consolas" panose="020B0609020204030204" pitchFamily="49" charset="0"/>
              </a:rPr>
              <a:t>instructor</a:t>
            </a:r>
            <a:r>
              <a:rPr lang="en-US" altLang="en-US" sz="1200" dirty="0">
                <a:latin typeface="Consolas" panose="020B0609020204030204" pitchFamily="49" charset="0"/>
              </a:rPr>
              <a:t> = </a:t>
            </a:r>
            <a:r>
              <a:rPr lang="en-US" altLang="en-US" sz="1200" b="1" dirty="0">
                <a:latin typeface="Consolas" panose="020B0609020204030204" pitchFamily="49" charset="0"/>
              </a:rPr>
              <a:t>record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i="1" dirty="0">
                <a:latin typeface="Consolas" panose="020B0609020204030204" pitchFamily="49" charset="0"/>
              </a:rPr>
              <a:t>   ID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>
                <a:latin typeface="Consolas" panose="020B0609020204030204" pitchFamily="49" charset="0"/>
              </a:rPr>
              <a:t>varchar (5);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>
                <a:latin typeface="Consolas" panose="020B0609020204030204" pitchFamily="49" charset="0"/>
              </a:rPr>
              <a:t>varchar(20);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dept_name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>
                <a:latin typeface="Consolas" panose="020B0609020204030204" pitchFamily="49" charset="0"/>
              </a:rPr>
              <a:t>varchar(20);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salary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>
                <a:latin typeface="Consolas" panose="020B0609020204030204" pitchFamily="49" charset="0"/>
              </a:rPr>
              <a:t>numeric (8,2);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end</a:t>
            </a:r>
            <a:r>
              <a:rPr lang="en-US" altLang="en-US" sz="1200" dirty="0">
                <a:latin typeface="Consolas" panose="020B0609020204030204" pitchFamily="49" charset="0"/>
              </a:rPr>
              <a:t>;</a:t>
            </a:r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EF70D42B-AF2E-4F87-A4D7-CAD2B73FBBD8}"/>
              </a:ext>
            </a:extLst>
          </p:cNvPr>
          <p:cNvGrpSpPr/>
          <p:nvPr/>
        </p:nvGrpSpPr>
        <p:grpSpPr>
          <a:xfrm>
            <a:off x="4527582" y="5516941"/>
            <a:ext cx="4169377" cy="854508"/>
            <a:chOff x="2410710" y="4569146"/>
            <a:chExt cx="4169377" cy="854508"/>
          </a:xfrm>
        </p:grpSpPr>
        <p:grpSp>
          <p:nvGrpSpPr>
            <p:cNvPr id="107" name="Group 12" descr="Bob, Harmon, M, 32, 400" title="Record">
              <a:extLst>
                <a:ext uri="{FF2B5EF4-FFF2-40B4-BE49-F238E27FC236}">
                  <a16:creationId xmlns:a16="http://schemas.microsoft.com/office/drawing/2014/main" id="{4860EE14-E6A5-490E-B3F6-C5CE90AE90CE}"/>
                </a:ext>
              </a:extLst>
            </p:cNvPr>
            <p:cNvGrpSpPr/>
            <p:nvPr/>
          </p:nvGrpSpPr>
          <p:grpSpPr>
            <a:xfrm>
              <a:off x="2410710" y="4569146"/>
              <a:ext cx="3145112" cy="854508"/>
              <a:chOff x="109404" y="1070849"/>
              <a:chExt cx="3145112" cy="854508"/>
            </a:xfrm>
          </p:grpSpPr>
          <p:sp>
            <p:nvSpPr>
              <p:cNvPr id="109" name="TextBox 43">
                <a:extLst>
                  <a:ext uri="{FF2B5EF4-FFF2-40B4-BE49-F238E27FC236}">
                    <a16:creationId xmlns:a16="http://schemas.microsoft.com/office/drawing/2014/main" id="{F5AA3030-CBEA-4FB5-BB93-330F4027E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404" y="1070849"/>
                <a:ext cx="314511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  <a:buNone/>
                  <a:defRPr/>
                </a:pPr>
                <a:r>
                  <a:rPr lang="en-US" altLang="en-US" sz="1200" b="1" kern="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Record</a:t>
                </a:r>
                <a:endParaRPr lang="en-US" altLang="en-US" sz="105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p:grpSp>
            <p:nvGrpSpPr>
              <p:cNvPr id="110" name="Group 44">
                <a:extLst>
                  <a:ext uri="{FF2B5EF4-FFF2-40B4-BE49-F238E27FC236}">
                    <a16:creationId xmlns:a16="http://schemas.microsoft.com/office/drawing/2014/main" id="{F2778453-CD82-4760-ACF9-56BCDAB0A6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784" y="1375875"/>
                <a:ext cx="3144732" cy="333327"/>
                <a:chOff x="4556035" y="4778366"/>
                <a:chExt cx="4286059" cy="504429"/>
              </a:xfrm>
            </p:grpSpPr>
            <p:sp>
              <p:nvSpPr>
                <p:cNvPr id="115" name="Rectangle 139">
                  <a:extLst>
                    <a:ext uri="{FF2B5EF4-FFF2-40B4-BE49-F238E27FC236}">
                      <a16:creationId xmlns:a16="http://schemas.microsoft.com/office/drawing/2014/main" id="{8150E688-585B-4B36-802E-BE0D4FFEF5F8}"/>
                    </a:ext>
                  </a:extLst>
                </p:cNvPr>
                <p:cNvSpPr/>
                <p:nvPr/>
              </p:nvSpPr>
              <p:spPr bwMode="auto">
                <a:xfrm>
                  <a:off x="4556035" y="4778366"/>
                  <a:ext cx="751132" cy="50442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05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ID</a:t>
                  </a:r>
                </a:p>
              </p:txBody>
            </p:sp>
            <p:sp>
              <p:nvSpPr>
                <p:cNvPr id="116" name="Rectangle 140">
                  <a:extLst>
                    <a:ext uri="{FF2B5EF4-FFF2-40B4-BE49-F238E27FC236}">
                      <a16:creationId xmlns:a16="http://schemas.microsoft.com/office/drawing/2014/main" id="{5C498055-0D36-4CB7-A716-B211BA439ED6}"/>
                    </a:ext>
                  </a:extLst>
                </p:cNvPr>
                <p:cNvSpPr/>
                <p:nvPr/>
              </p:nvSpPr>
              <p:spPr bwMode="auto">
                <a:xfrm>
                  <a:off x="6469594" y="4778366"/>
                  <a:ext cx="1246594" cy="50442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050" dirty="0"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d</a:t>
                  </a:r>
                  <a:r>
                    <a:rPr lang="en-US" sz="105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ept_name</a:t>
                  </a:r>
                </a:p>
              </p:txBody>
            </p:sp>
            <p:sp>
              <p:nvSpPr>
                <p:cNvPr id="117" name="Rectangle 142">
                  <a:extLst>
                    <a:ext uri="{FF2B5EF4-FFF2-40B4-BE49-F238E27FC236}">
                      <a16:creationId xmlns:a16="http://schemas.microsoft.com/office/drawing/2014/main" id="{6B0C353C-B2E5-4036-962B-97FFB56BAC87}"/>
                    </a:ext>
                  </a:extLst>
                </p:cNvPr>
                <p:cNvSpPr/>
                <p:nvPr/>
              </p:nvSpPr>
              <p:spPr bwMode="auto">
                <a:xfrm>
                  <a:off x="7716190" y="4778366"/>
                  <a:ext cx="1125904" cy="5044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05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salary</a:t>
                  </a:r>
                </a:p>
              </p:txBody>
            </p:sp>
            <p:sp>
              <p:nvSpPr>
                <p:cNvPr id="118" name="Rectangle 143">
                  <a:extLst>
                    <a:ext uri="{FF2B5EF4-FFF2-40B4-BE49-F238E27FC236}">
                      <a16:creationId xmlns:a16="http://schemas.microsoft.com/office/drawing/2014/main" id="{3FC84BE9-17C1-4888-B318-B121822E3942}"/>
                    </a:ext>
                  </a:extLst>
                </p:cNvPr>
                <p:cNvSpPr/>
                <p:nvPr/>
              </p:nvSpPr>
              <p:spPr bwMode="auto">
                <a:xfrm>
                  <a:off x="5307167" y="4778366"/>
                  <a:ext cx="1162429" cy="50442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050" dirty="0"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name</a:t>
                  </a: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</p:grpSp>
          <p:sp>
            <p:nvSpPr>
              <p:cNvPr id="111" name="TextBox 134">
                <a:extLst>
                  <a:ext uri="{FF2B5EF4-FFF2-40B4-BE49-F238E27FC236}">
                    <a16:creationId xmlns:a16="http://schemas.microsoft.com/office/drawing/2014/main" id="{5A6EB133-6B6D-4CE2-9E29-7ED8D23A029B}"/>
                  </a:ext>
                </a:extLst>
              </p:cNvPr>
              <p:cNvSpPr txBox="1"/>
              <p:nvPr/>
            </p:nvSpPr>
            <p:spPr bwMode="auto">
              <a:xfrm>
                <a:off x="260947" y="1692428"/>
                <a:ext cx="248786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900" kern="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5</a:t>
                </a:r>
              </a:p>
            </p:txBody>
          </p:sp>
          <p:sp>
            <p:nvSpPr>
              <p:cNvPr id="112" name="TextBox 135">
                <a:extLst>
                  <a:ext uri="{FF2B5EF4-FFF2-40B4-BE49-F238E27FC236}">
                    <a16:creationId xmlns:a16="http://schemas.microsoft.com/office/drawing/2014/main" id="{2EFB7F18-9492-46B4-8970-0D7328F444D8}"/>
                  </a:ext>
                </a:extLst>
              </p:cNvPr>
              <p:cNvSpPr txBox="1"/>
              <p:nvPr/>
            </p:nvSpPr>
            <p:spPr bwMode="auto">
              <a:xfrm>
                <a:off x="948164" y="1692428"/>
                <a:ext cx="312906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900" kern="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20</a:t>
                </a:r>
              </a:p>
            </p:txBody>
          </p:sp>
          <p:sp>
            <p:nvSpPr>
              <p:cNvPr id="113" name="TextBox 137">
                <a:extLst>
                  <a:ext uri="{FF2B5EF4-FFF2-40B4-BE49-F238E27FC236}">
                    <a16:creationId xmlns:a16="http://schemas.microsoft.com/office/drawing/2014/main" id="{2D4AAC0B-BE7F-4974-8962-5C45E2375FE5}"/>
                  </a:ext>
                </a:extLst>
              </p:cNvPr>
              <p:cNvSpPr txBox="1"/>
              <p:nvPr/>
            </p:nvSpPr>
            <p:spPr bwMode="auto">
              <a:xfrm>
                <a:off x="1830704" y="1692428"/>
                <a:ext cx="312906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20</a:t>
                </a:r>
                <a:endParaRPr lang="en-US" sz="9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p:sp>
            <p:nvSpPr>
              <p:cNvPr id="114" name="TextBox 138">
                <a:extLst>
                  <a:ext uri="{FF2B5EF4-FFF2-40B4-BE49-F238E27FC236}">
                    <a16:creationId xmlns:a16="http://schemas.microsoft.com/office/drawing/2014/main" id="{7ABDFA0A-723B-490B-80E6-6B5307D1732B}"/>
                  </a:ext>
                </a:extLst>
              </p:cNvPr>
              <p:cNvSpPr txBox="1"/>
              <p:nvPr/>
            </p:nvSpPr>
            <p:spPr bwMode="auto">
              <a:xfrm>
                <a:off x="2682428" y="1694525"/>
                <a:ext cx="248786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8</a:t>
                </a:r>
                <a:endParaRPr lang="en-US" sz="9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</p:grpSp>
        <p:sp>
          <p:nvSpPr>
            <p:cNvPr id="108" name="TextBox 138">
              <a:extLst>
                <a:ext uri="{FF2B5EF4-FFF2-40B4-BE49-F238E27FC236}">
                  <a16:creationId xmlns:a16="http://schemas.microsoft.com/office/drawing/2014/main" id="{8B73C040-F00E-48E2-AB1D-C131D99F39D1}"/>
                </a:ext>
              </a:extLst>
            </p:cNvPr>
            <p:cNvSpPr txBox="1"/>
            <p:nvPr/>
          </p:nvSpPr>
          <p:spPr bwMode="auto">
            <a:xfrm>
              <a:off x="5754220" y="5190725"/>
              <a:ext cx="825867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dirty="0">
                  <a:solidFill>
                    <a:schemeClr val="accent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= 53 bytes</a:t>
              </a:r>
              <a:endParaRPr lang="en-US" sz="900" kern="0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6CA10A14-3B34-41A8-9601-8B70167897FB}"/>
              </a:ext>
            </a:extLst>
          </p:cNvPr>
          <p:cNvGrpSpPr/>
          <p:nvPr/>
        </p:nvGrpSpPr>
        <p:grpSpPr>
          <a:xfrm>
            <a:off x="6093628" y="2543233"/>
            <a:ext cx="4642589" cy="1266953"/>
            <a:chOff x="1268851" y="2442000"/>
            <a:chExt cx="4642589" cy="1266953"/>
          </a:xfrm>
        </p:grpSpPr>
        <p:sp>
          <p:nvSpPr>
            <p:cNvPr id="120" name="Rectangle 139">
              <a:extLst>
                <a:ext uri="{FF2B5EF4-FFF2-40B4-BE49-F238E27FC236}">
                  <a16:creationId xmlns:a16="http://schemas.microsoft.com/office/drawing/2014/main" id="{44ED1488-6C8D-45DA-B70D-B95EADAA38C1}"/>
                </a:ext>
              </a:extLst>
            </p:cNvPr>
            <p:cNvSpPr/>
            <p:nvPr/>
          </p:nvSpPr>
          <p:spPr bwMode="auto">
            <a:xfrm>
              <a:off x="1962150" y="2746550"/>
              <a:ext cx="1355672" cy="3333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121" name="Rectangle 140">
              <a:extLst>
                <a:ext uri="{FF2B5EF4-FFF2-40B4-BE49-F238E27FC236}">
                  <a16:creationId xmlns:a16="http://schemas.microsoft.com/office/drawing/2014/main" id="{98D8B287-7F49-4578-B0E2-047D6D5332AA}"/>
                </a:ext>
              </a:extLst>
            </p:cNvPr>
            <p:cNvSpPr/>
            <p:nvPr/>
          </p:nvSpPr>
          <p:spPr bwMode="auto">
            <a:xfrm>
              <a:off x="4170709" y="2746550"/>
              <a:ext cx="914641" cy="3333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122" name="Rectangle 142">
              <a:extLst>
                <a:ext uri="{FF2B5EF4-FFF2-40B4-BE49-F238E27FC236}">
                  <a16:creationId xmlns:a16="http://schemas.microsoft.com/office/drawing/2014/main" id="{7DC60107-15AA-4D86-83B2-92FF70461181}"/>
                </a:ext>
              </a:extLst>
            </p:cNvPr>
            <p:cNvSpPr/>
            <p:nvPr/>
          </p:nvSpPr>
          <p:spPr bwMode="auto">
            <a:xfrm>
              <a:off x="5085351" y="2746550"/>
              <a:ext cx="826089" cy="3333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123" name="Rectangle 143">
              <a:extLst>
                <a:ext uri="{FF2B5EF4-FFF2-40B4-BE49-F238E27FC236}">
                  <a16:creationId xmlns:a16="http://schemas.microsoft.com/office/drawing/2014/main" id="{97ADBA69-8BDB-4805-A94E-DD0C34B02844}"/>
                </a:ext>
              </a:extLst>
            </p:cNvPr>
            <p:cNvSpPr/>
            <p:nvPr/>
          </p:nvSpPr>
          <p:spPr bwMode="auto">
            <a:xfrm>
              <a:off x="3317822" y="2746550"/>
              <a:ext cx="852888" cy="3333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uadroTexto 123">
                  <a:extLst>
                    <a:ext uri="{FF2B5EF4-FFF2-40B4-BE49-F238E27FC236}">
                      <a16:creationId xmlns:a16="http://schemas.microsoft.com/office/drawing/2014/main" id="{9451AD8A-0D09-47CB-815E-1AF5F1333A3D}"/>
                    </a:ext>
                  </a:extLst>
                </p:cNvPr>
                <p:cNvSpPr txBox="1"/>
                <p:nvPr/>
              </p:nvSpPr>
              <p:spPr>
                <a:xfrm>
                  <a:off x="2534120" y="2442000"/>
                  <a:ext cx="22448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9311B63E-2266-4F2D-9503-716F8DFB7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120" y="2442000"/>
                  <a:ext cx="224484" cy="215444"/>
                </a:xfrm>
                <a:prstGeom prst="rect">
                  <a:avLst/>
                </a:prstGeom>
                <a:blipFill>
                  <a:blip r:embed="rId11"/>
                  <a:stretch>
                    <a:fillRect l="-16667" r="-5556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F97D7B44-1F9E-41BE-99E4-C588672DDAEC}"/>
                    </a:ext>
                  </a:extLst>
                </p:cNvPr>
                <p:cNvSpPr txBox="1"/>
                <p:nvPr/>
              </p:nvSpPr>
              <p:spPr>
                <a:xfrm>
                  <a:off x="3647215" y="2442000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255793D2-51FC-4363-8549-F034E3F22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215" y="2442000"/>
                  <a:ext cx="228652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15789" r="-2632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27FDEA75-7D6F-48C7-8364-979D81D87D44}"/>
                    </a:ext>
                  </a:extLst>
                </p:cNvPr>
                <p:cNvSpPr txBox="1"/>
                <p:nvPr/>
              </p:nvSpPr>
              <p:spPr>
                <a:xfrm>
                  <a:off x="4490948" y="2442000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CB162371-F298-4F1C-B718-6FF86F3D2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0948" y="2442000"/>
                  <a:ext cx="228652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uadroTexto 126">
                  <a:extLst>
                    <a:ext uri="{FF2B5EF4-FFF2-40B4-BE49-F238E27FC236}">
                      <a16:creationId xmlns:a16="http://schemas.microsoft.com/office/drawing/2014/main" id="{0F3B6D36-9E7E-43D2-8E07-854D8722BDE8}"/>
                    </a:ext>
                  </a:extLst>
                </p:cNvPr>
                <p:cNvSpPr txBox="1"/>
                <p:nvPr/>
              </p:nvSpPr>
              <p:spPr>
                <a:xfrm>
                  <a:off x="5384069" y="2442454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AED76F18-0099-44EC-9B3C-3E2D753B8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4069" y="2442454"/>
                  <a:ext cx="228652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15789" r="-2632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A5059E97-E5F6-4EE5-AD9E-E39144BFC8DD}"/>
                    </a:ext>
                  </a:extLst>
                </p:cNvPr>
                <p:cNvSpPr txBox="1"/>
                <p:nvPr/>
              </p:nvSpPr>
              <p:spPr>
                <a:xfrm>
                  <a:off x="2542224" y="2805492"/>
                  <a:ext cx="22448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0F59022E-7ECD-4CE5-A61B-B3BA8F6014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2224" y="2805492"/>
                  <a:ext cx="224484" cy="215444"/>
                </a:xfrm>
                <a:prstGeom prst="rect">
                  <a:avLst/>
                </a:prstGeom>
                <a:blipFill>
                  <a:blip r:embed="rId15"/>
                  <a:stretch>
                    <a:fillRect l="-16216" r="-2703" b="-13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CuadroTexto 128">
                  <a:extLst>
                    <a:ext uri="{FF2B5EF4-FFF2-40B4-BE49-F238E27FC236}">
                      <a16:creationId xmlns:a16="http://schemas.microsoft.com/office/drawing/2014/main" id="{1A1ACDDA-E76B-43CF-BEF6-CDC00575196E}"/>
                    </a:ext>
                  </a:extLst>
                </p:cNvPr>
                <p:cNvSpPr txBox="1"/>
                <p:nvPr/>
              </p:nvSpPr>
              <p:spPr>
                <a:xfrm>
                  <a:off x="3643530" y="2801150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8833BEB8-D540-4EBF-BD3F-59FCBD684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3530" y="2801150"/>
                  <a:ext cx="228652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EA238D0A-201D-433A-A79B-5E6569A95DD4}"/>
                    </a:ext>
                  </a:extLst>
                </p:cNvPr>
                <p:cNvSpPr txBox="1"/>
                <p:nvPr/>
              </p:nvSpPr>
              <p:spPr>
                <a:xfrm>
                  <a:off x="4529755" y="2793706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3ACFAC02-786F-403D-B69F-48EC8FC14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9755" y="2793706"/>
                  <a:ext cx="228652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CuadroTexto 130">
                  <a:extLst>
                    <a:ext uri="{FF2B5EF4-FFF2-40B4-BE49-F238E27FC236}">
                      <a16:creationId xmlns:a16="http://schemas.microsoft.com/office/drawing/2014/main" id="{8DD8F8A8-0528-42D4-A44C-C2F240D13AE3}"/>
                    </a:ext>
                  </a:extLst>
                </p:cNvPr>
                <p:cNvSpPr txBox="1"/>
                <p:nvPr/>
              </p:nvSpPr>
              <p:spPr>
                <a:xfrm>
                  <a:off x="5412056" y="2793706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F9A431AB-277A-4A88-B8F5-2D3ED7A4E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2056" y="2793706"/>
                  <a:ext cx="228652" cy="215444"/>
                </a:xfrm>
                <a:prstGeom prst="rect">
                  <a:avLst/>
                </a:prstGeom>
                <a:blipFill>
                  <a:blip r:embed="rId18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Conector recto de flecha 131">
              <a:extLst>
                <a:ext uri="{FF2B5EF4-FFF2-40B4-BE49-F238E27FC236}">
                  <a16:creationId xmlns:a16="http://schemas.microsoft.com/office/drawing/2014/main" id="{8DCC6282-F9BB-4791-8A5A-77EBEB286EA6}"/>
                </a:ext>
              </a:extLst>
            </p:cNvPr>
            <p:cNvCxnSpPr>
              <a:stCxn id="128" idx="1"/>
              <a:endCxn id="120" idx="1"/>
            </p:cNvCxnSpPr>
            <p:nvPr/>
          </p:nvCxnSpPr>
          <p:spPr>
            <a:xfrm flipH="1">
              <a:off x="1962150" y="2913214"/>
              <a:ext cx="5800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de flecha 132">
              <a:extLst>
                <a:ext uri="{FF2B5EF4-FFF2-40B4-BE49-F238E27FC236}">
                  <a16:creationId xmlns:a16="http://schemas.microsoft.com/office/drawing/2014/main" id="{503097E0-B425-45A4-9DDC-B41C658ADD35}"/>
                </a:ext>
              </a:extLst>
            </p:cNvPr>
            <p:cNvCxnSpPr>
              <a:cxnSpLocks/>
              <a:stCxn id="128" idx="3"/>
              <a:endCxn id="120" idx="3"/>
            </p:cNvCxnSpPr>
            <p:nvPr/>
          </p:nvCxnSpPr>
          <p:spPr>
            <a:xfrm>
              <a:off x="2766708" y="2913214"/>
              <a:ext cx="55111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ector recto de flecha 133">
              <a:extLst>
                <a:ext uri="{FF2B5EF4-FFF2-40B4-BE49-F238E27FC236}">
                  <a16:creationId xmlns:a16="http://schemas.microsoft.com/office/drawing/2014/main" id="{046FE0D4-1BBE-47DA-B3B3-CC26D422A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3105718"/>
              <a:ext cx="0" cy="36195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CuadroTexto 134">
                  <a:extLst>
                    <a:ext uri="{FF2B5EF4-FFF2-40B4-BE49-F238E27FC236}">
                      <a16:creationId xmlns:a16="http://schemas.microsoft.com/office/drawing/2014/main" id="{EF65B658-506C-4BC4-9499-0A9B57CCA934}"/>
                    </a:ext>
                  </a:extLst>
                </p:cNvPr>
                <p:cNvSpPr txBox="1"/>
                <p:nvPr/>
              </p:nvSpPr>
              <p:spPr>
                <a:xfrm>
                  <a:off x="1268851" y="3493509"/>
                  <a:ext cx="138659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Address</m:t>
                        </m:r>
                        <m:r>
                          <a:rPr lang="es-MX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Base</m:t>
                        </m:r>
                        <m:r>
                          <a:rPr lang="es-MX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a:rPr lang="es-MX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  <m:r>
                          <a:rPr lang="es-MX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EBC8F3BB-A3FB-4490-815C-C1F8A0922B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8851" y="3493509"/>
                  <a:ext cx="1386597" cy="215444"/>
                </a:xfrm>
                <a:prstGeom prst="rect">
                  <a:avLst/>
                </a:prstGeom>
                <a:blipFill>
                  <a:blip r:embed="rId19"/>
                  <a:stretch>
                    <a:fillRect l="-2203" r="-3965" b="-3333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Conector recto de flecha 135">
              <a:extLst>
                <a:ext uri="{FF2B5EF4-FFF2-40B4-BE49-F238E27FC236}">
                  <a16:creationId xmlns:a16="http://schemas.microsoft.com/office/drawing/2014/main" id="{5D083208-7B82-42CA-A12F-6A6BF9533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0709" y="3105718"/>
              <a:ext cx="0" cy="36195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CuadroTexto 136">
                  <a:extLst>
                    <a:ext uri="{FF2B5EF4-FFF2-40B4-BE49-F238E27FC236}">
                      <a16:creationId xmlns:a16="http://schemas.microsoft.com/office/drawing/2014/main" id="{3561595D-2A3C-47DD-9C58-4C90D753D6A1}"/>
                    </a:ext>
                  </a:extLst>
                </p:cNvPr>
                <p:cNvSpPr txBox="1"/>
                <p:nvPr/>
              </p:nvSpPr>
              <p:spPr>
                <a:xfrm>
                  <a:off x="3536410" y="3493509"/>
                  <a:ext cx="180248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Address</m:t>
                        </m:r>
                        <m: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MX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9E3CB486-29B5-4B28-903F-89F391312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10" y="3493509"/>
                  <a:ext cx="1802480" cy="215444"/>
                </a:xfrm>
                <a:prstGeom prst="rect">
                  <a:avLst/>
                </a:prstGeom>
                <a:blipFill>
                  <a:blip r:embed="rId20"/>
                  <a:stretch>
                    <a:fillRect l="-1689" b="-13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0822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Registros</a:t>
            </a:r>
            <a:endParaRPr dirty="0"/>
          </a:p>
        </p:txBody>
      </p:sp>
      <p:sp>
        <p:nvSpPr>
          <p:cNvPr id="10" name="Google Shape;310;p34">
            <a:extLst>
              <a:ext uri="{FF2B5EF4-FFF2-40B4-BE49-F238E27FC236}">
                <a16:creationId xmlns:a16="http://schemas.microsoft.com/office/drawing/2014/main" id="{9336861D-8C76-497B-B73D-456F9AA36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650" y="748159"/>
            <a:ext cx="10999579" cy="180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Definición del problema</a:t>
            </a:r>
          </a:p>
          <a:p>
            <a:pPr marL="0" indent="0">
              <a:buNone/>
            </a:pPr>
            <a:r>
              <a:rPr lang="es-MX" sz="2000" b="1" dirty="0">
                <a:latin typeface="Roboto" panose="02000000000000000000" pitchFamily="2" charset="0"/>
                <a:ea typeface="Roboto" panose="02000000000000000000" pitchFamily="2" charset="0"/>
              </a:rPr>
              <a:t>Pregunta</a:t>
            </a:r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: ¿Cómo almacenar registros en una página/archivo?</a:t>
            </a:r>
          </a:p>
          <a:p>
            <a:pPr marL="342900" indent="-342900"/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Se pueda apuntar a cada uno de los registros</a:t>
            </a:r>
          </a:p>
          <a:p>
            <a:pPr marL="342900" indent="-342900"/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Sea posible insertar/eliminar registros empleando pocos accesos al disco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6F5C393-5424-4C88-88C8-11B0FC08EDA3}"/>
              </a:ext>
            </a:extLst>
          </p:cNvPr>
          <p:cNvSpPr/>
          <p:nvPr/>
        </p:nvSpPr>
        <p:spPr>
          <a:xfrm>
            <a:off x="2481341" y="3429000"/>
            <a:ext cx="3874102" cy="23894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D55A38-7AF3-4F84-A21A-76A382146180}"/>
              </a:ext>
            </a:extLst>
          </p:cNvPr>
          <p:cNvSpPr txBox="1"/>
          <p:nvPr/>
        </p:nvSpPr>
        <p:spPr>
          <a:xfrm>
            <a:off x="2481341" y="3090446"/>
            <a:ext cx="77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latin typeface="Roboto" panose="02000000000000000000" pitchFamily="2" charset="0"/>
                <a:ea typeface="Roboto" panose="02000000000000000000" pitchFamily="2" charset="0"/>
              </a:rPr>
              <a:t>Page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4D3BC96-81D2-4A99-9C15-15B13AA30E8E}"/>
              </a:ext>
            </a:extLst>
          </p:cNvPr>
          <p:cNvSpPr/>
          <p:nvPr/>
        </p:nvSpPr>
        <p:spPr>
          <a:xfrm>
            <a:off x="6761845" y="4235060"/>
            <a:ext cx="2348150" cy="1841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5EDE0E8-9ED6-4952-81C2-0DCF7A5ED1BE}"/>
              </a:ext>
            </a:extLst>
          </p:cNvPr>
          <p:cNvSpPr/>
          <p:nvPr/>
        </p:nvSpPr>
        <p:spPr>
          <a:xfrm>
            <a:off x="6761845" y="4577960"/>
            <a:ext cx="3313350" cy="1841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91BAF1B-0C09-40FA-A3E9-A6968B1BDE9A}"/>
              </a:ext>
            </a:extLst>
          </p:cNvPr>
          <p:cNvSpPr/>
          <p:nvPr/>
        </p:nvSpPr>
        <p:spPr>
          <a:xfrm>
            <a:off x="6761845" y="4949435"/>
            <a:ext cx="1954450" cy="1841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97671D5-0FA2-42A3-93D2-38385F61CA44}"/>
              </a:ext>
            </a:extLst>
          </p:cNvPr>
          <p:cNvSpPr txBox="1"/>
          <p:nvPr/>
        </p:nvSpPr>
        <p:spPr>
          <a:xfrm>
            <a:off x="6672945" y="3878457"/>
            <a:ext cx="128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latin typeface="Roboto" panose="02000000000000000000" pitchFamily="2" charset="0"/>
                <a:ea typeface="Roboto" panose="02000000000000000000" pitchFamily="2" charset="0"/>
              </a:rPr>
              <a:t>Records</a:t>
            </a:r>
          </a:p>
        </p:txBody>
      </p:sp>
      <p:sp>
        <p:nvSpPr>
          <p:cNvPr id="14" name="Flecha: curvada hacia abajo 13">
            <a:extLst>
              <a:ext uri="{FF2B5EF4-FFF2-40B4-BE49-F238E27FC236}">
                <a16:creationId xmlns:a16="http://schemas.microsoft.com/office/drawing/2014/main" id="{29591D4F-EC7F-4A7D-B6C7-B23E1C57201D}"/>
              </a:ext>
            </a:extLst>
          </p:cNvPr>
          <p:cNvSpPr/>
          <p:nvPr/>
        </p:nvSpPr>
        <p:spPr>
          <a:xfrm flipH="1">
            <a:off x="5587768" y="2740023"/>
            <a:ext cx="1535350" cy="530226"/>
          </a:xfrm>
          <a:prstGeom prst="curvedDownArrow">
            <a:avLst>
              <a:gd name="adj1" fmla="val 25000"/>
              <a:gd name="adj2" fmla="val 100702"/>
              <a:gd name="adj3" fmla="val 2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5" name="Flecha: curvada hacia abajo 14">
            <a:extLst>
              <a:ext uri="{FF2B5EF4-FFF2-40B4-BE49-F238E27FC236}">
                <a16:creationId xmlns:a16="http://schemas.microsoft.com/office/drawing/2014/main" id="{92FCC49A-068E-4D23-8543-37D4CD0456D2}"/>
              </a:ext>
            </a:extLst>
          </p:cNvPr>
          <p:cNvSpPr/>
          <p:nvPr/>
        </p:nvSpPr>
        <p:spPr>
          <a:xfrm rot="10800000" flipH="1">
            <a:off x="5689370" y="5977173"/>
            <a:ext cx="1535350" cy="530226"/>
          </a:xfrm>
          <a:prstGeom prst="curvedDownArrow">
            <a:avLst>
              <a:gd name="adj1" fmla="val 25000"/>
              <a:gd name="adj2" fmla="val 100702"/>
              <a:gd name="adj3" fmla="val 2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Formato de los registros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771508" y="890008"/>
            <a:ext cx="6209864" cy="543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b="1" dirty="0"/>
              <a:t>Modelo Relacional →</a:t>
            </a:r>
          </a:p>
          <a:p>
            <a:pPr lvl="1"/>
            <a:r>
              <a:rPr lang="es-MX" sz="2000" dirty="0"/>
              <a:t>Cada registro en una tabla tiene un </a:t>
            </a:r>
            <a:r>
              <a:rPr lang="es-MX" sz="2000" b="1" dirty="0"/>
              <a:t>tipo de estructura fijo</a:t>
            </a:r>
            <a:r>
              <a:rPr lang="es-MX" sz="2000" dirty="0"/>
              <a:t>.</a:t>
            </a:r>
          </a:p>
          <a:p>
            <a:r>
              <a:rPr lang="es-MX" sz="2000" dirty="0"/>
              <a:t>Se asume que el </a:t>
            </a:r>
            <a:r>
              <a:rPr lang="es-MX" sz="2000" b="1" dirty="0"/>
              <a:t>Catálogo del Sistema</a:t>
            </a:r>
            <a:r>
              <a:rPr lang="es-MX" sz="2000" dirty="0"/>
              <a:t> almacena el </a:t>
            </a:r>
            <a:r>
              <a:rPr lang="es-MX" sz="2000" b="1" dirty="0"/>
              <a:t>esquema</a:t>
            </a:r>
          </a:p>
          <a:p>
            <a:pPr lvl="1"/>
            <a:r>
              <a:rPr lang="es-MX" sz="2000" dirty="0"/>
              <a:t>No es necesario almacenar la información de tipo junto con cada registro </a:t>
            </a:r>
            <a:r>
              <a:rPr lang="es-MX" sz="2000" i="1" dirty="0"/>
              <a:t>(ahorra espacio)</a:t>
            </a:r>
            <a:r>
              <a:rPr lang="es-MX" sz="2000" dirty="0"/>
              <a:t>.</a:t>
            </a:r>
          </a:p>
          <a:p>
            <a:pPr lvl="1"/>
            <a:r>
              <a:rPr lang="es-MX" sz="2000" dirty="0"/>
              <a:t>El catálogo es simplemente </a:t>
            </a:r>
            <a:r>
              <a:rPr lang="es-MX" sz="2000" b="1" dirty="0"/>
              <a:t>otra tabla del sistema</a:t>
            </a:r>
            <a:r>
              <a:rPr lang="es-MX" sz="2000" dirty="0"/>
              <a:t>.</a:t>
            </a:r>
          </a:p>
          <a:p>
            <a:r>
              <a:rPr lang="es-MX" sz="2000" b="1" dirty="0"/>
              <a:t>Objetivos:</a:t>
            </a:r>
          </a:p>
          <a:p>
            <a:pPr lvl="1"/>
            <a:r>
              <a:rPr lang="es-MX" sz="2000" dirty="0"/>
              <a:t>Los registros deben ser </a:t>
            </a:r>
            <a:r>
              <a:rPr lang="es-MX" sz="2000" b="1" dirty="0"/>
              <a:t>compactos</a:t>
            </a:r>
            <a:r>
              <a:rPr lang="es-MX" sz="2000" dirty="0"/>
              <a:t> tanto en memoria como en disco.</a:t>
            </a:r>
          </a:p>
          <a:p>
            <a:pPr lvl="1"/>
            <a:r>
              <a:rPr lang="es-MX" sz="2000" dirty="0"/>
              <a:t>Permitir </a:t>
            </a:r>
            <a:r>
              <a:rPr lang="es-MX" sz="2000" b="1" dirty="0"/>
              <a:t>acceso rápido a los campos</a:t>
            </a:r>
            <a:endParaRPr lang="es-MX" sz="2000" dirty="0"/>
          </a:p>
          <a:p>
            <a:r>
              <a:rPr lang="es-MX" sz="2000" b="1" dirty="0"/>
              <a:t>Casos </a:t>
            </a:r>
          </a:p>
          <a:p>
            <a:pPr lvl="1"/>
            <a:r>
              <a:rPr lang="es-MX" sz="2000" b="1" dirty="0"/>
              <a:t>Sencillo:</a:t>
            </a:r>
            <a:r>
              <a:rPr lang="es-MX" sz="2000" dirty="0"/>
              <a:t> Campos de </a:t>
            </a:r>
            <a:r>
              <a:rPr lang="es-MX" sz="2000" b="1" dirty="0"/>
              <a:t>longitud fija (FLR)</a:t>
            </a:r>
            <a:r>
              <a:rPr lang="es-MX" sz="2000" dirty="0"/>
              <a:t>.</a:t>
            </a:r>
          </a:p>
          <a:p>
            <a:pPr lvl="1"/>
            <a:r>
              <a:rPr lang="es-MX" sz="2000" b="1" dirty="0" err="1"/>
              <a:t>Desafio</a:t>
            </a:r>
            <a:r>
              <a:rPr lang="es-MX" sz="2000" b="1" dirty="0"/>
              <a:t>:</a:t>
            </a:r>
            <a:r>
              <a:rPr lang="es-MX" sz="2000" dirty="0"/>
              <a:t> Campos de </a:t>
            </a:r>
            <a:r>
              <a:rPr lang="es-MX" sz="2000" b="1" dirty="0"/>
              <a:t>longitud variable (VLR)</a:t>
            </a:r>
            <a:r>
              <a:rPr lang="es-MX" sz="2000" dirty="0"/>
              <a:t>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424DED5-AC88-408C-8DC4-F0D0B0F0A38F}"/>
              </a:ext>
            </a:extLst>
          </p:cNvPr>
          <p:cNvSpPr txBox="1"/>
          <p:nvPr/>
        </p:nvSpPr>
        <p:spPr>
          <a:xfrm>
            <a:off x="7442200" y="1715522"/>
            <a:ext cx="437078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latin typeface="Consolas" panose="020B0609020204030204" pitchFamily="49" charset="0"/>
              </a:rPr>
              <a:t>type</a:t>
            </a:r>
            <a:r>
              <a:rPr lang="en-US" altLang="en-US" dirty="0">
                <a:latin typeface="Consolas" panose="020B0609020204030204" pitchFamily="49" charset="0"/>
              </a:rPr>
              <a:t> </a:t>
            </a:r>
            <a:r>
              <a:rPr lang="en-US" altLang="en-US" i="1" dirty="0">
                <a:latin typeface="Consolas" panose="020B0609020204030204" pitchFamily="49" charset="0"/>
              </a:rPr>
              <a:t>instructor</a:t>
            </a:r>
            <a:r>
              <a:rPr lang="en-US" altLang="en-US" dirty="0">
                <a:latin typeface="Consolas" panose="020B0609020204030204" pitchFamily="49" charset="0"/>
              </a:rPr>
              <a:t> = </a:t>
            </a:r>
            <a:r>
              <a:rPr lang="en-US" altLang="en-US" b="1" dirty="0">
                <a:latin typeface="Consolas" panose="020B0609020204030204" pitchFamily="49" charset="0"/>
              </a:rPr>
              <a:t>record</a:t>
            </a:r>
            <a:endParaRPr lang="en-US" altLang="en-US" dirty="0">
              <a:latin typeface="Consolas" panose="020B0609020204030204" pitchFamily="49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i="1" dirty="0">
                <a:latin typeface="Consolas" panose="020B0609020204030204" pitchFamily="49" charset="0"/>
              </a:rPr>
              <a:t>   ID</a:t>
            </a:r>
            <a:r>
              <a:rPr lang="en-US" altLang="en-US" dirty="0">
                <a:latin typeface="Consolas" panose="020B0609020204030204" pitchFamily="49" charset="0"/>
              </a:rPr>
              <a:t> : </a:t>
            </a:r>
            <a:r>
              <a:rPr lang="es-CO" dirty="0">
                <a:latin typeface="Consolas" panose="020B0609020204030204" pitchFamily="49" charset="0"/>
              </a:rPr>
              <a:t>varchar (5);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   </a:t>
            </a:r>
            <a:r>
              <a:rPr lang="en-US" altLang="en-US" i="1" dirty="0">
                <a:latin typeface="Consolas" panose="020B0609020204030204" pitchFamily="49" charset="0"/>
              </a:rPr>
              <a:t>name</a:t>
            </a:r>
            <a:r>
              <a:rPr lang="en-US" altLang="en-US" dirty="0">
                <a:latin typeface="Consolas" panose="020B0609020204030204" pitchFamily="49" charset="0"/>
              </a:rPr>
              <a:t> : </a:t>
            </a:r>
            <a:r>
              <a:rPr lang="es-CO" dirty="0">
                <a:latin typeface="Consolas" panose="020B0609020204030204" pitchFamily="49" charset="0"/>
              </a:rPr>
              <a:t>varchar(20);</a:t>
            </a:r>
            <a:br>
              <a:rPr lang="en-US" altLang="en-US" dirty="0">
                <a:latin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</a:rPr>
              <a:t>   </a:t>
            </a:r>
            <a:r>
              <a:rPr lang="en-US" altLang="en-US" i="1" dirty="0">
                <a:latin typeface="Consolas" panose="020B0609020204030204" pitchFamily="49" charset="0"/>
              </a:rPr>
              <a:t>dept_name</a:t>
            </a:r>
            <a:r>
              <a:rPr lang="en-US" altLang="en-US" dirty="0">
                <a:latin typeface="Consolas" panose="020B0609020204030204" pitchFamily="49" charset="0"/>
              </a:rPr>
              <a:t> : </a:t>
            </a:r>
            <a:r>
              <a:rPr lang="es-CO" dirty="0">
                <a:latin typeface="Consolas" panose="020B0609020204030204" pitchFamily="49" charset="0"/>
              </a:rPr>
              <a:t>varchar(20);</a:t>
            </a:r>
            <a:br>
              <a:rPr lang="en-US" altLang="en-US" dirty="0">
                <a:latin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</a:rPr>
              <a:t>   </a:t>
            </a:r>
            <a:r>
              <a:rPr lang="en-US" altLang="en-US" i="1" dirty="0">
                <a:latin typeface="Consolas" panose="020B0609020204030204" pitchFamily="49" charset="0"/>
              </a:rPr>
              <a:t>salary</a:t>
            </a:r>
            <a:r>
              <a:rPr lang="en-US" altLang="en-US" dirty="0">
                <a:latin typeface="Consolas" panose="020B0609020204030204" pitchFamily="49" charset="0"/>
              </a:rPr>
              <a:t> : </a:t>
            </a:r>
            <a:r>
              <a:rPr lang="es-CO" dirty="0">
                <a:latin typeface="Consolas" panose="020B0609020204030204" pitchFamily="49" charset="0"/>
              </a:rPr>
              <a:t>numeric (8,2);</a:t>
            </a:r>
            <a:endParaRPr lang="en-US" altLang="en-US" dirty="0">
              <a:latin typeface="Consolas" panose="020B0609020204030204" pitchFamily="49" charset="0"/>
            </a:endParaRP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latin typeface="Consolas" panose="020B0609020204030204" pitchFamily="49" charset="0"/>
              </a:rPr>
              <a:t>end</a:t>
            </a:r>
            <a:r>
              <a:rPr lang="en-US" altLang="en-US" dirty="0">
                <a:latin typeface="Consolas" panose="020B0609020204030204" pitchFamily="49" charset="0"/>
              </a:rPr>
              <a:t>;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338BBD0-2689-4EEE-ADCE-59E6D6946493}"/>
              </a:ext>
            </a:extLst>
          </p:cNvPr>
          <p:cNvGrpSpPr/>
          <p:nvPr/>
        </p:nvGrpSpPr>
        <p:grpSpPr>
          <a:xfrm>
            <a:off x="7547429" y="4520899"/>
            <a:ext cx="4265557" cy="877592"/>
            <a:chOff x="2410710" y="4569146"/>
            <a:chExt cx="4265557" cy="877592"/>
          </a:xfrm>
        </p:grpSpPr>
        <p:grpSp>
          <p:nvGrpSpPr>
            <p:cNvPr id="36" name="Group 12" descr="Bob, Harmon, M, 32, 400" title="Record">
              <a:extLst>
                <a:ext uri="{FF2B5EF4-FFF2-40B4-BE49-F238E27FC236}">
                  <a16:creationId xmlns:a16="http://schemas.microsoft.com/office/drawing/2014/main" id="{690282B2-7EA0-4DF8-8D7B-9D4BC1D53F1A}"/>
                </a:ext>
              </a:extLst>
            </p:cNvPr>
            <p:cNvGrpSpPr/>
            <p:nvPr/>
          </p:nvGrpSpPr>
          <p:grpSpPr>
            <a:xfrm>
              <a:off x="2410710" y="4569146"/>
              <a:ext cx="3145112" cy="877592"/>
              <a:chOff x="109404" y="1070849"/>
              <a:chExt cx="3145112" cy="877592"/>
            </a:xfrm>
          </p:grpSpPr>
          <p:sp>
            <p:nvSpPr>
              <p:cNvPr id="38" name="TextBox 43">
                <a:extLst>
                  <a:ext uri="{FF2B5EF4-FFF2-40B4-BE49-F238E27FC236}">
                    <a16:creationId xmlns:a16="http://schemas.microsoft.com/office/drawing/2014/main" id="{579B3BD7-738C-437F-8680-8C696BFD6A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404" y="1070849"/>
                <a:ext cx="314511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  <a:buNone/>
                  <a:defRPr/>
                </a:pPr>
                <a:r>
                  <a:rPr lang="en-US" altLang="en-US" sz="1600" b="1" kern="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Record</a:t>
                </a:r>
                <a:endParaRPr lang="en-US" altLang="en-US" sz="12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p:grpSp>
            <p:nvGrpSpPr>
              <p:cNvPr id="39" name="Group 44">
                <a:extLst>
                  <a:ext uri="{FF2B5EF4-FFF2-40B4-BE49-F238E27FC236}">
                    <a16:creationId xmlns:a16="http://schemas.microsoft.com/office/drawing/2014/main" id="{69C86BB9-66F0-4AF6-996F-3D85A317F2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784" y="1375875"/>
                <a:ext cx="3144732" cy="333327"/>
                <a:chOff x="4556035" y="4778366"/>
                <a:chExt cx="4286059" cy="504429"/>
              </a:xfrm>
            </p:grpSpPr>
            <p:sp>
              <p:nvSpPr>
                <p:cNvPr id="44" name="Rectangle 139">
                  <a:extLst>
                    <a:ext uri="{FF2B5EF4-FFF2-40B4-BE49-F238E27FC236}">
                      <a16:creationId xmlns:a16="http://schemas.microsoft.com/office/drawing/2014/main" id="{24E5508E-730D-473F-88A0-59D3C6A15833}"/>
                    </a:ext>
                  </a:extLst>
                </p:cNvPr>
                <p:cNvSpPr/>
                <p:nvPr/>
              </p:nvSpPr>
              <p:spPr bwMode="auto">
                <a:xfrm>
                  <a:off x="4556035" y="4778366"/>
                  <a:ext cx="558212" cy="50442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ID</a:t>
                  </a:r>
                </a:p>
              </p:txBody>
            </p:sp>
            <p:sp>
              <p:nvSpPr>
                <p:cNvPr id="45" name="Rectangle 140">
                  <a:extLst>
                    <a:ext uri="{FF2B5EF4-FFF2-40B4-BE49-F238E27FC236}">
                      <a16:creationId xmlns:a16="http://schemas.microsoft.com/office/drawing/2014/main" id="{07F1EFC1-A0A9-427A-81AF-255A88371288}"/>
                    </a:ext>
                  </a:extLst>
                </p:cNvPr>
                <p:cNvSpPr/>
                <p:nvPr/>
              </p:nvSpPr>
              <p:spPr bwMode="auto">
                <a:xfrm>
                  <a:off x="6469594" y="4778366"/>
                  <a:ext cx="1396308" cy="50442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dirty="0"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d</a:t>
                  </a:r>
                  <a:r>
                    <a:rPr lang="en-US" sz="120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ept_name</a:t>
                  </a:r>
                </a:p>
              </p:txBody>
            </p:sp>
            <p:sp>
              <p:nvSpPr>
                <p:cNvPr id="46" name="Rectangle 142">
                  <a:extLst>
                    <a:ext uri="{FF2B5EF4-FFF2-40B4-BE49-F238E27FC236}">
                      <a16:creationId xmlns:a16="http://schemas.microsoft.com/office/drawing/2014/main" id="{B2A4869E-4C84-4568-9CCB-C577D2AB5441}"/>
                    </a:ext>
                  </a:extLst>
                </p:cNvPr>
                <p:cNvSpPr/>
                <p:nvPr/>
              </p:nvSpPr>
              <p:spPr bwMode="auto">
                <a:xfrm>
                  <a:off x="7865904" y="4778366"/>
                  <a:ext cx="976190" cy="5044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salary</a:t>
                  </a:r>
                </a:p>
              </p:txBody>
            </p:sp>
            <p:sp>
              <p:nvSpPr>
                <p:cNvPr id="47" name="Rectangle 143">
                  <a:extLst>
                    <a:ext uri="{FF2B5EF4-FFF2-40B4-BE49-F238E27FC236}">
                      <a16:creationId xmlns:a16="http://schemas.microsoft.com/office/drawing/2014/main" id="{10DE48CF-60EB-457C-B373-BFD3DEB238FD}"/>
                    </a:ext>
                  </a:extLst>
                </p:cNvPr>
                <p:cNvSpPr/>
                <p:nvPr/>
              </p:nvSpPr>
              <p:spPr bwMode="auto">
                <a:xfrm>
                  <a:off x="5114247" y="4778366"/>
                  <a:ext cx="1355348" cy="50442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dirty="0"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name</a:t>
                  </a:r>
                  <a:endParaRPr lang="en-US" sz="120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</p:grpSp>
          <p:sp>
            <p:nvSpPr>
              <p:cNvPr id="40" name="TextBox 134">
                <a:extLst>
                  <a:ext uri="{FF2B5EF4-FFF2-40B4-BE49-F238E27FC236}">
                    <a16:creationId xmlns:a16="http://schemas.microsoft.com/office/drawing/2014/main" id="{7D1B9AC1-CEDF-438F-B4F9-7DD7E04803C7}"/>
                  </a:ext>
                </a:extLst>
              </p:cNvPr>
              <p:cNvSpPr txBox="1"/>
              <p:nvPr/>
            </p:nvSpPr>
            <p:spPr bwMode="auto">
              <a:xfrm>
                <a:off x="260947" y="1692428"/>
                <a:ext cx="258404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kern="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5</a:t>
                </a:r>
              </a:p>
            </p:txBody>
          </p:sp>
          <p:sp>
            <p:nvSpPr>
              <p:cNvPr id="41" name="TextBox 135">
                <a:extLst>
                  <a:ext uri="{FF2B5EF4-FFF2-40B4-BE49-F238E27FC236}">
                    <a16:creationId xmlns:a16="http://schemas.microsoft.com/office/drawing/2014/main" id="{59455626-33B1-441C-BDAE-E96FA16C6629}"/>
                  </a:ext>
                </a:extLst>
              </p:cNvPr>
              <p:cNvSpPr txBox="1"/>
              <p:nvPr/>
            </p:nvSpPr>
            <p:spPr bwMode="auto">
              <a:xfrm>
                <a:off x="948164" y="1692428"/>
                <a:ext cx="332142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kern="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20</a:t>
                </a:r>
              </a:p>
            </p:txBody>
          </p:sp>
          <p:sp>
            <p:nvSpPr>
              <p:cNvPr id="42" name="TextBox 137">
                <a:extLst>
                  <a:ext uri="{FF2B5EF4-FFF2-40B4-BE49-F238E27FC236}">
                    <a16:creationId xmlns:a16="http://schemas.microsoft.com/office/drawing/2014/main" id="{F35F1165-A14C-46DC-972E-53D2F139B9DA}"/>
                  </a:ext>
                </a:extLst>
              </p:cNvPr>
              <p:cNvSpPr txBox="1"/>
              <p:nvPr/>
            </p:nvSpPr>
            <p:spPr bwMode="auto">
              <a:xfrm>
                <a:off x="1830704" y="1692428"/>
                <a:ext cx="332142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20</a:t>
                </a:r>
                <a:endParaRPr lang="en-US" sz="105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p:sp>
            <p:nvSpPr>
              <p:cNvPr id="43" name="TextBox 138">
                <a:extLst>
                  <a:ext uri="{FF2B5EF4-FFF2-40B4-BE49-F238E27FC236}">
                    <a16:creationId xmlns:a16="http://schemas.microsoft.com/office/drawing/2014/main" id="{39C4AAA4-50D1-464D-B1E6-244E9FFA04F6}"/>
                  </a:ext>
                </a:extLst>
              </p:cNvPr>
              <p:cNvSpPr txBox="1"/>
              <p:nvPr/>
            </p:nvSpPr>
            <p:spPr bwMode="auto">
              <a:xfrm>
                <a:off x="2682428" y="1694525"/>
                <a:ext cx="258404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8</a:t>
                </a:r>
                <a:endParaRPr lang="en-US" sz="105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</p:grpSp>
        <p:sp>
          <p:nvSpPr>
            <p:cNvPr id="37" name="TextBox 138">
              <a:extLst>
                <a:ext uri="{FF2B5EF4-FFF2-40B4-BE49-F238E27FC236}">
                  <a16:creationId xmlns:a16="http://schemas.microsoft.com/office/drawing/2014/main" id="{40267CB0-5935-47F2-8D7D-DE0B2F7B51A6}"/>
                </a:ext>
              </a:extLst>
            </p:cNvPr>
            <p:cNvSpPr txBox="1"/>
            <p:nvPr/>
          </p:nvSpPr>
          <p:spPr bwMode="auto">
            <a:xfrm>
              <a:off x="5754220" y="5190725"/>
              <a:ext cx="922047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1050" dirty="0">
                  <a:solidFill>
                    <a:schemeClr val="accent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= 53 bytes</a:t>
              </a:r>
              <a:endParaRPr lang="en-US" sz="1050" kern="0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224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fija (FLR)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818214" y="881580"/>
            <a:ext cx="10984405" cy="2580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/>
              <a:t>Los </a:t>
            </a:r>
            <a:r>
              <a:rPr lang="es-MX" sz="2000" b="1" dirty="0"/>
              <a:t>tipos de campo</a:t>
            </a:r>
            <a:r>
              <a:rPr lang="es-MX" sz="2000" dirty="0"/>
              <a:t> son los </a:t>
            </a:r>
            <a:r>
              <a:rPr lang="es-MX" sz="2000" u="sng" dirty="0"/>
              <a:t>mismos</a:t>
            </a:r>
            <a:r>
              <a:rPr lang="es-MX" sz="2000" dirty="0"/>
              <a:t> para todos los registros en un archivo.</a:t>
            </a:r>
          </a:p>
          <a:p>
            <a:pPr lvl="1"/>
            <a:r>
              <a:rPr lang="es-MX" sz="1800" dirty="0"/>
              <a:t>La </a:t>
            </a:r>
            <a:r>
              <a:rPr lang="es-MX" sz="1800" b="1" dirty="0"/>
              <a:t>información de tipo</a:t>
            </a:r>
            <a:r>
              <a:rPr lang="es-MX" sz="1800" dirty="0"/>
              <a:t> se almacena separadamente en el </a:t>
            </a:r>
            <a:r>
              <a:rPr lang="es-MX" sz="1800" b="1" dirty="0"/>
              <a:t>catálogo del sistema</a:t>
            </a:r>
            <a:r>
              <a:rPr lang="es-MX" sz="1800" dirty="0"/>
              <a:t>.</a:t>
            </a:r>
          </a:p>
          <a:p>
            <a:r>
              <a:rPr lang="es-MX" sz="2000" dirty="0"/>
              <a:t>En disco, la representación en bytes es la misma que en memoria.</a:t>
            </a:r>
          </a:p>
          <a:p>
            <a:r>
              <a:rPr lang="es-MX" sz="2000" dirty="0"/>
              <a:t>¿Cómo encontrar el campo </a:t>
            </a:r>
            <a:r>
              <a:rPr lang="es-MX" sz="2000" b="1" i="1" dirty="0"/>
              <a:t>i-</a:t>
            </a:r>
            <a:r>
              <a:rPr lang="es-MX" sz="2000" b="1" i="1" dirty="0" err="1"/>
              <a:t>ésimo</a:t>
            </a:r>
            <a:r>
              <a:rPr lang="es-MX" sz="2000" dirty="0"/>
              <a:t>?</a:t>
            </a:r>
          </a:p>
          <a:p>
            <a:pPr lvl="1"/>
            <a:r>
              <a:rPr lang="es-MX" sz="1800" dirty="0"/>
              <a:t>Se calcula mediante operaciones aritméticas sobre desplazamientos (</a:t>
            </a:r>
            <a:r>
              <a:rPr lang="es-MX" sz="1800" b="1" dirty="0"/>
              <a:t>offsets</a:t>
            </a:r>
            <a:r>
              <a:rPr lang="es-MX" sz="1800" dirty="0"/>
              <a:t>) </a:t>
            </a:r>
            <a:r>
              <a:rPr lang="es-MX" sz="1800" i="1" dirty="0"/>
              <a:t>(rápido)</a:t>
            </a:r>
            <a:r>
              <a:rPr lang="es-MX" sz="1800" dirty="0"/>
              <a:t>.</a:t>
            </a:r>
          </a:p>
          <a:p>
            <a:pPr lvl="2"/>
            <a:r>
              <a:rPr lang="es-MX" b="1" dirty="0"/>
              <a:t>P</a:t>
            </a:r>
            <a:r>
              <a:rPr lang="es-MX" dirty="0"/>
              <a:t>: ¿Es compacto? </a:t>
            </a:r>
            <a:r>
              <a:rPr lang="es-MX" dirty="0">
                <a:sym typeface="Wingdings" panose="05000000000000000000" pitchFamily="2" charset="2"/>
              </a:rPr>
              <a:t></a:t>
            </a:r>
            <a:r>
              <a:rPr lang="es-MX" dirty="0"/>
              <a:t> </a:t>
            </a:r>
            <a:r>
              <a:rPr lang="es-MX" b="1" dirty="0"/>
              <a:t>R</a:t>
            </a:r>
            <a:r>
              <a:rPr lang="es-MX" dirty="0"/>
              <a:t>: No, fragmentación interna </a:t>
            </a:r>
          </a:p>
          <a:p>
            <a:pPr lvl="2"/>
            <a:r>
              <a:rPr lang="es-MX" b="1" dirty="0"/>
              <a:t>P</a:t>
            </a:r>
            <a:r>
              <a:rPr lang="es-MX" i="1" dirty="0"/>
              <a:t>: </a:t>
            </a:r>
            <a:r>
              <a:rPr lang="es-MX" dirty="0"/>
              <a:t>¿qué ocurre con los valores nulos? </a:t>
            </a:r>
            <a:r>
              <a:rPr lang="es-MX" dirty="0">
                <a:sym typeface="Wingdings" panose="05000000000000000000" pitchFamily="2" charset="2"/>
              </a:rPr>
              <a:t> </a:t>
            </a:r>
            <a:r>
              <a:rPr lang="es-MX" b="1" dirty="0">
                <a:sym typeface="Wingdings" panose="05000000000000000000" pitchFamily="2" charset="2"/>
              </a:rPr>
              <a:t>R</a:t>
            </a:r>
            <a:r>
              <a:rPr lang="es-MX" dirty="0">
                <a:sym typeface="Wingdings" panose="05000000000000000000" pitchFamily="2" charset="2"/>
              </a:rPr>
              <a:t>: Es obligatorio reservar el espacio</a:t>
            </a:r>
            <a:endParaRPr lang="es-MX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8583EC6-3E81-4F33-8F18-D69A7AE22A99}"/>
              </a:ext>
            </a:extLst>
          </p:cNvPr>
          <p:cNvGrpSpPr/>
          <p:nvPr/>
        </p:nvGrpSpPr>
        <p:grpSpPr>
          <a:xfrm>
            <a:off x="1453411" y="3724917"/>
            <a:ext cx="4642589" cy="1266953"/>
            <a:chOff x="1268851" y="2442000"/>
            <a:chExt cx="4642589" cy="1266953"/>
          </a:xfrm>
        </p:grpSpPr>
        <p:sp>
          <p:nvSpPr>
            <p:cNvPr id="5" name="Rectangle 139">
              <a:extLst>
                <a:ext uri="{FF2B5EF4-FFF2-40B4-BE49-F238E27FC236}">
                  <a16:creationId xmlns:a16="http://schemas.microsoft.com/office/drawing/2014/main" id="{B1D24FA9-018B-4609-9E43-81097753D281}"/>
                </a:ext>
              </a:extLst>
            </p:cNvPr>
            <p:cNvSpPr/>
            <p:nvPr/>
          </p:nvSpPr>
          <p:spPr bwMode="auto">
            <a:xfrm>
              <a:off x="1962150" y="2746550"/>
              <a:ext cx="1355672" cy="3333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6" name="Rectangle 140">
              <a:extLst>
                <a:ext uri="{FF2B5EF4-FFF2-40B4-BE49-F238E27FC236}">
                  <a16:creationId xmlns:a16="http://schemas.microsoft.com/office/drawing/2014/main" id="{EF3A0D0F-884F-4F28-903D-7D157B122776}"/>
                </a:ext>
              </a:extLst>
            </p:cNvPr>
            <p:cNvSpPr/>
            <p:nvPr/>
          </p:nvSpPr>
          <p:spPr bwMode="auto">
            <a:xfrm>
              <a:off x="4170709" y="2746550"/>
              <a:ext cx="914641" cy="3333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8" name="Rectangle 142">
              <a:extLst>
                <a:ext uri="{FF2B5EF4-FFF2-40B4-BE49-F238E27FC236}">
                  <a16:creationId xmlns:a16="http://schemas.microsoft.com/office/drawing/2014/main" id="{CE00ECF2-8FA8-4764-B261-D7D0472692E1}"/>
                </a:ext>
              </a:extLst>
            </p:cNvPr>
            <p:cNvSpPr/>
            <p:nvPr/>
          </p:nvSpPr>
          <p:spPr bwMode="auto">
            <a:xfrm>
              <a:off x="5085351" y="2746550"/>
              <a:ext cx="826089" cy="3333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9" name="Rectangle 143">
              <a:extLst>
                <a:ext uri="{FF2B5EF4-FFF2-40B4-BE49-F238E27FC236}">
                  <a16:creationId xmlns:a16="http://schemas.microsoft.com/office/drawing/2014/main" id="{DF542B6F-3791-4214-9733-833D912DEFE9}"/>
                </a:ext>
              </a:extLst>
            </p:cNvPr>
            <p:cNvSpPr/>
            <p:nvPr/>
          </p:nvSpPr>
          <p:spPr bwMode="auto">
            <a:xfrm>
              <a:off x="3317822" y="2746550"/>
              <a:ext cx="852888" cy="3333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0E5FD4BA-CFB7-4BCD-A636-0548B1960F0C}"/>
                    </a:ext>
                  </a:extLst>
                </p:cNvPr>
                <p:cNvSpPr txBox="1"/>
                <p:nvPr/>
              </p:nvSpPr>
              <p:spPr>
                <a:xfrm>
                  <a:off x="2534120" y="2442000"/>
                  <a:ext cx="22448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9311B63E-2266-4F2D-9503-716F8DFB7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120" y="2442000"/>
                  <a:ext cx="224484" cy="215444"/>
                </a:xfrm>
                <a:prstGeom prst="rect">
                  <a:avLst/>
                </a:prstGeom>
                <a:blipFill>
                  <a:blip r:embed="rId11"/>
                  <a:stretch>
                    <a:fillRect l="-16667" r="-5556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F54375EB-304B-4297-B854-507C1D2E4CD5}"/>
                    </a:ext>
                  </a:extLst>
                </p:cNvPr>
                <p:cNvSpPr txBox="1"/>
                <p:nvPr/>
              </p:nvSpPr>
              <p:spPr>
                <a:xfrm>
                  <a:off x="3647215" y="2442000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255793D2-51FC-4363-8549-F034E3F22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215" y="2442000"/>
                  <a:ext cx="228652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15789" r="-2632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FA8027F9-7F51-46EC-A1CC-7BA22C4C85CE}"/>
                    </a:ext>
                  </a:extLst>
                </p:cNvPr>
                <p:cNvSpPr txBox="1"/>
                <p:nvPr/>
              </p:nvSpPr>
              <p:spPr>
                <a:xfrm>
                  <a:off x="4490948" y="2442000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CB162371-F298-4F1C-B718-6FF86F3D2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0948" y="2442000"/>
                  <a:ext cx="228652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F5A729C3-E786-4AAD-AC66-DA01D5E1D495}"/>
                    </a:ext>
                  </a:extLst>
                </p:cNvPr>
                <p:cNvSpPr txBox="1"/>
                <p:nvPr/>
              </p:nvSpPr>
              <p:spPr>
                <a:xfrm>
                  <a:off x="5384069" y="2442454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AED76F18-0099-44EC-9B3C-3E2D753B8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4069" y="2442454"/>
                  <a:ext cx="228652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15789" r="-2632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1B850CF2-0F22-44EE-A57F-2CFF7B826845}"/>
                    </a:ext>
                  </a:extLst>
                </p:cNvPr>
                <p:cNvSpPr txBox="1"/>
                <p:nvPr/>
              </p:nvSpPr>
              <p:spPr>
                <a:xfrm>
                  <a:off x="2542224" y="2805492"/>
                  <a:ext cx="22448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0F59022E-7ECD-4CE5-A61B-B3BA8F6014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2224" y="2805492"/>
                  <a:ext cx="224484" cy="215444"/>
                </a:xfrm>
                <a:prstGeom prst="rect">
                  <a:avLst/>
                </a:prstGeom>
                <a:blipFill>
                  <a:blip r:embed="rId15"/>
                  <a:stretch>
                    <a:fillRect l="-16216" r="-2703" b="-13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9C1D8528-B662-4446-A252-CB6CEDAC40BB}"/>
                    </a:ext>
                  </a:extLst>
                </p:cNvPr>
                <p:cNvSpPr txBox="1"/>
                <p:nvPr/>
              </p:nvSpPr>
              <p:spPr>
                <a:xfrm>
                  <a:off x="3643530" y="2801150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8833BEB8-D540-4EBF-BD3F-59FCBD684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3530" y="2801150"/>
                  <a:ext cx="228652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54B96053-6CAB-4302-80EF-2D4EB1F8F09A}"/>
                    </a:ext>
                  </a:extLst>
                </p:cNvPr>
                <p:cNvSpPr txBox="1"/>
                <p:nvPr/>
              </p:nvSpPr>
              <p:spPr>
                <a:xfrm>
                  <a:off x="4529755" y="2793706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3ACFAC02-786F-403D-B69F-48EC8FC14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9755" y="2793706"/>
                  <a:ext cx="228652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A39455B9-E093-42C6-9A7D-0FB8048C45B8}"/>
                    </a:ext>
                  </a:extLst>
                </p:cNvPr>
                <p:cNvSpPr txBox="1"/>
                <p:nvPr/>
              </p:nvSpPr>
              <p:spPr>
                <a:xfrm>
                  <a:off x="5412056" y="2793706"/>
                  <a:ext cx="2286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F9A431AB-277A-4A88-B8F5-2D3ED7A4E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2056" y="2793706"/>
                  <a:ext cx="228652" cy="215444"/>
                </a:xfrm>
                <a:prstGeom prst="rect">
                  <a:avLst/>
                </a:prstGeom>
                <a:blipFill>
                  <a:blip r:embed="rId18"/>
                  <a:stretch>
                    <a:fillRect l="-16216" r="-5405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9BBB0829-638A-4055-B55C-BB45B0869770}"/>
                </a:ext>
              </a:extLst>
            </p:cNvPr>
            <p:cNvCxnSpPr>
              <a:stCxn id="14" idx="1"/>
              <a:endCxn id="5" idx="1"/>
            </p:cNvCxnSpPr>
            <p:nvPr/>
          </p:nvCxnSpPr>
          <p:spPr>
            <a:xfrm flipH="1">
              <a:off x="1962150" y="2913214"/>
              <a:ext cx="5800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B4E94AB1-67D2-40BF-9F84-3C2CC1FAE20F}"/>
                </a:ext>
              </a:extLst>
            </p:cNvPr>
            <p:cNvCxnSpPr>
              <a:cxnSpLocks/>
              <a:stCxn id="14" idx="3"/>
              <a:endCxn id="5" idx="3"/>
            </p:cNvCxnSpPr>
            <p:nvPr/>
          </p:nvCxnSpPr>
          <p:spPr>
            <a:xfrm>
              <a:off x="2766708" y="2913214"/>
              <a:ext cx="55111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502CAB33-6017-4948-972F-AF5E41F2C3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3105718"/>
              <a:ext cx="0" cy="3619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63109E35-1845-4CE3-BF07-456FC331B9C4}"/>
                    </a:ext>
                  </a:extLst>
                </p:cNvPr>
                <p:cNvSpPr txBox="1"/>
                <p:nvPr/>
              </p:nvSpPr>
              <p:spPr>
                <a:xfrm>
                  <a:off x="1268851" y="3493509"/>
                  <a:ext cx="138659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Address</m:t>
                        </m:r>
                        <m:r>
                          <a:rPr lang="es-MX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Base</m:t>
                        </m:r>
                        <m:r>
                          <a:rPr lang="es-MX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a:rPr lang="es-MX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𝐁</m:t>
                        </m:r>
                        <m:r>
                          <a:rPr lang="es-MX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63109E35-1845-4CE3-BF07-456FC331B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8851" y="3493509"/>
                  <a:ext cx="1386597" cy="215444"/>
                </a:xfrm>
                <a:prstGeom prst="rect">
                  <a:avLst/>
                </a:prstGeom>
                <a:blipFill>
                  <a:blip r:embed="rId19"/>
                  <a:stretch>
                    <a:fillRect l="-2193" r="-3509" b="-3428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9A73C61B-3186-4B32-91F5-21A3C21AC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0709" y="3105718"/>
              <a:ext cx="0" cy="36195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1A24322F-6E22-4F53-B7FC-C65A49B43708}"/>
                    </a:ext>
                  </a:extLst>
                </p:cNvPr>
                <p:cNvSpPr txBox="1"/>
                <p:nvPr/>
              </p:nvSpPr>
              <p:spPr>
                <a:xfrm>
                  <a:off x="3536410" y="3493509"/>
                  <a:ext cx="180248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Address</m:t>
                        </m:r>
                        <m: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s-MX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MX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9E3CB486-29B5-4B28-903F-89F391312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10" y="3493509"/>
                  <a:ext cx="1802480" cy="215444"/>
                </a:xfrm>
                <a:prstGeom prst="rect">
                  <a:avLst/>
                </a:prstGeom>
                <a:blipFill>
                  <a:blip r:embed="rId20"/>
                  <a:stretch>
                    <a:fillRect l="-1689" b="-13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5CDDFF3-8ABE-40EC-9D4C-F5A8F3D6B712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146710" y="4991870"/>
            <a:ext cx="0" cy="6602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1EDD0FA-D5F3-4DD0-8925-B473D83FB418}"/>
              </a:ext>
            </a:extLst>
          </p:cNvPr>
          <p:cNvCxnSpPr>
            <a:cxnSpLocks/>
          </p:cNvCxnSpPr>
          <p:nvPr/>
        </p:nvCxnSpPr>
        <p:spPr>
          <a:xfrm>
            <a:off x="4355269" y="4991870"/>
            <a:ext cx="0" cy="6602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43EBE68-EFDD-44A4-92DA-E26341024F88}"/>
                  </a:ext>
                </a:extLst>
              </p:cNvPr>
              <p:cNvSpPr txBox="1"/>
              <p:nvPr/>
            </p:nvSpPr>
            <p:spPr>
              <a:xfrm>
                <a:off x="2781009" y="5281081"/>
                <a:ext cx="88096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𝑜𝑓𝑓𝑠𝑒𝑡</m:t>
                          </m:r>
                          <m:r>
                            <a:rPr lang="es-MX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43EBE68-EFDD-44A4-92DA-E26341024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009" y="5281081"/>
                <a:ext cx="880963" cy="215444"/>
              </a:xfrm>
              <a:prstGeom prst="rect">
                <a:avLst/>
              </a:prstGeom>
              <a:blipFill>
                <a:blip r:embed="rId21"/>
                <a:stretch>
                  <a:fillRect l="-6207" r="-6207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44B33AF-ACC8-478B-9622-8FCC8D30FE3E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2153685" y="5388803"/>
            <a:ext cx="62732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26A5A194-302D-4EA7-B4EC-50E4CF6F1674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3661972" y="5388803"/>
            <a:ext cx="69329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290F39E9-27B3-4B74-B661-DA6A1847C11D}"/>
                  </a:ext>
                </a:extLst>
              </p:cNvPr>
              <p:cNvSpPr txBox="1"/>
              <p:nvPr/>
            </p:nvSpPr>
            <p:spPr>
              <a:xfrm>
                <a:off x="7415188" y="3790322"/>
                <a:ext cx="2612554" cy="7287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𝑜𝑓𝑓𝑠𝑒𝑡</m:t>
                          </m:r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CO" sz="16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290F39E9-27B3-4B74-B661-DA6A1847C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188" y="3790322"/>
                <a:ext cx="2612554" cy="72878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C97F9FA6-E9BF-46B6-BEFF-C224FA41625D}"/>
                  </a:ext>
                </a:extLst>
              </p:cNvPr>
              <p:cNvSpPr txBox="1"/>
              <p:nvPr/>
            </p:nvSpPr>
            <p:spPr>
              <a:xfrm>
                <a:off x="1113643" y="6049017"/>
                <a:ext cx="4712608" cy="663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200" b="1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𝑩</m:t>
                    </m:r>
                  </m:oMath>
                </a14:m>
                <a:r>
                  <a:rPr lang="es-CO" sz="12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 (Address Base)</a:t>
                </a:r>
                <a:r>
                  <a:rPr lang="es-CO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: Dirección donde comienza el registro completo en la memoria o el disco.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200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200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𝑳</m:t>
                        </m:r>
                      </m:e>
                      <m:sub>
                        <m:r>
                          <a:rPr lang="es-MX" sz="1200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s-CO" sz="12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 (Lenght)</a:t>
                </a:r>
                <a:r>
                  <a:rPr lang="es-CO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: Longitud (en bytes) de cada campo previo.</a:t>
                </a:r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C97F9FA6-E9BF-46B6-BEFF-C224FA416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43" y="6049017"/>
                <a:ext cx="4712608" cy="663836"/>
              </a:xfrm>
              <a:prstGeom prst="rect">
                <a:avLst/>
              </a:prstGeom>
              <a:blipFill>
                <a:blip r:embed="rId23"/>
                <a:stretch>
                  <a:fillRect b="-367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985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fija (FLR)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714525" y="725621"/>
            <a:ext cx="11057636" cy="55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Retomemos nuevamente la tabla de profesores y el esquema definido en la figura: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66D7DEE-E5A8-4180-B63C-07E1F95749F2}"/>
              </a:ext>
            </a:extLst>
          </p:cNvPr>
          <p:cNvSpPr txBox="1"/>
          <p:nvPr/>
        </p:nvSpPr>
        <p:spPr>
          <a:xfrm>
            <a:off x="9602860" y="2778732"/>
            <a:ext cx="2339765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type</a:t>
            </a:r>
            <a:r>
              <a:rPr lang="en-US" altLang="en-US" sz="1200" dirty="0">
                <a:latin typeface="Consolas" panose="020B0609020204030204" pitchFamily="49" charset="0"/>
              </a:rPr>
              <a:t> </a:t>
            </a:r>
            <a:r>
              <a:rPr lang="en-US" altLang="en-US" sz="1200" i="1" dirty="0">
                <a:latin typeface="Consolas" panose="020B0609020204030204" pitchFamily="49" charset="0"/>
              </a:rPr>
              <a:t>instructor</a:t>
            </a:r>
            <a:r>
              <a:rPr lang="en-US" altLang="en-US" sz="1200" dirty="0">
                <a:latin typeface="Consolas" panose="020B0609020204030204" pitchFamily="49" charset="0"/>
              </a:rPr>
              <a:t> = </a:t>
            </a:r>
            <a:r>
              <a:rPr lang="en-US" altLang="en-US" sz="1200" b="1" dirty="0">
                <a:latin typeface="Consolas" panose="020B0609020204030204" pitchFamily="49" charset="0"/>
              </a:rPr>
              <a:t>record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i="1" dirty="0">
                <a:latin typeface="Consolas" panose="020B0609020204030204" pitchFamily="49" charset="0"/>
              </a:rPr>
              <a:t>   ID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(5)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dept_name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salary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numeric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(8,2)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end</a:t>
            </a:r>
            <a:r>
              <a:rPr lang="en-US" altLang="en-US" sz="1200" dirty="0">
                <a:latin typeface="Consolas" panose="020B0609020204030204" pitchFamily="49" charset="0"/>
              </a:rPr>
              <a:t>;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0EBDED97-1290-43AB-BC43-ACD7E2E4A0BE}"/>
              </a:ext>
            </a:extLst>
          </p:cNvPr>
          <p:cNvGrpSpPr/>
          <p:nvPr/>
        </p:nvGrpSpPr>
        <p:grpSpPr>
          <a:xfrm>
            <a:off x="7087871" y="5416207"/>
            <a:ext cx="4265557" cy="877592"/>
            <a:chOff x="2410710" y="4569146"/>
            <a:chExt cx="4265557" cy="877592"/>
          </a:xfrm>
        </p:grpSpPr>
        <p:grpSp>
          <p:nvGrpSpPr>
            <p:cNvPr id="58" name="Group 12" descr="Bob, Harmon, M, 32, 400" title="Record">
              <a:extLst>
                <a:ext uri="{FF2B5EF4-FFF2-40B4-BE49-F238E27FC236}">
                  <a16:creationId xmlns:a16="http://schemas.microsoft.com/office/drawing/2014/main" id="{C0FB59CB-6C8D-4308-8CD5-1ED294E29FBD}"/>
                </a:ext>
              </a:extLst>
            </p:cNvPr>
            <p:cNvGrpSpPr/>
            <p:nvPr/>
          </p:nvGrpSpPr>
          <p:grpSpPr>
            <a:xfrm>
              <a:off x="2410710" y="4569146"/>
              <a:ext cx="3145112" cy="877592"/>
              <a:chOff x="109404" y="1070849"/>
              <a:chExt cx="3145112" cy="877592"/>
            </a:xfrm>
          </p:grpSpPr>
          <p:sp>
            <p:nvSpPr>
              <p:cNvPr id="60" name="TextBox 43">
                <a:extLst>
                  <a:ext uri="{FF2B5EF4-FFF2-40B4-BE49-F238E27FC236}">
                    <a16:creationId xmlns:a16="http://schemas.microsoft.com/office/drawing/2014/main" id="{C6C11392-D1FB-4BAF-9D76-91DCC1785D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404" y="1070849"/>
                <a:ext cx="314511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entury Gothic" charset="0"/>
                    <a:ea typeface="Osaka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  <a:buNone/>
                  <a:defRPr/>
                </a:pPr>
                <a:r>
                  <a:rPr lang="en-US" altLang="en-US" sz="1600" b="1" kern="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Record</a:t>
                </a:r>
                <a:endParaRPr lang="en-US" altLang="en-US" sz="12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p:grpSp>
            <p:nvGrpSpPr>
              <p:cNvPr id="61" name="Group 44">
                <a:extLst>
                  <a:ext uri="{FF2B5EF4-FFF2-40B4-BE49-F238E27FC236}">
                    <a16:creationId xmlns:a16="http://schemas.microsoft.com/office/drawing/2014/main" id="{9557DFF5-A1E9-4C12-9DC3-6629AC3F27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784" y="1375875"/>
                <a:ext cx="3144732" cy="333327"/>
                <a:chOff x="4556035" y="4778366"/>
                <a:chExt cx="4286059" cy="504429"/>
              </a:xfrm>
            </p:grpSpPr>
            <p:sp>
              <p:nvSpPr>
                <p:cNvPr id="66" name="Rectangle 139">
                  <a:extLst>
                    <a:ext uri="{FF2B5EF4-FFF2-40B4-BE49-F238E27FC236}">
                      <a16:creationId xmlns:a16="http://schemas.microsoft.com/office/drawing/2014/main" id="{0B93B6A3-154F-4B9C-9F4D-413678BEB124}"/>
                    </a:ext>
                  </a:extLst>
                </p:cNvPr>
                <p:cNvSpPr/>
                <p:nvPr/>
              </p:nvSpPr>
              <p:spPr bwMode="auto">
                <a:xfrm>
                  <a:off x="4556035" y="4778366"/>
                  <a:ext cx="558212" cy="50442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ID</a:t>
                  </a:r>
                </a:p>
              </p:txBody>
            </p:sp>
            <p:sp>
              <p:nvSpPr>
                <p:cNvPr id="67" name="Rectangle 140">
                  <a:extLst>
                    <a:ext uri="{FF2B5EF4-FFF2-40B4-BE49-F238E27FC236}">
                      <a16:creationId xmlns:a16="http://schemas.microsoft.com/office/drawing/2014/main" id="{2792E343-01DA-4F06-992B-392C27755CE7}"/>
                    </a:ext>
                  </a:extLst>
                </p:cNvPr>
                <p:cNvSpPr/>
                <p:nvPr/>
              </p:nvSpPr>
              <p:spPr bwMode="auto">
                <a:xfrm>
                  <a:off x="6469594" y="4778366"/>
                  <a:ext cx="1396308" cy="50442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dirty="0"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d</a:t>
                  </a:r>
                  <a:r>
                    <a:rPr lang="en-US" sz="120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ept_name</a:t>
                  </a:r>
                </a:p>
              </p:txBody>
            </p:sp>
            <p:sp>
              <p:nvSpPr>
                <p:cNvPr id="68" name="Rectangle 142">
                  <a:extLst>
                    <a:ext uri="{FF2B5EF4-FFF2-40B4-BE49-F238E27FC236}">
                      <a16:creationId xmlns:a16="http://schemas.microsoft.com/office/drawing/2014/main" id="{4D806650-D4EA-4932-A4CA-87FCCE4313B7}"/>
                    </a:ext>
                  </a:extLst>
                </p:cNvPr>
                <p:cNvSpPr/>
                <p:nvPr/>
              </p:nvSpPr>
              <p:spPr bwMode="auto">
                <a:xfrm>
                  <a:off x="7865904" y="4778366"/>
                  <a:ext cx="976190" cy="5044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kern="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salary</a:t>
                  </a:r>
                </a:p>
              </p:txBody>
            </p:sp>
            <p:sp>
              <p:nvSpPr>
                <p:cNvPr id="69" name="Rectangle 143">
                  <a:extLst>
                    <a:ext uri="{FF2B5EF4-FFF2-40B4-BE49-F238E27FC236}">
                      <a16:creationId xmlns:a16="http://schemas.microsoft.com/office/drawing/2014/main" id="{A6661693-E370-4E9F-BAE3-33B35466FBA4}"/>
                    </a:ext>
                  </a:extLst>
                </p:cNvPr>
                <p:cNvSpPr/>
                <p:nvPr/>
              </p:nvSpPr>
              <p:spPr bwMode="auto">
                <a:xfrm>
                  <a:off x="5114247" y="4778366"/>
                  <a:ext cx="1355348" cy="50442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200" dirty="0">
                      <a:latin typeface="Consolas" panose="020B0609020204030204" pitchFamily="49" charset="0"/>
                      <a:ea typeface="Roboto" panose="02000000000000000000" pitchFamily="2" charset="0"/>
                      <a:cs typeface="Helvetica Neue" charset="0"/>
                    </a:rPr>
                    <a:t>name</a:t>
                  </a:r>
                  <a:endParaRPr lang="en-US" sz="120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</p:grpSp>
          <p:sp>
            <p:nvSpPr>
              <p:cNvPr id="62" name="TextBox 134">
                <a:extLst>
                  <a:ext uri="{FF2B5EF4-FFF2-40B4-BE49-F238E27FC236}">
                    <a16:creationId xmlns:a16="http://schemas.microsoft.com/office/drawing/2014/main" id="{134083F7-EE52-4E55-9BA8-EF168BD9615C}"/>
                  </a:ext>
                </a:extLst>
              </p:cNvPr>
              <p:cNvSpPr txBox="1"/>
              <p:nvPr/>
            </p:nvSpPr>
            <p:spPr bwMode="auto">
              <a:xfrm>
                <a:off x="260947" y="1692428"/>
                <a:ext cx="258404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kern="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5</a:t>
                </a:r>
              </a:p>
            </p:txBody>
          </p:sp>
          <p:sp>
            <p:nvSpPr>
              <p:cNvPr id="63" name="TextBox 135">
                <a:extLst>
                  <a:ext uri="{FF2B5EF4-FFF2-40B4-BE49-F238E27FC236}">
                    <a16:creationId xmlns:a16="http://schemas.microsoft.com/office/drawing/2014/main" id="{ABB38380-ECAC-4B10-B23D-58C674E89B3B}"/>
                  </a:ext>
                </a:extLst>
              </p:cNvPr>
              <p:cNvSpPr txBox="1"/>
              <p:nvPr/>
            </p:nvSpPr>
            <p:spPr bwMode="auto">
              <a:xfrm>
                <a:off x="948164" y="1692428"/>
                <a:ext cx="332142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kern="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20</a:t>
                </a:r>
              </a:p>
            </p:txBody>
          </p:sp>
          <p:sp>
            <p:nvSpPr>
              <p:cNvPr id="64" name="TextBox 137">
                <a:extLst>
                  <a:ext uri="{FF2B5EF4-FFF2-40B4-BE49-F238E27FC236}">
                    <a16:creationId xmlns:a16="http://schemas.microsoft.com/office/drawing/2014/main" id="{C74472CD-51EE-4700-87FD-6DBB09EEAE52}"/>
                  </a:ext>
                </a:extLst>
              </p:cNvPr>
              <p:cNvSpPr txBox="1"/>
              <p:nvPr/>
            </p:nvSpPr>
            <p:spPr bwMode="auto">
              <a:xfrm>
                <a:off x="1830704" y="1692428"/>
                <a:ext cx="332142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20</a:t>
                </a:r>
                <a:endParaRPr lang="en-US" sz="105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p:sp>
            <p:nvSpPr>
              <p:cNvPr id="65" name="TextBox 138">
                <a:extLst>
                  <a:ext uri="{FF2B5EF4-FFF2-40B4-BE49-F238E27FC236}">
                    <a16:creationId xmlns:a16="http://schemas.microsoft.com/office/drawing/2014/main" id="{BEFEAA12-CA82-4218-AAF5-8D3B5BBAC7B1}"/>
                  </a:ext>
                </a:extLst>
              </p:cNvPr>
              <p:cNvSpPr txBox="1"/>
              <p:nvPr/>
            </p:nvSpPr>
            <p:spPr bwMode="auto">
              <a:xfrm>
                <a:off x="2682428" y="1694525"/>
                <a:ext cx="258404" cy="25391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1050" dirty="0">
                    <a:solidFill>
                      <a:schemeClr val="accent5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8</a:t>
                </a:r>
                <a:endParaRPr lang="en-US" sz="105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</p:grpSp>
        <p:sp>
          <p:nvSpPr>
            <p:cNvPr id="59" name="TextBox 138">
              <a:extLst>
                <a:ext uri="{FF2B5EF4-FFF2-40B4-BE49-F238E27FC236}">
                  <a16:creationId xmlns:a16="http://schemas.microsoft.com/office/drawing/2014/main" id="{7EBD282E-C92D-47AF-8E9B-C0EA1B10382F}"/>
                </a:ext>
              </a:extLst>
            </p:cNvPr>
            <p:cNvSpPr txBox="1"/>
            <p:nvPr/>
          </p:nvSpPr>
          <p:spPr bwMode="auto">
            <a:xfrm>
              <a:off x="5754220" y="5190725"/>
              <a:ext cx="922047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1050" dirty="0">
                  <a:solidFill>
                    <a:schemeClr val="accent2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= 53 bytes</a:t>
              </a:r>
              <a:endParaRPr lang="en-US" sz="1050" kern="0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</p:grpSp>
      <p:graphicFrame>
        <p:nvGraphicFramePr>
          <p:cNvPr id="70" name="Tabla 69">
            <a:extLst>
              <a:ext uri="{FF2B5EF4-FFF2-40B4-BE49-F238E27FC236}">
                <a16:creationId xmlns:a16="http://schemas.microsoft.com/office/drawing/2014/main" id="{D988E56F-BDBE-48F2-8068-92E5340BB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180796"/>
              </p:ext>
            </p:extLst>
          </p:nvPr>
        </p:nvGraphicFramePr>
        <p:xfrm>
          <a:off x="6130443" y="1611205"/>
          <a:ext cx="3258011" cy="3566160"/>
        </p:xfrm>
        <a:graphic>
          <a:graphicData uri="http://schemas.openxmlformats.org/drawingml/2006/table">
            <a:tbl>
              <a:tblPr/>
              <a:tblGrid>
                <a:gridCol w="649605">
                  <a:extLst>
                    <a:ext uri="{9D8B030D-6E8A-4147-A177-3AD203B41FA5}">
                      <a16:colId xmlns:a16="http://schemas.microsoft.com/office/drawing/2014/main" val="2953673394"/>
                    </a:ext>
                  </a:extLst>
                </a:gridCol>
                <a:gridCol w="924243">
                  <a:extLst>
                    <a:ext uri="{9D8B030D-6E8A-4147-A177-3AD203B41FA5}">
                      <a16:colId xmlns:a16="http://schemas.microsoft.com/office/drawing/2014/main" val="2737808994"/>
                    </a:ext>
                  </a:extLst>
                </a:gridCol>
                <a:gridCol w="1003033">
                  <a:extLst>
                    <a:ext uri="{9D8B030D-6E8A-4147-A177-3AD203B41FA5}">
                      <a16:colId xmlns:a16="http://schemas.microsoft.com/office/drawing/2014/main" val="3149482195"/>
                    </a:ext>
                  </a:extLst>
                </a:gridCol>
                <a:gridCol w="681130">
                  <a:extLst>
                    <a:ext uri="{9D8B030D-6E8A-4147-A177-3AD203B41FA5}">
                      <a16:colId xmlns:a16="http://schemas.microsoft.com/office/drawing/2014/main" val="3322426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dept_name</a:t>
                      </a:r>
                      <a:endParaRPr lang="es-CO" sz="1200" b="1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20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22222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Einstein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  <a:endParaRPr lang="es-CO" sz="120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0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12121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Wu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32343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 Said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8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45565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Katz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38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98345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Elec</a:t>
                      </a:r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. Eng.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924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Crick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Biology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72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Srinivasan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352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58583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Califieri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10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83821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Brandt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15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15151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Mozart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Music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22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52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76543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Singh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17982"/>
                  </a:ext>
                </a:extLst>
              </a:tr>
            </a:tbl>
          </a:graphicData>
        </a:graphic>
      </p:graphicFrame>
      <p:sp>
        <p:nvSpPr>
          <p:cNvPr id="71" name="Google Shape;310;p34">
            <a:extLst>
              <a:ext uri="{FF2B5EF4-FFF2-40B4-BE49-F238E27FC236}">
                <a16:creationId xmlns:a16="http://schemas.microsoft.com/office/drawing/2014/main" id="{A002E573-4B2D-4709-825C-37D0ABAFD2BC}"/>
              </a:ext>
            </a:extLst>
          </p:cNvPr>
          <p:cNvSpPr txBox="1">
            <a:spLocks/>
          </p:cNvSpPr>
          <p:nvPr/>
        </p:nvSpPr>
        <p:spPr>
          <a:xfrm>
            <a:off x="736687" y="1045538"/>
            <a:ext cx="5179350" cy="525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dirty="0"/>
              <a:t>Si el registro del instructor "</a:t>
            </a:r>
            <a:r>
              <a:rPr lang="es-MX" sz="1400" dirty="0">
                <a:latin typeface="Consolas" panose="020B0609020204030204" pitchFamily="49" charset="0"/>
              </a:rPr>
              <a:t>Einstein</a:t>
            </a:r>
            <a:r>
              <a:rPr lang="es-MX" sz="1600" dirty="0"/>
              <a:t>" comienza en la dirección de memoria </a:t>
            </a:r>
            <a:r>
              <a:rPr lang="es-MX" sz="1400" dirty="0">
                <a:latin typeface="Consolas" panose="020B0609020204030204" pitchFamily="49" charset="0"/>
              </a:rPr>
              <a:t>1000</a:t>
            </a:r>
            <a:r>
              <a:rPr lang="es-MX" sz="1600" dirty="0"/>
              <a:t>, ¿en qué dirección exacta comienza el campo </a:t>
            </a:r>
            <a:r>
              <a:rPr lang="es-MX" sz="1400" dirty="0">
                <a:latin typeface="Consolas" panose="020B0609020204030204" pitchFamily="49" charset="0"/>
              </a:rPr>
              <a:t>salary</a:t>
            </a:r>
            <a:r>
              <a:rPr lang="es-MX" sz="1600" dirty="0"/>
              <a:t>? (</a:t>
            </a:r>
            <a:r>
              <a:rPr lang="es-MX" sz="1600" b="1" dirty="0"/>
              <a:t>Rta</a:t>
            </a:r>
            <a:r>
              <a:rPr lang="es-MX" sz="1600" dirty="0"/>
              <a:t>: </a:t>
            </a:r>
            <a:r>
              <a:rPr lang="es-MX" sz="1400" dirty="0">
                <a:latin typeface="Consolas" panose="020B0609020204030204" pitchFamily="49" charset="0"/>
              </a:rPr>
              <a:t>1045</a:t>
            </a:r>
            <a:r>
              <a:rPr lang="es-MX" sz="1600" dirty="0"/>
              <a:t>)</a:t>
            </a:r>
          </a:p>
          <a:p>
            <a:r>
              <a:rPr lang="es-MX" sz="1600" dirty="0"/>
              <a:t>Si quiero leer únicamente el </a:t>
            </a:r>
            <a:r>
              <a:rPr lang="es-MX" sz="1400" dirty="0">
                <a:latin typeface="Consolas" panose="020B0609020204030204" pitchFamily="49" charset="0"/>
              </a:rPr>
              <a:t>dept_name</a:t>
            </a:r>
            <a:r>
              <a:rPr lang="es-MX" sz="1600" dirty="0"/>
              <a:t>, ¿cuántos bytes debe ignorar (saltar) el sistema desde el inicio del registro? (</a:t>
            </a:r>
            <a:r>
              <a:rPr lang="es-MX" sz="1600" b="1" dirty="0"/>
              <a:t>Rta</a:t>
            </a:r>
            <a:r>
              <a:rPr lang="es-MX" sz="1600" dirty="0"/>
              <a:t>: </a:t>
            </a:r>
            <a:r>
              <a:rPr lang="es-MX" sz="1400" dirty="0">
                <a:latin typeface="Consolas" panose="020B0609020204030204" pitchFamily="49" charset="0"/>
              </a:rPr>
              <a:t>25</a:t>
            </a:r>
            <a:r>
              <a:rPr lang="es-MX" sz="1600" dirty="0"/>
              <a:t>)</a:t>
            </a:r>
          </a:p>
          <a:p>
            <a:r>
              <a:rPr lang="es-MX" sz="1600" dirty="0"/>
              <a:t>Si el nombre del instructor es "</a:t>
            </a:r>
            <a:r>
              <a:rPr lang="es-MX" sz="1400" dirty="0">
                <a:latin typeface="Consolas" panose="020B0609020204030204" pitchFamily="49" charset="0"/>
              </a:rPr>
              <a:t>Wu</a:t>
            </a:r>
            <a:r>
              <a:rPr lang="es-MX" sz="1600" dirty="0"/>
              <a:t>" (solo 2 letras), ¿cuántos bytes ocupa ese registro en el disco? ¿Sigue midiendo 53 bytes o se reduce? (</a:t>
            </a:r>
            <a:r>
              <a:rPr lang="es-MX" sz="1600" b="1" dirty="0"/>
              <a:t>Rta</a:t>
            </a:r>
            <a:r>
              <a:rPr lang="es-MX" sz="1600" dirty="0"/>
              <a:t>: </a:t>
            </a:r>
            <a:r>
              <a:rPr lang="es-MX" sz="1400" dirty="0">
                <a:latin typeface="Consolas" panose="020B0609020204030204" pitchFamily="49" charset="0"/>
              </a:rPr>
              <a:t>53</a:t>
            </a:r>
            <a:r>
              <a:rPr lang="es-MX" sz="1600" dirty="0"/>
              <a:t>)</a:t>
            </a:r>
          </a:p>
          <a:p>
            <a:r>
              <a:rPr lang="es-MX" sz="1600" dirty="0"/>
              <a:t>Cuántos bytes de "relleno" (basura o espacios) se están desperdiciando en el campo </a:t>
            </a:r>
            <a:r>
              <a:rPr lang="es-MX" sz="1400" dirty="0">
                <a:latin typeface="Consolas" panose="020B0609020204030204" pitchFamily="49" charset="0"/>
              </a:rPr>
              <a:t>name</a:t>
            </a:r>
            <a:r>
              <a:rPr lang="es-MX" sz="1600" dirty="0"/>
              <a:t> si guardamos a "</a:t>
            </a:r>
            <a:r>
              <a:rPr lang="es-MX" sz="1400" dirty="0">
                <a:latin typeface="Consolas" panose="020B0609020204030204" pitchFamily="49" charset="0"/>
              </a:rPr>
              <a:t>Einstein</a:t>
            </a:r>
            <a:r>
              <a:rPr lang="es-MX" sz="1600" dirty="0"/>
              <a:t>" (8 letras)? (</a:t>
            </a:r>
            <a:r>
              <a:rPr lang="es-MX" sz="1600" b="1" dirty="0"/>
              <a:t>Rta</a:t>
            </a:r>
            <a:r>
              <a:rPr lang="es-MX" sz="1600" dirty="0"/>
              <a:t>: 12)</a:t>
            </a:r>
          </a:p>
          <a:p>
            <a:r>
              <a:rPr lang="es-MX" sz="1600" dirty="0"/>
              <a:t>Qué sucede si intentamos contratar a un instructor cuyo nombre tiene 25 letras? ¿El registro crece a 58 bytes o el nombre se corta? (</a:t>
            </a:r>
            <a:r>
              <a:rPr lang="es-MX" sz="1600" b="1" dirty="0"/>
              <a:t>Rta</a:t>
            </a:r>
            <a:r>
              <a:rPr lang="es-MX" sz="1600" dirty="0"/>
              <a:t>: Se corta)</a:t>
            </a:r>
          </a:p>
          <a:p>
            <a:r>
              <a:rPr lang="es-MX" sz="1600" dirty="0"/>
              <a:t>Si el campo </a:t>
            </a:r>
            <a:r>
              <a:rPr lang="es-MX" sz="1400" dirty="0">
                <a:latin typeface="Consolas" panose="020B0609020204030204" pitchFamily="49" charset="0"/>
              </a:rPr>
              <a:t>salary</a:t>
            </a:r>
            <a:r>
              <a:rPr lang="es-MX" sz="1600" dirty="0"/>
              <a:t> es opcional (puede ser </a:t>
            </a:r>
            <a:r>
              <a:rPr lang="es-MX" sz="1400" dirty="0">
                <a:latin typeface="Consolas" panose="020B0609020204030204" pitchFamily="49" charset="0"/>
              </a:rPr>
              <a:t>NULL</a:t>
            </a:r>
            <a:r>
              <a:rPr lang="es-MX" sz="1600" dirty="0"/>
              <a:t>), ¿el tamaño total del registro pasaría a ser de 45 bytes (53 - 8)? (</a:t>
            </a:r>
            <a:r>
              <a:rPr lang="es-MX" sz="1600" b="1" dirty="0"/>
              <a:t>Rta</a:t>
            </a:r>
            <a:r>
              <a:rPr lang="es-MX" sz="1600" dirty="0"/>
              <a:t>: Sigue siendo el mismo).</a:t>
            </a:r>
          </a:p>
        </p:txBody>
      </p:sp>
    </p:spTree>
    <p:extLst>
      <p:ext uri="{BB962C8B-B14F-4D97-AF65-F5344CB8AC3E}">
        <p14:creationId xmlns:p14="http://schemas.microsoft.com/office/powerpoint/2010/main" val="596162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818214" y="881580"/>
            <a:ext cx="10984405" cy="111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/>
              <a:t>Los registros de longitud variable surgen en los sistemas de bases de datos de varias maneras:</a:t>
            </a:r>
          </a:p>
          <a:p>
            <a:pPr lvl="1"/>
            <a:r>
              <a:rPr lang="es-MX" sz="1800" dirty="0"/>
              <a:t>Almacenar múltiples tipos de registro en un mismo archivo.</a:t>
            </a:r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endParaRPr lang="es-MX" sz="1800" b="1" dirty="0"/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r>
              <a:rPr lang="es-MX" sz="1800" dirty="0"/>
              <a:t>Tipos de registro que permiten longitudes variables en uno o más campos, por ejemplo cadenas </a:t>
            </a:r>
            <a:r>
              <a:rPr lang="es-MX" sz="1800" i="1" dirty="0"/>
              <a:t>(</a:t>
            </a:r>
            <a:r>
              <a:rPr lang="es-MX" sz="1800" dirty="0">
                <a:latin typeface="Consolas" panose="020B0609020204030204" pitchFamily="49" charset="0"/>
              </a:rPr>
              <a:t>varchar</a:t>
            </a:r>
            <a:r>
              <a:rPr lang="es-MX" sz="1800" i="1" dirty="0"/>
              <a:t>)</a:t>
            </a:r>
            <a:r>
              <a:rPr lang="es-MX" sz="1800" dirty="0"/>
              <a:t>.</a:t>
            </a:r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r>
              <a:rPr lang="es-MX" sz="1800" dirty="0"/>
              <a:t>Tipos de registro que permiten </a:t>
            </a:r>
            <a:r>
              <a:rPr lang="es-MX" sz="1800" b="1" dirty="0"/>
              <a:t>campos repetidos</a:t>
            </a:r>
            <a:r>
              <a:rPr lang="es-MX" sz="1800" dirty="0"/>
              <a:t> </a:t>
            </a:r>
            <a:r>
              <a:rPr lang="es-MX" sz="1800" i="1" dirty="0"/>
              <a:t>(utilizados en algunos modelos de datos más antiguos)</a:t>
            </a:r>
            <a:r>
              <a:rPr lang="es-MX" sz="1800" dirty="0"/>
              <a:t>.</a:t>
            </a:r>
          </a:p>
          <a:p>
            <a:endParaRPr lang="es-MX" sz="2000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61B96A25-CA48-4F3D-94A6-464B440AF61B}"/>
              </a:ext>
            </a:extLst>
          </p:cNvPr>
          <p:cNvGrpSpPr/>
          <p:nvPr/>
        </p:nvGrpSpPr>
        <p:grpSpPr>
          <a:xfrm>
            <a:off x="1912043" y="2041109"/>
            <a:ext cx="2573024" cy="837023"/>
            <a:chOff x="2249715" y="2067985"/>
            <a:chExt cx="2573024" cy="837023"/>
          </a:xfrm>
        </p:grpSpPr>
        <p:sp>
          <p:nvSpPr>
            <p:cNvPr id="45" name="TextBox 43">
              <a:extLst>
                <a:ext uri="{FF2B5EF4-FFF2-40B4-BE49-F238E27FC236}">
                  <a16:creationId xmlns:a16="http://schemas.microsoft.com/office/drawing/2014/main" id="{B98FA881-324F-4AF4-867F-6CD43AF42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9715" y="2067985"/>
              <a:ext cx="252707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buNone/>
                <a:defRPr/>
              </a:pPr>
              <a:r>
                <a:rPr lang="en-US" altLang="en-US" sz="11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Record: 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Instructor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 (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INST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)</a:t>
              </a:r>
              <a:endParaRPr lang="en-US" altLang="en-US" sz="1000" b="1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endParaRPr>
            </a:p>
          </p:txBody>
        </p:sp>
        <p:grpSp>
          <p:nvGrpSpPr>
            <p:cNvPr id="46" name="Group 44">
              <a:extLst>
                <a:ext uri="{FF2B5EF4-FFF2-40B4-BE49-F238E27FC236}">
                  <a16:creationId xmlns:a16="http://schemas.microsoft.com/office/drawing/2014/main" id="{98C66391-4232-472A-AFC8-D0FE1EFB7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0095" y="2373011"/>
              <a:ext cx="2572644" cy="333327"/>
              <a:chOff x="4556035" y="4778366"/>
              <a:chExt cx="4286059" cy="504429"/>
            </a:xfrm>
          </p:grpSpPr>
          <p:sp>
            <p:nvSpPr>
              <p:cNvPr id="51" name="Rectangle 139">
                <a:extLst>
                  <a:ext uri="{FF2B5EF4-FFF2-40B4-BE49-F238E27FC236}">
                    <a16:creationId xmlns:a16="http://schemas.microsoft.com/office/drawing/2014/main" id="{EB35DA26-A6AA-46BF-889E-99745EC444B2}"/>
                  </a:ext>
                </a:extLst>
              </p:cNvPr>
              <p:cNvSpPr/>
              <p:nvPr/>
            </p:nvSpPr>
            <p:spPr bwMode="auto">
              <a:xfrm>
                <a:off x="4556035" y="4778366"/>
                <a:ext cx="558212" cy="5044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0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ID</a:t>
                </a:r>
              </a:p>
            </p:txBody>
          </p:sp>
          <p:sp>
            <p:nvSpPr>
              <p:cNvPr id="52" name="Rectangle 140">
                <a:extLst>
                  <a:ext uri="{FF2B5EF4-FFF2-40B4-BE49-F238E27FC236}">
                    <a16:creationId xmlns:a16="http://schemas.microsoft.com/office/drawing/2014/main" id="{8E1F597D-6E77-4B04-B27B-316E93635C77}"/>
                  </a:ext>
                </a:extLst>
              </p:cNvPr>
              <p:cNvSpPr/>
              <p:nvPr/>
            </p:nvSpPr>
            <p:spPr bwMode="auto">
              <a:xfrm>
                <a:off x="6469594" y="4778366"/>
                <a:ext cx="1396308" cy="5044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00" dirty="0"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d</a:t>
                </a:r>
                <a:r>
                  <a:rPr lang="en-US" sz="100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ept_name</a:t>
                </a:r>
              </a:p>
            </p:txBody>
          </p:sp>
          <p:sp>
            <p:nvSpPr>
              <p:cNvPr id="53" name="Rectangle 142">
                <a:extLst>
                  <a:ext uri="{FF2B5EF4-FFF2-40B4-BE49-F238E27FC236}">
                    <a16:creationId xmlns:a16="http://schemas.microsoft.com/office/drawing/2014/main" id="{1103A195-20BB-4A42-BFF0-2C7E49153542}"/>
                  </a:ext>
                </a:extLst>
              </p:cNvPr>
              <p:cNvSpPr/>
              <p:nvPr/>
            </p:nvSpPr>
            <p:spPr bwMode="auto">
              <a:xfrm>
                <a:off x="7789608" y="4778366"/>
                <a:ext cx="1052486" cy="5044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0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salary</a:t>
                </a:r>
              </a:p>
            </p:txBody>
          </p:sp>
          <p:sp>
            <p:nvSpPr>
              <p:cNvPr id="54" name="Rectangle 143">
                <a:extLst>
                  <a:ext uri="{FF2B5EF4-FFF2-40B4-BE49-F238E27FC236}">
                    <a16:creationId xmlns:a16="http://schemas.microsoft.com/office/drawing/2014/main" id="{5D27DE13-5B04-4A8F-A450-D7A10B296D8C}"/>
                  </a:ext>
                </a:extLst>
              </p:cNvPr>
              <p:cNvSpPr/>
              <p:nvPr/>
            </p:nvSpPr>
            <p:spPr bwMode="auto">
              <a:xfrm>
                <a:off x="5114247" y="4778366"/>
                <a:ext cx="1355348" cy="5044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000" dirty="0"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rPr>
                  <a:t>name</a:t>
                </a:r>
                <a:endParaRPr lang="en-US" sz="100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</p:grpSp>
        <p:sp>
          <p:nvSpPr>
            <p:cNvPr id="47" name="TextBox 134">
              <a:extLst>
                <a:ext uri="{FF2B5EF4-FFF2-40B4-BE49-F238E27FC236}">
                  <a16:creationId xmlns:a16="http://schemas.microsoft.com/office/drawing/2014/main" id="{56FEA97C-2DF9-4069-9C8B-47F9412DABEE}"/>
                </a:ext>
              </a:extLst>
            </p:cNvPr>
            <p:cNvSpPr txBox="1"/>
            <p:nvPr/>
          </p:nvSpPr>
          <p:spPr bwMode="auto">
            <a:xfrm>
              <a:off x="2325676" y="2689564"/>
              <a:ext cx="240772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8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5</a:t>
              </a:r>
            </a:p>
          </p:txBody>
        </p:sp>
        <p:sp>
          <p:nvSpPr>
            <p:cNvPr id="48" name="TextBox 135">
              <a:extLst>
                <a:ext uri="{FF2B5EF4-FFF2-40B4-BE49-F238E27FC236}">
                  <a16:creationId xmlns:a16="http://schemas.microsoft.com/office/drawing/2014/main" id="{8E0F2A04-DC4B-4758-8E2F-C055832794C3}"/>
                </a:ext>
              </a:extLst>
            </p:cNvPr>
            <p:cNvSpPr txBox="1"/>
            <p:nvPr/>
          </p:nvSpPr>
          <p:spPr bwMode="auto">
            <a:xfrm>
              <a:off x="2843910" y="2680788"/>
              <a:ext cx="296876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8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20</a:t>
              </a:r>
            </a:p>
          </p:txBody>
        </p:sp>
        <p:sp>
          <p:nvSpPr>
            <p:cNvPr id="49" name="TextBox 137">
              <a:extLst>
                <a:ext uri="{FF2B5EF4-FFF2-40B4-BE49-F238E27FC236}">
                  <a16:creationId xmlns:a16="http://schemas.microsoft.com/office/drawing/2014/main" id="{39A09A70-F15E-4881-9E1A-65C499CAC0AB}"/>
                </a:ext>
              </a:extLst>
            </p:cNvPr>
            <p:cNvSpPr txBox="1"/>
            <p:nvPr/>
          </p:nvSpPr>
          <p:spPr bwMode="auto">
            <a:xfrm>
              <a:off x="3726730" y="2689564"/>
              <a:ext cx="296876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80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20</a:t>
              </a:r>
              <a:endParaRPr lang="en-US" sz="800" kern="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50" name="TextBox 138">
              <a:extLst>
                <a:ext uri="{FF2B5EF4-FFF2-40B4-BE49-F238E27FC236}">
                  <a16:creationId xmlns:a16="http://schemas.microsoft.com/office/drawing/2014/main" id="{D2F9FE24-C43C-4606-895E-B933FF4B9718}"/>
                </a:ext>
              </a:extLst>
            </p:cNvPr>
            <p:cNvSpPr txBox="1"/>
            <p:nvPr/>
          </p:nvSpPr>
          <p:spPr bwMode="auto">
            <a:xfrm>
              <a:off x="4400565" y="2689564"/>
              <a:ext cx="240772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80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8</a:t>
              </a:r>
              <a:endParaRPr lang="en-US" sz="800" kern="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68D22763-F8CD-41B5-BDD0-92C0B7A9D370}"/>
              </a:ext>
            </a:extLst>
          </p:cNvPr>
          <p:cNvGrpSpPr/>
          <p:nvPr/>
        </p:nvGrpSpPr>
        <p:grpSpPr>
          <a:xfrm>
            <a:off x="1794703" y="2892859"/>
            <a:ext cx="2527073" cy="869824"/>
            <a:chOff x="4896106" y="2051958"/>
            <a:chExt cx="2527073" cy="869824"/>
          </a:xfrm>
        </p:grpSpPr>
        <p:sp>
          <p:nvSpPr>
            <p:cNvPr id="55" name="TextBox 43">
              <a:extLst>
                <a:ext uri="{FF2B5EF4-FFF2-40B4-BE49-F238E27FC236}">
                  <a16:creationId xmlns:a16="http://schemas.microsoft.com/office/drawing/2014/main" id="{58EDA03F-7B90-491D-B65B-3A083D59A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106" y="2051958"/>
              <a:ext cx="252707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buNone/>
                <a:defRPr/>
              </a:pPr>
              <a:r>
                <a:rPr lang="en-US" altLang="en-US" sz="11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Record: 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Department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 (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DEP</a:t>
              </a:r>
              <a:r>
                <a:rPr lang="en-US" altLang="en-US" sz="1100" b="1" kern="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)</a:t>
              </a:r>
              <a:endParaRPr lang="en-US" altLang="en-US" sz="1000" b="1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58" name="Rectangle 140">
              <a:extLst>
                <a:ext uri="{FF2B5EF4-FFF2-40B4-BE49-F238E27FC236}">
                  <a16:creationId xmlns:a16="http://schemas.microsoft.com/office/drawing/2014/main" id="{BF57E850-6F96-4B1B-8D26-F58B6DF6A79E}"/>
                </a:ext>
              </a:extLst>
            </p:cNvPr>
            <p:cNvSpPr/>
            <p:nvPr/>
          </p:nvSpPr>
          <p:spPr bwMode="auto">
            <a:xfrm>
              <a:off x="5050704" y="2373011"/>
              <a:ext cx="838113" cy="3333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dirty="0"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d</a:t>
              </a:r>
              <a:r>
                <a:rPr lang="en-US" sz="100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ept_name</a:t>
              </a:r>
            </a:p>
          </p:txBody>
        </p:sp>
        <p:sp>
          <p:nvSpPr>
            <p:cNvPr id="59" name="Rectangle 142">
              <a:extLst>
                <a:ext uri="{FF2B5EF4-FFF2-40B4-BE49-F238E27FC236}">
                  <a16:creationId xmlns:a16="http://schemas.microsoft.com/office/drawing/2014/main" id="{D40659FE-C049-4113-87DB-7C0EA71D36DA}"/>
                </a:ext>
              </a:extLst>
            </p:cNvPr>
            <p:cNvSpPr/>
            <p:nvPr/>
          </p:nvSpPr>
          <p:spPr bwMode="auto">
            <a:xfrm>
              <a:off x="6692971" y="2373011"/>
              <a:ext cx="631739" cy="3333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Budget</a:t>
              </a:r>
            </a:p>
          </p:txBody>
        </p:sp>
        <p:sp>
          <p:nvSpPr>
            <p:cNvPr id="60" name="Rectangle 143">
              <a:extLst>
                <a:ext uri="{FF2B5EF4-FFF2-40B4-BE49-F238E27FC236}">
                  <a16:creationId xmlns:a16="http://schemas.microsoft.com/office/drawing/2014/main" id="{1EF4EB36-AA65-4131-8D42-99BC620BE5A4}"/>
                </a:ext>
              </a:extLst>
            </p:cNvPr>
            <p:cNvSpPr/>
            <p:nvPr/>
          </p:nvSpPr>
          <p:spPr bwMode="auto">
            <a:xfrm>
              <a:off x="5886907" y="2373011"/>
              <a:ext cx="813528" cy="3333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dirty="0"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building</a:t>
              </a:r>
              <a:endParaRPr lang="en-US" sz="100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62" name="TextBox 135">
              <a:extLst>
                <a:ext uri="{FF2B5EF4-FFF2-40B4-BE49-F238E27FC236}">
                  <a16:creationId xmlns:a16="http://schemas.microsoft.com/office/drawing/2014/main" id="{7563AA61-4B5E-462D-98F9-DA9EB84B0D3A}"/>
                </a:ext>
              </a:extLst>
            </p:cNvPr>
            <p:cNvSpPr txBox="1"/>
            <p:nvPr/>
          </p:nvSpPr>
          <p:spPr bwMode="auto">
            <a:xfrm>
              <a:off x="5294702" y="2706338"/>
              <a:ext cx="296876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800" kern="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20</a:t>
              </a:r>
            </a:p>
          </p:txBody>
        </p:sp>
        <p:sp>
          <p:nvSpPr>
            <p:cNvPr id="63" name="TextBox 137">
              <a:extLst>
                <a:ext uri="{FF2B5EF4-FFF2-40B4-BE49-F238E27FC236}">
                  <a16:creationId xmlns:a16="http://schemas.microsoft.com/office/drawing/2014/main" id="{3A416091-458D-486B-BD6B-8628A240C86F}"/>
                </a:ext>
              </a:extLst>
            </p:cNvPr>
            <p:cNvSpPr txBox="1"/>
            <p:nvPr/>
          </p:nvSpPr>
          <p:spPr bwMode="auto">
            <a:xfrm>
              <a:off x="6093835" y="2706338"/>
              <a:ext cx="296876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80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20</a:t>
              </a:r>
              <a:endParaRPr lang="en-US" sz="800" kern="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64" name="TextBox 138">
              <a:extLst>
                <a:ext uri="{FF2B5EF4-FFF2-40B4-BE49-F238E27FC236}">
                  <a16:creationId xmlns:a16="http://schemas.microsoft.com/office/drawing/2014/main" id="{B2FB34B7-FFA1-4A30-B6C0-26EE1A59762C}"/>
                </a:ext>
              </a:extLst>
            </p:cNvPr>
            <p:cNvSpPr txBox="1"/>
            <p:nvPr/>
          </p:nvSpPr>
          <p:spPr bwMode="auto">
            <a:xfrm>
              <a:off x="6922550" y="2706338"/>
              <a:ext cx="240772" cy="2154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800" dirty="0">
                  <a:solidFill>
                    <a:schemeClr val="accent5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8</a:t>
              </a:r>
              <a:endParaRPr lang="en-US" sz="800" kern="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</p:grpSp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08C84D24-D2CF-4625-AA38-3DA629632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241321"/>
              </p:ext>
            </p:extLst>
          </p:nvPr>
        </p:nvGraphicFramePr>
        <p:xfrm>
          <a:off x="4970955" y="2251839"/>
          <a:ext cx="4132062" cy="1295400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4256086544"/>
                    </a:ext>
                  </a:extLst>
                </a:gridCol>
                <a:gridCol w="1136968">
                  <a:extLst>
                    <a:ext uri="{9D8B030D-6E8A-4147-A177-3AD203B41FA5}">
                      <a16:colId xmlns:a16="http://schemas.microsoft.com/office/drawing/2014/main" val="1865606495"/>
                    </a:ext>
                  </a:extLst>
                </a:gridCol>
                <a:gridCol w="2240714">
                  <a:extLst>
                    <a:ext uri="{9D8B030D-6E8A-4147-A177-3AD203B41FA5}">
                      <a16:colId xmlns:a16="http://schemas.microsoft.com/office/drawing/2014/main" val="797878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Posición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Etiqueta (Tipo)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Datos del Registro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070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1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INST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22222Einstein </a:t>
                      </a:r>
                      <a:r>
                        <a:rPr lang="es-CO" sz="1100" dirty="0" err="1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Physics</a:t>
                      </a:r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 95000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16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1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10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 err="1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Physics</a:t>
                      </a:r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 Watson 7000000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26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1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INST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12121Wu Finance 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986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1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Rec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1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Finance Taylor 1200000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732373"/>
                  </a:ext>
                </a:extLst>
              </a:tr>
            </a:tbl>
          </a:graphicData>
        </a:graphic>
      </p:graphicFrame>
      <p:sp>
        <p:nvSpPr>
          <p:cNvPr id="66" name="CuadroTexto 65">
            <a:extLst>
              <a:ext uri="{FF2B5EF4-FFF2-40B4-BE49-F238E27FC236}">
                <a16:creationId xmlns:a16="http://schemas.microsoft.com/office/drawing/2014/main" id="{410AAD71-219E-4485-971D-A6B26C82C353}"/>
              </a:ext>
            </a:extLst>
          </p:cNvPr>
          <p:cNvSpPr txBox="1"/>
          <p:nvPr/>
        </p:nvSpPr>
        <p:spPr>
          <a:xfrm>
            <a:off x="2175741" y="4505638"/>
            <a:ext cx="2562590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type</a:t>
            </a:r>
            <a:r>
              <a:rPr lang="en-US" altLang="en-US" sz="1200" dirty="0">
                <a:latin typeface="Consolas" panose="020B0609020204030204" pitchFamily="49" charset="0"/>
              </a:rPr>
              <a:t> </a:t>
            </a:r>
            <a:r>
              <a:rPr lang="en-US" altLang="en-US" sz="1200" i="1" dirty="0">
                <a:latin typeface="Consolas" panose="020B0609020204030204" pitchFamily="49" charset="0"/>
              </a:rPr>
              <a:t>instructor</a:t>
            </a:r>
            <a:r>
              <a:rPr lang="en-US" altLang="en-US" sz="1200" dirty="0">
                <a:latin typeface="Consolas" panose="020B0609020204030204" pitchFamily="49" charset="0"/>
              </a:rPr>
              <a:t> = </a:t>
            </a:r>
            <a:r>
              <a:rPr lang="en-US" altLang="en-US" sz="1200" b="1" dirty="0">
                <a:latin typeface="Consolas" panose="020B0609020204030204" pitchFamily="49" charset="0"/>
              </a:rPr>
              <a:t>record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i="1" dirty="0">
                <a:latin typeface="Consolas" panose="020B0609020204030204" pitchFamily="49" charset="0"/>
              </a:rPr>
              <a:t>   ID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varchar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 (5)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varchar(20)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dept_name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varchar(20)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salary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>
                <a:latin typeface="Consolas" panose="020B0609020204030204" pitchFamily="49" charset="0"/>
              </a:rPr>
              <a:t>numeric (8,2);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end</a:t>
            </a:r>
            <a:r>
              <a:rPr lang="en-US" altLang="en-US" sz="1200" dirty="0">
                <a:latin typeface="Consolas" panose="020B0609020204030204" pitchFamily="49" charset="0"/>
              </a:rPr>
              <a:t>;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E5EEB05C-F21F-4115-ACB2-960C3EF6B29D}"/>
              </a:ext>
            </a:extLst>
          </p:cNvPr>
          <p:cNvGrpSpPr/>
          <p:nvPr/>
        </p:nvGrpSpPr>
        <p:grpSpPr>
          <a:xfrm>
            <a:off x="5427980" y="4840918"/>
            <a:ext cx="2296220" cy="193362"/>
            <a:chOff x="5168900" y="4505638"/>
            <a:chExt cx="2296220" cy="193362"/>
          </a:xfrm>
        </p:grpSpPr>
        <p:sp>
          <p:nvSpPr>
            <p:cNvPr id="67" name="Rectangle 139">
              <a:extLst>
                <a:ext uri="{FF2B5EF4-FFF2-40B4-BE49-F238E27FC236}">
                  <a16:creationId xmlns:a16="http://schemas.microsoft.com/office/drawing/2014/main" id="{52E845DB-C14E-4E16-B3BB-ABC1B1945EC0}"/>
                </a:ext>
              </a:extLst>
            </p:cNvPr>
            <p:cNvSpPr/>
            <p:nvPr/>
          </p:nvSpPr>
          <p:spPr bwMode="auto">
            <a:xfrm>
              <a:off x="5168900" y="4508769"/>
              <a:ext cx="554754" cy="1902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12121</a:t>
              </a:r>
            </a:p>
          </p:txBody>
        </p:sp>
        <p:sp>
          <p:nvSpPr>
            <p:cNvPr id="68" name="Rectangle 140">
              <a:extLst>
                <a:ext uri="{FF2B5EF4-FFF2-40B4-BE49-F238E27FC236}">
                  <a16:creationId xmlns:a16="http://schemas.microsoft.com/office/drawing/2014/main" id="{6AAC15B5-3535-4DEF-82B5-6EEDF19206F6}"/>
                </a:ext>
              </a:extLst>
            </p:cNvPr>
            <p:cNvSpPr/>
            <p:nvPr/>
          </p:nvSpPr>
          <p:spPr bwMode="auto">
            <a:xfrm>
              <a:off x="6069496" y="4505639"/>
              <a:ext cx="752698" cy="1902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dirty="0"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Finance</a:t>
              </a:r>
              <a:endParaRPr lang="en-US" sz="100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69" name="Rectangle 142">
              <a:extLst>
                <a:ext uri="{FF2B5EF4-FFF2-40B4-BE49-F238E27FC236}">
                  <a16:creationId xmlns:a16="http://schemas.microsoft.com/office/drawing/2014/main" id="{EC791833-10E0-4FEA-8AFE-8D35EF8EA70B}"/>
                </a:ext>
              </a:extLst>
            </p:cNvPr>
            <p:cNvSpPr/>
            <p:nvPr/>
          </p:nvSpPr>
          <p:spPr bwMode="auto">
            <a:xfrm>
              <a:off x="6822194" y="4505638"/>
              <a:ext cx="642926" cy="1902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90000</a:t>
              </a:r>
            </a:p>
          </p:txBody>
        </p:sp>
        <p:sp>
          <p:nvSpPr>
            <p:cNvPr id="70" name="Rectangle 143">
              <a:extLst>
                <a:ext uri="{FF2B5EF4-FFF2-40B4-BE49-F238E27FC236}">
                  <a16:creationId xmlns:a16="http://schemas.microsoft.com/office/drawing/2014/main" id="{D23CF7FD-11E6-455D-A4F1-28BBD36195F4}"/>
                </a:ext>
              </a:extLst>
            </p:cNvPr>
            <p:cNvSpPr/>
            <p:nvPr/>
          </p:nvSpPr>
          <p:spPr bwMode="auto">
            <a:xfrm>
              <a:off x="5723653" y="4508769"/>
              <a:ext cx="372347" cy="1902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dirty="0"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Wu</a:t>
              </a:r>
              <a:endParaRPr lang="en-US" sz="100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3265A559-FB9B-4647-BFC0-BFD5A6D23CFE}"/>
              </a:ext>
            </a:extLst>
          </p:cNvPr>
          <p:cNvGrpSpPr/>
          <p:nvPr/>
        </p:nvGrpSpPr>
        <p:grpSpPr>
          <a:xfrm>
            <a:off x="5427980" y="5263110"/>
            <a:ext cx="2747070" cy="193362"/>
            <a:chOff x="5168900" y="4505638"/>
            <a:chExt cx="2747070" cy="193362"/>
          </a:xfrm>
        </p:grpSpPr>
        <p:sp>
          <p:nvSpPr>
            <p:cNvPr id="74" name="Rectangle 139">
              <a:extLst>
                <a:ext uri="{FF2B5EF4-FFF2-40B4-BE49-F238E27FC236}">
                  <a16:creationId xmlns:a16="http://schemas.microsoft.com/office/drawing/2014/main" id="{646D36D1-F9D6-48B7-A6A9-6746DC617511}"/>
                </a:ext>
              </a:extLst>
            </p:cNvPr>
            <p:cNvSpPr/>
            <p:nvPr/>
          </p:nvSpPr>
          <p:spPr bwMode="auto">
            <a:xfrm>
              <a:off x="5168900" y="4508769"/>
              <a:ext cx="554754" cy="1902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22222</a:t>
              </a:r>
            </a:p>
          </p:txBody>
        </p:sp>
        <p:sp>
          <p:nvSpPr>
            <p:cNvPr id="75" name="Rectangle 140">
              <a:extLst>
                <a:ext uri="{FF2B5EF4-FFF2-40B4-BE49-F238E27FC236}">
                  <a16:creationId xmlns:a16="http://schemas.microsoft.com/office/drawing/2014/main" id="{39F7A33A-0AD4-4816-9A63-AA6407073D46}"/>
                </a:ext>
              </a:extLst>
            </p:cNvPr>
            <p:cNvSpPr/>
            <p:nvPr/>
          </p:nvSpPr>
          <p:spPr bwMode="auto">
            <a:xfrm>
              <a:off x="6520346" y="4505639"/>
              <a:ext cx="752698" cy="1902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dirty="0"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Physics</a:t>
              </a:r>
              <a:endParaRPr lang="en-US" sz="100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76" name="Rectangle 142">
              <a:extLst>
                <a:ext uri="{FF2B5EF4-FFF2-40B4-BE49-F238E27FC236}">
                  <a16:creationId xmlns:a16="http://schemas.microsoft.com/office/drawing/2014/main" id="{09872ECB-5556-457A-8A0F-69F9066062C2}"/>
                </a:ext>
              </a:extLst>
            </p:cNvPr>
            <p:cNvSpPr/>
            <p:nvPr/>
          </p:nvSpPr>
          <p:spPr bwMode="auto">
            <a:xfrm>
              <a:off x="7273044" y="4505638"/>
              <a:ext cx="642926" cy="1902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95000</a:t>
              </a:r>
            </a:p>
          </p:txBody>
        </p:sp>
        <p:sp>
          <p:nvSpPr>
            <p:cNvPr id="77" name="Rectangle 143">
              <a:extLst>
                <a:ext uri="{FF2B5EF4-FFF2-40B4-BE49-F238E27FC236}">
                  <a16:creationId xmlns:a16="http://schemas.microsoft.com/office/drawing/2014/main" id="{D0A45E32-67B9-4CA6-B274-474FE88AF625}"/>
                </a:ext>
              </a:extLst>
            </p:cNvPr>
            <p:cNvSpPr/>
            <p:nvPr/>
          </p:nvSpPr>
          <p:spPr bwMode="auto">
            <a:xfrm>
              <a:off x="5723653" y="4508769"/>
              <a:ext cx="796693" cy="1902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000" dirty="0"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rPr>
                <a:t>Einstein</a:t>
              </a:r>
              <a:endParaRPr lang="en-US" sz="100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7077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818214" y="881580"/>
            <a:ext cx="10984405" cy="53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/>
              <a:t>Los atributos se almacenan en un orden determinado.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dirty="0"/>
              <a:t>Los atributos de longitud variable se representan mediante una estructura de tamaño fijo </a:t>
            </a:r>
            <a:r>
              <a:rPr lang="es-MX" sz="2000" i="1" dirty="0"/>
              <a:t>(offset, longitud)</a:t>
            </a:r>
            <a:r>
              <a:rPr lang="es-MX" sz="2000" dirty="0"/>
              <a:t>, mientras que los datos reales se almacenan después de los atributos de longitud fija.</a:t>
            </a:r>
          </a:p>
          <a:p>
            <a:r>
              <a:rPr lang="es-MX" sz="2000" dirty="0"/>
              <a:t>Los valores nulos se representan mediante un mapa de bits de valores nulos (null bitmap).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</p:txBody>
      </p:sp>
      <p:grpSp>
        <p:nvGrpSpPr>
          <p:cNvPr id="16" name="Group 13" descr="A record with the fields M, 32, 94703, Bob, Sig, Str. Header with two pointers pointing to the end of the Bob and Big, St. Fields" title="Byte Form of a Record">
            <a:extLst>
              <a:ext uri="{FF2B5EF4-FFF2-40B4-BE49-F238E27FC236}">
                <a16:creationId xmlns:a16="http://schemas.microsoft.com/office/drawing/2014/main" id="{8652760E-A83D-4359-9D90-365786E34299}"/>
              </a:ext>
            </a:extLst>
          </p:cNvPr>
          <p:cNvGrpSpPr>
            <a:grpSpLocks/>
          </p:cNvGrpSpPr>
          <p:nvPr/>
        </p:nvGrpSpPr>
        <p:grpSpPr bwMode="auto">
          <a:xfrm>
            <a:off x="6310416" y="1823224"/>
            <a:ext cx="4427933" cy="657999"/>
            <a:chOff x="1035344" y="4322081"/>
            <a:chExt cx="5904671" cy="876220"/>
          </a:xfrm>
        </p:grpSpPr>
        <p:grpSp>
          <p:nvGrpSpPr>
            <p:cNvPr id="17" name="Group 1">
              <a:extLst>
                <a:ext uri="{FF2B5EF4-FFF2-40B4-BE49-F238E27FC236}">
                  <a16:creationId xmlns:a16="http://schemas.microsoft.com/office/drawing/2014/main" id="{30084A7E-829A-4DE1-A1C9-95EB27EB7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558" y="4322081"/>
              <a:ext cx="4403654" cy="876220"/>
              <a:chOff x="1841172" y="4163731"/>
              <a:chExt cx="4403654" cy="876220"/>
            </a:xfrm>
          </p:grpSpPr>
          <p:grpSp>
            <p:nvGrpSpPr>
              <p:cNvPr id="31" name="Group 67">
                <a:extLst>
                  <a:ext uri="{FF2B5EF4-FFF2-40B4-BE49-F238E27FC236}">
                    <a16:creationId xmlns:a16="http://schemas.microsoft.com/office/drawing/2014/main" id="{A7BA0967-D093-4D64-8F87-B6A3E4BB66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950" y="4163731"/>
                <a:ext cx="1039308" cy="876220"/>
                <a:chOff x="1712855" y="4878355"/>
                <a:chExt cx="1039308" cy="876220"/>
              </a:xfrm>
            </p:grpSpPr>
            <p:sp>
              <p:nvSpPr>
                <p:cNvPr id="44" name="Rectangle 132">
                  <a:extLst>
                    <a:ext uri="{FF2B5EF4-FFF2-40B4-BE49-F238E27FC236}">
                      <a16:creationId xmlns:a16="http://schemas.microsoft.com/office/drawing/2014/main" id="{C5804B74-146F-4A4B-B22C-5231ED9DECC0}"/>
                    </a:ext>
                  </a:extLst>
                </p:cNvPr>
                <p:cNvSpPr/>
                <p:nvPr/>
              </p:nvSpPr>
              <p:spPr bwMode="auto">
                <a:xfrm>
                  <a:off x="1822406" y="4878355"/>
                  <a:ext cx="739870" cy="50418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rPr>
                    <a:t>Bob</a:t>
                  </a:r>
                </a:p>
              </p:txBody>
            </p:sp>
            <p:sp>
              <p:nvSpPr>
                <p:cNvPr id="45" name="TextBox 133">
                  <a:extLst>
                    <a:ext uri="{FF2B5EF4-FFF2-40B4-BE49-F238E27FC236}">
                      <a16:creationId xmlns:a16="http://schemas.microsoft.com/office/drawing/2014/main" id="{ED1013B2-1DD1-43C9-A82A-336B366069C1}"/>
                    </a:ext>
                  </a:extLst>
                </p:cNvPr>
                <p:cNvSpPr txBox="1"/>
                <p:nvPr/>
              </p:nvSpPr>
              <p:spPr bwMode="auto">
                <a:xfrm>
                  <a:off x="1712855" y="5385711"/>
                  <a:ext cx="1039308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b="1" dirty="0">
                      <a:solidFill>
                        <a:schemeClr val="accent6"/>
                      </a:solidFill>
                      <a:latin typeface="Consolas" panose="020B0609020204030204" pitchFamily="49" charset="0"/>
                      <a:ea typeface="Helvetica Neue" charset="0"/>
                      <a:cs typeface="Helvetica Neue" charset="0"/>
                    </a:rPr>
                    <a:t>VARCHAR</a:t>
                  </a:r>
                </a:p>
              </p:txBody>
            </p:sp>
          </p:grpSp>
          <p:grpSp>
            <p:nvGrpSpPr>
              <p:cNvPr id="32" name="Group 73">
                <a:extLst>
                  <a:ext uri="{FF2B5EF4-FFF2-40B4-BE49-F238E27FC236}">
                    <a16:creationId xmlns:a16="http://schemas.microsoft.com/office/drawing/2014/main" id="{E85C1CDF-8221-4FEB-9A68-6D204FA932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43545" y="4163731"/>
                <a:ext cx="1301281" cy="871465"/>
                <a:chOff x="2930460" y="4873592"/>
                <a:chExt cx="1301281" cy="871465"/>
              </a:xfrm>
            </p:grpSpPr>
            <p:sp>
              <p:nvSpPr>
                <p:cNvPr id="42" name="Rectangle 113">
                  <a:extLst>
                    <a:ext uri="{FF2B5EF4-FFF2-40B4-BE49-F238E27FC236}">
                      <a16:creationId xmlns:a16="http://schemas.microsoft.com/office/drawing/2014/main" id="{6EB564E2-6D0F-4F6E-BA91-5BA8A65EE65F}"/>
                    </a:ext>
                  </a:extLst>
                </p:cNvPr>
                <p:cNvSpPr/>
                <p:nvPr/>
              </p:nvSpPr>
              <p:spPr bwMode="auto">
                <a:xfrm>
                  <a:off x="2930460" y="4873592"/>
                  <a:ext cx="1301281" cy="504186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rPr>
                    <a:t>Big, St.</a:t>
                  </a:r>
                </a:p>
              </p:txBody>
            </p:sp>
            <p:sp>
              <p:nvSpPr>
                <p:cNvPr id="43" name="TextBox 114">
                  <a:extLst>
                    <a:ext uri="{FF2B5EF4-FFF2-40B4-BE49-F238E27FC236}">
                      <a16:creationId xmlns:a16="http://schemas.microsoft.com/office/drawing/2014/main" id="{9175734F-35EC-472D-95BC-77F092B7D67C}"/>
                    </a:ext>
                  </a:extLst>
                </p:cNvPr>
                <p:cNvSpPr txBox="1"/>
                <p:nvPr/>
              </p:nvSpPr>
              <p:spPr bwMode="auto">
                <a:xfrm>
                  <a:off x="3049539" y="5376193"/>
                  <a:ext cx="1039308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b="1" dirty="0">
                      <a:solidFill>
                        <a:schemeClr val="accent6"/>
                      </a:solidFill>
                      <a:latin typeface="Consolas" panose="020B0609020204030204" pitchFamily="49" charset="0"/>
                      <a:ea typeface="Helvetica Neue" charset="0"/>
                      <a:cs typeface="Helvetica Neue" charset="0"/>
                    </a:rPr>
                    <a:t>VARCHAR</a:t>
                  </a:r>
                </a:p>
              </p:txBody>
            </p:sp>
          </p:grpSp>
          <p:grpSp>
            <p:nvGrpSpPr>
              <p:cNvPr id="33" name="Group 74">
                <a:extLst>
                  <a:ext uri="{FF2B5EF4-FFF2-40B4-BE49-F238E27FC236}">
                    <a16:creationId xmlns:a16="http://schemas.microsoft.com/office/drawing/2014/main" id="{16711C8B-D858-430F-AA62-713A28D246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1172" y="4163731"/>
                <a:ext cx="699427" cy="850852"/>
                <a:chOff x="4259291" y="4878355"/>
                <a:chExt cx="699427" cy="850852"/>
              </a:xfrm>
            </p:grpSpPr>
            <p:sp>
              <p:nvSpPr>
                <p:cNvPr id="40" name="Rectangle 111">
                  <a:extLst>
                    <a:ext uri="{FF2B5EF4-FFF2-40B4-BE49-F238E27FC236}">
                      <a16:creationId xmlns:a16="http://schemas.microsoft.com/office/drawing/2014/main" id="{705782BB-F676-4436-B793-831ADAB0B67C}"/>
                    </a:ext>
                  </a:extLst>
                </p:cNvPr>
                <p:cNvSpPr/>
                <p:nvPr/>
              </p:nvSpPr>
              <p:spPr bwMode="auto">
                <a:xfrm>
                  <a:off x="4259291" y="4878355"/>
                  <a:ext cx="623968" cy="505771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rPr>
                    <a:t>M</a:t>
                  </a:r>
                </a:p>
              </p:txBody>
            </p:sp>
            <p:sp>
              <p:nvSpPr>
                <p:cNvPr id="41" name="TextBox 112">
                  <a:extLst>
                    <a:ext uri="{FF2B5EF4-FFF2-40B4-BE49-F238E27FC236}">
                      <a16:creationId xmlns:a16="http://schemas.microsoft.com/office/drawing/2014/main" id="{AF8999E5-8B98-49E5-B135-FA8AEC014578}"/>
                    </a:ext>
                  </a:extLst>
                </p:cNvPr>
                <p:cNvSpPr txBox="1"/>
                <p:nvPr/>
              </p:nvSpPr>
              <p:spPr bwMode="auto">
                <a:xfrm>
                  <a:off x="4259291" y="5360343"/>
                  <a:ext cx="699427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2"/>
                      </a:solidFill>
                      <a:latin typeface="Consolas" panose="020B0609020204030204" pitchFamily="49" charset="0"/>
                      <a:ea typeface="Helvetica Neue" charset="0"/>
                      <a:cs typeface="Helvetica Neue" charset="0"/>
                    </a:rPr>
                    <a:t>CHAR</a:t>
                  </a:r>
                </a:p>
              </p:txBody>
            </p:sp>
          </p:grpSp>
          <p:grpSp>
            <p:nvGrpSpPr>
              <p:cNvPr id="34" name="Group 75">
                <a:extLst>
                  <a:ext uri="{FF2B5EF4-FFF2-40B4-BE49-F238E27FC236}">
                    <a16:creationId xmlns:a16="http://schemas.microsoft.com/office/drawing/2014/main" id="{810C2E45-2395-4968-90B5-9B5C23DDAC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74666" y="4163731"/>
                <a:ext cx="668695" cy="849268"/>
                <a:chOff x="4893092" y="4878355"/>
                <a:chExt cx="668695" cy="849268"/>
              </a:xfrm>
            </p:grpSpPr>
            <p:sp>
              <p:nvSpPr>
                <p:cNvPr id="38" name="Rectangle 109">
                  <a:extLst>
                    <a:ext uri="{FF2B5EF4-FFF2-40B4-BE49-F238E27FC236}">
                      <a16:creationId xmlns:a16="http://schemas.microsoft.com/office/drawing/2014/main" id="{B38E2B0F-FB9A-4BD8-8CE0-F0C6DF7B24D2}"/>
                    </a:ext>
                  </a:extLst>
                </p:cNvPr>
                <p:cNvSpPr/>
                <p:nvPr/>
              </p:nvSpPr>
              <p:spPr bwMode="auto">
                <a:xfrm>
                  <a:off x="4893092" y="4878355"/>
                  <a:ext cx="611266" cy="505771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rPr>
                    <a:t>32</a:t>
                  </a:r>
                </a:p>
              </p:txBody>
            </p:sp>
            <p:sp>
              <p:nvSpPr>
                <p:cNvPr id="39" name="TextBox 110">
                  <a:extLst>
                    <a:ext uri="{FF2B5EF4-FFF2-40B4-BE49-F238E27FC236}">
                      <a16:creationId xmlns:a16="http://schemas.microsoft.com/office/drawing/2014/main" id="{64A18E50-368A-49F8-AEE7-A3F1B859BCC3}"/>
                    </a:ext>
                  </a:extLst>
                </p:cNvPr>
                <p:cNvSpPr txBox="1"/>
                <p:nvPr/>
              </p:nvSpPr>
              <p:spPr bwMode="auto">
                <a:xfrm>
                  <a:off x="4975653" y="5358759"/>
                  <a:ext cx="586134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2"/>
                      </a:solidFill>
                      <a:latin typeface="Consolas" panose="020B0609020204030204" pitchFamily="49" charset="0"/>
                      <a:ea typeface="Helvetica Neue" charset="0"/>
                      <a:cs typeface="Helvetica Neue" charset="0"/>
                    </a:rPr>
                    <a:t>INT</a:t>
                  </a:r>
                </a:p>
              </p:txBody>
            </p:sp>
          </p:grpSp>
          <p:grpSp>
            <p:nvGrpSpPr>
              <p:cNvPr id="35" name="Group 85">
                <a:extLst>
                  <a:ext uri="{FF2B5EF4-FFF2-40B4-BE49-F238E27FC236}">
                    <a16:creationId xmlns:a16="http://schemas.microsoft.com/office/drawing/2014/main" id="{7CFB64CE-3DC1-499A-98A3-5DA21B298A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7994" y="4163731"/>
                <a:ext cx="1125682" cy="852438"/>
                <a:chOff x="5494226" y="4878355"/>
                <a:chExt cx="1125682" cy="852438"/>
              </a:xfrm>
            </p:grpSpPr>
            <p:sp>
              <p:nvSpPr>
                <p:cNvPr id="36" name="Rectangle 107">
                  <a:extLst>
                    <a:ext uri="{FF2B5EF4-FFF2-40B4-BE49-F238E27FC236}">
                      <a16:creationId xmlns:a16="http://schemas.microsoft.com/office/drawing/2014/main" id="{7F49398F-91F7-4D83-BB48-992FFBB928A0}"/>
                    </a:ext>
                  </a:extLst>
                </p:cNvPr>
                <p:cNvSpPr/>
                <p:nvPr/>
              </p:nvSpPr>
              <p:spPr bwMode="auto">
                <a:xfrm>
                  <a:off x="5494226" y="4878355"/>
                  <a:ext cx="1125682" cy="505771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rPr>
                    <a:t>94703</a:t>
                  </a:r>
                </a:p>
              </p:txBody>
            </p:sp>
            <p:sp>
              <p:nvSpPr>
                <p:cNvPr id="37" name="TextBox 108">
                  <a:extLst>
                    <a:ext uri="{FF2B5EF4-FFF2-40B4-BE49-F238E27FC236}">
                      <a16:creationId xmlns:a16="http://schemas.microsoft.com/office/drawing/2014/main" id="{D0E3DA71-073E-4731-B5CA-3D031737926A}"/>
                    </a:ext>
                  </a:extLst>
                </p:cNvPr>
                <p:cNvSpPr txBox="1"/>
                <p:nvPr/>
              </p:nvSpPr>
              <p:spPr bwMode="auto">
                <a:xfrm>
                  <a:off x="5840346" y="5361929"/>
                  <a:ext cx="586134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2"/>
                      </a:solidFill>
                      <a:latin typeface="Consolas" panose="020B0609020204030204" pitchFamily="49" charset="0"/>
                      <a:ea typeface="Helvetica Neue" charset="0"/>
                      <a:cs typeface="Helvetica Neue" charset="0"/>
                    </a:rPr>
                    <a:t>INT</a:t>
                  </a:r>
                </a:p>
              </p:txBody>
            </p:sp>
          </p:grpSp>
        </p:grpSp>
        <p:grpSp>
          <p:nvGrpSpPr>
            <p:cNvPr id="18" name="Group 6">
              <a:extLst>
                <a:ext uri="{FF2B5EF4-FFF2-40B4-BE49-F238E27FC236}">
                  <a16:creationId xmlns:a16="http://schemas.microsoft.com/office/drawing/2014/main" id="{F9264961-B09B-451C-B01C-AF5896F20C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5344" y="4322874"/>
              <a:ext cx="1474206" cy="503237"/>
              <a:chOff x="1035344" y="4322874"/>
              <a:chExt cx="1474206" cy="503237"/>
            </a:xfrm>
          </p:grpSpPr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0AB5F355-93C2-4E54-A19C-E0A51F576791}"/>
                  </a:ext>
                </a:extLst>
              </p:cNvPr>
              <p:cNvSpPr/>
              <p:nvPr/>
            </p:nvSpPr>
            <p:spPr bwMode="auto">
              <a:xfrm>
                <a:off x="1035344" y="4323667"/>
                <a:ext cx="1474978" cy="502599"/>
              </a:xfrm>
              <a:prstGeom prst="rect">
                <a:avLst/>
              </a:prstGeom>
              <a:solidFill>
                <a:schemeClr val="accent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chemeClr val="bg1"/>
                    </a:solidFill>
                    <a:latin typeface="Consolas" panose="020B0609020204030204" pitchFamily="49" charset="0"/>
                  </a:rPr>
                  <a:t>Header</a:t>
                </a:r>
              </a:p>
            </p:txBody>
          </p:sp>
          <p:grpSp>
            <p:nvGrpSpPr>
              <p:cNvPr id="24" name="Group 5">
                <a:extLst>
                  <a:ext uri="{FF2B5EF4-FFF2-40B4-BE49-F238E27FC236}">
                    <a16:creationId xmlns:a16="http://schemas.microsoft.com/office/drawing/2014/main" id="{32C0B427-5D4B-4116-ABF5-C67D7F23B6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546" y="4382170"/>
                <a:ext cx="499844" cy="366713"/>
                <a:chOff x="1927546" y="4382170"/>
                <a:chExt cx="499844" cy="366713"/>
              </a:xfrm>
            </p:grpSpPr>
            <p:grpSp>
              <p:nvGrpSpPr>
                <p:cNvPr id="25" name="Group 4">
                  <a:extLst>
                    <a:ext uri="{FF2B5EF4-FFF2-40B4-BE49-F238E27FC236}">
                      <a16:creationId xmlns:a16="http://schemas.microsoft.com/office/drawing/2014/main" id="{F6CE12D3-AE19-4614-B257-8ECE099769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7546" y="4382170"/>
                  <a:ext cx="211137" cy="366713"/>
                  <a:chOff x="2014689" y="4895962"/>
                  <a:chExt cx="211137" cy="366713"/>
                </a:xfrm>
              </p:grpSpPr>
              <p:sp>
                <p:nvSpPr>
                  <p:cNvPr id="29" name="Rectangle 69">
                    <a:extLst>
                      <a:ext uri="{FF2B5EF4-FFF2-40B4-BE49-F238E27FC236}">
                        <a16:creationId xmlns:a16="http://schemas.microsoft.com/office/drawing/2014/main" id="{4612BB61-7469-4750-95BC-D5BC98FB33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14777" y="4896122"/>
                    <a:ext cx="211165" cy="366248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endParaRPr>
                  </a:p>
                </p:txBody>
              </p:sp>
              <p:sp>
                <p:nvSpPr>
                  <p:cNvPr id="30" name="Oval 70">
                    <a:extLst>
                      <a:ext uri="{FF2B5EF4-FFF2-40B4-BE49-F238E27FC236}">
                        <a16:creationId xmlns:a16="http://schemas.microsoft.com/office/drawing/2014/main" id="{B55C191D-63BE-430B-9071-1F51DA6010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3049" y="5040401"/>
                    <a:ext cx="74622" cy="77688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endParaRPr>
                  </a:p>
                </p:txBody>
              </p:sp>
            </p:grpSp>
            <p:grpSp>
              <p:nvGrpSpPr>
                <p:cNvPr id="26" name="Group 102">
                  <a:extLst>
                    <a:ext uri="{FF2B5EF4-FFF2-40B4-BE49-F238E27FC236}">
                      <a16:creationId xmlns:a16="http://schemas.microsoft.com/office/drawing/2014/main" id="{8644EC85-78F7-4F87-A4EB-D80BB35C4C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6253" y="4382170"/>
                  <a:ext cx="211137" cy="366713"/>
                  <a:chOff x="2014689" y="4895962"/>
                  <a:chExt cx="211137" cy="366713"/>
                </a:xfrm>
              </p:grpSpPr>
              <p:sp>
                <p:nvSpPr>
                  <p:cNvPr id="27" name="Rectangle 67">
                    <a:extLst>
                      <a:ext uri="{FF2B5EF4-FFF2-40B4-BE49-F238E27FC236}">
                        <a16:creationId xmlns:a16="http://schemas.microsoft.com/office/drawing/2014/main" id="{E0AFB6F8-E5A9-41B3-818A-37BFA3B17C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15032" y="4896122"/>
                    <a:ext cx="211165" cy="366248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endParaRPr>
                  </a:p>
                </p:txBody>
              </p:sp>
              <p:sp>
                <p:nvSpPr>
                  <p:cNvPr id="28" name="Oval 68">
                    <a:extLst>
                      <a:ext uri="{FF2B5EF4-FFF2-40B4-BE49-F238E27FC236}">
                        <a16:creationId xmlns:a16="http://schemas.microsoft.com/office/drawing/2014/main" id="{7D1B3F00-4C63-438A-931A-2F33D8CC2D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3304" y="5040401"/>
                    <a:ext cx="74622" cy="77688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Consolas" panose="020B0609020204030204" pitchFamily="49" charset="0"/>
                    </a:endParaRPr>
                  </a:p>
                </p:txBody>
              </p:sp>
            </p:grpSp>
          </p:grpSp>
        </p:grpSp>
        <p:sp>
          <p:nvSpPr>
            <p:cNvPr id="19" name="Oval 59">
              <a:extLst>
                <a:ext uri="{FF2B5EF4-FFF2-40B4-BE49-F238E27FC236}">
                  <a16:creationId xmlns:a16="http://schemas.microsoft.com/office/drawing/2014/main" id="{19C9DAEE-3FFB-4187-8252-6F3659BC641C}"/>
                </a:ext>
              </a:extLst>
            </p:cNvPr>
            <p:cNvSpPr/>
            <p:nvPr/>
          </p:nvSpPr>
          <p:spPr bwMode="auto">
            <a:xfrm>
              <a:off x="5569828" y="4791385"/>
              <a:ext cx="73034" cy="761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0" name="Oval 60">
              <a:extLst>
                <a:ext uri="{FF2B5EF4-FFF2-40B4-BE49-F238E27FC236}">
                  <a16:creationId xmlns:a16="http://schemas.microsoft.com/office/drawing/2014/main" id="{6A20DE39-B684-4ADF-94F8-68FC130A4BCC}"/>
                </a:ext>
              </a:extLst>
            </p:cNvPr>
            <p:cNvSpPr/>
            <p:nvPr/>
          </p:nvSpPr>
          <p:spPr bwMode="auto">
            <a:xfrm>
              <a:off x="6866982" y="4789799"/>
              <a:ext cx="73033" cy="761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1" name="Elbow Connector 37">
              <a:extLst>
                <a:ext uri="{FF2B5EF4-FFF2-40B4-BE49-F238E27FC236}">
                  <a16:creationId xmlns:a16="http://schemas.microsoft.com/office/drawing/2014/main" id="{E56A30D9-CD6C-4303-817C-B3507D6FF0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687973" y="2949561"/>
              <a:ext cx="263859" cy="3573575"/>
            </a:xfrm>
            <a:prstGeom prst="bentConnector3">
              <a:avLst>
                <a:gd name="adj1" fmla="val 310627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Elbow Connector 37">
              <a:extLst>
                <a:ext uri="{FF2B5EF4-FFF2-40B4-BE49-F238E27FC236}">
                  <a16:creationId xmlns:a16="http://schemas.microsoft.com/office/drawing/2014/main" id="{9A30B241-B554-4303-9C80-CD868C3DAD53}"/>
                </a:ext>
              </a:extLst>
            </p:cNvPr>
            <p:cNvCxnSpPr>
              <a:cxnSpLocks noChangeShapeType="1"/>
              <a:endCxn id="20" idx="4"/>
            </p:cNvCxnSpPr>
            <p:nvPr/>
          </p:nvCxnSpPr>
          <p:spPr bwMode="auto">
            <a:xfrm>
              <a:off x="2321822" y="4604420"/>
              <a:ext cx="4581677" cy="261483"/>
            </a:xfrm>
            <a:prstGeom prst="bentConnector4">
              <a:avLst>
                <a:gd name="adj1" fmla="val 255"/>
                <a:gd name="adj2" fmla="val 400747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6" name="Group 42" title="Record 1">
            <a:extLst>
              <a:ext uri="{FF2B5EF4-FFF2-40B4-BE49-F238E27FC236}">
                <a16:creationId xmlns:a16="http://schemas.microsoft.com/office/drawing/2014/main" id="{A8A556A2-4334-4A91-A8C6-587DAC25F76F}"/>
              </a:ext>
            </a:extLst>
          </p:cNvPr>
          <p:cNvGrpSpPr>
            <a:grpSpLocks/>
          </p:cNvGrpSpPr>
          <p:nvPr/>
        </p:nvGrpSpPr>
        <p:grpSpPr bwMode="auto">
          <a:xfrm>
            <a:off x="1963444" y="1508899"/>
            <a:ext cx="3312319" cy="988993"/>
            <a:chOff x="4424229" y="4316768"/>
            <a:chExt cx="4417865" cy="1317622"/>
          </a:xfrm>
        </p:grpSpPr>
        <p:sp>
          <p:nvSpPr>
            <p:cNvPr id="47" name="TextBox 43">
              <a:extLst>
                <a:ext uri="{FF2B5EF4-FFF2-40B4-BE49-F238E27FC236}">
                  <a16:creationId xmlns:a16="http://schemas.microsoft.com/office/drawing/2014/main" id="{EA5C468A-6683-4874-B3A9-C871A0227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518" y="4316768"/>
              <a:ext cx="4286576" cy="492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Record</a:t>
              </a:r>
            </a:p>
          </p:txBody>
        </p:sp>
        <p:grpSp>
          <p:nvGrpSpPr>
            <p:cNvPr id="48" name="Group 44">
              <a:extLst>
                <a:ext uri="{FF2B5EF4-FFF2-40B4-BE49-F238E27FC236}">
                  <a16:creationId xmlns:a16="http://schemas.microsoft.com/office/drawing/2014/main" id="{25F63C9E-70ED-438B-8FA5-25C817935B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6035" y="4778365"/>
              <a:ext cx="4286059" cy="504430"/>
              <a:chOff x="4556035" y="4778365"/>
              <a:chExt cx="4286059" cy="504430"/>
            </a:xfrm>
          </p:grpSpPr>
          <p:sp>
            <p:nvSpPr>
              <p:cNvPr id="53" name="Rectangle 115">
                <a:extLst>
                  <a:ext uri="{FF2B5EF4-FFF2-40B4-BE49-F238E27FC236}">
                    <a16:creationId xmlns:a16="http://schemas.microsoft.com/office/drawing/2014/main" id="{89AC4C99-D76C-4207-A5C4-5E26C0D8D31C}"/>
                  </a:ext>
                </a:extLst>
              </p:cNvPr>
              <p:cNvSpPr/>
              <p:nvPr/>
            </p:nvSpPr>
            <p:spPr bwMode="auto">
              <a:xfrm>
                <a:off x="4556035" y="4778366"/>
                <a:ext cx="751132" cy="5044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Bob</a:t>
                </a:r>
              </a:p>
            </p:txBody>
          </p:sp>
          <p:sp>
            <p:nvSpPr>
              <p:cNvPr id="54" name="Rectangle 116">
                <a:extLst>
                  <a:ext uri="{FF2B5EF4-FFF2-40B4-BE49-F238E27FC236}">
                    <a16:creationId xmlns:a16="http://schemas.microsoft.com/office/drawing/2014/main" id="{FA8545A1-A154-438A-B1E1-8B88AB31CCB2}"/>
                  </a:ext>
                </a:extLst>
              </p:cNvPr>
              <p:cNvSpPr/>
              <p:nvPr/>
            </p:nvSpPr>
            <p:spPr bwMode="auto">
              <a:xfrm>
                <a:off x="6535727" y="4778366"/>
                <a:ext cx="557959" cy="504429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M</a:t>
                </a:r>
              </a:p>
            </p:txBody>
          </p:sp>
          <p:sp>
            <p:nvSpPr>
              <p:cNvPr id="55" name="Rectangle 117">
                <a:extLst>
                  <a:ext uri="{FF2B5EF4-FFF2-40B4-BE49-F238E27FC236}">
                    <a16:creationId xmlns:a16="http://schemas.microsoft.com/office/drawing/2014/main" id="{CEA0EC6D-53D2-4277-AC5E-5FD9A3F13460}"/>
                  </a:ext>
                </a:extLst>
              </p:cNvPr>
              <p:cNvSpPr/>
              <p:nvPr/>
            </p:nvSpPr>
            <p:spPr bwMode="auto">
              <a:xfrm>
                <a:off x="7093687" y="4778366"/>
                <a:ext cx="622503" cy="504429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32</a:t>
                </a:r>
              </a:p>
            </p:txBody>
          </p:sp>
          <p:sp>
            <p:nvSpPr>
              <p:cNvPr id="56" name="Rectangle 118">
                <a:extLst>
                  <a:ext uri="{FF2B5EF4-FFF2-40B4-BE49-F238E27FC236}">
                    <a16:creationId xmlns:a16="http://schemas.microsoft.com/office/drawing/2014/main" id="{166371E9-03EF-4EC0-851D-3B76E002A5C5}"/>
                  </a:ext>
                </a:extLst>
              </p:cNvPr>
              <p:cNvSpPr/>
              <p:nvPr/>
            </p:nvSpPr>
            <p:spPr bwMode="auto">
              <a:xfrm>
                <a:off x="7716190" y="4778366"/>
                <a:ext cx="1125904" cy="504429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94703</a:t>
                </a:r>
              </a:p>
            </p:txBody>
          </p:sp>
          <p:sp>
            <p:nvSpPr>
              <p:cNvPr id="57" name="Rectangle 119">
                <a:extLst>
                  <a:ext uri="{FF2B5EF4-FFF2-40B4-BE49-F238E27FC236}">
                    <a16:creationId xmlns:a16="http://schemas.microsoft.com/office/drawing/2014/main" id="{3041B27C-8F9C-4F31-AB3C-88913509BDAB}"/>
                  </a:ext>
                </a:extLst>
              </p:cNvPr>
              <p:cNvSpPr/>
              <p:nvPr/>
            </p:nvSpPr>
            <p:spPr bwMode="auto">
              <a:xfrm>
                <a:off x="5238853" y="4778365"/>
                <a:ext cx="1322212" cy="5044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Big, St.</a:t>
                </a:r>
              </a:p>
            </p:txBody>
          </p:sp>
        </p:grpSp>
        <p:sp>
          <p:nvSpPr>
            <p:cNvPr id="49" name="TextBox 96">
              <a:extLst>
                <a:ext uri="{FF2B5EF4-FFF2-40B4-BE49-F238E27FC236}">
                  <a16:creationId xmlns:a16="http://schemas.microsoft.com/office/drawing/2014/main" id="{470382C1-EB0E-4FAD-960A-C7B695A1C812}"/>
                </a:ext>
              </a:extLst>
            </p:cNvPr>
            <p:cNvSpPr txBox="1"/>
            <p:nvPr/>
          </p:nvSpPr>
          <p:spPr>
            <a:xfrm>
              <a:off x="4424229" y="5265348"/>
              <a:ext cx="1039513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b="1" dirty="0">
                  <a:ln w="0"/>
                  <a:solidFill>
                    <a:schemeClr val="accent6"/>
                  </a:solidFill>
                  <a:latin typeface="Consolas" panose="020B0609020204030204" pitchFamily="49" charset="0"/>
                  <a:ea typeface="Helvetica Neue" charset="0"/>
                  <a:cs typeface="Helvetica Neue" charset="0"/>
                </a:rPr>
                <a:t>VARCHAR</a:t>
              </a:r>
            </a:p>
          </p:txBody>
        </p:sp>
        <p:sp>
          <p:nvSpPr>
            <p:cNvPr id="50" name="TextBox 97">
              <a:extLst>
                <a:ext uri="{FF2B5EF4-FFF2-40B4-BE49-F238E27FC236}">
                  <a16:creationId xmlns:a16="http://schemas.microsoft.com/office/drawing/2014/main" id="{23B8D990-0461-4817-97C8-A58932EAD51C}"/>
                </a:ext>
              </a:extLst>
            </p:cNvPr>
            <p:cNvSpPr txBox="1"/>
            <p:nvPr/>
          </p:nvSpPr>
          <p:spPr>
            <a:xfrm>
              <a:off x="5421505" y="5265348"/>
              <a:ext cx="1039513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b="1" dirty="0">
                  <a:ln w="0"/>
                  <a:solidFill>
                    <a:schemeClr val="accent6"/>
                  </a:solidFill>
                  <a:latin typeface="Consolas" panose="020B0609020204030204" pitchFamily="49" charset="0"/>
                  <a:ea typeface="Helvetica Neue" charset="0"/>
                  <a:cs typeface="Helvetica Neue" charset="0"/>
                </a:rPr>
                <a:t>VARCHAR</a:t>
              </a:r>
            </a:p>
          </p:txBody>
        </p:sp>
        <p:sp>
          <p:nvSpPr>
            <p:cNvPr id="51" name="TextBox 99">
              <a:extLst>
                <a:ext uri="{FF2B5EF4-FFF2-40B4-BE49-F238E27FC236}">
                  <a16:creationId xmlns:a16="http://schemas.microsoft.com/office/drawing/2014/main" id="{C837E772-187F-40BD-9824-34A7AB15EB0B}"/>
                </a:ext>
              </a:extLst>
            </p:cNvPr>
            <p:cNvSpPr txBox="1"/>
            <p:nvPr/>
          </p:nvSpPr>
          <p:spPr>
            <a:xfrm>
              <a:off x="7137245" y="5243140"/>
              <a:ext cx="586250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chemeClr val="accent2"/>
                  </a:solidFill>
                  <a:latin typeface="Consolas" panose="020B0609020204030204" pitchFamily="49" charset="0"/>
                  <a:ea typeface="Helvetica Neue" charset="0"/>
                  <a:cs typeface="Helvetica Neue" charset="0"/>
                </a:rPr>
                <a:t>INT</a:t>
              </a:r>
            </a:p>
          </p:txBody>
        </p:sp>
        <p:sp>
          <p:nvSpPr>
            <p:cNvPr id="52" name="TextBox 100">
              <a:extLst>
                <a:ext uri="{FF2B5EF4-FFF2-40B4-BE49-F238E27FC236}">
                  <a16:creationId xmlns:a16="http://schemas.microsoft.com/office/drawing/2014/main" id="{BDB0AE97-E2EF-45D4-A479-7E7D722558F9}"/>
                </a:ext>
              </a:extLst>
            </p:cNvPr>
            <p:cNvSpPr txBox="1"/>
            <p:nvPr/>
          </p:nvSpPr>
          <p:spPr>
            <a:xfrm>
              <a:off x="8063308" y="5251860"/>
              <a:ext cx="586250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chemeClr val="accent2"/>
                  </a:solidFill>
                  <a:latin typeface="Consolas" panose="020B0609020204030204" pitchFamily="49" charset="0"/>
                  <a:ea typeface="Helvetica Neue" charset="0"/>
                  <a:cs typeface="Helvetica Neue" charset="0"/>
                </a:rPr>
                <a:t>INT</a:t>
              </a:r>
            </a:p>
          </p:txBody>
        </p:sp>
      </p:grpSp>
      <p:pic>
        <p:nvPicPr>
          <p:cNvPr id="62" name="Graphic 2">
            <a:extLst>
              <a:ext uri="{FF2B5EF4-FFF2-40B4-BE49-F238E27FC236}">
                <a16:creationId xmlns:a16="http://schemas.microsoft.com/office/drawing/2014/main" id="{966C265B-D400-4876-AF57-4913AD086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2684" y="4384246"/>
            <a:ext cx="6486632" cy="119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98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714525" y="725621"/>
            <a:ext cx="11057636" cy="55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Retomemos la tabla de profesores, pero ahora con el esquema definido con </a:t>
            </a:r>
            <a:r>
              <a:rPr lang="es-MX" sz="2000" dirty="0">
                <a:latin typeface="Consolas" panose="020B0609020204030204" pitchFamily="49" charset="0"/>
              </a:rPr>
              <a:t>varchar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66D7DEE-E5A8-4180-B63C-07E1F95749F2}"/>
              </a:ext>
            </a:extLst>
          </p:cNvPr>
          <p:cNvSpPr txBox="1"/>
          <p:nvPr/>
        </p:nvSpPr>
        <p:spPr>
          <a:xfrm>
            <a:off x="9398000" y="2778732"/>
            <a:ext cx="254462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type</a:t>
            </a:r>
            <a:r>
              <a:rPr lang="en-US" altLang="en-US" sz="1200" dirty="0">
                <a:latin typeface="Consolas" panose="020B0609020204030204" pitchFamily="49" charset="0"/>
              </a:rPr>
              <a:t> </a:t>
            </a:r>
            <a:r>
              <a:rPr lang="en-US" altLang="en-US" sz="1200" i="1" dirty="0">
                <a:latin typeface="Consolas" panose="020B0609020204030204" pitchFamily="49" charset="0"/>
              </a:rPr>
              <a:t>instructor</a:t>
            </a:r>
            <a:r>
              <a:rPr lang="en-US" altLang="en-US" sz="1200" dirty="0">
                <a:latin typeface="Consolas" panose="020B0609020204030204" pitchFamily="49" charset="0"/>
              </a:rPr>
              <a:t> = </a:t>
            </a:r>
            <a:r>
              <a:rPr lang="en-US" altLang="en-US" sz="1200" b="1" dirty="0">
                <a:latin typeface="Consolas" panose="020B0609020204030204" pitchFamily="49" charset="0"/>
              </a:rPr>
              <a:t>record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i="1" dirty="0">
                <a:latin typeface="Consolas" panose="020B0609020204030204" pitchFamily="49" charset="0"/>
              </a:rPr>
              <a:t>   ID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var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(5)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var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dept_name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var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salary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numeric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(8,2)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end</a:t>
            </a:r>
            <a:r>
              <a:rPr lang="en-US" altLang="en-US" sz="12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1" name="Google Shape;310;p34">
            <a:extLst>
              <a:ext uri="{FF2B5EF4-FFF2-40B4-BE49-F238E27FC236}">
                <a16:creationId xmlns:a16="http://schemas.microsoft.com/office/drawing/2014/main" id="{A002E573-4B2D-4709-825C-37D0ABAFD2BC}"/>
              </a:ext>
            </a:extLst>
          </p:cNvPr>
          <p:cNvSpPr txBox="1">
            <a:spLocks/>
          </p:cNvSpPr>
          <p:nvPr/>
        </p:nvSpPr>
        <p:spPr>
          <a:xfrm>
            <a:off x="736687" y="1045538"/>
            <a:ext cx="5179350" cy="525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dirty="0"/>
              <a:t>Si el registro del instructor "</a:t>
            </a:r>
            <a:r>
              <a:rPr lang="es-MX" sz="1400" dirty="0">
                <a:latin typeface="Consolas" panose="020B0609020204030204" pitchFamily="49" charset="0"/>
              </a:rPr>
              <a:t>Einstein</a:t>
            </a:r>
            <a:r>
              <a:rPr lang="es-MX" sz="1600" dirty="0"/>
              <a:t>" comienza en la dirección de memoria </a:t>
            </a:r>
            <a:r>
              <a:rPr lang="es-MX" sz="1400" dirty="0">
                <a:latin typeface="Consolas" panose="020B0609020204030204" pitchFamily="49" charset="0"/>
              </a:rPr>
              <a:t>1000</a:t>
            </a:r>
            <a:r>
              <a:rPr lang="es-MX" sz="1600" dirty="0"/>
              <a:t>, ¿en qué dirección exacta comienza el campo </a:t>
            </a:r>
            <a:r>
              <a:rPr lang="es-MX" sz="1400" dirty="0">
                <a:latin typeface="Consolas" panose="020B0609020204030204" pitchFamily="49" charset="0"/>
              </a:rPr>
              <a:t>salary</a:t>
            </a:r>
            <a:r>
              <a:rPr lang="es-MX" sz="1600" dirty="0"/>
              <a:t>? (</a:t>
            </a:r>
            <a:r>
              <a:rPr lang="es-MX" sz="1600" b="1" dirty="0"/>
              <a:t>Rta</a:t>
            </a:r>
            <a:r>
              <a:rPr lang="es-MX" sz="1600" dirty="0"/>
              <a:t>: </a:t>
            </a:r>
            <a:r>
              <a:rPr lang="es-MX" sz="1400" dirty="0">
                <a:latin typeface="Consolas" panose="020B0609020204030204" pitchFamily="49" charset="0"/>
              </a:rPr>
              <a:t>1012</a:t>
            </a:r>
            <a:r>
              <a:rPr lang="es-MX" sz="1600" dirty="0"/>
              <a:t>)</a:t>
            </a:r>
          </a:p>
          <a:p>
            <a:r>
              <a:rPr lang="es-MX" sz="1600" dirty="0"/>
              <a:t>Si quiero leer únicamente el </a:t>
            </a:r>
            <a:r>
              <a:rPr lang="es-MX" sz="1400" dirty="0">
                <a:latin typeface="Consolas" panose="020B0609020204030204" pitchFamily="49" charset="0"/>
              </a:rPr>
              <a:t>dept_name</a:t>
            </a:r>
            <a:r>
              <a:rPr lang="es-MX" sz="1600" dirty="0"/>
              <a:t>, ¿cuántos bytes debe ignorar (saltar) el sistema desde el inicio del registro? (</a:t>
            </a:r>
            <a:r>
              <a:rPr lang="es-MX" sz="1600" b="1" dirty="0"/>
              <a:t>Rta</a:t>
            </a:r>
            <a:r>
              <a:rPr lang="es-MX" sz="1600" dirty="0"/>
              <a:t>: No)</a:t>
            </a:r>
          </a:p>
          <a:p>
            <a:r>
              <a:rPr lang="es-MX" sz="1600" dirty="0"/>
              <a:t>Si el nombre del instructor es "</a:t>
            </a:r>
            <a:r>
              <a:rPr lang="es-MX" sz="1400" dirty="0">
                <a:latin typeface="Consolas" panose="020B0609020204030204" pitchFamily="49" charset="0"/>
              </a:rPr>
              <a:t>Wu</a:t>
            </a:r>
            <a:r>
              <a:rPr lang="es-MX" sz="1600" dirty="0"/>
              <a:t>" (solo 2 letras), ¿cuántos bytes ocupa ese registro en el disco? ¿Sigue midiendo 53 bytes o se reduce? (</a:t>
            </a:r>
            <a:r>
              <a:rPr lang="es-MX" sz="1600" b="1" dirty="0"/>
              <a:t>Rta</a:t>
            </a:r>
            <a:r>
              <a:rPr lang="es-MX" sz="1600" dirty="0"/>
              <a:t>: </a:t>
            </a:r>
            <a:r>
              <a:rPr lang="es-MX" sz="1400" dirty="0">
                <a:latin typeface="Consolas" panose="020B0609020204030204" pitchFamily="49" charset="0"/>
              </a:rPr>
              <a:t>35</a:t>
            </a:r>
            <a:r>
              <a:rPr lang="es-MX" sz="1600" dirty="0"/>
              <a:t>)</a:t>
            </a:r>
          </a:p>
          <a:p>
            <a:r>
              <a:rPr lang="es-MX" sz="1600" dirty="0"/>
              <a:t>Cuántos bytes de "relleno" (basura o espacios) se están desperdiciando en el campo </a:t>
            </a:r>
            <a:r>
              <a:rPr lang="es-MX" sz="1400" dirty="0">
                <a:latin typeface="Consolas" panose="020B0609020204030204" pitchFamily="49" charset="0"/>
              </a:rPr>
              <a:t>name</a:t>
            </a:r>
            <a:r>
              <a:rPr lang="es-MX" sz="1600" dirty="0"/>
              <a:t> si guardamos a "</a:t>
            </a:r>
            <a:r>
              <a:rPr lang="es-MX" sz="1400" dirty="0">
                <a:latin typeface="Consolas" panose="020B0609020204030204" pitchFamily="49" charset="0"/>
              </a:rPr>
              <a:t>Einstein</a:t>
            </a:r>
            <a:r>
              <a:rPr lang="es-MX" sz="1600" dirty="0"/>
              <a:t>" (8 letras)? (</a:t>
            </a:r>
            <a:r>
              <a:rPr lang="es-MX" sz="1600" b="1" dirty="0"/>
              <a:t>Rta</a:t>
            </a:r>
            <a:r>
              <a:rPr lang="es-MX" sz="1600" dirty="0"/>
              <a:t>: 0)</a:t>
            </a:r>
          </a:p>
          <a:p>
            <a:r>
              <a:rPr lang="es-MX" sz="1600" dirty="0"/>
              <a:t>Qué sucede si intentamos contratar a un instructor cuyo nombre tiene 25 letras? ¿El registro crece a 58 bytes o el nombre se corta? (</a:t>
            </a:r>
            <a:r>
              <a:rPr lang="es-MX" sz="1600" b="1" dirty="0"/>
              <a:t>Rta</a:t>
            </a:r>
            <a:r>
              <a:rPr lang="es-MX" sz="1600" dirty="0"/>
              <a:t>: Se corta)</a:t>
            </a:r>
          </a:p>
          <a:p>
            <a:r>
              <a:rPr lang="es-MX" sz="1600" dirty="0"/>
              <a:t>Si el campo </a:t>
            </a:r>
            <a:r>
              <a:rPr lang="es-MX" sz="1400" dirty="0">
                <a:latin typeface="Consolas" panose="020B0609020204030204" pitchFamily="49" charset="0"/>
              </a:rPr>
              <a:t>salary</a:t>
            </a:r>
            <a:r>
              <a:rPr lang="es-MX" sz="1600" dirty="0"/>
              <a:t> es opcional (puede ser </a:t>
            </a:r>
            <a:r>
              <a:rPr lang="es-MX" sz="1400" dirty="0">
                <a:latin typeface="Consolas" panose="020B0609020204030204" pitchFamily="49" charset="0"/>
              </a:rPr>
              <a:t>NULL</a:t>
            </a:r>
            <a:r>
              <a:rPr lang="es-MX" sz="1600" dirty="0"/>
              <a:t>), ¿el tamaño total del registro pasaría a ser de 45 bytes (53 - 8)? (</a:t>
            </a:r>
            <a:r>
              <a:rPr lang="es-MX" sz="1600" b="1" dirty="0"/>
              <a:t>Rta</a:t>
            </a:r>
            <a:r>
              <a:rPr lang="es-MX" sz="1600" dirty="0"/>
              <a:t>: No se reserva espacio).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0B38F458-2888-4CAF-A8AB-403CB5A4F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049178"/>
              </p:ext>
            </p:extLst>
          </p:nvPr>
        </p:nvGraphicFramePr>
        <p:xfrm>
          <a:off x="6028013" y="1595816"/>
          <a:ext cx="3258011" cy="3566160"/>
        </p:xfrm>
        <a:graphic>
          <a:graphicData uri="http://schemas.openxmlformats.org/drawingml/2006/table">
            <a:tbl>
              <a:tblPr/>
              <a:tblGrid>
                <a:gridCol w="649605">
                  <a:extLst>
                    <a:ext uri="{9D8B030D-6E8A-4147-A177-3AD203B41FA5}">
                      <a16:colId xmlns:a16="http://schemas.microsoft.com/office/drawing/2014/main" val="2953673394"/>
                    </a:ext>
                  </a:extLst>
                </a:gridCol>
                <a:gridCol w="924243">
                  <a:extLst>
                    <a:ext uri="{9D8B030D-6E8A-4147-A177-3AD203B41FA5}">
                      <a16:colId xmlns:a16="http://schemas.microsoft.com/office/drawing/2014/main" val="2737808994"/>
                    </a:ext>
                  </a:extLst>
                </a:gridCol>
                <a:gridCol w="1003033">
                  <a:extLst>
                    <a:ext uri="{9D8B030D-6E8A-4147-A177-3AD203B41FA5}">
                      <a16:colId xmlns:a16="http://schemas.microsoft.com/office/drawing/2014/main" val="3149482195"/>
                    </a:ext>
                  </a:extLst>
                </a:gridCol>
                <a:gridCol w="681130">
                  <a:extLst>
                    <a:ext uri="{9D8B030D-6E8A-4147-A177-3AD203B41FA5}">
                      <a16:colId xmlns:a16="http://schemas.microsoft.com/office/drawing/2014/main" val="3322426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dept_name</a:t>
                      </a:r>
                      <a:endParaRPr lang="es-CO" sz="1200" b="1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20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22222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Einstein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  <a:endParaRPr lang="es-CO" sz="120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0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12121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Wu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32343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 Said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8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45565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Katz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38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98345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Elec</a:t>
                      </a:r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. Eng.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924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Crick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Biology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72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Srinivasan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352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58583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Califieri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10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83821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Brandt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15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15151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Mozart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Music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22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52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76543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Singh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17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69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714525" y="725621"/>
            <a:ext cx="11057636" cy="55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Retomemos la tabla de profesores, pero ahora con el esquema definido con </a:t>
            </a:r>
            <a:r>
              <a:rPr lang="es-MX" sz="2000" dirty="0">
                <a:latin typeface="Consolas" panose="020B0609020204030204" pitchFamily="49" charset="0"/>
              </a:rPr>
              <a:t>varchar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66D7DEE-E5A8-4180-B63C-07E1F95749F2}"/>
              </a:ext>
            </a:extLst>
          </p:cNvPr>
          <p:cNvSpPr txBox="1"/>
          <p:nvPr/>
        </p:nvSpPr>
        <p:spPr>
          <a:xfrm>
            <a:off x="5462328" y="1653682"/>
            <a:ext cx="254462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type</a:t>
            </a:r>
            <a:r>
              <a:rPr lang="en-US" altLang="en-US" sz="1200" dirty="0">
                <a:latin typeface="Consolas" panose="020B0609020204030204" pitchFamily="49" charset="0"/>
              </a:rPr>
              <a:t> </a:t>
            </a:r>
            <a:r>
              <a:rPr lang="en-US" altLang="en-US" sz="1200" i="1" dirty="0">
                <a:latin typeface="Consolas" panose="020B0609020204030204" pitchFamily="49" charset="0"/>
              </a:rPr>
              <a:t>instructor</a:t>
            </a:r>
            <a:r>
              <a:rPr lang="en-US" altLang="en-US" sz="1200" dirty="0">
                <a:latin typeface="Consolas" panose="020B0609020204030204" pitchFamily="49" charset="0"/>
              </a:rPr>
              <a:t> = </a:t>
            </a:r>
            <a:r>
              <a:rPr lang="en-US" altLang="en-US" sz="1200" b="1" dirty="0">
                <a:latin typeface="Consolas" panose="020B0609020204030204" pitchFamily="49" charset="0"/>
              </a:rPr>
              <a:t>record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i="1" dirty="0">
                <a:latin typeface="Consolas" panose="020B0609020204030204" pitchFamily="49" charset="0"/>
              </a:rPr>
              <a:t>   ID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var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(5)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var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dept_name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var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(20)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latin typeface="Consolas" panose="020B0609020204030204" pitchFamily="49" charset="0"/>
              </a:rPr>
            </a:br>
            <a:r>
              <a:rPr lang="en-US" altLang="en-US" sz="1200" dirty="0">
                <a:latin typeface="Consolas" panose="020B0609020204030204" pitchFamily="49" charset="0"/>
              </a:rPr>
              <a:t>   </a:t>
            </a:r>
            <a:r>
              <a:rPr lang="en-US" altLang="en-US" sz="1200" i="1" dirty="0">
                <a:latin typeface="Consolas" panose="020B0609020204030204" pitchFamily="49" charset="0"/>
              </a:rPr>
              <a:t>salary</a:t>
            </a:r>
            <a:r>
              <a:rPr lang="en-US" altLang="en-US" sz="1200" dirty="0">
                <a:latin typeface="Consolas" panose="020B0609020204030204" pitchFamily="49" charset="0"/>
              </a:rPr>
              <a:t> : </a:t>
            </a:r>
            <a:r>
              <a:rPr lang="es-CO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numeric</a:t>
            </a:r>
            <a:r>
              <a:rPr lang="es-CO" sz="1200" dirty="0">
                <a:solidFill>
                  <a:srgbClr val="FF0000"/>
                </a:solidFill>
                <a:latin typeface="Consolas" panose="020B0609020204030204" pitchFamily="49" charset="0"/>
              </a:rPr>
              <a:t>(8,2)</a:t>
            </a:r>
            <a:r>
              <a:rPr lang="es-CO" sz="1200" dirty="0">
                <a:latin typeface="Consolas" panose="020B0609020204030204" pitchFamily="49" charset="0"/>
              </a:rPr>
              <a:t>;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200" b="1" dirty="0">
                <a:latin typeface="Consolas" panose="020B0609020204030204" pitchFamily="49" charset="0"/>
              </a:rPr>
              <a:t>end</a:t>
            </a:r>
            <a:r>
              <a:rPr lang="en-US" altLang="en-US" sz="1200" dirty="0"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0B38F458-2888-4CAF-A8AB-403CB5A4F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433502"/>
              </p:ext>
            </p:extLst>
          </p:nvPr>
        </p:nvGraphicFramePr>
        <p:xfrm>
          <a:off x="1093947" y="1952619"/>
          <a:ext cx="3258011" cy="3566160"/>
        </p:xfrm>
        <a:graphic>
          <a:graphicData uri="http://schemas.openxmlformats.org/drawingml/2006/table">
            <a:tbl>
              <a:tblPr/>
              <a:tblGrid>
                <a:gridCol w="649605">
                  <a:extLst>
                    <a:ext uri="{9D8B030D-6E8A-4147-A177-3AD203B41FA5}">
                      <a16:colId xmlns:a16="http://schemas.microsoft.com/office/drawing/2014/main" val="2953673394"/>
                    </a:ext>
                  </a:extLst>
                </a:gridCol>
                <a:gridCol w="924243">
                  <a:extLst>
                    <a:ext uri="{9D8B030D-6E8A-4147-A177-3AD203B41FA5}">
                      <a16:colId xmlns:a16="http://schemas.microsoft.com/office/drawing/2014/main" val="2737808994"/>
                    </a:ext>
                  </a:extLst>
                </a:gridCol>
                <a:gridCol w="1003033">
                  <a:extLst>
                    <a:ext uri="{9D8B030D-6E8A-4147-A177-3AD203B41FA5}">
                      <a16:colId xmlns:a16="http://schemas.microsoft.com/office/drawing/2014/main" val="3149482195"/>
                    </a:ext>
                  </a:extLst>
                </a:gridCol>
                <a:gridCol w="681130">
                  <a:extLst>
                    <a:ext uri="{9D8B030D-6E8A-4147-A177-3AD203B41FA5}">
                      <a16:colId xmlns:a16="http://schemas.microsoft.com/office/drawing/2014/main" val="3322426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dept_name</a:t>
                      </a:r>
                      <a:endParaRPr lang="es-CO" sz="1200" b="1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1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20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22222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Einstein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  <a:endParaRPr lang="es-CO" sz="120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0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12121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Wu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32343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 Said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8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45565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Katz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38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98345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Elec</a:t>
                      </a:r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. Eng.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924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Crick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Biology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72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Srinivasan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352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58583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Califieri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62000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10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83821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Brandt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Comp. Sci.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15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15151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Mozart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Music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40000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22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33456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52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76543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Singh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17982"/>
                  </a:ext>
                </a:extLst>
              </a:tr>
            </a:tbl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A16C31AE-17A8-4BBD-A5A3-1F8097AADD42}"/>
              </a:ext>
            </a:extLst>
          </p:cNvPr>
          <p:cNvGrpSpPr/>
          <p:nvPr/>
        </p:nvGrpSpPr>
        <p:grpSpPr>
          <a:xfrm>
            <a:off x="4716909" y="3636797"/>
            <a:ext cx="7044132" cy="658663"/>
            <a:chOff x="4716909" y="3636797"/>
            <a:chExt cx="7044132" cy="658663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FBF1F88B-2F07-4479-ADCF-621CDFA84C93}"/>
                </a:ext>
              </a:extLst>
            </p:cNvPr>
            <p:cNvGrpSpPr/>
            <p:nvPr/>
          </p:nvGrpSpPr>
          <p:grpSpPr>
            <a:xfrm>
              <a:off x="5436629" y="3636797"/>
              <a:ext cx="6089464" cy="382753"/>
              <a:chOff x="5185886" y="4674606"/>
              <a:chExt cx="6089464" cy="382753"/>
            </a:xfrm>
          </p:grpSpPr>
          <p:sp>
            <p:nvSpPr>
              <p:cNvPr id="43" name="Rectangle 111">
                <a:extLst>
                  <a:ext uri="{FF2B5EF4-FFF2-40B4-BE49-F238E27FC236}">
                    <a16:creationId xmlns:a16="http://schemas.microsoft.com/office/drawing/2014/main" id="{E7E157AF-D77A-4148-AA94-35C2D9CB6B0C}"/>
                  </a:ext>
                </a:extLst>
              </p:cNvPr>
              <p:cNvSpPr/>
              <p:nvPr/>
            </p:nvSpPr>
            <p:spPr bwMode="auto">
              <a:xfrm>
                <a:off x="7275173" y="4674607"/>
                <a:ext cx="708766" cy="379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95000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4" name="Rectangle 111">
                <a:extLst>
                  <a:ext uri="{FF2B5EF4-FFF2-40B4-BE49-F238E27FC236}">
                    <a16:creationId xmlns:a16="http://schemas.microsoft.com/office/drawing/2014/main" id="{3B001633-D80F-428D-9FE3-BC827D656803}"/>
                  </a:ext>
                </a:extLst>
              </p:cNvPr>
              <p:cNvSpPr/>
              <p:nvPr/>
            </p:nvSpPr>
            <p:spPr bwMode="auto">
              <a:xfrm>
                <a:off x="5185886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(21,5)</a:t>
                </a:r>
              </a:p>
            </p:txBody>
          </p:sp>
          <p:sp>
            <p:nvSpPr>
              <p:cNvPr id="45" name="Rectangle 111">
                <a:extLst>
                  <a:ext uri="{FF2B5EF4-FFF2-40B4-BE49-F238E27FC236}">
                    <a16:creationId xmlns:a16="http://schemas.microsoft.com/office/drawing/2014/main" id="{6D262EA7-B43B-4AA7-B8B5-D6006DE5837F}"/>
                  </a:ext>
                </a:extLst>
              </p:cNvPr>
              <p:cNvSpPr/>
              <p:nvPr/>
            </p:nvSpPr>
            <p:spPr bwMode="auto">
              <a:xfrm>
                <a:off x="5883729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(26,8)</a:t>
                </a:r>
              </a:p>
            </p:txBody>
          </p:sp>
          <p:sp>
            <p:nvSpPr>
              <p:cNvPr id="46" name="Rectangle 111">
                <a:extLst>
                  <a:ext uri="{FF2B5EF4-FFF2-40B4-BE49-F238E27FC236}">
                    <a16:creationId xmlns:a16="http://schemas.microsoft.com/office/drawing/2014/main" id="{DD579309-0A3F-4B4B-96B1-392F2025E9FB}"/>
                  </a:ext>
                </a:extLst>
              </p:cNvPr>
              <p:cNvSpPr/>
              <p:nvPr/>
            </p:nvSpPr>
            <p:spPr bwMode="auto">
              <a:xfrm>
                <a:off x="6593888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(34,7)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7" name="Rectangle 111">
                <a:extLst>
                  <a:ext uri="{FF2B5EF4-FFF2-40B4-BE49-F238E27FC236}">
                    <a16:creationId xmlns:a16="http://schemas.microsoft.com/office/drawing/2014/main" id="{38CBCCF8-F348-4883-AEF0-5727670C05AD}"/>
                  </a:ext>
                </a:extLst>
              </p:cNvPr>
              <p:cNvSpPr/>
              <p:nvPr/>
            </p:nvSpPr>
            <p:spPr bwMode="auto">
              <a:xfrm>
                <a:off x="7985263" y="4674607"/>
                <a:ext cx="415997" cy="37981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0000</a:t>
                </a:r>
              </a:p>
            </p:txBody>
          </p:sp>
          <p:sp>
            <p:nvSpPr>
              <p:cNvPr id="49" name="Rectangle 111">
                <a:extLst>
                  <a:ext uri="{FF2B5EF4-FFF2-40B4-BE49-F238E27FC236}">
                    <a16:creationId xmlns:a16="http://schemas.microsoft.com/office/drawing/2014/main" id="{A1875896-2A94-46EF-A6FE-3D31A6597762}"/>
                  </a:ext>
                </a:extLst>
              </p:cNvPr>
              <p:cNvSpPr/>
              <p:nvPr/>
            </p:nvSpPr>
            <p:spPr bwMode="auto">
              <a:xfrm>
                <a:off x="9190516" y="4674607"/>
                <a:ext cx="1042417" cy="3798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Einstein</a:t>
                </a:r>
              </a:p>
            </p:txBody>
          </p:sp>
          <p:sp>
            <p:nvSpPr>
              <p:cNvPr id="50" name="Rectangle 111">
                <a:extLst>
                  <a:ext uri="{FF2B5EF4-FFF2-40B4-BE49-F238E27FC236}">
                    <a16:creationId xmlns:a16="http://schemas.microsoft.com/office/drawing/2014/main" id="{09940F89-DA5D-43BA-A327-D18B9F7898E9}"/>
                  </a:ext>
                </a:extLst>
              </p:cNvPr>
              <p:cNvSpPr/>
              <p:nvPr/>
            </p:nvSpPr>
            <p:spPr bwMode="auto">
              <a:xfrm>
                <a:off x="8405487" y="4680035"/>
                <a:ext cx="779381" cy="3773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22222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1" name="Rectangle 111">
                <a:extLst>
                  <a:ext uri="{FF2B5EF4-FFF2-40B4-BE49-F238E27FC236}">
                    <a16:creationId xmlns:a16="http://schemas.microsoft.com/office/drawing/2014/main" id="{C7E9C49A-EBED-4899-92E3-DC8D1A833DFC}"/>
                  </a:ext>
                </a:extLst>
              </p:cNvPr>
              <p:cNvSpPr/>
              <p:nvPr/>
            </p:nvSpPr>
            <p:spPr bwMode="auto">
              <a:xfrm>
                <a:off x="10232933" y="4674606"/>
                <a:ext cx="1042417" cy="3798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Physics</a:t>
                </a:r>
              </a:p>
            </p:txBody>
          </p:sp>
        </p:grp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238418F4-35B3-4A3E-ABED-4BC409E9ED99}"/>
                </a:ext>
              </a:extLst>
            </p:cNvPr>
            <p:cNvSpPr txBox="1"/>
            <p:nvPr/>
          </p:nvSpPr>
          <p:spPr>
            <a:xfrm>
              <a:off x="4716909" y="4033850"/>
              <a:ext cx="6531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Bytes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20D6EDD2-0177-4962-9988-081876DF3E5C}"/>
                </a:ext>
              </a:extLst>
            </p:cNvPr>
            <p:cNvSpPr txBox="1"/>
            <p:nvPr/>
          </p:nvSpPr>
          <p:spPr>
            <a:xfrm>
              <a:off x="5319393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CFDE20BE-66A0-4B0C-99EC-572947153E88}"/>
                </a:ext>
              </a:extLst>
            </p:cNvPr>
            <p:cNvSpPr txBox="1"/>
            <p:nvPr/>
          </p:nvSpPr>
          <p:spPr>
            <a:xfrm>
              <a:off x="6020514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BB330FE3-139E-4F8C-B3B5-B51189699319}"/>
                </a:ext>
              </a:extLst>
            </p:cNvPr>
            <p:cNvSpPr txBox="1"/>
            <p:nvPr/>
          </p:nvSpPr>
          <p:spPr>
            <a:xfrm>
              <a:off x="6738097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85E2F0EE-ECC8-4381-B88E-F44B114D448B}"/>
                </a:ext>
              </a:extLst>
            </p:cNvPr>
            <p:cNvSpPr txBox="1"/>
            <p:nvPr/>
          </p:nvSpPr>
          <p:spPr>
            <a:xfrm>
              <a:off x="7467245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</a:t>
              </a: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C0CEAFF3-68E7-4907-8A4F-E1B69DD12ADA}"/>
                </a:ext>
              </a:extLst>
            </p:cNvPr>
            <p:cNvSpPr txBox="1"/>
            <p:nvPr/>
          </p:nvSpPr>
          <p:spPr>
            <a:xfrm>
              <a:off x="8234682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2B22BE10-57B5-461B-8265-3DC367B37172}"/>
                </a:ext>
              </a:extLst>
            </p:cNvPr>
            <p:cNvSpPr txBox="1"/>
            <p:nvPr/>
          </p:nvSpPr>
          <p:spPr>
            <a:xfrm>
              <a:off x="8476478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21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8D0F1C76-13B7-403B-AE2B-24D86C76ADD9}"/>
                </a:ext>
              </a:extLst>
            </p:cNvPr>
            <p:cNvSpPr txBox="1"/>
            <p:nvPr/>
          </p:nvSpPr>
          <p:spPr>
            <a:xfrm>
              <a:off x="9260001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26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9EB107A4-6C09-49D2-AEC0-F8304D7A511D}"/>
                </a:ext>
              </a:extLst>
            </p:cNvPr>
            <p:cNvSpPr txBox="1"/>
            <p:nvPr/>
          </p:nvSpPr>
          <p:spPr>
            <a:xfrm>
              <a:off x="10288249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34</a:t>
              </a: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D81CB378-C2B4-490D-97D5-ED4DA792FFE4}"/>
                </a:ext>
              </a:extLst>
            </p:cNvPr>
            <p:cNvSpPr txBox="1"/>
            <p:nvPr/>
          </p:nvSpPr>
          <p:spPr>
            <a:xfrm>
              <a:off x="11146004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40</a:t>
              </a:r>
            </a:p>
          </p:txBody>
        </p: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D280924C-93AC-4CBB-89BB-88359C422A45}"/>
              </a:ext>
            </a:extLst>
          </p:cNvPr>
          <p:cNvGrpSpPr/>
          <p:nvPr/>
        </p:nvGrpSpPr>
        <p:grpSpPr>
          <a:xfrm>
            <a:off x="5925841" y="4869615"/>
            <a:ext cx="5452324" cy="669405"/>
            <a:chOff x="5436630" y="4942664"/>
            <a:chExt cx="5452324" cy="669405"/>
          </a:xfrm>
        </p:grpSpPr>
        <p:grpSp>
          <p:nvGrpSpPr>
            <p:cNvPr id="27" name="Group 67">
              <a:extLst>
                <a:ext uri="{FF2B5EF4-FFF2-40B4-BE49-F238E27FC236}">
                  <a16:creationId xmlns:a16="http://schemas.microsoft.com/office/drawing/2014/main" id="{50121F6E-8F00-45AF-9F29-9A071B2B61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8215" y="4954067"/>
              <a:ext cx="975835" cy="638290"/>
              <a:chOff x="1822406" y="4878355"/>
              <a:chExt cx="1301280" cy="849975"/>
            </a:xfrm>
          </p:grpSpPr>
          <p:sp>
            <p:nvSpPr>
              <p:cNvPr id="41" name="Rectangle 132">
                <a:extLst>
                  <a:ext uri="{FF2B5EF4-FFF2-40B4-BE49-F238E27FC236}">
                    <a16:creationId xmlns:a16="http://schemas.microsoft.com/office/drawing/2014/main" id="{BED8F678-3ABC-413A-9275-60BF0F10F2C1}"/>
                  </a:ext>
                </a:extLst>
              </p:cNvPr>
              <p:cNvSpPr/>
              <p:nvPr/>
            </p:nvSpPr>
            <p:spPr bwMode="auto">
              <a:xfrm>
                <a:off x="1822406" y="4878355"/>
                <a:ext cx="1301280" cy="5041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Einstein</a:t>
                </a:r>
              </a:p>
            </p:txBody>
          </p:sp>
          <p:sp>
            <p:nvSpPr>
              <p:cNvPr id="42" name="TextBox 133">
                <a:extLst>
                  <a:ext uri="{FF2B5EF4-FFF2-40B4-BE49-F238E27FC236}">
                    <a16:creationId xmlns:a16="http://schemas.microsoft.com/office/drawing/2014/main" id="{4E4773E9-C3E2-479F-90A5-A2B9ECAA5664}"/>
                  </a:ext>
                </a:extLst>
              </p:cNvPr>
              <p:cNvSpPr txBox="1"/>
              <p:nvPr/>
            </p:nvSpPr>
            <p:spPr bwMode="auto">
              <a:xfrm>
                <a:off x="1964699" y="5359466"/>
                <a:ext cx="1039308" cy="3688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b="1" dirty="0">
                    <a:solidFill>
                      <a:schemeClr val="accent6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VARCHAR</a:t>
                </a:r>
              </a:p>
            </p:txBody>
          </p:sp>
        </p:grpSp>
        <p:grpSp>
          <p:nvGrpSpPr>
            <p:cNvPr id="28" name="Group 73">
              <a:extLst>
                <a:ext uri="{FF2B5EF4-FFF2-40B4-BE49-F238E27FC236}">
                  <a16:creationId xmlns:a16="http://schemas.microsoft.com/office/drawing/2014/main" id="{D9C08F8B-C004-4D5E-861A-1D64E9591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63653" y="4942664"/>
              <a:ext cx="1210931" cy="669405"/>
              <a:chOff x="2616429" y="4853648"/>
              <a:chExt cx="1614783" cy="891409"/>
            </a:xfrm>
          </p:grpSpPr>
          <p:sp>
            <p:nvSpPr>
              <p:cNvPr id="39" name="Rectangle 113">
                <a:extLst>
                  <a:ext uri="{FF2B5EF4-FFF2-40B4-BE49-F238E27FC236}">
                    <a16:creationId xmlns:a16="http://schemas.microsoft.com/office/drawing/2014/main" id="{679C868F-F415-4C74-A4A8-CF1B3661013E}"/>
                  </a:ext>
                </a:extLst>
              </p:cNvPr>
              <p:cNvSpPr/>
              <p:nvPr/>
            </p:nvSpPr>
            <p:spPr bwMode="auto">
              <a:xfrm>
                <a:off x="2616429" y="4853648"/>
                <a:ext cx="1614783" cy="5041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Physics</a:t>
                </a:r>
              </a:p>
            </p:txBody>
          </p:sp>
          <p:sp>
            <p:nvSpPr>
              <p:cNvPr id="40" name="TextBox 114">
                <a:extLst>
                  <a:ext uri="{FF2B5EF4-FFF2-40B4-BE49-F238E27FC236}">
                    <a16:creationId xmlns:a16="http://schemas.microsoft.com/office/drawing/2014/main" id="{A75314D1-CB9E-40C6-B251-B310C8D1A7C2}"/>
                  </a:ext>
                </a:extLst>
              </p:cNvPr>
              <p:cNvSpPr txBox="1"/>
              <p:nvPr/>
            </p:nvSpPr>
            <p:spPr bwMode="auto">
              <a:xfrm>
                <a:off x="3049539" y="5376193"/>
                <a:ext cx="1039308" cy="3688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b="1" dirty="0">
                    <a:solidFill>
                      <a:schemeClr val="accent6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VARCHAR</a:t>
                </a:r>
              </a:p>
            </p:txBody>
          </p:sp>
        </p:grpSp>
        <p:grpSp>
          <p:nvGrpSpPr>
            <p:cNvPr id="31" name="Group 75">
              <a:extLst>
                <a:ext uri="{FF2B5EF4-FFF2-40B4-BE49-F238E27FC236}">
                  <a16:creationId xmlns:a16="http://schemas.microsoft.com/office/drawing/2014/main" id="{051F1080-815B-4F75-97C8-1EEE61E309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61384" y="4954069"/>
              <a:ext cx="670121" cy="637759"/>
              <a:chOff x="4893092" y="4878355"/>
              <a:chExt cx="893609" cy="849268"/>
            </a:xfrm>
          </p:grpSpPr>
          <p:sp>
            <p:nvSpPr>
              <p:cNvPr id="35" name="Rectangle 109">
                <a:extLst>
                  <a:ext uri="{FF2B5EF4-FFF2-40B4-BE49-F238E27FC236}">
                    <a16:creationId xmlns:a16="http://schemas.microsoft.com/office/drawing/2014/main" id="{FACA5A61-9E38-41D8-AB1B-4927C4E73359}"/>
                  </a:ext>
                </a:extLst>
              </p:cNvPr>
              <p:cNvSpPr/>
              <p:nvPr/>
            </p:nvSpPr>
            <p:spPr bwMode="auto">
              <a:xfrm>
                <a:off x="4893092" y="4878355"/>
                <a:ext cx="893609" cy="50577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95000</a:t>
                </a:r>
              </a:p>
            </p:txBody>
          </p:sp>
          <p:sp>
            <p:nvSpPr>
              <p:cNvPr id="36" name="TextBox 110">
                <a:extLst>
                  <a:ext uri="{FF2B5EF4-FFF2-40B4-BE49-F238E27FC236}">
                    <a16:creationId xmlns:a16="http://schemas.microsoft.com/office/drawing/2014/main" id="{340AC48F-85F4-4185-AA40-17A1F7010180}"/>
                  </a:ext>
                </a:extLst>
              </p:cNvPr>
              <p:cNvSpPr txBox="1"/>
              <p:nvPr/>
            </p:nvSpPr>
            <p:spPr bwMode="auto">
              <a:xfrm>
                <a:off x="4975653" y="5358759"/>
                <a:ext cx="586134" cy="3688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chemeClr val="accent2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INT</a:t>
                </a:r>
              </a:p>
            </p:txBody>
          </p:sp>
        </p:grpSp>
        <p:grpSp>
          <p:nvGrpSpPr>
            <p:cNvPr id="32" name="Group 85">
              <a:extLst>
                <a:ext uri="{FF2B5EF4-FFF2-40B4-BE49-F238E27FC236}">
                  <a16:creationId xmlns:a16="http://schemas.microsoft.com/office/drawing/2014/main" id="{74DBAD45-B158-49F5-A608-572621DF76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07011" y="4954065"/>
              <a:ext cx="524503" cy="628236"/>
              <a:chOff x="5461304" y="4878355"/>
              <a:chExt cx="699427" cy="836587"/>
            </a:xfrm>
          </p:grpSpPr>
          <p:sp>
            <p:nvSpPr>
              <p:cNvPr id="33" name="Rectangle 107">
                <a:extLst>
                  <a:ext uri="{FF2B5EF4-FFF2-40B4-BE49-F238E27FC236}">
                    <a16:creationId xmlns:a16="http://schemas.microsoft.com/office/drawing/2014/main" id="{281FCF90-0F87-44C0-9DD0-179574A1C9CA}"/>
                  </a:ext>
                </a:extLst>
              </p:cNvPr>
              <p:cNvSpPr/>
              <p:nvPr/>
            </p:nvSpPr>
            <p:spPr bwMode="auto">
              <a:xfrm>
                <a:off x="5494226" y="4878355"/>
                <a:ext cx="567450" cy="50577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0000</a:t>
                </a:r>
              </a:p>
            </p:txBody>
          </p:sp>
          <p:sp>
            <p:nvSpPr>
              <p:cNvPr id="34" name="TextBox 108">
                <a:extLst>
                  <a:ext uri="{FF2B5EF4-FFF2-40B4-BE49-F238E27FC236}">
                    <a16:creationId xmlns:a16="http://schemas.microsoft.com/office/drawing/2014/main" id="{C59B4F93-3BFE-4B7F-AC06-6094FB022491}"/>
                  </a:ext>
                </a:extLst>
              </p:cNvPr>
              <p:cNvSpPr txBox="1"/>
              <p:nvPr/>
            </p:nvSpPr>
            <p:spPr bwMode="auto">
              <a:xfrm>
                <a:off x="5461304" y="5346078"/>
                <a:ext cx="699427" cy="3688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chemeClr val="accent2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BYTE</a:t>
                </a:r>
              </a:p>
            </p:txBody>
          </p:sp>
        </p:grpSp>
        <p:sp>
          <p:nvSpPr>
            <p:cNvPr id="18" name="Rectangle 63">
              <a:extLst>
                <a:ext uri="{FF2B5EF4-FFF2-40B4-BE49-F238E27FC236}">
                  <a16:creationId xmlns:a16="http://schemas.microsoft.com/office/drawing/2014/main" id="{3ECBDF26-D061-4D6C-8FBB-501DE651BAED}"/>
                </a:ext>
              </a:extLst>
            </p:cNvPr>
            <p:cNvSpPr/>
            <p:nvPr/>
          </p:nvSpPr>
          <p:spPr bwMode="auto">
            <a:xfrm>
              <a:off x="5436630" y="4955261"/>
              <a:ext cx="1418802" cy="377428"/>
            </a:xfrm>
            <a:prstGeom prst="rect">
              <a:avLst/>
            </a:prstGeom>
            <a:solidFill>
              <a:schemeClr val="accent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1350" dirty="0">
                  <a:solidFill>
                    <a:schemeClr val="bg1"/>
                  </a:solidFill>
                  <a:latin typeface="Consolas" panose="020B0609020204030204" pitchFamily="49" charset="0"/>
                </a:rPr>
                <a:t>Header</a:t>
              </a:r>
            </a:p>
          </p:txBody>
        </p:sp>
        <p:grpSp>
          <p:nvGrpSpPr>
            <p:cNvPr id="20" name="Group 4">
              <a:extLst>
                <a:ext uri="{FF2B5EF4-FFF2-40B4-BE49-F238E27FC236}">
                  <a16:creationId xmlns:a16="http://schemas.microsoft.com/office/drawing/2014/main" id="{EB31C4C8-45B3-48A2-B104-C71B394EB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8405" y="4999193"/>
              <a:ext cx="158332" cy="275384"/>
              <a:chOff x="2014689" y="4895962"/>
              <a:chExt cx="211137" cy="366713"/>
            </a:xfrm>
          </p:grpSpPr>
          <p:sp>
            <p:nvSpPr>
              <p:cNvPr id="25" name="Rectangle 69">
                <a:extLst>
                  <a:ext uri="{FF2B5EF4-FFF2-40B4-BE49-F238E27FC236}">
                    <a16:creationId xmlns:a16="http://schemas.microsoft.com/office/drawing/2014/main" id="{38D6C508-EA47-4514-9FE9-29FAF85074E2}"/>
                  </a:ext>
                </a:extLst>
              </p:cNvPr>
              <p:cNvSpPr/>
              <p:nvPr/>
            </p:nvSpPr>
            <p:spPr bwMode="auto">
              <a:xfrm>
                <a:off x="2014777" y="4896122"/>
                <a:ext cx="211165" cy="366248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6" name="Oval 70">
                <a:extLst>
                  <a:ext uri="{FF2B5EF4-FFF2-40B4-BE49-F238E27FC236}">
                    <a16:creationId xmlns:a16="http://schemas.microsoft.com/office/drawing/2014/main" id="{811DD77E-D179-40A0-B68D-9A79D187C1B8}"/>
                  </a:ext>
                </a:extLst>
              </p:cNvPr>
              <p:cNvSpPr/>
              <p:nvPr/>
            </p:nvSpPr>
            <p:spPr bwMode="auto">
              <a:xfrm>
                <a:off x="2083049" y="5040401"/>
                <a:ext cx="74622" cy="77688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22" name="Group 102">
              <a:extLst>
                <a:ext uri="{FF2B5EF4-FFF2-40B4-BE49-F238E27FC236}">
                  <a16:creationId xmlns:a16="http://schemas.microsoft.com/office/drawing/2014/main" id="{3170B137-AD0B-406A-935D-61E53F1F8C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4908" y="4999193"/>
              <a:ext cx="158332" cy="275384"/>
              <a:chOff x="2014689" y="4895962"/>
              <a:chExt cx="211137" cy="366713"/>
            </a:xfrm>
          </p:grpSpPr>
          <p:sp>
            <p:nvSpPr>
              <p:cNvPr id="23" name="Rectangle 67">
                <a:extLst>
                  <a:ext uri="{FF2B5EF4-FFF2-40B4-BE49-F238E27FC236}">
                    <a16:creationId xmlns:a16="http://schemas.microsoft.com/office/drawing/2014/main" id="{1C13EBB7-7241-4BA1-B55C-FB1144057016}"/>
                  </a:ext>
                </a:extLst>
              </p:cNvPr>
              <p:cNvSpPr/>
              <p:nvPr/>
            </p:nvSpPr>
            <p:spPr bwMode="auto">
              <a:xfrm>
                <a:off x="2015032" y="4896122"/>
                <a:ext cx="211165" cy="366248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4" name="Oval 68">
                <a:extLst>
                  <a:ext uri="{FF2B5EF4-FFF2-40B4-BE49-F238E27FC236}">
                    <a16:creationId xmlns:a16="http://schemas.microsoft.com/office/drawing/2014/main" id="{46A4F695-A2A3-4168-B437-6A65DA7693D4}"/>
                  </a:ext>
                </a:extLst>
              </p:cNvPr>
              <p:cNvSpPr/>
              <p:nvPr/>
            </p:nvSpPr>
            <p:spPr bwMode="auto">
              <a:xfrm>
                <a:off x="2083304" y="5040401"/>
                <a:ext cx="74622" cy="77688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4" name="Oval 59">
              <a:extLst>
                <a:ext uri="{FF2B5EF4-FFF2-40B4-BE49-F238E27FC236}">
                  <a16:creationId xmlns:a16="http://schemas.microsoft.com/office/drawing/2014/main" id="{DCB581AC-5B9E-4E13-BF32-E1811E53AFD4}"/>
                </a:ext>
              </a:extLst>
            </p:cNvPr>
            <p:cNvSpPr/>
            <p:nvPr/>
          </p:nvSpPr>
          <p:spPr bwMode="auto">
            <a:xfrm>
              <a:off x="9635476" y="5300327"/>
              <a:ext cx="54768" cy="5715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Oval 60">
              <a:extLst>
                <a:ext uri="{FF2B5EF4-FFF2-40B4-BE49-F238E27FC236}">
                  <a16:creationId xmlns:a16="http://schemas.microsoft.com/office/drawing/2014/main" id="{91F2EB37-56DC-4898-9E14-328F209E6F63}"/>
                </a:ext>
              </a:extLst>
            </p:cNvPr>
            <p:cNvSpPr/>
            <p:nvPr/>
          </p:nvSpPr>
          <p:spPr bwMode="auto">
            <a:xfrm>
              <a:off x="10834186" y="5304476"/>
              <a:ext cx="54768" cy="5715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6" name="Elbow Connector 37">
              <a:extLst>
                <a:ext uri="{FF2B5EF4-FFF2-40B4-BE49-F238E27FC236}">
                  <a16:creationId xmlns:a16="http://schemas.microsoft.com/office/drawing/2014/main" id="{6C61E915-2FEA-43DC-A384-7A225A050CD7}"/>
                </a:ext>
              </a:extLst>
            </p:cNvPr>
            <p:cNvCxnSpPr>
              <a:cxnSpLocks noChangeShapeType="1"/>
              <a:endCxn id="14" idx="4"/>
            </p:cNvCxnSpPr>
            <p:nvPr/>
          </p:nvCxnSpPr>
          <p:spPr bwMode="auto">
            <a:xfrm>
              <a:off x="6497572" y="5166091"/>
              <a:ext cx="3165288" cy="191386"/>
            </a:xfrm>
            <a:prstGeom prst="bentConnector4">
              <a:avLst>
                <a:gd name="adj1" fmla="val -235"/>
                <a:gd name="adj2" fmla="val 470775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Elbow Connector 37">
              <a:extLst>
                <a:ext uri="{FF2B5EF4-FFF2-40B4-BE49-F238E27FC236}">
                  <a16:creationId xmlns:a16="http://schemas.microsoft.com/office/drawing/2014/main" id="{CA088733-633B-42FA-8F95-6722C9C92948}"/>
                </a:ext>
              </a:extLst>
            </p:cNvPr>
            <p:cNvCxnSpPr>
              <a:cxnSpLocks noChangeShapeType="1"/>
              <a:stCxn id="24" idx="6"/>
              <a:endCxn id="15" idx="4"/>
            </p:cNvCxnSpPr>
            <p:nvPr/>
          </p:nvCxnSpPr>
          <p:spPr bwMode="auto">
            <a:xfrm>
              <a:off x="6742322" y="5136830"/>
              <a:ext cx="4119248" cy="224796"/>
            </a:xfrm>
            <a:prstGeom prst="bentConnector4">
              <a:avLst>
                <a:gd name="adj1" fmla="val -625"/>
                <a:gd name="adj2" fmla="val 500413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2" name="Group 67">
              <a:extLst>
                <a:ext uri="{FF2B5EF4-FFF2-40B4-BE49-F238E27FC236}">
                  <a16:creationId xmlns:a16="http://schemas.microsoft.com/office/drawing/2014/main" id="{8678E3B8-7748-4951-BDDB-510C7D1DB6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1652" y="4954067"/>
              <a:ext cx="779381" cy="628231"/>
              <a:chOff x="1790234" y="4878355"/>
              <a:chExt cx="1039308" cy="836580"/>
            </a:xfrm>
          </p:grpSpPr>
          <p:sp>
            <p:nvSpPr>
              <p:cNvPr id="63" name="Rectangle 132">
                <a:extLst>
                  <a:ext uri="{FF2B5EF4-FFF2-40B4-BE49-F238E27FC236}">
                    <a16:creationId xmlns:a16="http://schemas.microsoft.com/office/drawing/2014/main" id="{40B33857-B461-4161-B950-1BA0D3B49438}"/>
                  </a:ext>
                </a:extLst>
              </p:cNvPr>
              <p:cNvSpPr/>
              <p:nvPr/>
            </p:nvSpPr>
            <p:spPr bwMode="auto">
              <a:xfrm>
                <a:off x="1822406" y="4878355"/>
                <a:ext cx="999326" cy="50418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22222</a:t>
                </a:r>
              </a:p>
            </p:txBody>
          </p:sp>
          <p:sp>
            <p:nvSpPr>
              <p:cNvPr id="64" name="TextBox 133">
                <a:extLst>
                  <a:ext uri="{FF2B5EF4-FFF2-40B4-BE49-F238E27FC236}">
                    <a16:creationId xmlns:a16="http://schemas.microsoft.com/office/drawing/2014/main" id="{CBFDA93C-0EE0-4CA4-B9BC-839F039DEE7F}"/>
                  </a:ext>
                </a:extLst>
              </p:cNvPr>
              <p:cNvSpPr txBox="1"/>
              <p:nvPr/>
            </p:nvSpPr>
            <p:spPr bwMode="auto">
              <a:xfrm>
                <a:off x="1790234" y="5346071"/>
                <a:ext cx="1039308" cy="36886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b="1" dirty="0">
                    <a:solidFill>
                      <a:schemeClr val="accent6"/>
                    </a:solidFill>
                    <a:latin typeface="Consolas" panose="020B0609020204030204" pitchFamily="49" charset="0"/>
                    <a:ea typeface="Helvetica Neue" charset="0"/>
                    <a:cs typeface="Helvetica Neue" charset="0"/>
                  </a:rPr>
                  <a:t>VARCHAR</a:t>
                </a:r>
              </a:p>
            </p:txBody>
          </p:sp>
        </p:grpSp>
        <p:grpSp>
          <p:nvGrpSpPr>
            <p:cNvPr id="66" name="Group 4">
              <a:extLst>
                <a:ext uri="{FF2B5EF4-FFF2-40B4-BE49-F238E27FC236}">
                  <a16:creationId xmlns:a16="http://schemas.microsoft.com/office/drawing/2014/main" id="{84EC790D-0A86-4828-ADA9-B14AF5C0EB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72033" y="4998964"/>
              <a:ext cx="158332" cy="275384"/>
              <a:chOff x="2014689" y="4895962"/>
              <a:chExt cx="211137" cy="36671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F17BE0E-06F2-4985-9FAB-045BB463B374}"/>
                  </a:ext>
                </a:extLst>
              </p:cNvPr>
              <p:cNvSpPr/>
              <p:nvPr/>
            </p:nvSpPr>
            <p:spPr bwMode="auto">
              <a:xfrm>
                <a:off x="2014777" y="4896122"/>
                <a:ext cx="211165" cy="366248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72" name="Oval 70">
                <a:extLst>
                  <a:ext uri="{FF2B5EF4-FFF2-40B4-BE49-F238E27FC236}">
                    <a16:creationId xmlns:a16="http://schemas.microsoft.com/office/drawing/2014/main" id="{38D5A35D-9DF1-4D31-88A3-F1CC838C2314}"/>
                  </a:ext>
                </a:extLst>
              </p:cNvPr>
              <p:cNvSpPr/>
              <p:nvPr/>
            </p:nvSpPr>
            <p:spPr bwMode="auto">
              <a:xfrm>
                <a:off x="2083049" y="5040401"/>
                <a:ext cx="74622" cy="77688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</p:grpSp>
        <p:cxnSp>
          <p:nvCxnSpPr>
            <p:cNvPr id="73" name="Elbow Connector 37">
              <a:extLst>
                <a:ext uri="{FF2B5EF4-FFF2-40B4-BE49-F238E27FC236}">
                  <a16:creationId xmlns:a16="http://schemas.microsoft.com/office/drawing/2014/main" id="{B0481CB7-165B-476C-A747-ACCC3F376104}"/>
                </a:ext>
              </a:extLst>
            </p:cNvPr>
            <p:cNvCxnSpPr>
              <a:cxnSpLocks noChangeShapeType="1"/>
              <a:stCxn id="72" idx="6"/>
              <a:endCxn id="80" idx="5"/>
            </p:cNvCxnSpPr>
            <p:nvPr/>
          </p:nvCxnSpPr>
          <p:spPr bwMode="auto">
            <a:xfrm>
              <a:off x="6279255" y="5136601"/>
              <a:ext cx="2420505" cy="198434"/>
            </a:xfrm>
            <a:prstGeom prst="bentConnector4">
              <a:avLst>
                <a:gd name="adj1" fmla="val -1139"/>
                <a:gd name="adj2" fmla="val 287203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0" name="Oval 59">
              <a:extLst>
                <a:ext uri="{FF2B5EF4-FFF2-40B4-BE49-F238E27FC236}">
                  <a16:creationId xmlns:a16="http://schemas.microsoft.com/office/drawing/2014/main" id="{871E6099-1FE1-4030-BE0D-F4928E55DC9F}"/>
                </a:ext>
              </a:extLst>
            </p:cNvPr>
            <p:cNvSpPr/>
            <p:nvPr/>
          </p:nvSpPr>
          <p:spPr bwMode="auto">
            <a:xfrm>
              <a:off x="8653013" y="5286254"/>
              <a:ext cx="54768" cy="5715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70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714525" y="725621"/>
            <a:ext cx="11057636" cy="55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Retomemos la tabla de profesores, pero ahora con el esquema definido con </a:t>
            </a:r>
            <a:r>
              <a:rPr lang="es-MX" sz="2000" dirty="0">
                <a:latin typeface="Consolas" panose="020B0609020204030204" pitchFamily="49" charset="0"/>
              </a:rPr>
              <a:t>varchar</a:t>
            </a:r>
          </a:p>
        </p:txBody>
      </p:sp>
      <p:sp>
        <p:nvSpPr>
          <p:cNvPr id="71" name="Google Shape;310;p34">
            <a:extLst>
              <a:ext uri="{FF2B5EF4-FFF2-40B4-BE49-F238E27FC236}">
                <a16:creationId xmlns:a16="http://schemas.microsoft.com/office/drawing/2014/main" id="{A002E573-4B2D-4709-825C-37D0ABAFD2BC}"/>
              </a:ext>
            </a:extLst>
          </p:cNvPr>
          <p:cNvSpPr txBox="1">
            <a:spLocks/>
          </p:cNvSpPr>
          <p:nvPr/>
        </p:nvSpPr>
        <p:spPr>
          <a:xfrm>
            <a:off x="736687" y="1160215"/>
            <a:ext cx="11035474" cy="74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dirty="0"/>
              <a:t>Si el registro del instructor "</a:t>
            </a:r>
            <a:r>
              <a:rPr lang="es-MX" sz="1400" dirty="0">
                <a:latin typeface="Consolas" panose="020B0609020204030204" pitchFamily="49" charset="0"/>
              </a:rPr>
              <a:t>Einstein</a:t>
            </a:r>
            <a:r>
              <a:rPr lang="es-MX" sz="1600" dirty="0"/>
              <a:t>" comienza en la dirección de memoria </a:t>
            </a:r>
            <a:r>
              <a:rPr lang="es-MX" sz="1400" dirty="0">
                <a:latin typeface="Consolas" panose="020B0609020204030204" pitchFamily="49" charset="0"/>
              </a:rPr>
              <a:t>1000</a:t>
            </a:r>
            <a:r>
              <a:rPr lang="es-MX" sz="1600" dirty="0"/>
              <a:t>, ¿en qué dirección exacta comienza el campo </a:t>
            </a:r>
            <a:r>
              <a:rPr lang="es-MX" sz="1400" dirty="0">
                <a:latin typeface="Consolas" panose="020B0609020204030204" pitchFamily="49" charset="0"/>
              </a:rPr>
              <a:t>salary</a:t>
            </a:r>
            <a:r>
              <a:rPr lang="es-MX" sz="1600" dirty="0"/>
              <a:t>? (</a:t>
            </a:r>
            <a:r>
              <a:rPr lang="es-MX" sz="1600" b="1" dirty="0"/>
              <a:t>Rta</a:t>
            </a:r>
            <a:r>
              <a:rPr lang="es-MX" sz="1600" dirty="0"/>
              <a:t>: </a:t>
            </a:r>
            <a:r>
              <a:rPr lang="es-MX" sz="1400" dirty="0">
                <a:latin typeface="Consolas" panose="020B0609020204030204" pitchFamily="49" charset="0"/>
              </a:rPr>
              <a:t>1012</a:t>
            </a:r>
            <a:r>
              <a:rPr lang="es-MX" sz="1600" dirty="0"/>
              <a:t>)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19BD7EF-127A-4FD8-98D2-6601376F5090}"/>
              </a:ext>
            </a:extLst>
          </p:cNvPr>
          <p:cNvGrpSpPr/>
          <p:nvPr/>
        </p:nvGrpSpPr>
        <p:grpSpPr>
          <a:xfrm>
            <a:off x="3129409" y="2239797"/>
            <a:ext cx="7044132" cy="658663"/>
            <a:chOff x="4716909" y="3636797"/>
            <a:chExt cx="7044132" cy="658663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4B0DCFD4-4B61-41E2-AE03-56C1FA793F50}"/>
                </a:ext>
              </a:extLst>
            </p:cNvPr>
            <p:cNvGrpSpPr/>
            <p:nvPr/>
          </p:nvGrpSpPr>
          <p:grpSpPr>
            <a:xfrm>
              <a:off x="5436629" y="3636797"/>
              <a:ext cx="6089464" cy="380213"/>
              <a:chOff x="5185886" y="4674606"/>
              <a:chExt cx="6089464" cy="380213"/>
            </a:xfrm>
          </p:grpSpPr>
          <p:sp>
            <p:nvSpPr>
              <p:cNvPr id="20" name="Rectangle 111">
                <a:extLst>
                  <a:ext uri="{FF2B5EF4-FFF2-40B4-BE49-F238E27FC236}">
                    <a16:creationId xmlns:a16="http://schemas.microsoft.com/office/drawing/2014/main" id="{ED26910D-B4A8-437E-A73B-1E93F0CFCF83}"/>
                  </a:ext>
                </a:extLst>
              </p:cNvPr>
              <p:cNvSpPr/>
              <p:nvPr/>
            </p:nvSpPr>
            <p:spPr bwMode="auto">
              <a:xfrm>
                <a:off x="7275173" y="4674607"/>
                <a:ext cx="708766" cy="379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95000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2" name="Rectangle 111">
                <a:extLst>
                  <a:ext uri="{FF2B5EF4-FFF2-40B4-BE49-F238E27FC236}">
                    <a16:creationId xmlns:a16="http://schemas.microsoft.com/office/drawing/2014/main" id="{BFC6772F-0EA7-4BB1-AA52-26BF3DA07FAB}"/>
                  </a:ext>
                </a:extLst>
              </p:cNvPr>
              <p:cNvSpPr/>
              <p:nvPr/>
            </p:nvSpPr>
            <p:spPr bwMode="auto">
              <a:xfrm>
                <a:off x="5185886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(21,5)</a:t>
                </a:r>
              </a:p>
            </p:txBody>
          </p:sp>
          <p:sp>
            <p:nvSpPr>
              <p:cNvPr id="23" name="Rectangle 111">
                <a:extLst>
                  <a:ext uri="{FF2B5EF4-FFF2-40B4-BE49-F238E27FC236}">
                    <a16:creationId xmlns:a16="http://schemas.microsoft.com/office/drawing/2014/main" id="{C6B8D6BD-5292-4124-9C6D-37E3336AA033}"/>
                  </a:ext>
                </a:extLst>
              </p:cNvPr>
              <p:cNvSpPr/>
              <p:nvPr/>
            </p:nvSpPr>
            <p:spPr bwMode="auto">
              <a:xfrm>
                <a:off x="5883729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(26,8)</a:t>
                </a:r>
              </a:p>
            </p:txBody>
          </p:sp>
          <p:sp>
            <p:nvSpPr>
              <p:cNvPr id="24" name="Rectangle 111">
                <a:extLst>
                  <a:ext uri="{FF2B5EF4-FFF2-40B4-BE49-F238E27FC236}">
                    <a16:creationId xmlns:a16="http://schemas.microsoft.com/office/drawing/2014/main" id="{CAB5F2C7-870B-43CF-91B2-BD789842CB39}"/>
                  </a:ext>
                </a:extLst>
              </p:cNvPr>
              <p:cNvSpPr/>
              <p:nvPr/>
            </p:nvSpPr>
            <p:spPr bwMode="auto">
              <a:xfrm>
                <a:off x="6593888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(34,7)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Rectangle 111">
                <a:extLst>
                  <a:ext uri="{FF2B5EF4-FFF2-40B4-BE49-F238E27FC236}">
                    <a16:creationId xmlns:a16="http://schemas.microsoft.com/office/drawing/2014/main" id="{E9AA4F30-4A38-497E-9C14-D7ED147597A4}"/>
                  </a:ext>
                </a:extLst>
              </p:cNvPr>
              <p:cNvSpPr/>
              <p:nvPr/>
            </p:nvSpPr>
            <p:spPr bwMode="auto">
              <a:xfrm>
                <a:off x="7985263" y="4674607"/>
                <a:ext cx="415997" cy="37981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0000</a:t>
                </a:r>
              </a:p>
            </p:txBody>
          </p:sp>
          <p:sp>
            <p:nvSpPr>
              <p:cNvPr id="26" name="Rectangle 111">
                <a:extLst>
                  <a:ext uri="{FF2B5EF4-FFF2-40B4-BE49-F238E27FC236}">
                    <a16:creationId xmlns:a16="http://schemas.microsoft.com/office/drawing/2014/main" id="{60FF1FF6-1EDB-47F2-BF33-47D144375773}"/>
                  </a:ext>
                </a:extLst>
              </p:cNvPr>
              <p:cNvSpPr/>
              <p:nvPr/>
            </p:nvSpPr>
            <p:spPr bwMode="auto">
              <a:xfrm>
                <a:off x="9190516" y="4674607"/>
                <a:ext cx="1042417" cy="3798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Einstein</a:t>
                </a:r>
              </a:p>
            </p:txBody>
          </p:sp>
          <p:sp>
            <p:nvSpPr>
              <p:cNvPr id="27" name="Rectangle 111">
                <a:extLst>
                  <a:ext uri="{FF2B5EF4-FFF2-40B4-BE49-F238E27FC236}">
                    <a16:creationId xmlns:a16="http://schemas.microsoft.com/office/drawing/2014/main" id="{9087D364-27E2-406B-8AC8-FF5AFBA5ACC0}"/>
                  </a:ext>
                </a:extLst>
              </p:cNvPr>
              <p:cNvSpPr/>
              <p:nvPr/>
            </p:nvSpPr>
            <p:spPr bwMode="auto">
              <a:xfrm>
                <a:off x="8392877" y="4677495"/>
                <a:ext cx="802151" cy="3773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22222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8" name="Rectangle 111">
                <a:extLst>
                  <a:ext uri="{FF2B5EF4-FFF2-40B4-BE49-F238E27FC236}">
                    <a16:creationId xmlns:a16="http://schemas.microsoft.com/office/drawing/2014/main" id="{84B7D7AD-D435-4EE1-A142-64A3402848AB}"/>
                  </a:ext>
                </a:extLst>
              </p:cNvPr>
              <p:cNvSpPr/>
              <p:nvPr/>
            </p:nvSpPr>
            <p:spPr bwMode="auto">
              <a:xfrm>
                <a:off x="10232933" y="4674606"/>
                <a:ext cx="1042417" cy="3798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Physics</a:t>
                </a:r>
              </a:p>
            </p:txBody>
          </p:sp>
        </p:grp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FC9354C-A230-455B-8872-B2B3E589F242}"/>
                </a:ext>
              </a:extLst>
            </p:cNvPr>
            <p:cNvSpPr txBox="1"/>
            <p:nvPr/>
          </p:nvSpPr>
          <p:spPr>
            <a:xfrm>
              <a:off x="4716909" y="4033850"/>
              <a:ext cx="6531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Bytes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3DB7DDE-16A1-4036-A3E9-F9A6D127C4AF}"/>
                </a:ext>
              </a:extLst>
            </p:cNvPr>
            <p:cNvSpPr txBox="1"/>
            <p:nvPr/>
          </p:nvSpPr>
          <p:spPr>
            <a:xfrm>
              <a:off x="5319393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5C2868A4-8978-4EEA-B6E3-1BE33C7B52A9}"/>
                </a:ext>
              </a:extLst>
            </p:cNvPr>
            <p:cNvSpPr txBox="1"/>
            <p:nvPr/>
          </p:nvSpPr>
          <p:spPr>
            <a:xfrm>
              <a:off x="6020514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A02C5787-5416-4700-BB1F-FD5F8EE983FF}"/>
                </a:ext>
              </a:extLst>
            </p:cNvPr>
            <p:cNvSpPr txBox="1"/>
            <p:nvPr/>
          </p:nvSpPr>
          <p:spPr>
            <a:xfrm>
              <a:off x="6738097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E3054A7-9027-4221-BB3D-6058CF77E801}"/>
                </a:ext>
              </a:extLst>
            </p:cNvPr>
            <p:cNvSpPr txBox="1"/>
            <p:nvPr/>
          </p:nvSpPr>
          <p:spPr>
            <a:xfrm>
              <a:off x="7467245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91ACA967-DE8A-4E25-A378-A3B0972DB054}"/>
                </a:ext>
              </a:extLst>
            </p:cNvPr>
            <p:cNvSpPr txBox="1"/>
            <p:nvPr/>
          </p:nvSpPr>
          <p:spPr>
            <a:xfrm>
              <a:off x="8234682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3B1853A1-CDBF-4B6F-A5C0-C5E6E84BCE6A}"/>
                </a:ext>
              </a:extLst>
            </p:cNvPr>
            <p:cNvSpPr txBox="1"/>
            <p:nvPr/>
          </p:nvSpPr>
          <p:spPr>
            <a:xfrm>
              <a:off x="8476478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21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70EF1699-10E8-4F80-98F1-2EA15BCDCFFE}"/>
                </a:ext>
              </a:extLst>
            </p:cNvPr>
            <p:cNvSpPr txBox="1"/>
            <p:nvPr/>
          </p:nvSpPr>
          <p:spPr>
            <a:xfrm>
              <a:off x="9260001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26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59ADAB1-2191-4BFB-87E7-2E92D4852E0B}"/>
                </a:ext>
              </a:extLst>
            </p:cNvPr>
            <p:cNvSpPr txBox="1"/>
            <p:nvPr/>
          </p:nvSpPr>
          <p:spPr>
            <a:xfrm>
              <a:off x="10288249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34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2CCCE74C-B6D7-47E1-AD21-56074DE17158}"/>
                </a:ext>
              </a:extLst>
            </p:cNvPr>
            <p:cNvSpPr txBox="1"/>
            <p:nvPr/>
          </p:nvSpPr>
          <p:spPr>
            <a:xfrm>
              <a:off x="11146004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40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7111A9F-8FC3-48EA-82B8-DD0E5C43547B}"/>
              </a:ext>
            </a:extLst>
          </p:cNvPr>
          <p:cNvCxnSpPr>
            <a:cxnSpLocks/>
          </p:cNvCxnSpPr>
          <p:nvPr/>
        </p:nvCxnSpPr>
        <p:spPr>
          <a:xfrm flipV="1">
            <a:off x="3854860" y="3070921"/>
            <a:ext cx="0" cy="361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BA680970-161C-426F-B3B3-B33AB165E85E}"/>
                  </a:ext>
                </a:extLst>
              </p:cNvPr>
              <p:cNvSpPr txBox="1"/>
              <p:nvPr/>
            </p:nvSpPr>
            <p:spPr>
              <a:xfrm>
                <a:off x="3167911" y="3458712"/>
                <a:ext cx="138659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Address</m:t>
                      </m:r>
                      <m:r>
                        <a:rPr lang="es-MX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Base</m:t>
                      </m:r>
                      <m:r>
                        <a:rPr lang="es-MX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s-MX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𝐁</m:t>
                      </m:r>
                      <m:r>
                        <a:rPr lang="es-MX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BA680970-161C-426F-B3B3-B33AB165E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911" y="3458712"/>
                <a:ext cx="1386597" cy="215444"/>
              </a:xfrm>
              <a:prstGeom prst="rect">
                <a:avLst/>
              </a:prstGeom>
              <a:blipFill>
                <a:blip r:embed="rId3"/>
                <a:stretch>
                  <a:fillRect l="-2643" r="-3524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uadroTexto 31">
            <a:extLst>
              <a:ext uri="{FF2B5EF4-FFF2-40B4-BE49-F238E27FC236}">
                <a16:creationId xmlns:a16="http://schemas.microsoft.com/office/drawing/2014/main" id="{AB7BED6A-CE04-4FE8-B142-F19DEEED68B1}"/>
              </a:ext>
            </a:extLst>
          </p:cNvPr>
          <p:cNvSpPr txBox="1"/>
          <p:nvPr/>
        </p:nvSpPr>
        <p:spPr>
          <a:xfrm>
            <a:off x="3422823" y="2853886"/>
            <a:ext cx="8767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1742D990-31C6-472A-9B0B-C02815CE260A}"/>
                  </a:ext>
                </a:extLst>
              </p:cNvPr>
              <p:cNvSpPr txBox="1"/>
              <p:nvPr/>
            </p:nvSpPr>
            <p:spPr>
              <a:xfrm>
                <a:off x="5572726" y="3128785"/>
                <a:ext cx="4550769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𝑜𝑓𝑓𝑠𝑒𝑡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salary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sz="1600" i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=1000+4+4+4                  </m:t>
                      </m:r>
                    </m:oMath>
                  </m:oMathPara>
                </a14:m>
                <a:endParaRPr lang="es-MX" sz="1600" b="0" i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=1012                                             </m:t>
                      </m:r>
                    </m:oMath>
                  </m:oMathPara>
                </a14:m>
                <a:endParaRPr lang="es-CO" sz="16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1742D990-31C6-472A-9B0B-C02815CE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726" y="3128785"/>
                <a:ext cx="4550769" cy="738664"/>
              </a:xfrm>
              <a:prstGeom prst="rect">
                <a:avLst/>
              </a:prstGeom>
              <a:blipFill>
                <a:blip r:embed="rId4"/>
                <a:stretch>
                  <a:fillRect b="-247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Google Shape;310;p34">
            <a:extLst>
              <a:ext uri="{FF2B5EF4-FFF2-40B4-BE49-F238E27FC236}">
                <a16:creationId xmlns:a16="http://schemas.microsoft.com/office/drawing/2014/main" id="{AA95DE6F-B99C-4C53-8AF8-47ACEDE09C5A}"/>
              </a:ext>
            </a:extLst>
          </p:cNvPr>
          <p:cNvSpPr txBox="1">
            <a:spLocks/>
          </p:cNvSpPr>
          <p:nvPr/>
        </p:nvSpPr>
        <p:spPr>
          <a:xfrm>
            <a:off x="773768" y="3848340"/>
            <a:ext cx="11220111" cy="124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dirty="0"/>
              <a:t>Si quiero leer únicamente el </a:t>
            </a:r>
            <a:r>
              <a:rPr lang="es-MX" sz="1400" dirty="0">
                <a:latin typeface="Consolas" panose="020B0609020204030204" pitchFamily="49" charset="0"/>
              </a:rPr>
              <a:t>dept_name</a:t>
            </a:r>
            <a:r>
              <a:rPr lang="es-MX" sz="1600" dirty="0"/>
              <a:t>, ¿cuántos bytes debe ignorar (saltar) el sistema desde el inicio del registro? </a:t>
            </a:r>
          </a:p>
          <a:p>
            <a:pPr marL="584200" lvl="1" indent="0">
              <a:buNone/>
            </a:pPr>
            <a:r>
              <a:rPr lang="es-MX" sz="1600" b="1" dirty="0"/>
              <a:t>Rta</a:t>
            </a:r>
            <a:r>
              <a:rPr lang="es-MX" sz="1600" dirty="0"/>
              <a:t>: No es necesario, el sistema ahora realiza un paso extra (Indirección). Primero lee el puntero en los bytes 8-11 para obtener el (offset, longitud) y luego salta a la posición específica donde comienza el nombre del departamento en la sección de datos.</a:t>
            </a:r>
          </a:p>
        </p:txBody>
      </p:sp>
    </p:spTree>
    <p:extLst>
      <p:ext uri="{BB962C8B-B14F-4D97-AF65-F5344CB8AC3E}">
        <p14:creationId xmlns:p14="http://schemas.microsoft.com/office/powerpoint/2010/main" val="1501116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714525" y="725621"/>
            <a:ext cx="11057636" cy="55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Retomemos la tabla de profesores, pero ahora con el esquema definido con </a:t>
            </a:r>
            <a:r>
              <a:rPr lang="es-MX" sz="2000" dirty="0">
                <a:latin typeface="Consolas" panose="020B0609020204030204" pitchFamily="49" charset="0"/>
              </a:rPr>
              <a:t>varchar</a:t>
            </a:r>
          </a:p>
        </p:txBody>
      </p:sp>
      <p:sp>
        <p:nvSpPr>
          <p:cNvPr id="71" name="Google Shape;310;p34">
            <a:extLst>
              <a:ext uri="{FF2B5EF4-FFF2-40B4-BE49-F238E27FC236}">
                <a16:creationId xmlns:a16="http://schemas.microsoft.com/office/drawing/2014/main" id="{A002E573-4B2D-4709-825C-37D0ABAFD2BC}"/>
              </a:ext>
            </a:extLst>
          </p:cNvPr>
          <p:cNvSpPr txBox="1">
            <a:spLocks/>
          </p:cNvSpPr>
          <p:nvPr/>
        </p:nvSpPr>
        <p:spPr>
          <a:xfrm>
            <a:off x="725606" y="4431373"/>
            <a:ext cx="11035474" cy="113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dirty="0"/>
              <a:t>Cuántos bytes de "relleno" (basura o espacios) se están desperdiciando en el campo </a:t>
            </a:r>
            <a:r>
              <a:rPr lang="es-MX" sz="1400" dirty="0">
                <a:latin typeface="Consolas" panose="020B0609020204030204" pitchFamily="49" charset="0"/>
              </a:rPr>
              <a:t>name</a:t>
            </a:r>
            <a:r>
              <a:rPr lang="es-MX" sz="1600" dirty="0"/>
              <a:t> si guardamos a "</a:t>
            </a:r>
            <a:r>
              <a:rPr lang="es-MX" sz="1400" dirty="0">
                <a:latin typeface="Consolas" panose="020B0609020204030204" pitchFamily="49" charset="0"/>
              </a:rPr>
              <a:t>Einstein</a:t>
            </a:r>
            <a:r>
              <a:rPr lang="es-MX" sz="1600" dirty="0"/>
              <a:t>" (8 letras)? </a:t>
            </a:r>
          </a:p>
          <a:p>
            <a:pPr marL="584200" lvl="1" indent="0">
              <a:buNone/>
            </a:pPr>
            <a:r>
              <a:rPr lang="es-MX" sz="1600" b="1" dirty="0"/>
              <a:t>Rta</a:t>
            </a:r>
            <a:r>
              <a:rPr lang="es-MX" sz="1600" dirty="0"/>
              <a:t>: No existe el relleno (</a:t>
            </a:r>
            <a:r>
              <a:rPr lang="es-MX" sz="1600" dirty="0">
                <a:latin typeface="Consolas" panose="020B0609020204030204" pitchFamily="49" charset="0"/>
              </a:rPr>
              <a:t>varchar</a:t>
            </a:r>
            <a:r>
              <a:rPr lang="es-MX" sz="1600" dirty="0"/>
              <a:t>). El registro termina exactamente donde termina el último carácter del último campo variable.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E07C4BE-9A3F-4034-AA92-946BA535E527}"/>
              </a:ext>
            </a:extLst>
          </p:cNvPr>
          <p:cNvGrpSpPr/>
          <p:nvPr/>
        </p:nvGrpSpPr>
        <p:grpSpPr>
          <a:xfrm>
            <a:off x="2779787" y="5885196"/>
            <a:ext cx="7044132" cy="658663"/>
            <a:chOff x="4716909" y="3636797"/>
            <a:chExt cx="7044132" cy="658663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237F2147-E78C-4C20-BEDE-458E937635F6}"/>
                </a:ext>
              </a:extLst>
            </p:cNvPr>
            <p:cNvGrpSpPr/>
            <p:nvPr/>
          </p:nvGrpSpPr>
          <p:grpSpPr>
            <a:xfrm>
              <a:off x="5436629" y="3636797"/>
              <a:ext cx="6089464" cy="380213"/>
              <a:chOff x="5185886" y="4674606"/>
              <a:chExt cx="6089464" cy="380213"/>
            </a:xfrm>
          </p:grpSpPr>
          <p:sp>
            <p:nvSpPr>
              <p:cNvPr id="18" name="Rectangle 111">
                <a:extLst>
                  <a:ext uri="{FF2B5EF4-FFF2-40B4-BE49-F238E27FC236}">
                    <a16:creationId xmlns:a16="http://schemas.microsoft.com/office/drawing/2014/main" id="{0E34DC90-4F5A-4455-A32A-7165C390E956}"/>
                  </a:ext>
                </a:extLst>
              </p:cNvPr>
              <p:cNvSpPr/>
              <p:nvPr/>
            </p:nvSpPr>
            <p:spPr bwMode="auto">
              <a:xfrm>
                <a:off x="7275173" y="4674607"/>
                <a:ext cx="708766" cy="37981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95000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19" name="Rectangle 111">
                <a:extLst>
                  <a:ext uri="{FF2B5EF4-FFF2-40B4-BE49-F238E27FC236}">
                    <a16:creationId xmlns:a16="http://schemas.microsoft.com/office/drawing/2014/main" id="{C0704FCC-A9BE-4DE2-ABAD-1012DA4BAD42}"/>
                  </a:ext>
                </a:extLst>
              </p:cNvPr>
              <p:cNvSpPr/>
              <p:nvPr/>
            </p:nvSpPr>
            <p:spPr bwMode="auto">
              <a:xfrm>
                <a:off x="5185886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(21,5)</a:t>
                </a:r>
              </a:p>
            </p:txBody>
          </p:sp>
          <p:sp>
            <p:nvSpPr>
              <p:cNvPr id="20" name="Rectangle 111">
                <a:extLst>
                  <a:ext uri="{FF2B5EF4-FFF2-40B4-BE49-F238E27FC236}">
                    <a16:creationId xmlns:a16="http://schemas.microsoft.com/office/drawing/2014/main" id="{10C7BAF8-DE5A-4CA3-9F5D-3DD8D69BB09D}"/>
                  </a:ext>
                </a:extLst>
              </p:cNvPr>
              <p:cNvSpPr/>
              <p:nvPr/>
            </p:nvSpPr>
            <p:spPr bwMode="auto">
              <a:xfrm>
                <a:off x="5883729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(26,8)</a:t>
                </a:r>
              </a:p>
            </p:txBody>
          </p:sp>
          <p:sp>
            <p:nvSpPr>
              <p:cNvPr id="21" name="Rectangle 111">
                <a:extLst>
                  <a:ext uri="{FF2B5EF4-FFF2-40B4-BE49-F238E27FC236}">
                    <a16:creationId xmlns:a16="http://schemas.microsoft.com/office/drawing/2014/main" id="{B2A62C95-BE2F-4110-B331-864736DB723C}"/>
                  </a:ext>
                </a:extLst>
              </p:cNvPr>
              <p:cNvSpPr/>
              <p:nvPr/>
            </p:nvSpPr>
            <p:spPr bwMode="auto">
              <a:xfrm>
                <a:off x="6593888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(34,7)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2" name="Rectangle 111">
                <a:extLst>
                  <a:ext uri="{FF2B5EF4-FFF2-40B4-BE49-F238E27FC236}">
                    <a16:creationId xmlns:a16="http://schemas.microsoft.com/office/drawing/2014/main" id="{5C9503D7-5365-4C73-A2E6-CFD5287E8CBF}"/>
                  </a:ext>
                </a:extLst>
              </p:cNvPr>
              <p:cNvSpPr/>
              <p:nvPr/>
            </p:nvSpPr>
            <p:spPr bwMode="auto">
              <a:xfrm>
                <a:off x="7985263" y="4674607"/>
                <a:ext cx="415997" cy="37981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0000</a:t>
                </a:r>
              </a:p>
            </p:txBody>
          </p:sp>
          <p:sp>
            <p:nvSpPr>
              <p:cNvPr id="23" name="Rectangle 111">
                <a:extLst>
                  <a:ext uri="{FF2B5EF4-FFF2-40B4-BE49-F238E27FC236}">
                    <a16:creationId xmlns:a16="http://schemas.microsoft.com/office/drawing/2014/main" id="{947D68E4-6BE5-4A91-AAAC-FB0CF4CF0884}"/>
                  </a:ext>
                </a:extLst>
              </p:cNvPr>
              <p:cNvSpPr/>
              <p:nvPr/>
            </p:nvSpPr>
            <p:spPr bwMode="auto">
              <a:xfrm>
                <a:off x="9190516" y="4674607"/>
                <a:ext cx="1042417" cy="3798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Einstein</a:t>
                </a:r>
              </a:p>
            </p:txBody>
          </p:sp>
          <p:sp>
            <p:nvSpPr>
              <p:cNvPr id="24" name="Rectangle 111">
                <a:extLst>
                  <a:ext uri="{FF2B5EF4-FFF2-40B4-BE49-F238E27FC236}">
                    <a16:creationId xmlns:a16="http://schemas.microsoft.com/office/drawing/2014/main" id="{D0F5EF2F-F745-4561-9FC5-F622E2FAEE19}"/>
                  </a:ext>
                </a:extLst>
              </p:cNvPr>
              <p:cNvSpPr/>
              <p:nvPr/>
            </p:nvSpPr>
            <p:spPr bwMode="auto">
              <a:xfrm>
                <a:off x="8392877" y="4677495"/>
                <a:ext cx="802151" cy="3773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22222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Rectangle 111">
                <a:extLst>
                  <a:ext uri="{FF2B5EF4-FFF2-40B4-BE49-F238E27FC236}">
                    <a16:creationId xmlns:a16="http://schemas.microsoft.com/office/drawing/2014/main" id="{ABC6595E-9D06-4CBF-AB62-E41FF59ABBC9}"/>
                  </a:ext>
                </a:extLst>
              </p:cNvPr>
              <p:cNvSpPr/>
              <p:nvPr/>
            </p:nvSpPr>
            <p:spPr bwMode="auto">
              <a:xfrm>
                <a:off x="10232933" y="4674606"/>
                <a:ext cx="1042417" cy="379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Physics</a:t>
                </a:r>
              </a:p>
            </p:txBody>
          </p: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D463ABB-9C9D-4DB5-855A-89E67846B6C7}"/>
                </a:ext>
              </a:extLst>
            </p:cNvPr>
            <p:cNvSpPr txBox="1"/>
            <p:nvPr/>
          </p:nvSpPr>
          <p:spPr>
            <a:xfrm>
              <a:off x="4716909" y="4033850"/>
              <a:ext cx="6531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Bytes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DEE609-94CE-45E3-A5BA-F5EF0456E075}"/>
                </a:ext>
              </a:extLst>
            </p:cNvPr>
            <p:cNvSpPr txBox="1"/>
            <p:nvPr/>
          </p:nvSpPr>
          <p:spPr>
            <a:xfrm>
              <a:off x="5319393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6500D03-B51B-4A97-9857-BC2620B084B5}"/>
                </a:ext>
              </a:extLst>
            </p:cNvPr>
            <p:cNvSpPr txBox="1"/>
            <p:nvPr/>
          </p:nvSpPr>
          <p:spPr>
            <a:xfrm>
              <a:off x="6020514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94E1E0DC-B2AC-44C8-8650-AD9DE7115F44}"/>
                </a:ext>
              </a:extLst>
            </p:cNvPr>
            <p:cNvSpPr txBox="1"/>
            <p:nvPr/>
          </p:nvSpPr>
          <p:spPr>
            <a:xfrm>
              <a:off x="6738097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77BC9B9-E9A6-48F5-BC7A-11C9852CC385}"/>
                </a:ext>
              </a:extLst>
            </p:cNvPr>
            <p:cNvSpPr txBox="1"/>
            <p:nvPr/>
          </p:nvSpPr>
          <p:spPr>
            <a:xfrm>
              <a:off x="7467245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0F98DBD6-B81A-4AB1-AEC5-6C68B1ECF29B}"/>
                </a:ext>
              </a:extLst>
            </p:cNvPr>
            <p:cNvSpPr txBox="1"/>
            <p:nvPr/>
          </p:nvSpPr>
          <p:spPr>
            <a:xfrm>
              <a:off x="8234682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DF7B89B-E17C-46A4-B3AD-C3FAE494E690}"/>
                </a:ext>
              </a:extLst>
            </p:cNvPr>
            <p:cNvSpPr txBox="1"/>
            <p:nvPr/>
          </p:nvSpPr>
          <p:spPr>
            <a:xfrm>
              <a:off x="8476478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21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41D87FC-2990-4D2A-8BDE-F9A99CB747DB}"/>
                </a:ext>
              </a:extLst>
            </p:cNvPr>
            <p:cNvSpPr txBox="1"/>
            <p:nvPr/>
          </p:nvSpPr>
          <p:spPr>
            <a:xfrm>
              <a:off x="9260001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26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127B52D-A302-4EC8-A29C-E9A1869492B2}"/>
                </a:ext>
              </a:extLst>
            </p:cNvPr>
            <p:cNvSpPr txBox="1"/>
            <p:nvPr/>
          </p:nvSpPr>
          <p:spPr>
            <a:xfrm>
              <a:off x="10288249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34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34AE321-51F7-4A00-A09D-E3345B23F83C}"/>
                </a:ext>
              </a:extLst>
            </p:cNvPr>
            <p:cNvSpPr txBox="1"/>
            <p:nvPr/>
          </p:nvSpPr>
          <p:spPr>
            <a:xfrm>
              <a:off x="11146004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40</a:t>
              </a:r>
            </a:p>
          </p:txBody>
        </p:sp>
      </p:grpSp>
      <p:sp>
        <p:nvSpPr>
          <p:cNvPr id="26" name="Google Shape;310;p34">
            <a:extLst>
              <a:ext uri="{FF2B5EF4-FFF2-40B4-BE49-F238E27FC236}">
                <a16:creationId xmlns:a16="http://schemas.microsoft.com/office/drawing/2014/main" id="{C4B9E21D-5FDA-4221-9394-9D8A26E6FBCA}"/>
              </a:ext>
            </a:extLst>
          </p:cNvPr>
          <p:cNvSpPr txBox="1">
            <a:spLocks/>
          </p:cNvSpPr>
          <p:nvPr/>
        </p:nvSpPr>
        <p:spPr>
          <a:xfrm>
            <a:off x="714525" y="1232633"/>
            <a:ext cx="11035474" cy="126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dirty="0"/>
              <a:t>Si el nombre del instructor es "</a:t>
            </a:r>
            <a:r>
              <a:rPr lang="es-MX" sz="1400" dirty="0">
                <a:latin typeface="Consolas" panose="020B0609020204030204" pitchFamily="49" charset="0"/>
              </a:rPr>
              <a:t>Wu</a:t>
            </a:r>
            <a:r>
              <a:rPr lang="es-MX" sz="1600" dirty="0"/>
              <a:t>" (solo 2 letras), ¿cuántos bytes ocupa ese registro en el disco? ¿Sigue midiendo 53 bytes o se reduce?</a:t>
            </a:r>
          </a:p>
          <a:p>
            <a:pPr marL="584200" lvl="1" indent="0">
              <a:buNone/>
            </a:pPr>
            <a:r>
              <a:rPr lang="es-MX" sz="1600" b="1" dirty="0"/>
              <a:t>Rta</a:t>
            </a:r>
            <a:r>
              <a:rPr lang="es-MX" sz="1600" dirty="0"/>
              <a:t>: 35 bytes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CFF4B48-E7E4-4A5F-8FB7-BF01C3982506}"/>
              </a:ext>
            </a:extLst>
          </p:cNvPr>
          <p:cNvGrpSpPr/>
          <p:nvPr/>
        </p:nvGrpSpPr>
        <p:grpSpPr>
          <a:xfrm>
            <a:off x="5530123" y="2412492"/>
            <a:ext cx="6434532" cy="658663"/>
            <a:chOff x="4716909" y="3636797"/>
            <a:chExt cx="6434532" cy="658663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B496212D-32FE-4FB8-9D25-1A513A494D36}"/>
                </a:ext>
              </a:extLst>
            </p:cNvPr>
            <p:cNvGrpSpPr/>
            <p:nvPr/>
          </p:nvGrpSpPr>
          <p:grpSpPr>
            <a:xfrm>
              <a:off x="5436629" y="3636797"/>
              <a:ext cx="5479864" cy="380213"/>
              <a:chOff x="5185886" y="4674606"/>
              <a:chExt cx="5479864" cy="380213"/>
            </a:xfrm>
          </p:grpSpPr>
          <p:sp>
            <p:nvSpPr>
              <p:cNvPr id="39" name="Rectangle 111">
                <a:extLst>
                  <a:ext uri="{FF2B5EF4-FFF2-40B4-BE49-F238E27FC236}">
                    <a16:creationId xmlns:a16="http://schemas.microsoft.com/office/drawing/2014/main" id="{B99D374F-649A-4087-BEE8-F967A7D5E424}"/>
                  </a:ext>
                </a:extLst>
              </p:cNvPr>
              <p:cNvSpPr/>
              <p:nvPr/>
            </p:nvSpPr>
            <p:spPr bwMode="auto">
              <a:xfrm>
                <a:off x="7275173" y="4674607"/>
                <a:ext cx="708766" cy="37981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95000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0" name="Rectangle 111">
                <a:extLst>
                  <a:ext uri="{FF2B5EF4-FFF2-40B4-BE49-F238E27FC236}">
                    <a16:creationId xmlns:a16="http://schemas.microsoft.com/office/drawing/2014/main" id="{C27316E7-9292-444B-A99D-6ED9885AF73B}"/>
                  </a:ext>
                </a:extLst>
              </p:cNvPr>
              <p:cNvSpPr/>
              <p:nvPr/>
            </p:nvSpPr>
            <p:spPr bwMode="auto">
              <a:xfrm>
                <a:off x="5185886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(21,5)</a:t>
                </a:r>
              </a:p>
            </p:txBody>
          </p:sp>
          <p:sp>
            <p:nvSpPr>
              <p:cNvPr id="41" name="Rectangle 111">
                <a:extLst>
                  <a:ext uri="{FF2B5EF4-FFF2-40B4-BE49-F238E27FC236}">
                    <a16:creationId xmlns:a16="http://schemas.microsoft.com/office/drawing/2014/main" id="{E8CAE62C-1267-4F1B-8EC8-F3649CABF2FD}"/>
                  </a:ext>
                </a:extLst>
              </p:cNvPr>
              <p:cNvSpPr/>
              <p:nvPr/>
            </p:nvSpPr>
            <p:spPr bwMode="auto">
              <a:xfrm>
                <a:off x="5883729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(26,2)</a:t>
                </a:r>
              </a:p>
            </p:txBody>
          </p:sp>
          <p:sp>
            <p:nvSpPr>
              <p:cNvPr id="42" name="Rectangle 111">
                <a:extLst>
                  <a:ext uri="{FF2B5EF4-FFF2-40B4-BE49-F238E27FC236}">
                    <a16:creationId xmlns:a16="http://schemas.microsoft.com/office/drawing/2014/main" id="{588151FD-7074-4A3B-BC4A-D296B510656D}"/>
                  </a:ext>
                </a:extLst>
              </p:cNvPr>
              <p:cNvSpPr/>
              <p:nvPr/>
            </p:nvSpPr>
            <p:spPr bwMode="auto">
              <a:xfrm>
                <a:off x="6593888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(28,7)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3" name="Rectangle 111">
                <a:extLst>
                  <a:ext uri="{FF2B5EF4-FFF2-40B4-BE49-F238E27FC236}">
                    <a16:creationId xmlns:a16="http://schemas.microsoft.com/office/drawing/2014/main" id="{ED7127B7-CC63-4947-8A92-0BCCB4ED25CA}"/>
                  </a:ext>
                </a:extLst>
              </p:cNvPr>
              <p:cNvSpPr/>
              <p:nvPr/>
            </p:nvSpPr>
            <p:spPr bwMode="auto">
              <a:xfrm>
                <a:off x="7985263" y="4674607"/>
                <a:ext cx="415997" cy="37981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0000</a:t>
                </a:r>
              </a:p>
            </p:txBody>
          </p:sp>
          <p:sp>
            <p:nvSpPr>
              <p:cNvPr id="44" name="Rectangle 111">
                <a:extLst>
                  <a:ext uri="{FF2B5EF4-FFF2-40B4-BE49-F238E27FC236}">
                    <a16:creationId xmlns:a16="http://schemas.microsoft.com/office/drawing/2014/main" id="{D44B0F62-8CF4-4B32-829B-AF5F8EE0F3CD}"/>
                  </a:ext>
                </a:extLst>
              </p:cNvPr>
              <p:cNvSpPr/>
              <p:nvPr/>
            </p:nvSpPr>
            <p:spPr bwMode="auto">
              <a:xfrm>
                <a:off x="9190516" y="4674607"/>
                <a:ext cx="433779" cy="3798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Wu</a:t>
                </a:r>
              </a:p>
            </p:txBody>
          </p:sp>
          <p:sp>
            <p:nvSpPr>
              <p:cNvPr id="45" name="Rectangle 111">
                <a:extLst>
                  <a:ext uri="{FF2B5EF4-FFF2-40B4-BE49-F238E27FC236}">
                    <a16:creationId xmlns:a16="http://schemas.microsoft.com/office/drawing/2014/main" id="{AA05B86A-915D-44B6-AA65-3C6856E7C57F}"/>
                  </a:ext>
                </a:extLst>
              </p:cNvPr>
              <p:cNvSpPr/>
              <p:nvPr/>
            </p:nvSpPr>
            <p:spPr bwMode="auto">
              <a:xfrm>
                <a:off x="8392877" y="4677495"/>
                <a:ext cx="802151" cy="3773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12121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6" name="Rectangle 111">
                <a:extLst>
                  <a:ext uri="{FF2B5EF4-FFF2-40B4-BE49-F238E27FC236}">
                    <a16:creationId xmlns:a16="http://schemas.microsoft.com/office/drawing/2014/main" id="{19B6DD7A-3B86-4727-9FB3-A0CD87B11D4F}"/>
                  </a:ext>
                </a:extLst>
              </p:cNvPr>
              <p:cNvSpPr/>
              <p:nvPr/>
            </p:nvSpPr>
            <p:spPr bwMode="auto">
              <a:xfrm>
                <a:off x="9623333" y="4674606"/>
                <a:ext cx="1042417" cy="379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Finance</a:t>
                </a: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62515779-3FE6-4D79-80A1-593F271A3CD1}"/>
                </a:ext>
              </a:extLst>
            </p:cNvPr>
            <p:cNvSpPr txBox="1"/>
            <p:nvPr/>
          </p:nvSpPr>
          <p:spPr>
            <a:xfrm>
              <a:off x="4716909" y="4033850"/>
              <a:ext cx="6531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Bytes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7FE3A555-80E2-4D62-8C5D-72555479CAF9}"/>
                </a:ext>
              </a:extLst>
            </p:cNvPr>
            <p:cNvSpPr txBox="1"/>
            <p:nvPr/>
          </p:nvSpPr>
          <p:spPr>
            <a:xfrm>
              <a:off x="5319393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3CD229C4-0451-43C2-AE3F-BFE9F1E54C8D}"/>
                </a:ext>
              </a:extLst>
            </p:cNvPr>
            <p:cNvSpPr txBox="1"/>
            <p:nvPr/>
          </p:nvSpPr>
          <p:spPr>
            <a:xfrm>
              <a:off x="6020514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13F76624-433F-44B2-AC28-163EED92651A}"/>
                </a:ext>
              </a:extLst>
            </p:cNvPr>
            <p:cNvSpPr txBox="1"/>
            <p:nvPr/>
          </p:nvSpPr>
          <p:spPr>
            <a:xfrm>
              <a:off x="6738097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0938963F-2E63-4DDF-AD93-07DA79A49823}"/>
                </a:ext>
              </a:extLst>
            </p:cNvPr>
            <p:cNvSpPr txBox="1"/>
            <p:nvPr/>
          </p:nvSpPr>
          <p:spPr>
            <a:xfrm>
              <a:off x="7467245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A5BBC410-F856-4614-A927-B065973C24DA}"/>
                </a:ext>
              </a:extLst>
            </p:cNvPr>
            <p:cNvSpPr txBox="1"/>
            <p:nvPr/>
          </p:nvSpPr>
          <p:spPr>
            <a:xfrm>
              <a:off x="8234682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5CEF1B1B-6FDB-4A76-987F-478FE145F56A}"/>
                </a:ext>
              </a:extLst>
            </p:cNvPr>
            <p:cNvSpPr txBox="1"/>
            <p:nvPr/>
          </p:nvSpPr>
          <p:spPr>
            <a:xfrm>
              <a:off x="8476478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21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FEDEF205-7955-4EA4-97B7-3EB050B69B29}"/>
                </a:ext>
              </a:extLst>
            </p:cNvPr>
            <p:cNvSpPr txBox="1"/>
            <p:nvPr/>
          </p:nvSpPr>
          <p:spPr>
            <a:xfrm>
              <a:off x="9260001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26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A87A867F-DFF4-4E85-92BF-BB86B8E6D087}"/>
                </a:ext>
              </a:extLst>
            </p:cNvPr>
            <p:cNvSpPr txBox="1"/>
            <p:nvPr/>
          </p:nvSpPr>
          <p:spPr>
            <a:xfrm>
              <a:off x="9678649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28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9AE049E6-F698-439C-98BD-82D698337D66}"/>
                </a:ext>
              </a:extLst>
            </p:cNvPr>
            <p:cNvSpPr txBox="1"/>
            <p:nvPr/>
          </p:nvSpPr>
          <p:spPr>
            <a:xfrm>
              <a:off x="10536404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34</a:t>
              </a:r>
            </a:p>
          </p:txBody>
        </p:sp>
      </p:grp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4416240-CEDE-44BD-B47E-556785FFB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855355"/>
              </p:ext>
            </p:extLst>
          </p:nvPr>
        </p:nvGraphicFramePr>
        <p:xfrm>
          <a:off x="1362130" y="2446429"/>
          <a:ext cx="3258011" cy="274320"/>
        </p:xfrm>
        <a:graphic>
          <a:graphicData uri="http://schemas.openxmlformats.org/drawingml/2006/table">
            <a:tbl>
              <a:tblPr/>
              <a:tblGrid>
                <a:gridCol w="649605">
                  <a:extLst>
                    <a:ext uri="{9D8B030D-6E8A-4147-A177-3AD203B41FA5}">
                      <a16:colId xmlns:a16="http://schemas.microsoft.com/office/drawing/2014/main" val="1004729469"/>
                    </a:ext>
                  </a:extLst>
                </a:gridCol>
                <a:gridCol w="924243">
                  <a:extLst>
                    <a:ext uri="{9D8B030D-6E8A-4147-A177-3AD203B41FA5}">
                      <a16:colId xmlns:a16="http://schemas.microsoft.com/office/drawing/2014/main" val="1732743069"/>
                    </a:ext>
                  </a:extLst>
                </a:gridCol>
                <a:gridCol w="1003033">
                  <a:extLst>
                    <a:ext uri="{9D8B030D-6E8A-4147-A177-3AD203B41FA5}">
                      <a16:colId xmlns:a16="http://schemas.microsoft.com/office/drawing/2014/main" val="578530696"/>
                    </a:ext>
                  </a:extLst>
                </a:gridCol>
                <a:gridCol w="681130">
                  <a:extLst>
                    <a:ext uri="{9D8B030D-6E8A-4147-A177-3AD203B41FA5}">
                      <a16:colId xmlns:a16="http://schemas.microsoft.com/office/drawing/2014/main" val="503991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12121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Wu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5386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DA4E1255-41F4-4019-B062-F2C82B2CA6C9}"/>
                  </a:ext>
                </a:extLst>
              </p:cNvPr>
              <p:cNvSpPr txBox="1"/>
              <p:nvPr/>
            </p:nvSpPr>
            <p:spPr>
              <a:xfrm>
                <a:off x="1687701" y="3490247"/>
                <a:ext cx="948053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6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record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MX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𝑠𝑎𝑙𝑎𝑟𝑦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𝐵𝑖𝑡𝑀𝑎𝑝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𝐼𝐷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𝑛𝑎𝑚𝑒</m:t>
                          </m:r>
                        </m:e>
                      </m:d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𝑑𝑒𝑝𝑡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𝑛𝑎𝑚𝑒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1600" i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=4+4+4 +8 +1+5+2+7                                        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es-MX" sz="1600" b="0" i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         </m:t>
                      </m:r>
                      <m:r>
                        <a:rPr lang="es-MX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es-CO" sz="16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DA4E1255-41F4-4019-B062-F2C82B2CA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701" y="3490247"/>
                <a:ext cx="9480534" cy="738664"/>
              </a:xfrm>
              <a:prstGeom prst="rect">
                <a:avLst/>
              </a:prstGeom>
              <a:blipFill>
                <a:blip r:embed="rId3"/>
                <a:stretch>
                  <a:fillRect b="-247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473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0DEFA27-6AC4-4939-80A7-2BA081AB3D70}"/>
              </a:ext>
            </a:extLst>
          </p:cNvPr>
          <p:cNvSpPr txBox="1">
            <a:spLocks/>
          </p:cNvSpPr>
          <p:nvPr/>
        </p:nvSpPr>
        <p:spPr>
          <a:xfrm>
            <a:off x="714525" y="725621"/>
            <a:ext cx="11057636" cy="55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Retomemos la tabla de profesores, pero ahora con el esquema definido con </a:t>
            </a:r>
            <a:r>
              <a:rPr lang="es-MX" sz="2000" dirty="0">
                <a:latin typeface="Consolas" panose="020B0609020204030204" pitchFamily="49" charset="0"/>
              </a:rPr>
              <a:t>varchar</a:t>
            </a:r>
          </a:p>
        </p:txBody>
      </p:sp>
      <p:sp>
        <p:nvSpPr>
          <p:cNvPr id="71" name="Google Shape;310;p34">
            <a:extLst>
              <a:ext uri="{FF2B5EF4-FFF2-40B4-BE49-F238E27FC236}">
                <a16:creationId xmlns:a16="http://schemas.microsoft.com/office/drawing/2014/main" id="{A002E573-4B2D-4709-825C-37D0ABAFD2BC}"/>
              </a:ext>
            </a:extLst>
          </p:cNvPr>
          <p:cNvSpPr txBox="1">
            <a:spLocks/>
          </p:cNvSpPr>
          <p:nvPr/>
        </p:nvSpPr>
        <p:spPr>
          <a:xfrm>
            <a:off x="681537" y="1220864"/>
            <a:ext cx="1103547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dirty="0"/>
              <a:t>Si el campo </a:t>
            </a:r>
            <a:r>
              <a:rPr lang="es-MX" sz="1400" dirty="0">
                <a:latin typeface="Consolas" panose="020B0609020204030204" pitchFamily="49" charset="0"/>
              </a:rPr>
              <a:t>salary</a:t>
            </a:r>
            <a:r>
              <a:rPr lang="es-MX" sz="1600" dirty="0"/>
              <a:t> es opcional (puede ser </a:t>
            </a:r>
            <a:r>
              <a:rPr lang="es-MX" sz="1400" dirty="0">
                <a:latin typeface="Consolas" panose="020B0609020204030204" pitchFamily="49" charset="0"/>
              </a:rPr>
              <a:t>NULL</a:t>
            </a:r>
            <a:r>
              <a:rPr lang="es-MX" sz="1600" dirty="0"/>
              <a:t>), ¿el tamaño total del registro pasaría a ser de 45 bytes (53 - 8)?</a:t>
            </a:r>
          </a:p>
          <a:p>
            <a:pPr marL="584200" lvl="1" indent="0">
              <a:buNone/>
            </a:pPr>
            <a:r>
              <a:rPr lang="es-MX" sz="1600" dirty="0"/>
              <a:t>(</a:t>
            </a:r>
            <a:r>
              <a:rPr lang="es-MX" sz="1600" b="1" dirty="0"/>
              <a:t>Rta</a:t>
            </a:r>
            <a:r>
              <a:rPr lang="es-MX" sz="1600" dirty="0"/>
              <a:t>: Depende del tipo de dato, en este caso como es constante no, si fuera el campo variable si).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E997B69-14EE-4B5A-A96F-293B9F49A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98595"/>
              </p:ext>
            </p:extLst>
          </p:nvPr>
        </p:nvGraphicFramePr>
        <p:xfrm>
          <a:off x="1108099" y="2457475"/>
          <a:ext cx="3258011" cy="274320"/>
        </p:xfrm>
        <a:graphic>
          <a:graphicData uri="http://schemas.openxmlformats.org/drawingml/2006/table">
            <a:tbl>
              <a:tblPr/>
              <a:tblGrid>
                <a:gridCol w="649605">
                  <a:extLst>
                    <a:ext uri="{9D8B030D-6E8A-4147-A177-3AD203B41FA5}">
                      <a16:colId xmlns:a16="http://schemas.microsoft.com/office/drawing/2014/main" val="3159384120"/>
                    </a:ext>
                  </a:extLst>
                </a:gridCol>
                <a:gridCol w="924243">
                  <a:extLst>
                    <a:ext uri="{9D8B030D-6E8A-4147-A177-3AD203B41FA5}">
                      <a16:colId xmlns:a16="http://schemas.microsoft.com/office/drawing/2014/main" val="4156974327"/>
                    </a:ext>
                  </a:extLst>
                </a:gridCol>
                <a:gridCol w="1003033">
                  <a:extLst>
                    <a:ext uri="{9D8B030D-6E8A-4147-A177-3AD203B41FA5}">
                      <a16:colId xmlns:a16="http://schemas.microsoft.com/office/drawing/2014/main" val="2949574235"/>
                    </a:ext>
                  </a:extLst>
                </a:gridCol>
                <a:gridCol w="681130">
                  <a:extLst>
                    <a:ext uri="{9D8B030D-6E8A-4147-A177-3AD203B41FA5}">
                      <a16:colId xmlns:a16="http://schemas.microsoft.com/office/drawing/2014/main" val="1411715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22222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Einstein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b="0" i="0" u="none" strike="noStrike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Physics</a:t>
                      </a:r>
                      <a:endParaRPr lang="es-CO" sz="120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120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988227"/>
                  </a:ext>
                </a:extLst>
              </a:tr>
            </a:tbl>
          </a:graphicData>
        </a:graphic>
      </p:graphicFrame>
      <p:grpSp>
        <p:nvGrpSpPr>
          <p:cNvPr id="26" name="Grupo 25">
            <a:extLst>
              <a:ext uri="{FF2B5EF4-FFF2-40B4-BE49-F238E27FC236}">
                <a16:creationId xmlns:a16="http://schemas.microsoft.com/office/drawing/2014/main" id="{EDA1F529-9253-43F8-8888-D9FE04CC8D2B}"/>
              </a:ext>
            </a:extLst>
          </p:cNvPr>
          <p:cNvGrpSpPr/>
          <p:nvPr/>
        </p:nvGrpSpPr>
        <p:grpSpPr>
          <a:xfrm>
            <a:off x="4895669" y="2402463"/>
            <a:ext cx="7044132" cy="658663"/>
            <a:chOff x="4716909" y="3636797"/>
            <a:chExt cx="7044132" cy="658663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E3DFACB1-CAFE-4F7E-9F30-2A3E80E556CC}"/>
                </a:ext>
              </a:extLst>
            </p:cNvPr>
            <p:cNvGrpSpPr/>
            <p:nvPr/>
          </p:nvGrpSpPr>
          <p:grpSpPr>
            <a:xfrm>
              <a:off x="5436629" y="3636797"/>
              <a:ext cx="6089464" cy="380213"/>
              <a:chOff x="5185886" y="4674606"/>
              <a:chExt cx="6089464" cy="380213"/>
            </a:xfrm>
          </p:grpSpPr>
          <p:sp>
            <p:nvSpPr>
              <p:cNvPr id="38" name="Rectangle 111">
                <a:extLst>
                  <a:ext uri="{FF2B5EF4-FFF2-40B4-BE49-F238E27FC236}">
                    <a16:creationId xmlns:a16="http://schemas.microsoft.com/office/drawing/2014/main" id="{FD567F52-0933-4669-B3E1-B2494554B46E}"/>
                  </a:ext>
                </a:extLst>
              </p:cNvPr>
              <p:cNvSpPr/>
              <p:nvPr/>
            </p:nvSpPr>
            <p:spPr bwMode="auto">
              <a:xfrm>
                <a:off x="7275173" y="4674607"/>
                <a:ext cx="708766" cy="379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??????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39" name="Rectangle 111">
                <a:extLst>
                  <a:ext uri="{FF2B5EF4-FFF2-40B4-BE49-F238E27FC236}">
                    <a16:creationId xmlns:a16="http://schemas.microsoft.com/office/drawing/2014/main" id="{5C10274D-5480-4B21-8EF1-8546386147A1}"/>
                  </a:ext>
                </a:extLst>
              </p:cNvPr>
              <p:cNvSpPr/>
              <p:nvPr/>
            </p:nvSpPr>
            <p:spPr bwMode="auto">
              <a:xfrm>
                <a:off x="5185886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(21,5)</a:t>
                </a:r>
              </a:p>
            </p:txBody>
          </p:sp>
          <p:sp>
            <p:nvSpPr>
              <p:cNvPr id="40" name="Rectangle 111">
                <a:extLst>
                  <a:ext uri="{FF2B5EF4-FFF2-40B4-BE49-F238E27FC236}">
                    <a16:creationId xmlns:a16="http://schemas.microsoft.com/office/drawing/2014/main" id="{409EA830-5B08-4EF2-8BE1-0174CE74F937}"/>
                  </a:ext>
                </a:extLst>
              </p:cNvPr>
              <p:cNvSpPr/>
              <p:nvPr/>
            </p:nvSpPr>
            <p:spPr bwMode="auto">
              <a:xfrm>
                <a:off x="5883729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(26,8)</a:t>
                </a:r>
              </a:p>
            </p:txBody>
          </p:sp>
          <p:sp>
            <p:nvSpPr>
              <p:cNvPr id="41" name="Rectangle 111">
                <a:extLst>
                  <a:ext uri="{FF2B5EF4-FFF2-40B4-BE49-F238E27FC236}">
                    <a16:creationId xmlns:a16="http://schemas.microsoft.com/office/drawing/2014/main" id="{9DF526B5-B566-4628-BFE1-A04193914162}"/>
                  </a:ext>
                </a:extLst>
              </p:cNvPr>
              <p:cNvSpPr/>
              <p:nvPr/>
            </p:nvSpPr>
            <p:spPr bwMode="auto">
              <a:xfrm>
                <a:off x="6593888" y="4674607"/>
                <a:ext cx="708766" cy="379810"/>
              </a:xfrm>
              <a:prstGeom prst="rect">
                <a:avLst/>
              </a:prstGeom>
              <a:solidFill>
                <a:schemeClr val="tx2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(34,7)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2" name="Rectangle 111">
                <a:extLst>
                  <a:ext uri="{FF2B5EF4-FFF2-40B4-BE49-F238E27FC236}">
                    <a16:creationId xmlns:a16="http://schemas.microsoft.com/office/drawing/2014/main" id="{BDEC8DBD-9219-4E80-8671-E570E44F3709}"/>
                  </a:ext>
                </a:extLst>
              </p:cNvPr>
              <p:cNvSpPr/>
              <p:nvPr/>
            </p:nvSpPr>
            <p:spPr bwMode="auto">
              <a:xfrm>
                <a:off x="7985263" y="4674607"/>
                <a:ext cx="415997" cy="37981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800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1000</a:t>
                </a:r>
              </a:p>
            </p:txBody>
          </p:sp>
          <p:sp>
            <p:nvSpPr>
              <p:cNvPr id="43" name="Rectangle 111">
                <a:extLst>
                  <a:ext uri="{FF2B5EF4-FFF2-40B4-BE49-F238E27FC236}">
                    <a16:creationId xmlns:a16="http://schemas.microsoft.com/office/drawing/2014/main" id="{750C3B5A-DC46-4AFF-97E4-B8AFA304FCD7}"/>
                  </a:ext>
                </a:extLst>
              </p:cNvPr>
              <p:cNvSpPr/>
              <p:nvPr/>
            </p:nvSpPr>
            <p:spPr bwMode="auto">
              <a:xfrm>
                <a:off x="9190516" y="4674607"/>
                <a:ext cx="1042417" cy="3798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Einstein</a:t>
                </a:r>
              </a:p>
            </p:txBody>
          </p:sp>
          <p:sp>
            <p:nvSpPr>
              <p:cNvPr id="44" name="Rectangle 111">
                <a:extLst>
                  <a:ext uri="{FF2B5EF4-FFF2-40B4-BE49-F238E27FC236}">
                    <a16:creationId xmlns:a16="http://schemas.microsoft.com/office/drawing/2014/main" id="{7E910472-224F-453D-B57D-EB018FCFF110}"/>
                  </a:ext>
                </a:extLst>
              </p:cNvPr>
              <p:cNvSpPr/>
              <p:nvPr/>
            </p:nvSpPr>
            <p:spPr bwMode="auto">
              <a:xfrm>
                <a:off x="8392877" y="4677495"/>
                <a:ext cx="802151" cy="37732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22222</a:t>
                </a:r>
                <a:endParaRPr lang="en-US" sz="135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45" name="Rectangle 111">
                <a:extLst>
                  <a:ext uri="{FF2B5EF4-FFF2-40B4-BE49-F238E27FC236}">
                    <a16:creationId xmlns:a16="http://schemas.microsoft.com/office/drawing/2014/main" id="{691D14A7-02D8-446B-A349-CAD9895A82FD}"/>
                  </a:ext>
                </a:extLst>
              </p:cNvPr>
              <p:cNvSpPr/>
              <p:nvPr/>
            </p:nvSpPr>
            <p:spPr bwMode="auto">
              <a:xfrm>
                <a:off x="10232933" y="4674606"/>
                <a:ext cx="1042417" cy="3798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Physics</a:t>
                </a:r>
              </a:p>
            </p:txBody>
          </p:sp>
        </p:grp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BD2C442-DA71-4BC4-B309-41B29BC652B1}"/>
                </a:ext>
              </a:extLst>
            </p:cNvPr>
            <p:cNvSpPr txBox="1"/>
            <p:nvPr/>
          </p:nvSpPr>
          <p:spPr>
            <a:xfrm>
              <a:off x="4716909" y="4033850"/>
              <a:ext cx="6531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Bytes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6D1E524-EE1C-4F40-A937-DB40626CC82C}"/>
                </a:ext>
              </a:extLst>
            </p:cNvPr>
            <p:cNvSpPr txBox="1"/>
            <p:nvPr/>
          </p:nvSpPr>
          <p:spPr>
            <a:xfrm>
              <a:off x="5319393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184757F-671A-42C0-9A2B-456151A5465E}"/>
                </a:ext>
              </a:extLst>
            </p:cNvPr>
            <p:cNvSpPr txBox="1"/>
            <p:nvPr/>
          </p:nvSpPr>
          <p:spPr>
            <a:xfrm>
              <a:off x="6020514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3B5AA108-0EB6-4334-BEE0-B7854555B579}"/>
                </a:ext>
              </a:extLst>
            </p:cNvPr>
            <p:cNvSpPr txBox="1"/>
            <p:nvPr/>
          </p:nvSpPr>
          <p:spPr>
            <a:xfrm>
              <a:off x="6738097" y="4033850"/>
              <a:ext cx="329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EA44DEEB-0578-47F0-9517-C92035FB9148}"/>
                </a:ext>
              </a:extLst>
            </p:cNvPr>
            <p:cNvSpPr txBox="1"/>
            <p:nvPr/>
          </p:nvSpPr>
          <p:spPr>
            <a:xfrm>
              <a:off x="7467245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3A679D7C-6597-4A54-A24B-4EF2B15708CD}"/>
                </a:ext>
              </a:extLst>
            </p:cNvPr>
            <p:cNvSpPr txBox="1"/>
            <p:nvPr/>
          </p:nvSpPr>
          <p:spPr>
            <a:xfrm>
              <a:off x="8234682" y="4033850"/>
              <a:ext cx="448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91393F9F-D127-416E-B933-1B75D7CD0B4C}"/>
                </a:ext>
              </a:extLst>
            </p:cNvPr>
            <p:cNvSpPr txBox="1"/>
            <p:nvPr/>
          </p:nvSpPr>
          <p:spPr>
            <a:xfrm>
              <a:off x="8476478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21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18E8D0A9-E2F3-4C3C-AC6F-F71F939D6A48}"/>
                </a:ext>
              </a:extLst>
            </p:cNvPr>
            <p:cNvSpPr txBox="1"/>
            <p:nvPr/>
          </p:nvSpPr>
          <p:spPr>
            <a:xfrm>
              <a:off x="9260001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26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C4EF1CDC-F016-461A-B9B4-B6EE0B3F50A0}"/>
                </a:ext>
              </a:extLst>
            </p:cNvPr>
            <p:cNvSpPr txBox="1"/>
            <p:nvPr/>
          </p:nvSpPr>
          <p:spPr>
            <a:xfrm>
              <a:off x="10288249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34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18667EFE-0592-4CBE-86C5-CD28824A4228}"/>
                </a:ext>
              </a:extLst>
            </p:cNvPr>
            <p:cNvSpPr txBox="1"/>
            <p:nvPr/>
          </p:nvSpPr>
          <p:spPr>
            <a:xfrm>
              <a:off x="11146004" y="4033850"/>
              <a:ext cx="6150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278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234587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916649" y="958884"/>
            <a:ext cx="7360823" cy="5394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chemeClr val="accent2"/>
                </a:solidFill>
              </a:rPr>
              <a:t>Formatos</a:t>
            </a:r>
          </a:p>
          <a:p>
            <a:pPr marL="127000" indent="0">
              <a:buNone/>
            </a:pPr>
            <a:r>
              <a:rPr lang="es-MX" sz="2000" dirty="0"/>
              <a:t>Los </a:t>
            </a:r>
            <a:r>
              <a:rPr lang="es-MX" sz="2000" b="1" dirty="0"/>
              <a:t>formatos</a:t>
            </a:r>
            <a:r>
              <a:rPr lang="es-MX" sz="2000" dirty="0"/>
              <a:t> determinan cómo se disponen los campos dentro de un único registro para permitir que el DBMS localice los datos. Existen varios formatos alternativos (Numero de campos fijo):</a:t>
            </a:r>
          </a:p>
          <a:p>
            <a:r>
              <a:rPr lang="es-MX" sz="2000" b="1" dirty="0"/>
              <a:t>Almacenamiento consecutivo con delimitadores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Prefijo de longitud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b="1" dirty="0"/>
              <a:t>Arreglo de desplazamientos</a:t>
            </a:r>
          </a:p>
        </p:txBody>
      </p:sp>
      <p:grpSp>
        <p:nvGrpSpPr>
          <p:cNvPr id="107" name="Group 42" title="Record 1">
            <a:extLst>
              <a:ext uri="{FF2B5EF4-FFF2-40B4-BE49-F238E27FC236}">
                <a16:creationId xmlns:a16="http://schemas.microsoft.com/office/drawing/2014/main" id="{166945D8-3641-4DBB-96EE-2F0D86FB592D}"/>
              </a:ext>
            </a:extLst>
          </p:cNvPr>
          <p:cNvGrpSpPr>
            <a:grpSpLocks/>
          </p:cNvGrpSpPr>
          <p:nvPr/>
        </p:nvGrpSpPr>
        <p:grpSpPr bwMode="auto">
          <a:xfrm>
            <a:off x="8324749" y="1425427"/>
            <a:ext cx="3312319" cy="988993"/>
            <a:chOff x="4424229" y="4316768"/>
            <a:chExt cx="4417865" cy="1317622"/>
          </a:xfrm>
        </p:grpSpPr>
        <p:sp>
          <p:nvSpPr>
            <p:cNvPr id="108" name="TextBox 43">
              <a:extLst>
                <a:ext uri="{FF2B5EF4-FFF2-40B4-BE49-F238E27FC236}">
                  <a16:creationId xmlns:a16="http://schemas.microsoft.com/office/drawing/2014/main" id="{B6588C25-BB87-40F7-A3AE-D837D89A6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518" y="4316768"/>
              <a:ext cx="4286576" cy="492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Record</a:t>
              </a:r>
            </a:p>
          </p:txBody>
        </p:sp>
        <p:grpSp>
          <p:nvGrpSpPr>
            <p:cNvPr id="109" name="Group 44">
              <a:extLst>
                <a:ext uri="{FF2B5EF4-FFF2-40B4-BE49-F238E27FC236}">
                  <a16:creationId xmlns:a16="http://schemas.microsoft.com/office/drawing/2014/main" id="{932999A4-5BEE-4831-AC8D-85D42CDDC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5518" y="4778432"/>
              <a:ext cx="4286576" cy="503582"/>
              <a:chOff x="4555518" y="4778432"/>
              <a:chExt cx="4286576" cy="503582"/>
            </a:xfrm>
          </p:grpSpPr>
          <p:sp>
            <p:nvSpPr>
              <p:cNvPr id="115" name="Rectangle 100">
                <a:extLst>
                  <a:ext uri="{FF2B5EF4-FFF2-40B4-BE49-F238E27FC236}">
                    <a16:creationId xmlns:a16="http://schemas.microsoft.com/office/drawing/2014/main" id="{56926B67-A271-4804-9EE6-36B254A8DF35}"/>
                  </a:ext>
                </a:extLst>
              </p:cNvPr>
              <p:cNvSpPr/>
              <p:nvPr/>
            </p:nvSpPr>
            <p:spPr bwMode="auto">
              <a:xfrm>
                <a:off x="4556035" y="4778366"/>
                <a:ext cx="751132" cy="5044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Bob</a:t>
                </a:r>
              </a:p>
            </p:txBody>
          </p:sp>
          <p:sp>
            <p:nvSpPr>
              <p:cNvPr id="116" name="Rectangle 101">
                <a:extLst>
                  <a:ext uri="{FF2B5EF4-FFF2-40B4-BE49-F238E27FC236}">
                    <a16:creationId xmlns:a16="http://schemas.microsoft.com/office/drawing/2014/main" id="{C1734E50-57F2-4E70-9486-902936BE17D4}"/>
                  </a:ext>
                </a:extLst>
              </p:cNvPr>
              <p:cNvSpPr/>
              <p:nvPr/>
            </p:nvSpPr>
            <p:spPr bwMode="auto">
              <a:xfrm>
                <a:off x="6469596" y="4778366"/>
                <a:ext cx="624091" cy="504429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M</a:t>
                </a:r>
              </a:p>
            </p:txBody>
          </p:sp>
          <p:sp>
            <p:nvSpPr>
              <p:cNvPr id="117" name="Rectangle 102">
                <a:extLst>
                  <a:ext uri="{FF2B5EF4-FFF2-40B4-BE49-F238E27FC236}">
                    <a16:creationId xmlns:a16="http://schemas.microsoft.com/office/drawing/2014/main" id="{2FA4E033-A72D-4A9B-99D5-D5A1E512205A}"/>
                  </a:ext>
                </a:extLst>
              </p:cNvPr>
              <p:cNvSpPr/>
              <p:nvPr/>
            </p:nvSpPr>
            <p:spPr bwMode="auto">
              <a:xfrm>
                <a:off x="7093687" y="4778366"/>
                <a:ext cx="622503" cy="504429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32</a:t>
                </a:r>
              </a:p>
            </p:txBody>
          </p:sp>
          <p:sp>
            <p:nvSpPr>
              <p:cNvPr id="118" name="Rectangle 103">
                <a:extLst>
                  <a:ext uri="{FF2B5EF4-FFF2-40B4-BE49-F238E27FC236}">
                    <a16:creationId xmlns:a16="http://schemas.microsoft.com/office/drawing/2014/main" id="{F17859D1-4E8B-4501-ABD7-FF21B2B07D1E}"/>
                  </a:ext>
                </a:extLst>
              </p:cNvPr>
              <p:cNvSpPr/>
              <p:nvPr/>
            </p:nvSpPr>
            <p:spPr bwMode="auto">
              <a:xfrm>
                <a:off x="7716190" y="4778366"/>
                <a:ext cx="1125904" cy="504429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94703</a:t>
                </a:r>
              </a:p>
            </p:txBody>
          </p:sp>
          <p:sp>
            <p:nvSpPr>
              <p:cNvPr id="119" name="Rectangle 109">
                <a:extLst>
                  <a:ext uri="{FF2B5EF4-FFF2-40B4-BE49-F238E27FC236}">
                    <a16:creationId xmlns:a16="http://schemas.microsoft.com/office/drawing/2014/main" id="{12E18314-68F2-4374-804F-43FF82BA1C46}"/>
                  </a:ext>
                </a:extLst>
              </p:cNvPr>
              <p:cNvSpPr/>
              <p:nvPr/>
            </p:nvSpPr>
            <p:spPr bwMode="auto">
              <a:xfrm>
                <a:off x="5307167" y="4778366"/>
                <a:ext cx="1162429" cy="5044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Big, St.</a:t>
                </a:r>
              </a:p>
            </p:txBody>
          </p:sp>
        </p:grpSp>
        <p:sp>
          <p:nvSpPr>
            <p:cNvPr id="110" name="TextBox 95">
              <a:extLst>
                <a:ext uri="{FF2B5EF4-FFF2-40B4-BE49-F238E27FC236}">
                  <a16:creationId xmlns:a16="http://schemas.microsoft.com/office/drawing/2014/main" id="{86E29FDB-9CAB-4790-A94C-156A72B1534A}"/>
                </a:ext>
              </a:extLst>
            </p:cNvPr>
            <p:cNvSpPr txBox="1"/>
            <p:nvPr/>
          </p:nvSpPr>
          <p:spPr>
            <a:xfrm>
              <a:off x="4424229" y="5265348"/>
              <a:ext cx="1205425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b="1" dirty="0">
                  <a:ln w="0"/>
                  <a:solidFill>
                    <a:srgbClr val="00B05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VARCHAR</a:t>
              </a:r>
            </a:p>
          </p:txBody>
        </p:sp>
        <p:sp>
          <p:nvSpPr>
            <p:cNvPr id="111" name="TextBox 96">
              <a:extLst>
                <a:ext uri="{FF2B5EF4-FFF2-40B4-BE49-F238E27FC236}">
                  <a16:creationId xmlns:a16="http://schemas.microsoft.com/office/drawing/2014/main" id="{FDA33405-9542-46BE-8C89-65DEFF7883A7}"/>
                </a:ext>
              </a:extLst>
            </p:cNvPr>
            <p:cNvSpPr txBox="1"/>
            <p:nvPr/>
          </p:nvSpPr>
          <p:spPr>
            <a:xfrm>
              <a:off x="5421505" y="5265348"/>
              <a:ext cx="1205425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b="1" dirty="0">
                  <a:ln w="0"/>
                  <a:solidFill>
                    <a:srgbClr val="00B050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VARCHAR</a:t>
              </a:r>
            </a:p>
          </p:txBody>
        </p:sp>
        <p:sp>
          <p:nvSpPr>
            <p:cNvPr id="112" name="TextBox 97">
              <a:extLst>
                <a:ext uri="{FF2B5EF4-FFF2-40B4-BE49-F238E27FC236}">
                  <a16:creationId xmlns:a16="http://schemas.microsoft.com/office/drawing/2014/main" id="{22058033-C479-4D88-94A4-D7E843527E5B}"/>
                </a:ext>
              </a:extLst>
            </p:cNvPr>
            <p:cNvSpPr txBox="1"/>
            <p:nvPr/>
          </p:nvSpPr>
          <p:spPr>
            <a:xfrm>
              <a:off x="6480712" y="5259004"/>
              <a:ext cx="815019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CHAR</a:t>
              </a:r>
              <a:endParaRPr lang="en-US" sz="15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endParaRPr>
            </a:p>
          </p:txBody>
        </p:sp>
        <p:sp>
          <p:nvSpPr>
            <p:cNvPr id="113" name="TextBox 98">
              <a:extLst>
                <a:ext uri="{FF2B5EF4-FFF2-40B4-BE49-F238E27FC236}">
                  <a16:creationId xmlns:a16="http://schemas.microsoft.com/office/drawing/2014/main" id="{2BC43253-82E6-4785-B106-6A4F972DA9CE}"/>
                </a:ext>
              </a:extLst>
            </p:cNvPr>
            <p:cNvSpPr txBox="1"/>
            <p:nvPr/>
          </p:nvSpPr>
          <p:spPr>
            <a:xfrm>
              <a:off x="7187380" y="5257416"/>
              <a:ext cx="564869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INT</a:t>
              </a:r>
            </a:p>
          </p:txBody>
        </p:sp>
        <p:sp>
          <p:nvSpPr>
            <p:cNvPr id="114" name="TextBox 99">
              <a:extLst>
                <a:ext uri="{FF2B5EF4-FFF2-40B4-BE49-F238E27FC236}">
                  <a16:creationId xmlns:a16="http://schemas.microsoft.com/office/drawing/2014/main" id="{CC91F3A7-4C29-4C6E-BA93-8782F10052C7}"/>
                </a:ext>
              </a:extLst>
            </p:cNvPr>
            <p:cNvSpPr txBox="1"/>
            <p:nvPr/>
          </p:nvSpPr>
          <p:spPr>
            <a:xfrm>
              <a:off x="8062379" y="5260588"/>
              <a:ext cx="564869" cy="3690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200" dirty="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charset="0"/>
                </a:rPr>
                <a:t>INT</a:t>
              </a:r>
            </a:p>
          </p:txBody>
        </p:sp>
      </p:grpSp>
      <p:grpSp>
        <p:nvGrpSpPr>
          <p:cNvPr id="120" name="Group 39" descr="(Bob, Big, Str. , M , 32 , 94703) " title="Comma Separated Record">
            <a:extLst>
              <a:ext uri="{FF2B5EF4-FFF2-40B4-BE49-F238E27FC236}">
                <a16:creationId xmlns:a16="http://schemas.microsoft.com/office/drawing/2014/main" id="{8B922081-621D-4BD9-87A4-1D4B2E3B7897}"/>
              </a:ext>
            </a:extLst>
          </p:cNvPr>
          <p:cNvGrpSpPr>
            <a:grpSpLocks/>
          </p:cNvGrpSpPr>
          <p:nvPr/>
        </p:nvGrpSpPr>
        <p:grpSpPr bwMode="auto">
          <a:xfrm>
            <a:off x="4390082" y="3177427"/>
            <a:ext cx="4095750" cy="1016377"/>
            <a:chOff x="2097650" y="4143311"/>
            <a:chExt cx="5461765" cy="1356647"/>
          </a:xfrm>
        </p:grpSpPr>
        <p:sp>
          <p:nvSpPr>
            <p:cNvPr id="121" name="TextBox 43">
              <a:extLst>
                <a:ext uri="{FF2B5EF4-FFF2-40B4-BE49-F238E27FC236}">
                  <a16:creationId xmlns:a16="http://schemas.microsoft.com/office/drawing/2014/main" id="{E638DA57-31FF-44B3-8B25-B2396667A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1364" y="4143311"/>
              <a:ext cx="5082363" cy="492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entury Gothic" charset="0"/>
                  <a:ea typeface="Osaka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Comma Separated Values (CSV)</a:t>
              </a:r>
            </a:p>
          </p:txBody>
        </p:sp>
        <p:grpSp>
          <p:nvGrpSpPr>
            <p:cNvPr id="122" name="Group 56">
              <a:extLst>
                <a:ext uri="{FF2B5EF4-FFF2-40B4-BE49-F238E27FC236}">
                  <a16:creationId xmlns:a16="http://schemas.microsoft.com/office/drawing/2014/main" id="{F963501E-C273-48AD-99EA-B1D6C5CB2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7650" y="4623259"/>
              <a:ext cx="5461765" cy="876699"/>
              <a:chOff x="1115871" y="4863044"/>
              <a:chExt cx="5461765" cy="876699"/>
            </a:xfrm>
          </p:grpSpPr>
          <p:grpSp>
            <p:nvGrpSpPr>
              <p:cNvPr id="123" name="Group 57">
                <a:extLst>
                  <a:ext uri="{FF2B5EF4-FFF2-40B4-BE49-F238E27FC236}">
                    <a16:creationId xmlns:a16="http://schemas.microsoft.com/office/drawing/2014/main" id="{BD317766-2980-441B-B732-7A51C5E946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5871" y="4863044"/>
                <a:ext cx="1205201" cy="876699"/>
                <a:chOff x="1712346" y="4878092"/>
                <a:chExt cx="1205201" cy="876699"/>
              </a:xfrm>
            </p:grpSpPr>
            <p:sp>
              <p:nvSpPr>
                <p:cNvPr id="140" name="Rectangle 90">
                  <a:extLst>
                    <a:ext uri="{FF2B5EF4-FFF2-40B4-BE49-F238E27FC236}">
                      <a16:creationId xmlns:a16="http://schemas.microsoft.com/office/drawing/2014/main" id="{434F134D-ACB6-4863-B776-A0E28F3E168E}"/>
                    </a:ext>
                  </a:extLst>
                </p:cNvPr>
                <p:cNvSpPr/>
                <p:nvPr/>
              </p:nvSpPr>
              <p:spPr bwMode="auto">
                <a:xfrm>
                  <a:off x="1821898" y="4878092"/>
                  <a:ext cx="750993" cy="505376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Bob</a:t>
                  </a:r>
                </a:p>
              </p:txBody>
            </p:sp>
            <p:sp>
              <p:nvSpPr>
                <p:cNvPr id="141" name="TextBox 91">
                  <a:extLst>
                    <a:ext uri="{FF2B5EF4-FFF2-40B4-BE49-F238E27FC236}">
                      <a16:creationId xmlns:a16="http://schemas.microsoft.com/office/drawing/2014/main" id="{1B25C3FA-0E58-4DE6-B451-DCDA51875260}"/>
                    </a:ext>
                  </a:extLst>
                </p:cNvPr>
                <p:cNvSpPr txBox="1"/>
                <p:nvPr/>
              </p:nvSpPr>
              <p:spPr bwMode="auto">
                <a:xfrm>
                  <a:off x="1712346" y="5385056"/>
                  <a:ext cx="1205201" cy="36973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b="1" dirty="0">
                      <a:solidFill>
                        <a:srgbClr val="00B050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VARCHAR</a:t>
                  </a:r>
                </a:p>
              </p:txBody>
            </p:sp>
          </p:grpSp>
          <p:grpSp>
            <p:nvGrpSpPr>
              <p:cNvPr id="124" name="Group 68">
                <a:extLst>
                  <a:ext uri="{FF2B5EF4-FFF2-40B4-BE49-F238E27FC236}">
                    <a16:creationId xmlns:a16="http://schemas.microsoft.com/office/drawing/2014/main" id="{4BB87969-D4DB-420D-9018-AAF610E659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32039" y="4863044"/>
                <a:ext cx="1324281" cy="871932"/>
                <a:chOff x="2931291" y="4873329"/>
                <a:chExt cx="1324281" cy="871932"/>
              </a:xfrm>
            </p:grpSpPr>
            <p:sp>
              <p:nvSpPr>
                <p:cNvPr id="138" name="Rectangle 88">
                  <a:extLst>
                    <a:ext uri="{FF2B5EF4-FFF2-40B4-BE49-F238E27FC236}">
                      <a16:creationId xmlns:a16="http://schemas.microsoft.com/office/drawing/2014/main" id="{219A8C2C-F320-4F4D-B880-B9330D4FD6ED}"/>
                    </a:ext>
                  </a:extLst>
                </p:cNvPr>
                <p:cNvSpPr/>
                <p:nvPr/>
              </p:nvSpPr>
              <p:spPr bwMode="auto">
                <a:xfrm>
                  <a:off x="2931291" y="4873329"/>
                  <a:ext cx="1162213" cy="505376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Big, St.</a:t>
                  </a:r>
                </a:p>
              </p:txBody>
            </p:sp>
            <p:sp>
              <p:nvSpPr>
                <p:cNvPr id="139" name="TextBox 89">
                  <a:extLst>
                    <a:ext uri="{FF2B5EF4-FFF2-40B4-BE49-F238E27FC236}">
                      <a16:creationId xmlns:a16="http://schemas.microsoft.com/office/drawing/2014/main" id="{E2E78902-5CAD-4CEB-AD1C-0DBC46D923B9}"/>
                    </a:ext>
                  </a:extLst>
                </p:cNvPr>
                <p:cNvSpPr txBox="1"/>
                <p:nvPr/>
              </p:nvSpPr>
              <p:spPr bwMode="auto">
                <a:xfrm>
                  <a:off x="3050372" y="5375526"/>
                  <a:ext cx="1205200" cy="36973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b="1" dirty="0">
                      <a:solidFill>
                        <a:srgbClr val="00B050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VARCHAR</a:t>
                  </a:r>
                </a:p>
              </p:txBody>
            </p:sp>
          </p:grpSp>
          <p:grpSp>
            <p:nvGrpSpPr>
              <p:cNvPr id="125" name="Group 69">
                <a:extLst>
                  <a:ext uri="{FF2B5EF4-FFF2-40B4-BE49-F238E27FC236}">
                    <a16:creationId xmlns:a16="http://schemas.microsoft.com/office/drawing/2014/main" id="{EB41725E-CD2B-4753-AD92-3C37147E81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0042" y="4863044"/>
                <a:ext cx="825982" cy="851271"/>
                <a:chOff x="4248685" y="4878092"/>
                <a:chExt cx="825982" cy="851271"/>
              </a:xfrm>
            </p:grpSpPr>
            <p:sp>
              <p:nvSpPr>
                <p:cNvPr id="136" name="Rectangle 86">
                  <a:extLst>
                    <a:ext uri="{FF2B5EF4-FFF2-40B4-BE49-F238E27FC236}">
                      <a16:creationId xmlns:a16="http://schemas.microsoft.com/office/drawing/2014/main" id="{1C975A11-9944-4E97-838F-789A63FFAC46}"/>
                    </a:ext>
                  </a:extLst>
                </p:cNvPr>
                <p:cNvSpPr/>
                <p:nvPr/>
              </p:nvSpPr>
              <p:spPr bwMode="auto">
                <a:xfrm>
                  <a:off x="4248685" y="4878092"/>
                  <a:ext cx="623975" cy="505376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M</a:t>
                  </a:r>
                </a:p>
              </p:txBody>
            </p:sp>
            <p:sp>
              <p:nvSpPr>
                <p:cNvPr id="137" name="TextBox 87">
                  <a:extLst>
                    <a:ext uri="{FF2B5EF4-FFF2-40B4-BE49-F238E27FC236}">
                      <a16:creationId xmlns:a16="http://schemas.microsoft.com/office/drawing/2014/main" id="{099C09AA-BA5D-4EA5-AFBC-9B3B4931E42A}"/>
                    </a:ext>
                  </a:extLst>
                </p:cNvPr>
                <p:cNvSpPr txBox="1"/>
                <p:nvPr/>
              </p:nvSpPr>
              <p:spPr bwMode="auto">
                <a:xfrm>
                  <a:off x="4259800" y="5359629"/>
                  <a:ext cx="814867" cy="36973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2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CHAR</a:t>
                  </a:r>
                </a:p>
              </p:txBody>
            </p:sp>
          </p:grpSp>
          <p:grpSp>
            <p:nvGrpSpPr>
              <p:cNvPr id="126" name="Group 70">
                <a:extLst>
                  <a:ext uri="{FF2B5EF4-FFF2-40B4-BE49-F238E27FC236}">
                    <a16:creationId xmlns:a16="http://schemas.microsoft.com/office/drawing/2014/main" id="{B37D5A97-E153-4911-B45B-5754EEF669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7579" y="4863044"/>
                <a:ext cx="658438" cy="849683"/>
                <a:chOff x="4872401" y="4878092"/>
                <a:chExt cx="658438" cy="849683"/>
              </a:xfrm>
            </p:grpSpPr>
            <p:sp>
              <p:nvSpPr>
                <p:cNvPr id="134" name="Rectangle 84">
                  <a:extLst>
                    <a:ext uri="{FF2B5EF4-FFF2-40B4-BE49-F238E27FC236}">
                      <a16:creationId xmlns:a16="http://schemas.microsoft.com/office/drawing/2014/main" id="{185DF4FC-5858-4883-B262-EA08EB6619A8}"/>
                    </a:ext>
                  </a:extLst>
                </p:cNvPr>
                <p:cNvSpPr/>
                <p:nvPr/>
              </p:nvSpPr>
              <p:spPr bwMode="auto">
                <a:xfrm>
                  <a:off x="4872401" y="4878092"/>
                  <a:ext cx="622387" cy="505376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32</a:t>
                  </a:r>
                </a:p>
              </p:txBody>
            </p:sp>
            <p:sp>
              <p:nvSpPr>
                <p:cNvPr id="135" name="TextBox 85">
                  <a:extLst>
                    <a:ext uri="{FF2B5EF4-FFF2-40B4-BE49-F238E27FC236}">
                      <a16:creationId xmlns:a16="http://schemas.microsoft.com/office/drawing/2014/main" id="{97A7B16B-D4EB-4EC6-BB41-5D025C38CCD6}"/>
                    </a:ext>
                  </a:extLst>
                </p:cNvPr>
                <p:cNvSpPr txBox="1"/>
                <p:nvPr/>
              </p:nvSpPr>
              <p:spPr bwMode="auto">
                <a:xfrm>
                  <a:off x="4966075" y="5358040"/>
                  <a:ext cx="564764" cy="36973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2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INT</a:t>
                  </a:r>
                </a:p>
              </p:txBody>
            </p:sp>
          </p:grpSp>
          <p:grpSp>
            <p:nvGrpSpPr>
              <p:cNvPr id="127" name="Group 71">
                <a:extLst>
                  <a:ext uri="{FF2B5EF4-FFF2-40B4-BE49-F238E27FC236}">
                    <a16:creationId xmlns:a16="http://schemas.microsoft.com/office/drawing/2014/main" id="{EE905F7D-E3E6-4379-B710-889944DD01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51940" y="4863044"/>
                <a:ext cx="1125696" cy="852861"/>
                <a:chOff x="5494178" y="4878092"/>
                <a:chExt cx="1125696" cy="852861"/>
              </a:xfrm>
            </p:grpSpPr>
            <p:sp>
              <p:nvSpPr>
                <p:cNvPr id="132" name="Rectangle 82">
                  <a:extLst>
                    <a:ext uri="{FF2B5EF4-FFF2-40B4-BE49-F238E27FC236}">
                      <a16:creationId xmlns:a16="http://schemas.microsoft.com/office/drawing/2014/main" id="{D1B95211-5D34-430A-B387-12F1751839EE}"/>
                    </a:ext>
                  </a:extLst>
                </p:cNvPr>
                <p:cNvSpPr/>
                <p:nvPr/>
              </p:nvSpPr>
              <p:spPr bwMode="auto">
                <a:xfrm>
                  <a:off x="5494178" y="4878092"/>
                  <a:ext cx="1125696" cy="505376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94703</a:t>
                  </a:r>
                </a:p>
              </p:txBody>
            </p:sp>
            <p:sp>
              <p:nvSpPr>
                <p:cNvPr id="133" name="TextBox 83">
                  <a:extLst>
                    <a:ext uri="{FF2B5EF4-FFF2-40B4-BE49-F238E27FC236}">
                      <a16:creationId xmlns:a16="http://schemas.microsoft.com/office/drawing/2014/main" id="{BB571D7D-C1DA-4415-86E6-8794A685EA4E}"/>
                    </a:ext>
                  </a:extLst>
                </p:cNvPr>
                <p:cNvSpPr txBox="1"/>
                <p:nvPr/>
              </p:nvSpPr>
              <p:spPr bwMode="auto">
                <a:xfrm>
                  <a:off x="5840302" y="5361218"/>
                  <a:ext cx="564764" cy="36973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2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INT</a:t>
                  </a:r>
                </a:p>
              </p:txBody>
            </p:sp>
          </p:grpSp>
          <p:sp>
            <p:nvSpPr>
              <p:cNvPr id="128" name="Rectangle 47">
                <a:extLst>
                  <a:ext uri="{FF2B5EF4-FFF2-40B4-BE49-F238E27FC236}">
                    <a16:creationId xmlns:a16="http://schemas.microsoft.com/office/drawing/2014/main" id="{CAD31378-A45D-4CB8-B60D-3676507A7346}"/>
                  </a:ext>
                </a:extLst>
              </p:cNvPr>
              <p:cNvSpPr/>
              <p:nvPr/>
            </p:nvSpPr>
            <p:spPr bwMode="auto">
              <a:xfrm>
                <a:off x="1979592" y="4863044"/>
                <a:ext cx="258798" cy="505376"/>
              </a:xfrm>
              <a:prstGeom prst="rect">
                <a:avLst/>
              </a:prstGeom>
              <a:solidFill>
                <a:schemeClr val="tx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,</a:t>
                </a:r>
                <a:endParaRPr lang="en-US" sz="13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29" name="Rectangle 48">
                <a:extLst>
                  <a:ext uri="{FF2B5EF4-FFF2-40B4-BE49-F238E27FC236}">
                    <a16:creationId xmlns:a16="http://schemas.microsoft.com/office/drawing/2014/main" id="{7DD14CD3-F26E-4431-AC63-53475BAD8370}"/>
                  </a:ext>
                </a:extLst>
              </p:cNvPr>
              <p:cNvSpPr/>
              <p:nvPr/>
            </p:nvSpPr>
            <p:spPr bwMode="auto">
              <a:xfrm>
                <a:off x="3414893" y="4863044"/>
                <a:ext cx="257211" cy="505376"/>
              </a:xfrm>
              <a:prstGeom prst="rect">
                <a:avLst/>
              </a:prstGeom>
              <a:solidFill>
                <a:schemeClr val="tx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,</a:t>
                </a:r>
                <a:endParaRPr lang="en-US" sz="13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30" name="Rectangle 49">
                <a:extLst>
                  <a:ext uri="{FF2B5EF4-FFF2-40B4-BE49-F238E27FC236}">
                    <a16:creationId xmlns:a16="http://schemas.microsoft.com/office/drawing/2014/main" id="{3C298CCC-4AF5-49CA-A112-5153BBBB8CAA}"/>
                  </a:ext>
                </a:extLst>
              </p:cNvPr>
              <p:cNvSpPr/>
              <p:nvPr/>
            </p:nvSpPr>
            <p:spPr bwMode="auto">
              <a:xfrm>
                <a:off x="4310368" y="4863044"/>
                <a:ext cx="257211" cy="505376"/>
              </a:xfrm>
              <a:prstGeom prst="rect">
                <a:avLst/>
              </a:prstGeom>
              <a:solidFill>
                <a:schemeClr val="tx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,</a:t>
                </a:r>
                <a:endParaRPr lang="en-US" sz="13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31" name="Rectangle 50">
                <a:extLst>
                  <a:ext uri="{FF2B5EF4-FFF2-40B4-BE49-F238E27FC236}">
                    <a16:creationId xmlns:a16="http://schemas.microsoft.com/office/drawing/2014/main" id="{F699EF67-A656-4063-8F6B-75BE36320779}"/>
                  </a:ext>
                </a:extLst>
              </p:cNvPr>
              <p:cNvSpPr/>
              <p:nvPr/>
            </p:nvSpPr>
            <p:spPr bwMode="auto">
              <a:xfrm>
                <a:off x="5210607" y="4863044"/>
                <a:ext cx="257211" cy="505376"/>
              </a:xfrm>
              <a:prstGeom prst="rect">
                <a:avLst/>
              </a:prstGeom>
              <a:solidFill>
                <a:schemeClr val="tx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,</a:t>
                </a:r>
                <a:endParaRPr lang="en-US" sz="13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sp>
        <p:nvSpPr>
          <p:cNvPr id="143" name="TextBox 43">
            <a:extLst>
              <a:ext uri="{FF2B5EF4-FFF2-40B4-BE49-F238E27FC236}">
                <a16:creationId xmlns:a16="http://schemas.microsoft.com/office/drawing/2014/main" id="{1CE86F9D-C57F-43FC-AF21-E1526462E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842" y="4556708"/>
            <a:ext cx="38112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entury Gothic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entury Gothic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entury Gothic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Length Prefix</a:t>
            </a:r>
          </a:p>
        </p:txBody>
      </p:sp>
      <p:grpSp>
        <p:nvGrpSpPr>
          <p:cNvPr id="144" name="Group 56">
            <a:extLst>
              <a:ext uri="{FF2B5EF4-FFF2-40B4-BE49-F238E27FC236}">
                <a16:creationId xmlns:a16="http://schemas.microsoft.com/office/drawing/2014/main" id="{C83CB63E-3EED-48F5-AB8F-0401447BEE98}"/>
              </a:ext>
            </a:extLst>
          </p:cNvPr>
          <p:cNvGrpSpPr>
            <a:grpSpLocks/>
          </p:cNvGrpSpPr>
          <p:nvPr/>
        </p:nvGrpSpPr>
        <p:grpSpPr bwMode="auto">
          <a:xfrm>
            <a:off x="4390082" y="4916277"/>
            <a:ext cx="4095750" cy="656808"/>
            <a:chOff x="1115871" y="4863044"/>
            <a:chExt cx="5461765" cy="876699"/>
          </a:xfrm>
        </p:grpSpPr>
        <p:grpSp>
          <p:nvGrpSpPr>
            <p:cNvPr id="146" name="Group 57">
              <a:extLst>
                <a:ext uri="{FF2B5EF4-FFF2-40B4-BE49-F238E27FC236}">
                  <a16:creationId xmlns:a16="http://schemas.microsoft.com/office/drawing/2014/main" id="{B57FC1DF-5970-4623-8929-99F102CCC7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5871" y="4863044"/>
              <a:ext cx="1205201" cy="876699"/>
              <a:chOff x="1712346" y="4878092"/>
              <a:chExt cx="1205201" cy="876699"/>
            </a:xfrm>
          </p:grpSpPr>
          <p:sp>
            <p:nvSpPr>
              <p:cNvPr id="163" name="Rectangle 90">
                <a:extLst>
                  <a:ext uri="{FF2B5EF4-FFF2-40B4-BE49-F238E27FC236}">
                    <a16:creationId xmlns:a16="http://schemas.microsoft.com/office/drawing/2014/main" id="{0936FE3C-87F4-4200-8513-B5AF110EBDFA}"/>
                  </a:ext>
                </a:extLst>
              </p:cNvPr>
              <p:cNvSpPr/>
              <p:nvPr/>
            </p:nvSpPr>
            <p:spPr bwMode="auto">
              <a:xfrm>
                <a:off x="1821898" y="4878092"/>
                <a:ext cx="750993" cy="50537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Bob</a:t>
                </a:r>
              </a:p>
            </p:txBody>
          </p:sp>
          <p:sp>
            <p:nvSpPr>
              <p:cNvPr id="164" name="TextBox 91">
                <a:extLst>
                  <a:ext uri="{FF2B5EF4-FFF2-40B4-BE49-F238E27FC236}">
                    <a16:creationId xmlns:a16="http://schemas.microsoft.com/office/drawing/2014/main" id="{26B2507B-22AC-4225-96C3-8932F66D124C}"/>
                  </a:ext>
                </a:extLst>
              </p:cNvPr>
              <p:cNvSpPr txBox="1"/>
              <p:nvPr/>
            </p:nvSpPr>
            <p:spPr bwMode="auto">
              <a:xfrm>
                <a:off x="1712346" y="5385056"/>
                <a:ext cx="1205201" cy="3697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b="1" dirty="0">
                    <a:solidFill>
                      <a:srgbClr val="00B05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VARCHAR</a:t>
                </a:r>
              </a:p>
            </p:txBody>
          </p:sp>
        </p:grpSp>
        <p:grpSp>
          <p:nvGrpSpPr>
            <p:cNvPr id="147" name="Group 68">
              <a:extLst>
                <a:ext uri="{FF2B5EF4-FFF2-40B4-BE49-F238E27FC236}">
                  <a16:creationId xmlns:a16="http://schemas.microsoft.com/office/drawing/2014/main" id="{DEB0EA81-1A65-44FC-8B45-8C2ABFAA8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2039" y="4863044"/>
              <a:ext cx="1324281" cy="871932"/>
              <a:chOff x="2931291" y="4873329"/>
              <a:chExt cx="1324281" cy="871932"/>
            </a:xfrm>
          </p:grpSpPr>
          <p:sp>
            <p:nvSpPr>
              <p:cNvPr id="161" name="Rectangle 88">
                <a:extLst>
                  <a:ext uri="{FF2B5EF4-FFF2-40B4-BE49-F238E27FC236}">
                    <a16:creationId xmlns:a16="http://schemas.microsoft.com/office/drawing/2014/main" id="{86A8E788-F7E4-40A1-A8D3-73D9B17B2875}"/>
                  </a:ext>
                </a:extLst>
              </p:cNvPr>
              <p:cNvSpPr/>
              <p:nvPr/>
            </p:nvSpPr>
            <p:spPr bwMode="auto">
              <a:xfrm>
                <a:off x="2931291" y="4873329"/>
                <a:ext cx="1162213" cy="50537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Big, St.</a:t>
                </a:r>
              </a:p>
            </p:txBody>
          </p:sp>
          <p:sp>
            <p:nvSpPr>
              <p:cNvPr id="162" name="TextBox 89">
                <a:extLst>
                  <a:ext uri="{FF2B5EF4-FFF2-40B4-BE49-F238E27FC236}">
                    <a16:creationId xmlns:a16="http://schemas.microsoft.com/office/drawing/2014/main" id="{5B1CCE3C-C566-49D4-89A4-64F25736BA95}"/>
                  </a:ext>
                </a:extLst>
              </p:cNvPr>
              <p:cNvSpPr txBox="1"/>
              <p:nvPr/>
            </p:nvSpPr>
            <p:spPr bwMode="auto">
              <a:xfrm>
                <a:off x="3050372" y="5375526"/>
                <a:ext cx="1205200" cy="3697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b="1" dirty="0">
                    <a:solidFill>
                      <a:srgbClr val="00B05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VARCHAR</a:t>
                </a:r>
              </a:p>
            </p:txBody>
          </p:sp>
        </p:grpSp>
        <p:grpSp>
          <p:nvGrpSpPr>
            <p:cNvPr id="148" name="Group 69">
              <a:extLst>
                <a:ext uri="{FF2B5EF4-FFF2-40B4-BE49-F238E27FC236}">
                  <a16:creationId xmlns:a16="http://schemas.microsoft.com/office/drawing/2014/main" id="{3D287894-4496-423F-9269-583228297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0042" y="4863044"/>
              <a:ext cx="825982" cy="851271"/>
              <a:chOff x="4248685" y="4878092"/>
              <a:chExt cx="825982" cy="851271"/>
            </a:xfrm>
          </p:grpSpPr>
          <p:sp>
            <p:nvSpPr>
              <p:cNvPr id="159" name="Rectangle 86">
                <a:extLst>
                  <a:ext uri="{FF2B5EF4-FFF2-40B4-BE49-F238E27FC236}">
                    <a16:creationId xmlns:a16="http://schemas.microsoft.com/office/drawing/2014/main" id="{A46DCD8C-77E2-4B4A-8313-77E06E7F8EDE}"/>
                  </a:ext>
                </a:extLst>
              </p:cNvPr>
              <p:cNvSpPr/>
              <p:nvPr/>
            </p:nvSpPr>
            <p:spPr bwMode="auto">
              <a:xfrm>
                <a:off x="4248685" y="4878092"/>
                <a:ext cx="623975" cy="50537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M</a:t>
                </a:r>
              </a:p>
            </p:txBody>
          </p:sp>
          <p:sp>
            <p:nvSpPr>
              <p:cNvPr id="160" name="TextBox 87">
                <a:extLst>
                  <a:ext uri="{FF2B5EF4-FFF2-40B4-BE49-F238E27FC236}">
                    <a16:creationId xmlns:a16="http://schemas.microsoft.com/office/drawing/2014/main" id="{29E6F382-9C7E-4387-BE21-9EB61DB2CC2A}"/>
                  </a:ext>
                </a:extLst>
              </p:cNvPr>
              <p:cNvSpPr txBox="1"/>
              <p:nvPr/>
            </p:nvSpPr>
            <p:spPr bwMode="auto">
              <a:xfrm>
                <a:off x="4259800" y="5359629"/>
                <a:ext cx="814867" cy="36973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chemeClr val="accent2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CHAR</a:t>
                </a:r>
              </a:p>
            </p:txBody>
          </p:sp>
        </p:grpSp>
        <p:grpSp>
          <p:nvGrpSpPr>
            <p:cNvPr id="149" name="Group 70">
              <a:extLst>
                <a:ext uri="{FF2B5EF4-FFF2-40B4-BE49-F238E27FC236}">
                  <a16:creationId xmlns:a16="http://schemas.microsoft.com/office/drawing/2014/main" id="{0EE75066-437E-4193-B065-5A05A63924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7579" y="4863044"/>
              <a:ext cx="658438" cy="849683"/>
              <a:chOff x="4872401" y="4878092"/>
              <a:chExt cx="658438" cy="849683"/>
            </a:xfrm>
          </p:grpSpPr>
          <p:sp>
            <p:nvSpPr>
              <p:cNvPr id="157" name="Rectangle 84">
                <a:extLst>
                  <a:ext uri="{FF2B5EF4-FFF2-40B4-BE49-F238E27FC236}">
                    <a16:creationId xmlns:a16="http://schemas.microsoft.com/office/drawing/2014/main" id="{2E55FF9B-3758-4C6D-820E-B60E91C39535}"/>
                  </a:ext>
                </a:extLst>
              </p:cNvPr>
              <p:cNvSpPr/>
              <p:nvPr/>
            </p:nvSpPr>
            <p:spPr bwMode="auto">
              <a:xfrm>
                <a:off x="4872401" y="4878092"/>
                <a:ext cx="622387" cy="50537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32</a:t>
                </a:r>
              </a:p>
            </p:txBody>
          </p:sp>
          <p:sp>
            <p:nvSpPr>
              <p:cNvPr id="158" name="TextBox 85">
                <a:extLst>
                  <a:ext uri="{FF2B5EF4-FFF2-40B4-BE49-F238E27FC236}">
                    <a16:creationId xmlns:a16="http://schemas.microsoft.com/office/drawing/2014/main" id="{B842229A-B8EF-4EA0-B3E4-32804401674A}"/>
                  </a:ext>
                </a:extLst>
              </p:cNvPr>
              <p:cNvSpPr txBox="1"/>
              <p:nvPr/>
            </p:nvSpPr>
            <p:spPr bwMode="auto">
              <a:xfrm>
                <a:off x="4966075" y="5358040"/>
                <a:ext cx="564764" cy="3697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chemeClr val="accent2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INT</a:t>
                </a:r>
              </a:p>
            </p:txBody>
          </p:sp>
        </p:grpSp>
        <p:grpSp>
          <p:nvGrpSpPr>
            <p:cNvPr id="150" name="Group 71">
              <a:extLst>
                <a:ext uri="{FF2B5EF4-FFF2-40B4-BE49-F238E27FC236}">
                  <a16:creationId xmlns:a16="http://schemas.microsoft.com/office/drawing/2014/main" id="{94726EEA-9992-4657-8A94-1AD050AD0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1940" y="4863044"/>
              <a:ext cx="1125696" cy="852861"/>
              <a:chOff x="5494178" y="4878092"/>
              <a:chExt cx="1125696" cy="852861"/>
            </a:xfrm>
          </p:grpSpPr>
          <p:sp>
            <p:nvSpPr>
              <p:cNvPr id="155" name="Rectangle 82">
                <a:extLst>
                  <a:ext uri="{FF2B5EF4-FFF2-40B4-BE49-F238E27FC236}">
                    <a16:creationId xmlns:a16="http://schemas.microsoft.com/office/drawing/2014/main" id="{25DC05F8-208A-430B-BAAA-5C4E9EB32184}"/>
                  </a:ext>
                </a:extLst>
              </p:cNvPr>
              <p:cNvSpPr/>
              <p:nvPr/>
            </p:nvSpPr>
            <p:spPr bwMode="auto">
              <a:xfrm>
                <a:off x="5494178" y="4878092"/>
                <a:ext cx="1125696" cy="50537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94703</a:t>
                </a:r>
              </a:p>
            </p:txBody>
          </p:sp>
          <p:sp>
            <p:nvSpPr>
              <p:cNvPr id="156" name="TextBox 83">
                <a:extLst>
                  <a:ext uri="{FF2B5EF4-FFF2-40B4-BE49-F238E27FC236}">
                    <a16:creationId xmlns:a16="http://schemas.microsoft.com/office/drawing/2014/main" id="{38F9B0B1-8E6B-4A0E-B55D-C213DD5AE2DA}"/>
                  </a:ext>
                </a:extLst>
              </p:cNvPr>
              <p:cNvSpPr txBox="1"/>
              <p:nvPr/>
            </p:nvSpPr>
            <p:spPr bwMode="auto">
              <a:xfrm>
                <a:off x="5840302" y="5361218"/>
                <a:ext cx="564764" cy="3697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solidFill>
                      <a:schemeClr val="accent2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" charset="0"/>
                  </a:rPr>
                  <a:t>INT</a:t>
                </a:r>
              </a:p>
            </p:txBody>
          </p:sp>
        </p:grp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7836382D-533D-40F7-9161-2FA8BF4345D2}"/>
                </a:ext>
              </a:extLst>
            </p:cNvPr>
            <p:cNvSpPr/>
            <p:nvPr/>
          </p:nvSpPr>
          <p:spPr bwMode="auto">
            <a:xfrm>
              <a:off x="1979592" y="4863044"/>
              <a:ext cx="258798" cy="505376"/>
            </a:xfrm>
            <a:prstGeom prst="rect">
              <a:avLst/>
            </a:prstGeom>
            <a:solidFill>
              <a:schemeClr val="tx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24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</a:t>
              </a:r>
              <a:endParaRPr lang="en-US" sz="13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2" name="Rectangle 48">
              <a:extLst>
                <a:ext uri="{FF2B5EF4-FFF2-40B4-BE49-F238E27FC236}">
                  <a16:creationId xmlns:a16="http://schemas.microsoft.com/office/drawing/2014/main" id="{09D3BA25-F609-4953-89E0-4AE15E44002D}"/>
                </a:ext>
              </a:extLst>
            </p:cNvPr>
            <p:cNvSpPr/>
            <p:nvPr/>
          </p:nvSpPr>
          <p:spPr bwMode="auto">
            <a:xfrm>
              <a:off x="3414893" y="4863044"/>
              <a:ext cx="257211" cy="505376"/>
            </a:xfrm>
            <a:prstGeom prst="rect">
              <a:avLst/>
            </a:prstGeom>
            <a:solidFill>
              <a:schemeClr val="tx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24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</a:t>
              </a:r>
              <a:endParaRPr lang="en-US" sz="13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3" name="Rectangle 49">
              <a:extLst>
                <a:ext uri="{FF2B5EF4-FFF2-40B4-BE49-F238E27FC236}">
                  <a16:creationId xmlns:a16="http://schemas.microsoft.com/office/drawing/2014/main" id="{8F30AD03-8513-4772-8B55-E993C75B708C}"/>
                </a:ext>
              </a:extLst>
            </p:cNvPr>
            <p:cNvSpPr/>
            <p:nvPr/>
          </p:nvSpPr>
          <p:spPr bwMode="auto">
            <a:xfrm>
              <a:off x="4310368" y="4863044"/>
              <a:ext cx="257211" cy="505376"/>
            </a:xfrm>
            <a:prstGeom prst="rect">
              <a:avLst/>
            </a:prstGeom>
            <a:solidFill>
              <a:schemeClr val="tx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24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</a:t>
              </a:r>
              <a:endParaRPr lang="en-US" sz="13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4" name="Rectangle 50">
              <a:extLst>
                <a:ext uri="{FF2B5EF4-FFF2-40B4-BE49-F238E27FC236}">
                  <a16:creationId xmlns:a16="http://schemas.microsoft.com/office/drawing/2014/main" id="{2AFA222F-7EE4-4DC3-886B-8765457550E3}"/>
                </a:ext>
              </a:extLst>
            </p:cNvPr>
            <p:cNvSpPr/>
            <p:nvPr/>
          </p:nvSpPr>
          <p:spPr bwMode="auto">
            <a:xfrm>
              <a:off x="5210607" y="4863044"/>
              <a:ext cx="257211" cy="505376"/>
            </a:xfrm>
            <a:prstGeom prst="rect">
              <a:avLst/>
            </a:prstGeom>
            <a:solidFill>
              <a:schemeClr val="tx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r>
                <a:rPr lang="en-US" sz="24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</a:t>
              </a:r>
              <a:endParaRPr lang="en-US" sz="13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65" name="Group 13" descr="A record with the fields M, 32, 94703, Bob, Sig, Str. Header with two pointers pointing to the end of the Bob and Big, St. Fields" title="Byte Form of a Record">
            <a:extLst>
              <a:ext uri="{FF2B5EF4-FFF2-40B4-BE49-F238E27FC236}">
                <a16:creationId xmlns:a16="http://schemas.microsoft.com/office/drawing/2014/main" id="{1716E1AA-7956-4711-A763-072CCD245C6A}"/>
              </a:ext>
            </a:extLst>
          </p:cNvPr>
          <p:cNvGrpSpPr>
            <a:grpSpLocks/>
          </p:cNvGrpSpPr>
          <p:nvPr/>
        </p:nvGrpSpPr>
        <p:grpSpPr bwMode="auto">
          <a:xfrm>
            <a:off x="5316389" y="5975779"/>
            <a:ext cx="4422070" cy="657999"/>
            <a:chOff x="1035344" y="4322081"/>
            <a:chExt cx="5896853" cy="876220"/>
          </a:xfrm>
        </p:grpSpPr>
        <p:grpSp>
          <p:nvGrpSpPr>
            <p:cNvPr id="166" name="Group 1">
              <a:extLst>
                <a:ext uri="{FF2B5EF4-FFF2-40B4-BE49-F238E27FC236}">
                  <a16:creationId xmlns:a16="http://schemas.microsoft.com/office/drawing/2014/main" id="{D8253E28-D9B6-47CA-8A1D-7B669B02B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558" y="4322081"/>
              <a:ext cx="4426639" cy="876220"/>
              <a:chOff x="1841172" y="4163731"/>
              <a:chExt cx="4426639" cy="876220"/>
            </a:xfrm>
          </p:grpSpPr>
          <p:grpSp>
            <p:nvGrpSpPr>
              <p:cNvPr id="180" name="Group 67">
                <a:extLst>
                  <a:ext uri="{FF2B5EF4-FFF2-40B4-BE49-F238E27FC236}">
                    <a16:creationId xmlns:a16="http://schemas.microsoft.com/office/drawing/2014/main" id="{A611BA6E-925D-4D2D-B491-BD8F5FB76D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950" y="4163731"/>
                <a:ext cx="1205188" cy="876220"/>
                <a:chOff x="1712855" y="4878355"/>
                <a:chExt cx="1205188" cy="876220"/>
              </a:xfrm>
            </p:grpSpPr>
            <p:sp>
              <p:nvSpPr>
                <p:cNvPr id="193" name="Rectangle 132">
                  <a:extLst>
                    <a:ext uri="{FF2B5EF4-FFF2-40B4-BE49-F238E27FC236}">
                      <a16:creationId xmlns:a16="http://schemas.microsoft.com/office/drawing/2014/main" id="{3C45FE12-F6D3-4AC7-8615-853148967A68}"/>
                    </a:ext>
                  </a:extLst>
                </p:cNvPr>
                <p:cNvSpPr/>
                <p:nvPr/>
              </p:nvSpPr>
              <p:spPr bwMode="auto">
                <a:xfrm>
                  <a:off x="1822406" y="4878355"/>
                  <a:ext cx="739870" cy="50418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Bob</a:t>
                  </a:r>
                </a:p>
              </p:txBody>
            </p:sp>
            <p:sp>
              <p:nvSpPr>
                <p:cNvPr id="194" name="TextBox 133">
                  <a:extLst>
                    <a:ext uri="{FF2B5EF4-FFF2-40B4-BE49-F238E27FC236}">
                      <a16:creationId xmlns:a16="http://schemas.microsoft.com/office/drawing/2014/main" id="{9C1DB735-09BE-4A11-965A-50E11715041C}"/>
                    </a:ext>
                  </a:extLst>
                </p:cNvPr>
                <p:cNvSpPr txBox="1"/>
                <p:nvPr/>
              </p:nvSpPr>
              <p:spPr bwMode="auto">
                <a:xfrm>
                  <a:off x="1712855" y="5385711"/>
                  <a:ext cx="1205188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b="1" dirty="0">
                      <a:solidFill>
                        <a:srgbClr val="00B050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VARCHAR</a:t>
                  </a:r>
                </a:p>
              </p:txBody>
            </p:sp>
          </p:grpSp>
          <p:grpSp>
            <p:nvGrpSpPr>
              <p:cNvPr id="181" name="Group 73">
                <a:extLst>
                  <a:ext uri="{FF2B5EF4-FFF2-40B4-BE49-F238E27FC236}">
                    <a16:creationId xmlns:a16="http://schemas.microsoft.com/office/drawing/2014/main" id="{E21E2C4F-BFB6-44A5-8315-F8346C930E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43546" y="4163731"/>
                <a:ext cx="1324265" cy="871465"/>
                <a:chOff x="2930461" y="4873592"/>
                <a:chExt cx="1324265" cy="871465"/>
              </a:xfrm>
            </p:grpSpPr>
            <p:sp>
              <p:nvSpPr>
                <p:cNvPr id="191" name="Rectangle 113">
                  <a:extLst>
                    <a:ext uri="{FF2B5EF4-FFF2-40B4-BE49-F238E27FC236}">
                      <a16:creationId xmlns:a16="http://schemas.microsoft.com/office/drawing/2014/main" id="{ED5436DB-90A9-4F07-8949-DFD306767CAF}"/>
                    </a:ext>
                  </a:extLst>
                </p:cNvPr>
                <p:cNvSpPr/>
                <p:nvPr/>
              </p:nvSpPr>
              <p:spPr bwMode="auto">
                <a:xfrm>
                  <a:off x="2930461" y="4873592"/>
                  <a:ext cx="1162200" cy="50418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Big, St.</a:t>
                  </a:r>
                </a:p>
              </p:txBody>
            </p:sp>
            <p:sp>
              <p:nvSpPr>
                <p:cNvPr id="192" name="TextBox 114">
                  <a:extLst>
                    <a:ext uri="{FF2B5EF4-FFF2-40B4-BE49-F238E27FC236}">
                      <a16:creationId xmlns:a16="http://schemas.microsoft.com/office/drawing/2014/main" id="{D77E719A-84B3-4892-8928-1F2E1F8C05EB}"/>
                    </a:ext>
                  </a:extLst>
                </p:cNvPr>
                <p:cNvSpPr txBox="1"/>
                <p:nvPr/>
              </p:nvSpPr>
              <p:spPr bwMode="auto">
                <a:xfrm>
                  <a:off x="3049539" y="5376193"/>
                  <a:ext cx="1205187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b="1" dirty="0">
                      <a:solidFill>
                        <a:srgbClr val="00B050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VARCHAR</a:t>
                  </a:r>
                </a:p>
              </p:txBody>
            </p:sp>
          </p:grpSp>
          <p:grpSp>
            <p:nvGrpSpPr>
              <p:cNvPr id="182" name="Group 74">
                <a:extLst>
                  <a:ext uri="{FF2B5EF4-FFF2-40B4-BE49-F238E27FC236}">
                    <a16:creationId xmlns:a16="http://schemas.microsoft.com/office/drawing/2014/main" id="{05061D76-F341-4EB8-93CB-4FAB66C0C4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1172" y="4163731"/>
                <a:ext cx="814858" cy="850852"/>
                <a:chOff x="4259291" y="4878355"/>
                <a:chExt cx="814858" cy="850852"/>
              </a:xfrm>
            </p:grpSpPr>
            <p:sp>
              <p:nvSpPr>
                <p:cNvPr id="189" name="Rectangle 111">
                  <a:extLst>
                    <a:ext uri="{FF2B5EF4-FFF2-40B4-BE49-F238E27FC236}">
                      <a16:creationId xmlns:a16="http://schemas.microsoft.com/office/drawing/2014/main" id="{405B275A-75FB-45A0-A705-C6368410D339}"/>
                    </a:ext>
                  </a:extLst>
                </p:cNvPr>
                <p:cNvSpPr/>
                <p:nvPr/>
              </p:nvSpPr>
              <p:spPr bwMode="auto">
                <a:xfrm>
                  <a:off x="4259291" y="4878355"/>
                  <a:ext cx="623968" cy="505771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M</a:t>
                  </a:r>
                </a:p>
              </p:txBody>
            </p:sp>
            <p:sp>
              <p:nvSpPr>
                <p:cNvPr id="190" name="TextBox 112">
                  <a:extLst>
                    <a:ext uri="{FF2B5EF4-FFF2-40B4-BE49-F238E27FC236}">
                      <a16:creationId xmlns:a16="http://schemas.microsoft.com/office/drawing/2014/main" id="{95E7DB45-D9C4-4194-8689-F6A2FC1FB0A5}"/>
                    </a:ext>
                  </a:extLst>
                </p:cNvPr>
                <p:cNvSpPr txBox="1"/>
                <p:nvPr/>
              </p:nvSpPr>
              <p:spPr bwMode="auto">
                <a:xfrm>
                  <a:off x="4259291" y="5360343"/>
                  <a:ext cx="814858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4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CHAR</a:t>
                  </a:r>
                </a:p>
              </p:txBody>
            </p:sp>
          </p:grpSp>
          <p:grpSp>
            <p:nvGrpSpPr>
              <p:cNvPr id="183" name="Group 75">
                <a:extLst>
                  <a:ext uri="{FF2B5EF4-FFF2-40B4-BE49-F238E27FC236}">
                    <a16:creationId xmlns:a16="http://schemas.microsoft.com/office/drawing/2014/main" id="{5344006F-4B5C-4F27-A41E-8C8173F0E9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74666" y="4163731"/>
                <a:ext cx="647318" cy="849268"/>
                <a:chOff x="4893092" y="4878355"/>
                <a:chExt cx="647318" cy="849268"/>
              </a:xfrm>
            </p:grpSpPr>
            <p:sp>
              <p:nvSpPr>
                <p:cNvPr id="187" name="Rectangle 109">
                  <a:extLst>
                    <a:ext uri="{FF2B5EF4-FFF2-40B4-BE49-F238E27FC236}">
                      <a16:creationId xmlns:a16="http://schemas.microsoft.com/office/drawing/2014/main" id="{24A1B64E-7DB2-4A32-9ED9-5326BBAAFA1D}"/>
                    </a:ext>
                  </a:extLst>
                </p:cNvPr>
                <p:cNvSpPr/>
                <p:nvPr/>
              </p:nvSpPr>
              <p:spPr bwMode="auto">
                <a:xfrm>
                  <a:off x="4893092" y="4878355"/>
                  <a:ext cx="611266" cy="505771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32</a:t>
                  </a:r>
                </a:p>
              </p:txBody>
            </p:sp>
            <p:sp>
              <p:nvSpPr>
                <p:cNvPr id="188" name="TextBox 110">
                  <a:extLst>
                    <a:ext uri="{FF2B5EF4-FFF2-40B4-BE49-F238E27FC236}">
                      <a16:creationId xmlns:a16="http://schemas.microsoft.com/office/drawing/2014/main" id="{3668C423-D342-47A1-9821-8926CC22DB46}"/>
                    </a:ext>
                  </a:extLst>
                </p:cNvPr>
                <p:cNvSpPr txBox="1"/>
                <p:nvPr/>
              </p:nvSpPr>
              <p:spPr bwMode="auto">
                <a:xfrm>
                  <a:off x="4975653" y="5358759"/>
                  <a:ext cx="564757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4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INT</a:t>
                  </a:r>
                </a:p>
              </p:txBody>
            </p:sp>
          </p:grpSp>
          <p:grpSp>
            <p:nvGrpSpPr>
              <p:cNvPr id="184" name="Group 85">
                <a:extLst>
                  <a:ext uri="{FF2B5EF4-FFF2-40B4-BE49-F238E27FC236}">
                    <a16:creationId xmlns:a16="http://schemas.microsoft.com/office/drawing/2014/main" id="{0F1B8E5D-F949-477A-B23E-A6F5A44EBE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7994" y="4163731"/>
                <a:ext cx="1125682" cy="852438"/>
                <a:chOff x="5494226" y="4878355"/>
                <a:chExt cx="1125682" cy="852438"/>
              </a:xfrm>
            </p:grpSpPr>
            <p:sp>
              <p:nvSpPr>
                <p:cNvPr id="185" name="Rectangle 107">
                  <a:extLst>
                    <a:ext uri="{FF2B5EF4-FFF2-40B4-BE49-F238E27FC236}">
                      <a16:creationId xmlns:a16="http://schemas.microsoft.com/office/drawing/2014/main" id="{182A3F3E-83F1-4C31-9095-4692CD6671EA}"/>
                    </a:ext>
                  </a:extLst>
                </p:cNvPr>
                <p:cNvSpPr/>
                <p:nvPr/>
              </p:nvSpPr>
              <p:spPr bwMode="auto">
                <a:xfrm>
                  <a:off x="5494226" y="4878355"/>
                  <a:ext cx="1125682" cy="505771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r>
                    <a: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94703</a:t>
                  </a:r>
                </a:p>
              </p:txBody>
            </p:sp>
            <p:sp>
              <p:nvSpPr>
                <p:cNvPr id="186" name="TextBox 108">
                  <a:extLst>
                    <a:ext uri="{FF2B5EF4-FFF2-40B4-BE49-F238E27FC236}">
                      <a16:creationId xmlns:a16="http://schemas.microsoft.com/office/drawing/2014/main" id="{8FE779DA-84B6-455B-81EE-E52826C7EB49}"/>
                    </a:ext>
                  </a:extLst>
                </p:cNvPr>
                <p:cNvSpPr txBox="1"/>
                <p:nvPr/>
              </p:nvSpPr>
              <p:spPr bwMode="auto">
                <a:xfrm>
                  <a:off x="5840346" y="5361929"/>
                  <a:ext cx="564758" cy="36886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200" dirty="0">
                      <a:solidFill>
                        <a:schemeClr val="accent4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Helvetica Neue" charset="0"/>
                    </a:rPr>
                    <a:t>INT</a:t>
                  </a:r>
                </a:p>
              </p:txBody>
            </p:sp>
          </p:grpSp>
        </p:grpSp>
        <p:grpSp>
          <p:nvGrpSpPr>
            <p:cNvPr id="167" name="Group 6">
              <a:extLst>
                <a:ext uri="{FF2B5EF4-FFF2-40B4-BE49-F238E27FC236}">
                  <a16:creationId xmlns:a16="http://schemas.microsoft.com/office/drawing/2014/main" id="{3082047D-7A13-4329-8B9B-E5EBD24BA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5344" y="4322874"/>
              <a:ext cx="1474206" cy="503237"/>
              <a:chOff x="1035344" y="4322874"/>
              <a:chExt cx="1474206" cy="503237"/>
            </a:xfrm>
          </p:grpSpPr>
          <p:sp>
            <p:nvSpPr>
              <p:cNvPr id="172" name="Rectangle 63">
                <a:extLst>
                  <a:ext uri="{FF2B5EF4-FFF2-40B4-BE49-F238E27FC236}">
                    <a16:creationId xmlns:a16="http://schemas.microsoft.com/office/drawing/2014/main" id="{0D7E3915-335C-4B97-8D5D-CE106B125A06}"/>
                  </a:ext>
                </a:extLst>
              </p:cNvPr>
              <p:cNvSpPr/>
              <p:nvPr/>
            </p:nvSpPr>
            <p:spPr bwMode="auto">
              <a:xfrm>
                <a:off x="1035344" y="4323667"/>
                <a:ext cx="1474978" cy="502599"/>
              </a:xfrm>
              <a:prstGeom prst="rect">
                <a:avLst/>
              </a:prstGeom>
              <a:solidFill>
                <a:schemeClr val="accent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r>
                  <a:rPr lang="en-US" sz="13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Header</a:t>
                </a:r>
              </a:p>
            </p:txBody>
          </p:sp>
          <p:grpSp>
            <p:nvGrpSpPr>
              <p:cNvPr id="173" name="Group 5">
                <a:extLst>
                  <a:ext uri="{FF2B5EF4-FFF2-40B4-BE49-F238E27FC236}">
                    <a16:creationId xmlns:a16="http://schemas.microsoft.com/office/drawing/2014/main" id="{0386FFC1-84A7-4482-812F-1034AC5E33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546" y="4382170"/>
                <a:ext cx="499844" cy="366713"/>
                <a:chOff x="1927546" y="4382170"/>
                <a:chExt cx="499844" cy="366713"/>
              </a:xfrm>
            </p:grpSpPr>
            <p:grpSp>
              <p:nvGrpSpPr>
                <p:cNvPr id="174" name="Group 4">
                  <a:extLst>
                    <a:ext uri="{FF2B5EF4-FFF2-40B4-BE49-F238E27FC236}">
                      <a16:creationId xmlns:a16="http://schemas.microsoft.com/office/drawing/2014/main" id="{F621CECC-FC8F-4E7E-B6DE-EDD7C0E9E9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7546" y="4382170"/>
                  <a:ext cx="211137" cy="366713"/>
                  <a:chOff x="2014689" y="4895962"/>
                  <a:chExt cx="211137" cy="366713"/>
                </a:xfrm>
              </p:grpSpPr>
              <p:sp>
                <p:nvSpPr>
                  <p:cNvPr id="178" name="Rectangle 69">
                    <a:extLst>
                      <a:ext uri="{FF2B5EF4-FFF2-40B4-BE49-F238E27FC236}">
                        <a16:creationId xmlns:a16="http://schemas.microsoft.com/office/drawing/2014/main" id="{A3B0E764-BB2B-4FE7-BF12-92920C87BD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14777" y="4896122"/>
                    <a:ext cx="211165" cy="366248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179" name="Oval 70">
                    <a:extLst>
                      <a:ext uri="{FF2B5EF4-FFF2-40B4-BE49-F238E27FC236}">
                        <a16:creationId xmlns:a16="http://schemas.microsoft.com/office/drawing/2014/main" id="{8DD5BF11-8FA3-4F55-A9B9-7ED8D5CF8B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3049" y="5040401"/>
                    <a:ext cx="74622" cy="77688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  <p:grpSp>
              <p:nvGrpSpPr>
                <p:cNvPr id="175" name="Group 102">
                  <a:extLst>
                    <a:ext uri="{FF2B5EF4-FFF2-40B4-BE49-F238E27FC236}">
                      <a16:creationId xmlns:a16="http://schemas.microsoft.com/office/drawing/2014/main" id="{82278A7C-E2DC-4459-A8CB-EAF725D259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6253" y="4382170"/>
                  <a:ext cx="211137" cy="366713"/>
                  <a:chOff x="2014689" y="4895962"/>
                  <a:chExt cx="211137" cy="366713"/>
                </a:xfrm>
              </p:grpSpPr>
              <p:sp>
                <p:nvSpPr>
                  <p:cNvPr id="176" name="Rectangle 67">
                    <a:extLst>
                      <a:ext uri="{FF2B5EF4-FFF2-40B4-BE49-F238E27FC236}">
                        <a16:creationId xmlns:a16="http://schemas.microsoft.com/office/drawing/2014/main" id="{CE2A528E-93A2-494C-A080-25217C56CF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15032" y="4896122"/>
                    <a:ext cx="211165" cy="366248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177" name="Oval 68">
                    <a:extLst>
                      <a:ext uri="{FF2B5EF4-FFF2-40B4-BE49-F238E27FC236}">
                        <a16:creationId xmlns:a16="http://schemas.microsoft.com/office/drawing/2014/main" id="{19A40A89-43A3-4DFF-91B4-612E2CDD2F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3304" y="5040401"/>
                    <a:ext cx="74622" cy="77688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>
                      <a:tabLst>
                        <a:tab pos="266700" algn="l"/>
                        <a:tab pos="533400" algn="l"/>
                        <a:tab pos="800100" algn="l"/>
                        <a:tab pos="1066800" algn="l"/>
                        <a:tab pos="1333500" algn="l"/>
                        <a:tab pos="1600200" algn="l"/>
                        <a:tab pos="1866900" algn="l"/>
                        <a:tab pos="2133600" algn="l"/>
                        <a:tab pos="2400300" algn="l"/>
                        <a:tab pos="2667000" algn="l"/>
                        <a:tab pos="2933700" algn="l"/>
                        <a:tab pos="3200400" algn="l"/>
                      </a:tabLst>
                      <a:defRPr/>
                    </a:pPr>
                    <a:endParaRPr lang="en-US" sz="1350" dirty="0">
                      <a:solidFill>
                        <a:srgbClr val="00000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</p:grpSp>
        <p:sp>
          <p:nvSpPr>
            <p:cNvPr id="168" name="Oval 59">
              <a:extLst>
                <a:ext uri="{FF2B5EF4-FFF2-40B4-BE49-F238E27FC236}">
                  <a16:creationId xmlns:a16="http://schemas.microsoft.com/office/drawing/2014/main" id="{B7D1306C-E24F-4868-A18C-F66DCABBF94F}"/>
                </a:ext>
              </a:extLst>
            </p:cNvPr>
            <p:cNvSpPr/>
            <p:nvPr/>
          </p:nvSpPr>
          <p:spPr bwMode="auto">
            <a:xfrm>
              <a:off x="5569828" y="4791385"/>
              <a:ext cx="73034" cy="761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9" name="Oval 60">
              <a:extLst>
                <a:ext uri="{FF2B5EF4-FFF2-40B4-BE49-F238E27FC236}">
                  <a16:creationId xmlns:a16="http://schemas.microsoft.com/office/drawing/2014/main" id="{06117E53-F3DC-4BFF-A1DB-0865DC4BC813}"/>
                </a:ext>
              </a:extLst>
            </p:cNvPr>
            <p:cNvSpPr/>
            <p:nvPr/>
          </p:nvSpPr>
          <p:spPr bwMode="auto">
            <a:xfrm>
              <a:off x="6739967" y="4789800"/>
              <a:ext cx="73034" cy="761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70" name="Elbow Connector 37">
              <a:extLst>
                <a:ext uri="{FF2B5EF4-FFF2-40B4-BE49-F238E27FC236}">
                  <a16:creationId xmlns:a16="http://schemas.microsoft.com/office/drawing/2014/main" id="{6A0DCBAE-F8CF-4C30-A687-7AA64AEA24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687973" y="2949561"/>
              <a:ext cx="263859" cy="3573575"/>
            </a:xfrm>
            <a:prstGeom prst="bentConnector3">
              <a:avLst>
                <a:gd name="adj1" fmla="val 214486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1" name="Elbow Connector 37">
              <a:extLst>
                <a:ext uri="{FF2B5EF4-FFF2-40B4-BE49-F238E27FC236}">
                  <a16:creationId xmlns:a16="http://schemas.microsoft.com/office/drawing/2014/main" id="{C4201917-155C-4EB0-A686-605C4EA652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4418317" y="2507924"/>
              <a:ext cx="261676" cy="4454667"/>
            </a:xfrm>
            <a:prstGeom prst="bentConnector3">
              <a:avLst>
                <a:gd name="adj1" fmla="val 25288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" name="Rectangle 90">
            <a:extLst>
              <a:ext uri="{FF2B5EF4-FFF2-40B4-BE49-F238E27FC236}">
                <a16:creationId xmlns:a16="http://schemas.microsoft.com/office/drawing/2014/main" id="{B2F49DA8-2079-4713-AC8B-998B5F111D46}"/>
              </a:ext>
            </a:extLst>
          </p:cNvPr>
          <p:cNvSpPr/>
          <p:nvPr/>
        </p:nvSpPr>
        <p:spPr bwMode="auto">
          <a:xfrm>
            <a:off x="3900734" y="4916277"/>
            <a:ext cx="563166" cy="3786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EBC50D5-550A-4F20-A609-03AA32787037}"/>
              </a:ext>
            </a:extLst>
          </p:cNvPr>
          <p:cNvCxnSpPr>
            <a:cxnSpLocks/>
          </p:cNvCxnSpPr>
          <p:nvPr/>
        </p:nvCxnSpPr>
        <p:spPr>
          <a:xfrm flipV="1">
            <a:off x="3900594" y="5335223"/>
            <a:ext cx="320594" cy="21762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87">
            <a:extLst>
              <a:ext uri="{FF2B5EF4-FFF2-40B4-BE49-F238E27FC236}">
                <a16:creationId xmlns:a16="http://schemas.microsoft.com/office/drawing/2014/main" id="{3E32F1D1-C189-47C2-9A8F-7605D5878763}"/>
              </a:ext>
            </a:extLst>
          </p:cNvPr>
          <p:cNvSpPr txBox="1"/>
          <p:nvPr/>
        </p:nvSpPr>
        <p:spPr bwMode="auto">
          <a:xfrm>
            <a:off x="3168085" y="5552845"/>
            <a:ext cx="9701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Field Count</a:t>
            </a:r>
          </a:p>
        </p:txBody>
      </p:sp>
    </p:spTree>
    <p:extLst>
      <p:ext uri="{BB962C8B-B14F-4D97-AF65-F5344CB8AC3E}">
        <p14:creationId xmlns:p14="http://schemas.microsoft.com/office/powerpoint/2010/main" val="807999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234587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916650" y="958884"/>
            <a:ext cx="10894349" cy="333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chemeClr val="accent2"/>
                </a:solidFill>
              </a:rPr>
              <a:t>Almacenamiento consecutivo con delimitadores</a:t>
            </a:r>
          </a:p>
          <a:p>
            <a:r>
              <a:rPr lang="es-MX" sz="2000" dirty="0"/>
              <a:t>Los campos se guardan uno tras otro, separados por caracteres especiales (como $) que no aparecen en los datos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dirty="0"/>
              <a:t>Este formato requiere escanear todo el registro de forma secuencial para localizar un campo específico.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0EA30DE-1A47-4028-9CB3-DBE7E7C838D6}"/>
              </a:ext>
            </a:extLst>
          </p:cNvPr>
          <p:cNvGrpSpPr/>
          <p:nvPr/>
        </p:nvGrpSpPr>
        <p:grpSpPr>
          <a:xfrm>
            <a:off x="3999228" y="2625741"/>
            <a:ext cx="4533180" cy="333449"/>
            <a:chOff x="4481828" y="3424200"/>
            <a:chExt cx="4533180" cy="333449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4ABCD715-B0DF-4C83-9FCB-0D512352C672}"/>
                </a:ext>
              </a:extLst>
            </p:cNvPr>
            <p:cNvGrpSpPr/>
            <p:nvPr/>
          </p:nvGrpSpPr>
          <p:grpSpPr>
            <a:xfrm>
              <a:off x="4481828" y="3424322"/>
              <a:ext cx="1355672" cy="333327"/>
              <a:chOff x="4481828" y="3424322"/>
              <a:chExt cx="1355672" cy="333327"/>
            </a:xfrm>
          </p:grpSpPr>
          <p:sp>
            <p:nvSpPr>
              <p:cNvPr id="8" name="Rectangle 139">
                <a:extLst>
                  <a:ext uri="{FF2B5EF4-FFF2-40B4-BE49-F238E27FC236}">
                    <a16:creationId xmlns:a16="http://schemas.microsoft.com/office/drawing/2014/main" id="{887F183D-7E43-473C-814F-E82744EC1CDF}"/>
                  </a:ext>
                </a:extLst>
              </p:cNvPr>
              <p:cNvSpPr/>
              <p:nvPr/>
            </p:nvSpPr>
            <p:spPr bwMode="auto">
              <a:xfrm>
                <a:off x="4481828" y="3424322"/>
                <a:ext cx="1355672" cy="33332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D2A28C48-640F-42A1-B739-8F8268E6E6CF}"/>
                      </a:ext>
                    </a:extLst>
                  </p:cNvPr>
                  <p:cNvSpPr txBox="1"/>
                  <p:nvPr/>
                </p:nvSpPr>
                <p:spPr>
                  <a:xfrm>
                    <a:off x="5047422" y="3476494"/>
                    <a:ext cx="22448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D2A28C48-640F-42A1-B739-8F8268E6E6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7422" y="3476494"/>
                    <a:ext cx="224484" cy="21544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216" r="-2703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8C069AF-C977-4F4A-9997-E7C604954D1B}"/>
                </a:ext>
              </a:extLst>
            </p:cNvPr>
            <p:cNvGrpSpPr/>
            <p:nvPr/>
          </p:nvGrpSpPr>
          <p:grpSpPr>
            <a:xfrm>
              <a:off x="6047050" y="3424322"/>
              <a:ext cx="852888" cy="333327"/>
              <a:chOff x="6091500" y="3424322"/>
              <a:chExt cx="852888" cy="333327"/>
            </a:xfrm>
          </p:grpSpPr>
          <p:sp>
            <p:nvSpPr>
              <p:cNvPr id="11" name="Rectangle 143">
                <a:extLst>
                  <a:ext uri="{FF2B5EF4-FFF2-40B4-BE49-F238E27FC236}">
                    <a16:creationId xmlns:a16="http://schemas.microsoft.com/office/drawing/2014/main" id="{D71359A5-11DC-4B81-88E6-F320E55B57EC}"/>
                  </a:ext>
                </a:extLst>
              </p:cNvPr>
              <p:cNvSpPr/>
              <p:nvPr/>
            </p:nvSpPr>
            <p:spPr bwMode="auto">
              <a:xfrm>
                <a:off x="6091500" y="3424322"/>
                <a:ext cx="852888" cy="33332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1347DC26-73FA-497D-861D-001F844C24CC}"/>
                      </a:ext>
                    </a:extLst>
                  </p:cNvPr>
                  <p:cNvSpPr txBox="1"/>
                  <p:nvPr/>
                </p:nvSpPr>
                <p:spPr>
                  <a:xfrm>
                    <a:off x="6417208" y="3478922"/>
                    <a:ext cx="22865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1347DC26-73FA-497D-861D-001F844C24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17208" y="3478922"/>
                    <a:ext cx="228652" cy="2154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789" r="-2632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726B4145-B2E0-4D0D-A50E-0A1FEF18BFE9}"/>
                </a:ext>
              </a:extLst>
            </p:cNvPr>
            <p:cNvGrpSpPr/>
            <p:nvPr/>
          </p:nvGrpSpPr>
          <p:grpSpPr>
            <a:xfrm>
              <a:off x="7072784" y="3424237"/>
              <a:ext cx="914641" cy="333375"/>
              <a:chOff x="6944387" y="3424322"/>
              <a:chExt cx="914641" cy="333327"/>
            </a:xfrm>
          </p:grpSpPr>
          <p:sp>
            <p:nvSpPr>
              <p:cNvPr id="9" name="Rectangle 140">
                <a:extLst>
                  <a:ext uri="{FF2B5EF4-FFF2-40B4-BE49-F238E27FC236}">
                    <a16:creationId xmlns:a16="http://schemas.microsoft.com/office/drawing/2014/main" id="{F773362A-504B-40CA-A00E-62F2CBD54514}"/>
                  </a:ext>
                </a:extLst>
              </p:cNvPr>
              <p:cNvSpPr/>
              <p:nvPr/>
            </p:nvSpPr>
            <p:spPr bwMode="auto">
              <a:xfrm>
                <a:off x="6944387" y="3424322"/>
                <a:ext cx="914641" cy="33332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196DB1DB-A676-4ED2-9BB4-1E2A3C797A0A}"/>
                      </a:ext>
                    </a:extLst>
                  </p:cNvPr>
                  <p:cNvSpPr txBox="1"/>
                  <p:nvPr/>
                </p:nvSpPr>
                <p:spPr>
                  <a:xfrm>
                    <a:off x="7303433" y="3471478"/>
                    <a:ext cx="22865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196DB1DB-A676-4ED2-9BB4-1E2A3C797A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3433" y="3471478"/>
                    <a:ext cx="228652" cy="2154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216" r="-5405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23A38415-6B1B-45D7-AA90-42B001FBC437}"/>
                </a:ext>
              </a:extLst>
            </p:cNvPr>
            <p:cNvGrpSpPr/>
            <p:nvPr/>
          </p:nvGrpSpPr>
          <p:grpSpPr>
            <a:xfrm>
              <a:off x="8188919" y="3424599"/>
              <a:ext cx="826089" cy="333014"/>
              <a:chOff x="7859029" y="3424322"/>
              <a:chExt cx="826089" cy="333327"/>
            </a:xfrm>
          </p:grpSpPr>
          <p:sp>
            <p:nvSpPr>
              <p:cNvPr id="10" name="Rectangle 142">
                <a:extLst>
                  <a:ext uri="{FF2B5EF4-FFF2-40B4-BE49-F238E27FC236}">
                    <a16:creationId xmlns:a16="http://schemas.microsoft.com/office/drawing/2014/main" id="{1F6C06C3-C128-4C42-98A6-A16A2F856E9A}"/>
                  </a:ext>
                </a:extLst>
              </p:cNvPr>
              <p:cNvSpPr/>
              <p:nvPr/>
            </p:nvSpPr>
            <p:spPr bwMode="auto">
              <a:xfrm>
                <a:off x="7859029" y="3424322"/>
                <a:ext cx="826089" cy="33332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CuadroTexto 18">
                    <a:extLst>
                      <a:ext uri="{FF2B5EF4-FFF2-40B4-BE49-F238E27FC236}">
                        <a16:creationId xmlns:a16="http://schemas.microsoft.com/office/drawing/2014/main" id="{97FF30F1-D96F-4416-9C00-947B798734BC}"/>
                      </a:ext>
                    </a:extLst>
                  </p:cNvPr>
                  <p:cNvSpPr txBox="1"/>
                  <p:nvPr/>
                </p:nvSpPr>
                <p:spPr>
                  <a:xfrm>
                    <a:off x="8185734" y="3471478"/>
                    <a:ext cx="22865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19" name="CuadroTexto 18">
                    <a:extLst>
                      <a:ext uri="{FF2B5EF4-FFF2-40B4-BE49-F238E27FC236}">
                        <a16:creationId xmlns:a16="http://schemas.microsoft.com/office/drawing/2014/main" id="{97FF30F1-D96F-4416-9C00-947B798734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5734" y="3471478"/>
                    <a:ext cx="228652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6216" r="-5405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1D1694FC-AFDB-449E-B82D-90F17AE6CA36}"/>
                </a:ext>
              </a:extLst>
            </p:cNvPr>
            <p:cNvGrpSpPr/>
            <p:nvPr/>
          </p:nvGrpSpPr>
          <p:grpSpPr>
            <a:xfrm>
              <a:off x="5837500" y="3424322"/>
              <a:ext cx="207701" cy="333327"/>
              <a:chOff x="4481828" y="3424322"/>
              <a:chExt cx="1355672" cy="333327"/>
            </a:xfrm>
            <a:solidFill>
              <a:schemeClr val="tx1"/>
            </a:solidFill>
          </p:grpSpPr>
          <p:sp>
            <p:nvSpPr>
              <p:cNvPr id="31" name="Rectangle 139">
                <a:extLst>
                  <a:ext uri="{FF2B5EF4-FFF2-40B4-BE49-F238E27FC236}">
                    <a16:creationId xmlns:a16="http://schemas.microsoft.com/office/drawing/2014/main" id="{E39E0638-AABE-4362-811F-D03C0EF16EF0}"/>
                  </a:ext>
                </a:extLst>
              </p:cNvPr>
              <p:cNvSpPr/>
              <p:nvPr/>
            </p:nvSpPr>
            <p:spPr bwMode="auto">
              <a:xfrm>
                <a:off x="4481828" y="3424322"/>
                <a:ext cx="1355672" cy="333327"/>
              </a:xfrm>
              <a:prstGeom prst="rect">
                <a:avLst/>
              </a:prstGeom>
              <a:grpFill/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17BE1EBF-3887-4D97-BEC1-76600BC5AE7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670468" y="3483263"/>
                    <a:ext cx="978387" cy="215444"/>
                  </a:xfrm>
                  <a:prstGeom prst="rect">
                    <a:avLst/>
                  </a:prstGeom>
                  <a:grp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$</m:t>
                          </m:r>
                        </m:oMath>
                      </m:oMathPara>
                    </a14:m>
                    <a:endParaRPr lang="es-CO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17BE1EBF-3887-4D97-BEC1-76600BC5AE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670468" y="3483263"/>
                    <a:ext cx="978387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2000" r="-32000" b="-2222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CA8AFD77-3119-4C35-A319-DACD3019EEAD}"/>
                </a:ext>
              </a:extLst>
            </p:cNvPr>
            <p:cNvGrpSpPr/>
            <p:nvPr/>
          </p:nvGrpSpPr>
          <p:grpSpPr>
            <a:xfrm>
              <a:off x="6899938" y="3424322"/>
              <a:ext cx="207701" cy="333327"/>
              <a:chOff x="4481828" y="3424322"/>
              <a:chExt cx="1355672" cy="333327"/>
            </a:xfrm>
            <a:solidFill>
              <a:schemeClr val="tx1"/>
            </a:solidFill>
          </p:grpSpPr>
          <p:sp>
            <p:nvSpPr>
              <p:cNvPr id="34" name="Rectangle 139">
                <a:extLst>
                  <a:ext uri="{FF2B5EF4-FFF2-40B4-BE49-F238E27FC236}">
                    <a16:creationId xmlns:a16="http://schemas.microsoft.com/office/drawing/2014/main" id="{23B9F754-62FD-4E1E-873C-166540FC96C3}"/>
                  </a:ext>
                </a:extLst>
              </p:cNvPr>
              <p:cNvSpPr/>
              <p:nvPr/>
            </p:nvSpPr>
            <p:spPr bwMode="auto">
              <a:xfrm>
                <a:off x="4481828" y="3424322"/>
                <a:ext cx="1355672" cy="333327"/>
              </a:xfrm>
              <a:prstGeom prst="rect">
                <a:avLst/>
              </a:prstGeom>
              <a:grpFill/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9AADB54E-47F9-41F8-84E5-9076B59BFF14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670468" y="3483263"/>
                    <a:ext cx="978387" cy="215444"/>
                  </a:xfrm>
                  <a:prstGeom prst="rect">
                    <a:avLst/>
                  </a:prstGeom>
                  <a:grp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$</m:t>
                          </m:r>
                        </m:oMath>
                      </m:oMathPara>
                    </a14:m>
                    <a:endParaRPr lang="es-CO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9AADB54E-47F9-41F8-84E5-9076B59BFF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670468" y="3483263"/>
                    <a:ext cx="978387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2000" r="-32000" b="-2222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5508F91F-BF9A-4ACD-9F1E-6E838E826063}"/>
                </a:ext>
              </a:extLst>
            </p:cNvPr>
            <p:cNvGrpSpPr/>
            <p:nvPr/>
          </p:nvGrpSpPr>
          <p:grpSpPr>
            <a:xfrm>
              <a:off x="7984673" y="3424200"/>
              <a:ext cx="207701" cy="333327"/>
              <a:chOff x="4481828" y="3424322"/>
              <a:chExt cx="1355672" cy="333327"/>
            </a:xfrm>
            <a:solidFill>
              <a:schemeClr val="tx1"/>
            </a:solidFill>
          </p:grpSpPr>
          <p:sp>
            <p:nvSpPr>
              <p:cNvPr id="37" name="Rectangle 139">
                <a:extLst>
                  <a:ext uri="{FF2B5EF4-FFF2-40B4-BE49-F238E27FC236}">
                    <a16:creationId xmlns:a16="http://schemas.microsoft.com/office/drawing/2014/main" id="{89798A9C-93C4-4D29-B9CD-06B03BDBE76C}"/>
                  </a:ext>
                </a:extLst>
              </p:cNvPr>
              <p:cNvSpPr/>
              <p:nvPr/>
            </p:nvSpPr>
            <p:spPr bwMode="auto">
              <a:xfrm>
                <a:off x="4481828" y="3424322"/>
                <a:ext cx="1355672" cy="333327"/>
              </a:xfrm>
              <a:prstGeom prst="rect">
                <a:avLst/>
              </a:prstGeom>
              <a:grpFill/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3E4F0608-1FCF-4044-BF78-5F41A58AD61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670468" y="3483263"/>
                    <a:ext cx="978387" cy="215444"/>
                  </a:xfrm>
                  <a:prstGeom prst="rect">
                    <a:avLst/>
                  </a:prstGeom>
                  <a:grp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$</m:t>
                          </m:r>
                        </m:oMath>
                      </m:oMathPara>
                    </a14:m>
                    <a:endParaRPr lang="es-CO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3E4F0608-1FCF-4044-BF78-5F41A58AD6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670468" y="3483263"/>
                    <a:ext cx="978387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2000" r="-32000" b="-2222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515045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234587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916650" y="958885"/>
            <a:ext cx="10894349" cy="314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chemeClr val="accent2"/>
                </a:solidFill>
              </a:rPr>
              <a:t>Prefijo de longitud</a:t>
            </a:r>
          </a:p>
          <a:p>
            <a:r>
              <a:rPr lang="es-MX" sz="2000" dirty="0"/>
              <a:t>El registro comienza con bytes que indican su longitud total. 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dirty="0"/>
              <a:t>La longitud ayuda al sistema a saber dónde termina un registro y comienza el siguiente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B009564-11E4-44A8-B178-B74C7A255794}"/>
              </a:ext>
            </a:extLst>
          </p:cNvPr>
          <p:cNvGrpSpPr/>
          <p:nvPr/>
        </p:nvGrpSpPr>
        <p:grpSpPr>
          <a:xfrm>
            <a:off x="3896467" y="2363767"/>
            <a:ext cx="4934714" cy="333449"/>
            <a:chOff x="3695700" y="2363767"/>
            <a:chExt cx="4934714" cy="333449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C2A7C9B-FDB8-462B-B0BE-16DF4A54751E}"/>
                </a:ext>
              </a:extLst>
            </p:cNvPr>
            <p:cNvGrpSpPr/>
            <p:nvPr/>
          </p:nvGrpSpPr>
          <p:grpSpPr>
            <a:xfrm>
              <a:off x="4097234" y="2363767"/>
              <a:ext cx="4533180" cy="333449"/>
              <a:chOff x="4481828" y="3424200"/>
              <a:chExt cx="4533180" cy="333449"/>
            </a:xfrm>
          </p:grpSpPr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5D0C880F-4866-4484-A65E-5142FD543FA4}"/>
                  </a:ext>
                </a:extLst>
              </p:cNvPr>
              <p:cNvGrpSpPr/>
              <p:nvPr/>
            </p:nvGrpSpPr>
            <p:grpSpPr>
              <a:xfrm>
                <a:off x="4481828" y="3424322"/>
                <a:ext cx="1355672" cy="333327"/>
                <a:chOff x="4481828" y="3424322"/>
                <a:chExt cx="1355672" cy="333327"/>
              </a:xfrm>
            </p:grpSpPr>
            <p:sp>
              <p:nvSpPr>
                <p:cNvPr id="26" name="Rectangle 139">
                  <a:extLst>
                    <a:ext uri="{FF2B5EF4-FFF2-40B4-BE49-F238E27FC236}">
                      <a16:creationId xmlns:a16="http://schemas.microsoft.com/office/drawing/2014/main" id="{51455B77-72EA-4DB7-8360-6066B075CAF3}"/>
                    </a:ext>
                  </a:extLst>
                </p:cNvPr>
                <p:cNvSpPr/>
                <p:nvPr/>
              </p:nvSpPr>
              <p:spPr bwMode="auto">
                <a:xfrm>
                  <a:off x="4481828" y="3424322"/>
                  <a:ext cx="1355672" cy="33332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CuadroTexto 26">
                      <a:extLst>
                        <a:ext uri="{FF2B5EF4-FFF2-40B4-BE49-F238E27FC236}">
                          <a16:creationId xmlns:a16="http://schemas.microsoft.com/office/drawing/2014/main" id="{11B1B817-E51F-4F94-B52B-4A5E441AD1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47422" y="3476494"/>
                      <a:ext cx="22448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s-CO" dirty="0"/>
                    </a:p>
                  </p:txBody>
                </p:sp>
              </mc:Choice>
              <mc:Fallback xmlns="">
                <p:sp>
                  <p:nvSpPr>
                    <p:cNvPr id="27" name="CuadroTexto 26">
                      <a:extLst>
                        <a:ext uri="{FF2B5EF4-FFF2-40B4-BE49-F238E27FC236}">
                          <a16:creationId xmlns:a16="http://schemas.microsoft.com/office/drawing/2014/main" id="{11B1B817-E51F-4F94-B52B-4A5E441AD16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47422" y="3476494"/>
                      <a:ext cx="224484" cy="2154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6216" r="-2703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16222DC0-76A5-4099-B7D0-603DA829966B}"/>
                  </a:ext>
                </a:extLst>
              </p:cNvPr>
              <p:cNvGrpSpPr/>
              <p:nvPr/>
            </p:nvGrpSpPr>
            <p:grpSpPr>
              <a:xfrm>
                <a:off x="6047050" y="3424322"/>
                <a:ext cx="852888" cy="333327"/>
                <a:chOff x="6091500" y="3424322"/>
                <a:chExt cx="852888" cy="333327"/>
              </a:xfrm>
            </p:grpSpPr>
            <p:sp>
              <p:nvSpPr>
                <p:cNvPr id="24" name="Rectangle 143">
                  <a:extLst>
                    <a:ext uri="{FF2B5EF4-FFF2-40B4-BE49-F238E27FC236}">
                      <a16:creationId xmlns:a16="http://schemas.microsoft.com/office/drawing/2014/main" id="{1037D9FB-E685-4489-BE03-41800E0C3978}"/>
                    </a:ext>
                  </a:extLst>
                </p:cNvPr>
                <p:cNvSpPr/>
                <p:nvPr/>
              </p:nvSpPr>
              <p:spPr bwMode="auto">
                <a:xfrm>
                  <a:off x="6091500" y="3424322"/>
                  <a:ext cx="852888" cy="33332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CuadroTexto 24">
                      <a:extLst>
                        <a:ext uri="{FF2B5EF4-FFF2-40B4-BE49-F238E27FC236}">
                          <a16:creationId xmlns:a16="http://schemas.microsoft.com/office/drawing/2014/main" id="{7F6127B5-1925-4B6F-A1DD-B0E2170781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17208" y="3478922"/>
                      <a:ext cx="228652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s-CO" dirty="0"/>
                    </a:p>
                  </p:txBody>
                </p:sp>
              </mc:Choice>
              <mc:Fallback xmlns="">
                <p:sp>
                  <p:nvSpPr>
                    <p:cNvPr id="25" name="CuadroTexto 24">
                      <a:extLst>
                        <a:ext uri="{FF2B5EF4-FFF2-40B4-BE49-F238E27FC236}">
                          <a16:creationId xmlns:a16="http://schemas.microsoft.com/office/drawing/2014/main" id="{7F6127B5-1925-4B6F-A1DD-B0E2170781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17208" y="3478922"/>
                      <a:ext cx="228652" cy="21544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5789" r="-2632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A03A09DA-010B-4541-938D-A56D7366D178}"/>
                  </a:ext>
                </a:extLst>
              </p:cNvPr>
              <p:cNvGrpSpPr/>
              <p:nvPr/>
            </p:nvGrpSpPr>
            <p:grpSpPr>
              <a:xfrm>
                <a:off x="7072784" y="3424237"/>
                <a:ext cx="914641" cy="333375"/>
                <a:chOff x="6944387" y="3424322"/>
                <a:chExt cx="914641" cy="333327"/>
              </a:xfrm>
            </p:grpSpPr>
            <p:sp>
              <p:nvSpPr>
                <p:cNvPr id="22" name="Rectangle 140">
                  <a:extLst>
                    <a:ext uri="{FF2B5EF4-FFF2-40B4-BE49-F238E27FC236}">
                      <a16:creationId xmlns:a16="http://schemas.microsoft.com/office/drawing/2014/main" id="{DC00A5F6-3609-48A8-8F45-48257ADA50D0}"/>
                    </a:ext>
                  </a:extLst>
                </p:cNvPr>
                <p:cNvSpPr/>
                <p:nvPr/>
              </p:nvSpPr>
              <p:spPr bwMode="auto">
                <a:xfrm>
                  <a:off x="6944387" y="3424322"/>
                  <a:ext cx="914641" cy="33332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CuadroTexto 22">
                      <a:extLst>
                        <a:ext uri="{FF2B5EF4-FFF2-40B4-BE49-F238E27FC236}">
                          <a16:creationId xmlns:a16="http://schemas.microsoft.com/office/drawing/2014/main" id="{76CEAE33-7837-467B-882E-AC2C38212F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3433" y="3471478"/>
                      <a:ext cx="228652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s-CO" dirty="0"/>
                    </a:p>
                  </p:txBody>
                </p:sp>
              </mc:Choice>
              <mc:Fallback xmlns="">
                <p:sp>
                  <p:nvSpPr>
                    <p:cNvPr id="23" name="CuadroTexto 22">
                      <a:extLst>
                        <a:ext uri="{FF2B5EF4-FFF2-40B4-BE49-F238E27FC236}">
                          <a16:creationId xmlns:a16="http://schemas.microsoft.com/office/drawing/2014/main" id="{76CEAE33-7837-467B-882E-AC2C38212F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03433" y="3471478"/>
                      <a:ext cx="228652" cy="21544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6216" r="-5405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8F80BB5B-A358-47FB-9919-6CC87DBC05FB}"/>
                  </a:ext>
                </a:extLst>
              </p:cNvPr>
              <p:cNvGrpSpPr/>
              <p:nvPr/>
            </p:nvGrpSpPr>
            <p:grpSpPr>
              <a:xfrm>
                <a:off x="8188919" y="3424599"/>
                <a:ext cx="826089" cy="333014"/>
                <a:chOff x="7859029" y="3424322"/>
                <a:chExt cx="826089" cy="333327"/>
              </a:xfrm>
            </p:grpSpPr>
            <p:sp>
              <p:nvSpPr>
                <p:cNvPr id="20" name="Rectangle 142">
                  <a:extLst>
                    <a:ext uri="{FF2B5EF4-FFF2-40B4-BE49-F238E27FC236}">
                      <a16:creationId xmlns:a16="http://schemas.microsoft.com/office/drawing/2014/main" id="{B93E4680-6C79-4C8C-B9D4-DA2D367AD94A}"/>
                    </a:ext>
                  </a:extLst>
                </p:cNvPr>
                <p:cNvSpPr/>
                <p:nvPr/>
              </p:nvSpPr>
              <p:spPr bwMode="auto">
                <a:xfrm>
                  <a:off x="7859029" y="3424322"/>
                  <a:ext cx="826089" cy="33332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CuadroTexto 20">
                      <a:extLst>
                        <a:ext uri="{FF2B5EF4-FFF2-40B4-BE49-F238E27FC236}">
                          <a16:creationId xmlns:a16="http://schemas.microsoft.com/office/drawing/2014/main" id="{6E607E79-6C8E-4C28-9363-48D73E40C2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85734" y="3471478"/>
                      <a:ext cx="228652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s-CO" dirty="0"/>
                    </a:p>
                  </p:txBody>
                </p:sp>
              </mc:Choice>
              <mc:Fallback xmlns="">
                <p:sp>
                  <p:nvSpPr>
                    <p:cNvPr id="21" name="CuadroTexto 20">
                      <a:extLst>
                        <a:ext uri="{FF2B5EF4-FFF2-40B4-BE49-F238E27FC236}">
                          <a16:creationId xmlns:a16="http://schemas.microsoft.com/office/drawing/2014/main" id="{6E607E79-6C8E-4C28-9363-48D73E40C2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85734" y="3471478"/>
                      <a:ext cx="228652" cy="2154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6216" r="-5405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1480E1B6-E54C-48A9-B090-77179AEB427A}"/>
                  </a:ext>
                </a:extLst>
              </p:cNvPr>
              <p:cNvGrpSpPr/>
              <p:nvPr/>
            </p:nvGrpSpPr>
            <p:grpSpPr>
              <a:xfrm>
                <a:off x="5837500" y="3424322"/>
                <a:ext cx="207701" cy="333327"/>
                <a:chOff x="4481828" y="3424322"/>
                <a:chExt cx="1355672" cy="333327"/>
              </a:xfrm>
              <a:solidFill>
                <a:schemeClr val="tx1"/>
              </a:solidFill>
            </p:grpSpPr>
            <p:sp>
              <p:nvSpPr>
                <p:cNvPr id="18" name="Rectangle 139">
                  <a:extLst>
                    <a:ext uri="{FF2B5EF4-FFF2-40B4-BE49-F238E27FC236}">
                      <a16:creationId xmlns:a16="http://schemas.microsoft.com/office/drawing/2014/main" id="{0BC8C7B5-D7A2-4D6D-AE78-EF10DBE67D39}"/>
                    </a:ext>
                  </a:extLst>
                </p:cNvPr>
                <p:cNvSpPr/>
                <p:nvPr/>
              </p:nvSpPr>
              <p:spPr bwMode="auto">
                <a:xfrm>
                  <a:off x="4481828" y="3424322"/>
                  <a:ext cx="1355672" cy="333327"/>
                </a:xfrm>
                <a:prstGeom prst="rect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CuadroTexto 18">
                      <a:extLst>
                        <a:ext uri="{FF2B5EF4-FFF2-40B4-BE49-F238E27FC236}">
                          <a16:creationId xmlns:a16="http://schemas.microsoft.com/office/drawing/2014/main" id="{6638DA05-478E-496B-9522-5A16C20CC81F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4670468" y="3483263"/>
                      <a:ext cx="978387" cy="215444"/>
                    </a:xfrm>
                    <a:prstGeom prst="rect">
                      <a:avLst/>
                    </a:prstGeom>
                    <a:grp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$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CuadroTexto 18">
                      <a:extLst>
                        <a:ext uri="{FF2B5EF4-FFF2-40B4-BE49-F238E27FC236}">
                          <a16:creationId xmlns:a16="http://schemas.microsoft.com/office/drawing/2014/main" id="{6638DA05-478E-496B-9522-5A16C20CC81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4670468" y="3483263"/>
                      <a:ext cx="978387" cy="21544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32000" r="-32000" b="-2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9270277B-22D2-4C6E-8997-4BC98C574E58}"/>
                  </a:ext>
                </a:extLst>
              </p:cNvPr>
              <p:cNvGrpSpPr/>
              <p:nvPr/>
            </p:nvGrpSpPr>
            <p:grpSpPr>
              <a:xfrm>
                <a:off x="6899938" y="3424322"/>
                <a:ext cx="207701" cy="333327"/>
                <a:chOff x="4481828" y="3424322"/>
                <a:chExt cx="1355672" cy="333327"/>
              </a:xfrm>
              <a:solidFill>
                <a:schemeClr val="tx1"/>
              </a:solidFill>
            </p:grpSpPr>
            <p:sp>
              <p:nvSpPr>
                <p:cNvPr id="16" name="Rectangle 139">
                  <a:extLst>
                    <a:ext uri="{FF2B5EF4-FFF2-40B4-BE49-F238E27FC236}">
                      <a16:creationId xmlns:a16="http://schemas.microsoft.com/office/drawing/2014/main" id="{3B13D84F-6972-4011-911B-88D57CFEC5FB}"/>
                    </a:ext>
                  </a:extLst>
                </p:cNvPr>
                <p:cNvSpPr/>
                <p:nvPr/>
              </p:nvSpPr>
              <p:spPr bwMode="auto">
                <a:xfrm>
                  <a:off x="4481828" y="3424322"/>
                  <a:ext cx="1355672" cy="333327"/>
                </a:xfrm>
                <a:prstGeom prst="rect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CuadroTexto 16">
                      <a:extLst>
                        <a:ext uri="{FF2B5EF4-FFF2-40B4-BE49-F238E27FC236}">
                          <a16:creationId xmlns:a16="http://schemas.microsoft.com/office/drawing/2014/main" id="{FB05EF98-1F52-4D84-92F1-EB891DF97B63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4670468" y="3483263"/>
                      <a:ext cx="978387" cy="215444"/>
                    </a:xfrm>
                    <a:prstGeom prst="rect">
                      <a:avLst/>
                    </a:prstGeom>
                    <a:grp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$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CuadroTexto 16">
                      <a:extLst>
                        <a:ext uri="{FF2B5EF4-FFF2-40B4-BE49-F238E27FC236}">
                          <a16:creationId xmlns:a16="http://schemas.microsoft.com/office/drawing/2014/main" id="{FB05EF98-1F52-4D84-92F1-EB891DF97B6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4670468" y="3483263"/>
                      <a:ext cx="978387" cy="21544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32000" r="-32000" b="-2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F30D0BDA-751D-4C54-8C3A-8BAD6111235B}"/>
                  </a:ext>
                </a:extLst>
              </p:cNvPr>
              <p:cNvGrpSpPr/>
              <p:nvPr/>
            </p:nvGrpSpPr>
            <p:grpSpPr>
              <a:xfrm>
                <a:off x="7984673" y="3424200"/>
                <a:ext cx="207701" cy="333327"/>
                <a:chOff x="4481828" y="3424322"/>
                <a:chExt cx="1355672" cy="333327"/>
              </a:xfrm>
              <a:solidFill>
                <a:schemeClr val="tx1"/>
              </a:solidFill>
            </p:grpSpPr>
            <p:sp>
              <p:nvSpPr>
                <p:cNvPr id="14" name="Rectangle 139">
                  <a:extLst>
                    <a:ext uri="{FF2B5EF4-FFF2-40B4-BE49-F238E27FC236}">
                      <a16:creationId xmlns:a16="http://schemas.microsoft.com/office/drawing/2014/main" id="{18658FF0-3DE6-45C8-B493-F15CE71D8B0A}"/>
                    </a:ext>
                  </a:extLst>
                </p:cNvPr>
                <p:cNvSpPr/>
                <p:nvPr/>
              </p:nvSpPr>
              <p:spPr bwMode="auto">
                <a:xfrm>
                  <a:off x="4481828" y="3424322"/>
                  <a:ext cx="1355672" cy="333327"/>
                </a:xfrm>
                <a:prstGeom prst="rect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anchor="ctr"/>
                <a:lstStyle/>
                <a:p>
                  <a:pPr algn="ctr" defTabSz="685800">
                    <a:tabLst>
                      <a:tab pos="266700" algn="l"/>
                      <a:tab pos="533400" algn="l"/>
                      <a:tab pos="800100" algn="l"/>
                      <a:tab pos="1066800" algn="l"/>
                      <a:tab pos="1333500" algn="l"/>
                      <a:tab pos="1600200" algn="l"/>
                      <a:tab pos="1866900" algn="l"/>
                      <a:tab pos="2133600" algn="l"/>
                      <a:tab pos="2400300" algn="l"/>
                      <a:tab pos="2667000" algn="l"/>
                      <a:tab pos="2933700" algn="l"/>
                      <a:tab pos="3200400" algn="l"/>
                    </a:tabLst>
                    <a:defRPr/>
                  </a:pPr>
                  <a:endParaRPr lang="en-US" sz="1050" kern="0" dirty="0">
                    <a:solidFill>
                      <a:srgbClr val="000000"/>
                    </a:solidFill>
                    <a:latin typeface="Consolas" panose="020B0609020204030204" pitchFamily="49" charset="0"/>
                    <a:ea typeface="Roboto" panose="02000000000000000000" pitchFamily="2" charset="0"/>
                    <a:cs typeface="Helvetica Neue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CuadroTexto 14">
                      <a:extLst>
                        <a:ext uri="{FF2B5EF4-FFF2-40B4-BE49-F238E27FC236}">
                          <a16:creationId xmlns:a16="http://schemas.microsoft.com/office/drawing/2014/main" id="{1BC0CE62-413A-4D41-93E1-64EEC19EAA88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4670468" y="3483263"/>
                      <a:ext cx="978387" cy="215444"/>
                    </a:xfrm>
                    <a:prstGeom prst="rect">
                      <a:avLst/>
                    </a:prstGeom>
                    <a:grp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$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CuadroTexto 14">
                      <a:extLst>
                        <a:ext uri="{FF2B5EF4-FFF2-40B4-BE49-F238E27FC236}">
                          <a16:creationId xmlns:a16="http://schemas.microsoft.com/office/drawing/2014/main" id="{1BC0CE62-413A-4D41-93E1-64EEC19EAA8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4670468" y="3483263"/>
                      <a:ext cx="978387" cy="21544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32000" r="-32000" b="-2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8" name="Rectangle 139">
              <a:extLst>
                <a:ext uri="{FF2B5EF4-FFF2-40B4-BE49-F238E27FC236}">
                  <a16:creationId xmlns:a16="http://schemas.microsoft.com/office/drawing/2014/main" id="{FCF67361-DE0E-4DBE-82CC-1702A7A20C67}"/>
                </a:ext>
              </a:extLst>
            </p:cNvPr>
            <p:cNvSpPr/>
            <p:nvPr/>
          </p:nvSpPr>
          <p:spPr bwMode="auto">
            <a:xfrm>
              <a:off x="3695700" y="2363767"/>
              <a:ext cx="401534" cy="333327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050" kern="0" dirty="0">
                <a:solidFill>
                  <a:srgbClr val="000000"/>
                </a:solidFill>
                <a:latin typeface="Consolas" panose="020B0609020204030204" pitchFamily="49" charset="0"/>
                <a:ea typeface="Roboto" panose="02000000000000000000" pitchFamily="2" charset="0"/>
                <a:cs typeface="Helvetica Neue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4F513E74-36E6-4071-834E-C03A58A54709}"/>
                    </a:ext>
                  </a:extLst>
                </p:cNvPr>
                <p:cNvSpPr txBox="1"/>
                <p:nvPr/>
              </p:nvSpPr>
              <p:spPr>
                <a:xfrm>
                  <a:off x="3820702" y="2418489"/>
                  <a:ext cx="15709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s-CO" b="1" dirty="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4F513E74-36E6-4071-834E-C03A58A54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0702" y="2418489"/>
                  <a:ext cx="157094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24000" r="-24000" b="-857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87153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234587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Registros de longitud variable (VLR)</a:t>
            </a:r>
            <a:endParaRPr dirty="0"/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916650" y="958884"/>
            <a:ext cx="10989600" cy="4089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chemeClr val="accent2"/>
                </a:solidFill>
              </a:rPr>
              <a:t>Arreglo de desplazamientos (Offsets)</a:t>
            </a:r>
          </a:p>
          <a:p>
            <a:r>
              <a:rPr lang="es-MX" sz="2000" dirty="0"/>
              <a:t>Se reserva un espacio al inicio del registro para un arreglo de enteros que apuntan a la dirección de inicio de cada campo.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MX" sz="2000" dirty="0"/>
              <a:t>Este método es superior porque permite el acceso directo a cualquier campo y ofrece una forma limpia de manejar valores nulos.</a:t>
            </a:r>
          </a:p>
          <a:p>
            <a:r>
              <a:rPr lang="es-MX" sz="2000" dirty="0"/>
              <a:t>También puede ser empleado para manejar registros de longitud fija (FLR)</a:t>
            </a:r>
          </a:p>
        </p:txBody>
      </p: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916D3E31-F243-4AC2-BC30-E8EAD802736B}"/>
              </a:ext>
            </a:extLst>
          </p:cNvPr>
          <p:cNvGrpSpPr/>
          <p:nvPr/>
        </p:nvGrpSpPr>
        <p:grpSpPr>
          <a:xfrm>
            <a:off x="3553369" y="2566144"/>
            <a:ext cx="5716162" cy="366683"/>
            <a:chOff x="2824628" y="2565707"/>
            <a:chExt cx="5716162" cy="366683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57D1A83B-235D-4604-BB68-06495B68C00C}"/>
                </a:ext>
              </a:extLst>
            </p:cNvPr>
            <p:cNvGrpSpPr/>
            <p:nvPr/>
          </p:nvGrpSpPr>
          <p:grpSpPr>
            <a:xfrm>
              <a:off x="4564701" y="2570116"/>
              <a:ext cx="1355672" cy="333327"/>
              <a:chOff x="4481828" y="3424322"/>
              <a:chExt cx="1355672" cy="333327"/>
            </a:xfrm>
          </p:grpSpPr>
          <p:sp>
            <p:nvSpPr>
              <p:cNvPr id="30" name="Rectangle 139">
                <a:extLst>
                  <a:ext uri="{FF2B5EF4-FFF2-40B4-BE49-F238E27FC236}">
                    <a16:creationId xmlns:a16="http://schemas.microsoft.com/office/drawing/2014/main" id="{8D7E808C-A222-4E8A-99D1-5EB9C09070FC}"/>
                  </a:ext>
                </a:extLst>
              </p:cNvPr>
              <p:cNvSpPr/>
              <p:nvPr/>
            </p:nvSpPr>
            <p:spPr bwMode="auto">
              <a:xfrm>
                <a:off x="4481828" y="3424322"/>
                <a:ext cx="1355672" cy="33332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CuadroTexto 30">
                    <a:extLst>
                      <a:ext uri="{FF2B5EF4-FFF2-40B4-BE49-F238E27FC236}">
                        <a16:creationId xmlns:a16="http://schemas.microsoft.com/office/drawing/2014/main" id="{DCF37124-B62F-450B-AD25-9177FBB02A9C}"/>
                      </a:ext>
                    </a:extLst>
                  </p:cNvPr>
                  <p:cNvSpPr txBox="1"/>
                  <p:nvPr/>
                </p:nvSpPr>
                <p:spPr>
                  <a:xfrm>
                    <a:off x="5047422" y="3476494"/>
                    <a:ext cx="22448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31" name="CuadroTexto 30">
                    <a:extLst>
                      <a:ext uri="{FF2B5EF4-FFF2-40B4-BE49-F238E27FC236}">
                        <a16:creationId xmlns:a16="http://schemas.microsoft.com/office/drawing/2014/main" id="{DCF37124-B62F-450B-AD25-9177FBB02A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7422" y="3476494"/>
                    <a:ext cx="224484" cy="21544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216" r="-2703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E90796E7-3F0F-4393-A2FF-6FF4063186DE}"/>
                </a:ext>
              </a:extLst>
            </p:cNvPr>
            <p:cNvGrpSpPr/>
            <p:nvPr/>
          </p:nvGrpSpPr>
          <p:grpSpPr>
            <a:xfrm>
              <a:off x="5920373" y="2569892"/>
              <a:ext cx="852888" cy="333327"/>
              <a:chOff x="6091500" y="3424322"/>
              <a:chExt cx="852888" cy="333327"/>
            </a:xfrm>
          </p:grpSpPr>
          <p:sp>
            <p:nvSpPr>
              <p:cNvPr id="28" name="Rectangle 143">
                <a:extLst>
                  <a:ext uri="{FF2B5EF4-FFF2-40B4-BE49-F238E27FC236}">
                    <a16:creationId xmlns:a16="http://schemas.microsoft.com/office/drawing/2014/main" id="{4D501C05-FBEC-4791-A564-AE1CBAD15CFE}"/>
                  </a:ext>
                </a:extLst>
              </p:cNvPr>
              <p:cNvSpPr/>
              <p:nvPr/>
            </p:nvSpPr>
            <p:spPr bwMode="auto">
              <a:xfrm>
                <a:off x="6091500" y="3424322"/>
                <a:ext cx="852888" cy="33332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4859A387-EEE2-41DE-89DF-E61CB1974ACB}"/>
                      </a:ext>
                    </a:extLst>
                  </p:cNvPr>
                  <p:cNvSpPr txBox="1"/>
                  <p:nvPr/>
                </p:nvSpPr>
                <p:spPr>
                  <a:xfrm>
                    <a:off x="6417208" y="3478922"/>
                    <a:ext cx="22865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4859A387-EEE2-41DE-89DF-E61CB1974A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17208" y="3478922"/>
                    <a:ext cx="228652" cy="2154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789" r="-2632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5B95E81D-867A-433C-BAFA-3CF1651CF69D}"/>
                </a:ext>
              </a:extLst>
            </p:cNvPr>
            <p:cNvGrpSpPr/>
            <p:nvPr/>
          </p:nvGrpSpPr>
          <p:grpSpPr>
            <a:xfrm>
              <a:off x="6773261" y="2569844"/>
              <a:ext cx="914641" cy="333375"/>
              <a:chOff x="6944387" y="3424322"/>
              <a:chExt cx="914641" cy="333327"/>
            </a:xfrm>
          </p:grpSpPr>
          <p:sp>
            <p:nvSpPr>
              <p:cNvPr id="26" name="Rectangle 140">
                <a:extLst>
                  <a:ext uri="{FF2B5EF4-FFF2-40B4-BE49-F238E27FC236}">
                    <a16:creationId xmlns:a16="http://schemas.microsoft.com/office/drawing/2014/main" id="{C6E7330C-C331-49B7-B0DD-617D094B6D52}"/>
                  </a:ext>
                </a:extLst>
              </p:cNvPr>
              <p:cNvSpPr/>
              <p:nvPr/>
            </p:nvSpPr>
            <p:spPr bwMode="auto">
              <a:xfrm>
                <a:off x="6944387" y="3424322"/>
                <a:ext cx="914641" cy="33332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053EC832-19FA-4BEA-916C-BE61315D7E57}"/>
                      </a:ext>
                    </a:extLst>
                  </p:cNvPr>
                  <p:cNvSpPr txBox="1"/>
                  <p:nvPr/>
                </p:nvSpPr>
                <p:spPr>
                  <a:xfrm>
                    <a:off x="7303433" y="3471478"/>
                    <a:ext cx="22865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053EC832-19FA-4BEA-916C-BE61315D7E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3433" y="3471478"/>
                    <a:ext cx="228652" cy="2154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216" r="-5405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742D9154-C32A-4C2C-84A4-81E6B94A0E76}"/>
                </a:ext>
              </a:extLst>
            </p:cNvPr>
            <p:cNvGrpSpPr/>
            <p:nvPr/>
          </p:nvGrpSpPr>
          <p:grpSpPr>
            <a:xfrm>
              <a:off x="7687902" y="2565707"/>
              <a:ext cx="826089" cy="333014"/>
              <a:chOff x="7859029" y="3424322"/>
              <a:chExt cx="826089" cy="333327"/>
            </a:xfrm>
          </p:grpSpPr>
          <p:sp>
            <p:nvSpPr>
              <p:cNvPr id="24" name="Rectangle 142">
                <a:extLst>
                  <a:ext uri="{FF2B5EF4-FFF2-40B4-BE49-F238E27FC236}">
                    <a16:creationId xmlns:a16="http://schemas.microsoft.com/office/drawing/2014/main" id="{7E88A4F9-DF1D-49C0-9572-3740A9DC71A2}"/>
                  </a:ext>
                </a:extLst>
              </p:cNvPr>
              <p:cNvSpPr/>
              <p:nvPr/>
            </p:nvSpPr>
            <p:spPr bwMode="auto">
              <a:xfrm>
                <a:off x="7859029" y="3424322"/>
                <a:ext cx="826089" cy="33332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Roboto" panose="02000000000000000000" pitchFamily="2" charset="0"/>
                  <a:cs typeface="Helvetica Neue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EC086C85-8934-4EA3-B6FD-F294898796A6}"/>
                      </a:ext>
                    </a:extLst>
                  </p:cNvPr>
                  <p:cNvSpPr txBox="1"/>
                  <p:nvPr/>
                </p:nvSpPr>
                <p:spPr>
                  <a:xfrm>
                    <a:off x="8185734" y="3471478"/>
                    <a:ext cx="22865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MX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EC086C85-8934-4EA3-B6FD-F294898796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5734" y="3471478"/>
                    <a:ext cx="228652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5789" r="-2632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Rectangle 63">
              <a:extLst>
                <a:ext uri="{FF2B5EF4-FFF2-40B4-BE49-F238E27FC236}">
                  <a16:creationId xmlns:a16="http://schemas.microsoft.com/office/drawing/2014/main" id="{227529DD-F3D2-4B77-AB88-7B46E4194D69}"/>
                </a:ext>
              </a:extLst>
            </p:cNvPr>
            <p:cNvSpPr/>
            <p:nvPr/>
          </p:nvSpPr>
          <p:spPr bwMode="auto">
            <a:xfrm>
              <a:off x="2824628" y="2572249"/>
              <a:ext cx="1738335" cy="329702"/>
            </a:xfrm>
            <a:prstGeom prst="rect">
              <a:avLst/>
            </a:prstGeom>
            <a:solidFill>
              <a:schemeClr val="accent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33" name="Elbow Connector 37">
              <a:extLst>
                <a:ext uri="{FF2B5EF4-FFF2-40B4-BE49-F238E27FC236}">
                  <a16:creationId xmlns:a16="http://schemas.microsoft.com/office/drawing/2014/main" id="{2CF0964C-7985-4BA5-B149-A9F66EE59AD8}"/>
                </a:ext>
              </a:extLst>
            </p:cNvPr>
            <p:cNvCxnSpPr>
              <a:cxnSpLocks noChangeShapeType="1"/>
              <a:stCxn id="43" idx="4"/>
              <a:endCxn id="44" idx="5"/>
            </p:cNvCxnSpPr>
            <p:nvPr/>
          </p:nvCxnSpPr>
          <p:spPr bwMode="auto">
            <a:xfrm rot="16200000" flipH="1">
              <a:off x="4783274" y="1763399"/>
              <a:ext cx="158145" cy="2162747"/>
            </a:xfrm>
            <a:prstGeom prst="bentConnector3">
              <a:avLst>
                <a:gd name="adj1" fmla="val 189725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Elbow Connector 37">
              <a:extLst>
                <a:ext uri="{FF2B5EF4-FFF2-40B4-BE49-F238E27FC236}">
                  <a16:creationId xmlns:a16="http://schemas.microsoft.com/office/drawing/2014/main" id="{865F4876-C823-4582-9F80-E859255C3435}"/>
                </a:ext>
              </a:extLst>
            </p:cNvPr>
            <p:cNvCxnSpPr>
              <a:cxnSpLocks noChangeShapeType="1"/>
              <a:stCxn id="41" idx="4"/>
              <a:endCxn id="45" idx="5"/>
            </p:cNvCxnSpPr>
            <p:nvPr/>
          </p:nvCxnSpPr>
          <p:spPr bwMode="auto">
            <a:xfrm rot="16200000" flipH="1">
              <a:off x="5312072" y="1438374"/>
              <a:ext cx="153646" cy="2808300"/>
            </a:xfrm>
            <a:prstGeom prst="bentConnector3">
              <a:avLst>
                <a:gd name="adj1" fmla="val 254344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9DA31EEA-3369-436E-B67A-89051FABE976}"/>
                </a:ext>
              </a:extLst>
            </p:cNvPr>
            <p:cNvSpPr/>
            <p:nvPr/>
          </p:nvSpPr>
          <p:spPr bwMode="auto">
            <a:xfrm>
              <a:off x="4111437" y="2599014"/>
              <a:ext cx="158353" cy="27503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6" name="Oval 70">
              <a:extLst>
                <a:ext uri="{FF2B5EF4-FFF2-40B4-BE49-F238E27FC236}">
                  <a16:creationId xmlns:a16="http://schemas.microsoft.com/office/drawing/2014/main" id="{6D2EDF50-11AA-4A8D-8819-2B958C288586}"/>
                </a:ext>
              </a:extLst>
            </p:cNvPr>
            <p:cNvSpPr/>
            <p:nvPr/>
          </p:nvSpPr>
          <p:spPr bwMode="auto">
            <a:xfrm>
              <a:off x="4162634" y="2707361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" name="Rectangle 67">
              <a:extLst>
                <a:ext uri="{FF2B5EF4-FFF2-40B4-BE49-F238E27FC236}">
                  <a16:creationId xmlns:a16="http://schemas.microsoft.com/office/drawing/2014/main" id="{9E16E629-734F-42B7-9326-51603E31281D}"/>
                </a:ext>
              </a:extLst>
            </p:cNvPr>
            <p:cNvSpPr/>
            <p:nvPr/>
          </p:nvSpPr>
          <p:spPr bwMode="auto">
            <a:xfrm>
              <a:off x="4319925" y="2599014"/>
              <a:ext cx="158353" cy="27503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" name="Oval 68">
              <a:extLst>
                <a:ext uri="{FF2B5EF4-FFF2-40B4-BE49-F238E27FC236}">
                  <a16:creationId xmlns:a16="http://schemas.microsoft.com/office/drawing/2014/main" id="{41A71AE7-0889-43B8-9DA1-3527859D54EF}"/>
                </a:ext>
              </a:extLst>
            </p:cNvPr>
            <p:cNvSpPr/>
            <p:nvPr/>
          </p:nvSpPr>
          <p:spPr bwMode="auto">
            <a:xfrm>
              <a:off x="4371123" y="2707361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BD124B88-B507-4A46-81FB-2076836AD982}"/>
                    </a:ext>
                  </a:extLst>
                </p:cNvPr>
                <p:cNvSpPr txBox="1"/>
                <p:nvPr/>
              </p:nvSpPr>
              <p:spPr>
                <a:xfrm>
                  <a:off x="2890557" y="2624716"/>
                  <a:ext cx="67165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𝐇𝐞𝐚𝐝𝐞𝐫</m:t>
                        </m:r>
                      </m:oMath>
                    </m:oMathPara>
                  </a14:m>
                  <a:endParaRPr lang="es-CO" b="1" dirty="0"/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BD124B88-B507-4A46-81FB-2076836AD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0557" y="2624716"/>
                  <a:ext cx="671659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5455" r="-6364" b="-1142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F86FC56A-F9E2-4EAF-A921-0D0139404BE6}"/>
                </a:ext>
              </a:extLst>
            </p:cNvPr>
            <p:cNvSpPr/>
            <p:nvPr/>
          </p:nvSpPr>
          <p:spPr bwMode="auto">
            <a:xfrm>
              <a:off x="3905568" y="2599014"/>
              <a:ext cx="158353" cy="27503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1" name="Oval 70">
              <a:extLst>
                <a:ext uri="{FF2B5EF4-FFF2-40B4-BE49-F238E27FC236}">
                  <a16:creationId xmlns:a16="http://schemas.microsoft.com/office/drawing/2014/main" id="{90AAA3DF-C9F5-4A39-9941-0164D903D7CA}"/>
                </a:ext>
              </a:extLst>
            </p:cNvPr>
            <p:cNvSpPr/>
            <p:nvPr/>
          </p:nvSpPr>
          <p:spPr bwMode="auto">
            <a:xfrm>
              <a:off x="3956765" y="2707361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2" name="Rectangle 69">
              <a:extLst>
                <a:ext uri="{FF2B5EF4-FFF2-40B4-BE49-F238E27FC236}">
                  <a16:creationId xmlns:a16="http://schemas.microsoft.com/office/drawing/2014/main" id="{1C046B9E-F4E7-4161-8EEB-9CEC6298C5EC}"/>
                </a:ext>
              </a:extLst>
            </p:cNvPr>
            <p:cNvSpPr/>
            <p:nvPr/>
          </p:nvSpPr>
          <p:spPr bwMode="auto">
            <a:xfrm>
              <a:off x="3701796" y="2599014"/>
              <a:ext cx="158353" cy="27503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3" name="Oval 70">
              <a:extLst>
                <a:ext uri="{FF2B5EF4-FFF2-40B4-BE49-F238E27FC236}">
                  <a16:creationId xmlns:a16="http://schemas.microsoft.com/office/drawing/2014/main" id="{716BA573-E12E-4103-80FA-CB5CA21FCA17}"/>
                </a:ext>
              </a:extLst>
            </p:cNvPr>
            <p:cNvSpPr/>
            <p:nvPr/>
          </p:nvSpPr>
          <p:spPr bwMode="auto">
            <a:xfrm>
              <a:off x="3752993" y="2707361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4" name="Oval 68">
              <a:extLst>
                <a:ext uri="{FF2B5EF4-FFF2-40B4-BE49-F238E27FC236}">
                  <a16:creationId xmlns:a16="http://schemas.microsoft.com/office/drawing/2014/main" id="{02D0095B-108C-444C-978B-76A61B697C69}"/>
                </a:ext>
              </a:extLst>
            </p:cNvPr>
            <p:cNvSpPr/>
            <p:nvPr/>
          </p:nvSpPr>
          <p:spPr bwMode="auto">
            <a:xfrm>
              <a:off x="5895956" y="2874050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5" name="Oval 68">
              <a:extLst>
                <a:ext uri="{FF2B5EF4-FFF2-40B4-BE49-F238E27FC236}">
                  <a16:creationId xmlns:a16="http://schemas.microsoft.com/office/drawing/2014/main" id="{36B1178B-33EE-4F68-A1F4-55DA76CED9AD}"/>
                </a:ext>
              </a:extLst>
            </p:cNvPr>
            <p:cNvSpPr/>
            <p:nvPr/>
          </p:nvSpPr>
          <p:spPr bwMode="auto">
            <a:xfrm>
              <a:off x="6745281" y="2869551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6" name="Oval 68">
              <a:extLst>
                <a:ext uri="{FF2B5EF4-FFF2-40B4-BE49-F238E27FC236}">
                  <a16:creationId xmlns:a16="http://schemas.microsoft.com/office/drawing/2014/main" id="{735D7ACE-4B3D-41F3-8ABB-D77BDB8BB070}"/>
                </a:ext>
              </a:extLst>
            </p:cNvPr>
            <p:cNvSpPr/>
            <p:nvPr/>
          </p:nvSpPr>
          <p:spPr bwMode="auto">
            <a:xfrm>
              <a:off x="7659922" y="2869551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7" name="Oval 68">
              <a:extLst>
                <a:ext uri="{FF2B5EF4-FFF2-40B4-BE49-F238E27FC236}">
                  <a16:creationId xmlns:a16="http://schemas.microsoft.com/office/drawing/2014/main" id="{4998C93A-31F3-4D44-AA41-3DBC0648A9DB}"/>
                </a:ext>
              </a:extLst>
            </p:cNvPr>
            <p:cNvSpPr/>
            <p:nvPr/>
          </p:nvSpPr>
          <p:spPr bwMode="auto">
            <a:xfrm>
              <a:off x="8484831" y="2869551"/>
              <a:ext cx="55959" cy="583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35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55" name="Elbow Connector 37">
              <a:extLst>
                <a:ext uri="{FF2B5EF4-FFF2-40B4-BE49-F238E27FC236}">
                  <a16:creationId xmlns:a16="http://schemas.microsoft.com/office/drawing/2014/main" id="{3189A960-A795-4DAD-9B08-E5D37DD54FAF}"/>
                </a:ext>
              </a:extLst>
            </p:cNvPr>
            <p:cNvCxnSpPr>
              <a:cxnSpLocks noChangeShapeType="1"/>
              <a:stCxn id="35" idx="2"/>
              <a:endCxn id="46" idx="4"/>
            </p:cNvCxnSpPr>
            <p:nvPr/>
          </p:nvCxnSpPr>
          <p:spPr bwMode="auto">
            <a:xfrm rot="16200000" flipH="1">
              <a:off x="5912337" y="1152326"/>
              <a:ext cx="53842" cy="3497288"/>
            </a:xfrm>
            <a:prstGeom prst="bentConnector3">
              <a:avLst>
                <a:gd name="adj1" fmla="val 719173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Elbow Connector 37">
              <a:extLst>
                <a:ext uri="{FF2B5EF4-FFF2-40B4-BE49-F238E27FC236}">
                  <a16:creationId xmlns:a16="http://schemas.microsoft.com/office/drawing/2014/main" id="{DB2C9E6E-D366-42A4-B20B-D21BFE6A255F}"/>
                </a:ext>
              </a:extLst>
            </p:cNvPr>
            <p:cNvCxnSpPr>
              <a:cxnSpLocks noChangeShapeType="1"/>
              <a:stCxn id="38" idx="6"/>
              <a:endCxn id="47" idx="4"/>
            </p:cNvCxnSpPr>
            <p:nvPr/>
          </p:nvCxnSpPr>
          <p:spPr bwMode="auto">
            <a:xfrm>
              <a:off x="4427082" y="2736531"/>
              <a:ext cx="4085729" cy="191360"/>
            </a:xfrm>
            <a:prstGeom prst="bentConnector4">
              <a:avLst>
                <a:gd name="adj1" fmla="val -698"/>
                <a:gd name="adj2" fmla="val 348876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030108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Formatos de pagina</a:t>
            </a:r>
            <a:endParaRPr dirty="0"/>
          </a:p>
        </p:txBody>
      </p:sp>
      <p:sp>
        <p:nvSpPr>
          <p:cNvPr id="24" name="Google Shape;310;p34">
            <a:extLst>
              <a:ext uri="{FF2B5EF4-FFF2-40B4-BE49-F238E27FC236}">
                <a16:creationId xmlns:a16="http://schemas.microsoft.com/office/drawing/2014/main" id="{5F31170D-46D9-49FC-BFBE-D4C804AA915A}"/>
              </a:ext>
            </a:extLst>
          </p:cNvPr>
          <p:cNvSpPr txBox="1">
            <a:spLocks/>
          </p:cNvSpPr>
          <p:nvPr/>
        </p:nvSpPr>
        <p:spPr>
          <a:xfrm>
            <a:off x="916650" y="810033"/>
            <a:ext cx="10989600" cy="117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b="1" dirty="0">
                <a:latin typeface="Roboto" panose="02000000000000000000" pitchFamily="2" charset="0"/>
                <a:ea typeface="Roboto" panose="02000000000000000000" pitchFamily="2" charset="0"/>
              </a:rPr>
              <a:t>Pregunta</a:t>
            </a:r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: ¿Cómo almacenar registros en una página/archivo? de tal forma que:</a:t>
            </a:r>
          </a:p>
          <a:p>
            <a:pPr marL="800100" lvl="1" indent="-342900"/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Se pueda apuntar a cada uno de los registros</a:t>
            </a:r>
          </a:p>
          <a:p>
            <a:pPr marL="800100" lvl="1" indent="-342900"/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Sea posible insertar/eliminar registros empleando pocos accesos al disco </a:t>
            </a:r>
          </a:p>
          <a:p>
            <a:pPr marL="127000" indent="0">
              <a:buNone/>
            </a:pPr>
            <a:endParaRPr lang="es-MX" sz="24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A400346-F11F-470A-88BF-7A54C06D0399}"/>
              </a:ext>
            </a:extLst>
          </p:cNvPr>
          <p:cNvSpPr/>
          <p:nvPr/>
        </p:nvSpPr>
        <p:spPr>
          <a:xfrm>
            <a:off x="2539398" y="2876551"/>
            <a:ext cx="3874102" cy="23894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8230B7-1D9B-4F0B-AB53-1615444DAAB6}"/>
              </a:ext>
            </a:extLst>
          </p:cNvPr>
          <p:cNvSpPr txBox="1"/>
          <p:nvPr/>
        </p:nvSpPr>
        <p:spPr>
          <a:xfrm>
            <a:off x="2539398" y="2537997"/>
            <a:ext cx="77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latin typeface="Roboto" panose="02000000000000000000" pitchFamily="2" charset="0"/>
                <a:ea typeface="Roboto" panose="02000000000000000000" pitchFamily="2" charset="0"/>
              </a:rPr>
              <a:t>Page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7B6CE04-E7FA-49AF-BD70-4AB1CC6EB852}"/>
              </a:ext>
            </a:extLst>
          </p:cNvPr>
          <p:cNvSpPr/>
          <p:nvPr/>
        </p:nvSpPr>
        <p:spPr>
          <a:xfrm>
            <a:off x="6819902" y="3682611"/>
            <a:ext cx="2348150" cy="1841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5AAAE4A-11A7-46AB-8DCE-8D2056AC2CBF}"/>
              </a:ext>
            </a:extLst>
          </p:cNvPr>
          <p:cNvSpPr/>
          <p:nvPr/>
        </p:nvSpPr>
        <p:spPr>
          <a:xfrm>
            <a:off x="6819902" y="4025511"/>
            <a:ext cx="3313350" cy="1841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3D154C4-A1B0-433C-8048-D2DEC1CD3240}"/>
              </a:ext>
            </a:extLst>
          </p:cNvPr>
          <p:cNvSpPr/>
          <p:nvPr/>
        </p:nvSpPr>
        <p:spPr>
          <a:xfrm>
            <a:off x="6819902" y="4396986"/>
            <a:ext cx="1954450" cy="1841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8F48190-31CB-4564-BE67-7A30CEFFC103}"/>
              </a:ext>
            </a:extLst>
          </p:cNvPr>
          <p:cNvSpPr txBox="1"/>
          <p:nvPr/>
        </p:nvSpPr>
        <p:spPr>
          <a:xfrm>
            <a:off x="6731002" y="3326008"/>
            <a:ext cx="128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latin typeface="Roboto" panose="02000000000000000000" pitchFamily="2" charset="0"/>
                <a:ea typeface="Roboto" panose="02000000000000000000" pitchFamily="2" charset="0"/>
              </a:rPr>
              <a:t>Records</a:t>
            </a:r>
          </a:p>
        </p:txBody>
      </p:sp>
      <p:sp>
        <p:nvSpPr>
          <p:cNvPr id="4" name="Flecha: curvada hacia abajo 3">
            <a:extLst>
              <a:ext uri="{FF2B5EF4-FFF2-40B4-BE49-F238E27FC236}">
                <a16:creationId xmlns:a16="http://schemas.microsoft.com/office/drawing/2014/main" id="{036297F3-804E-462B-8158-02BB713CCCC0}"/>
              </a:ext>
            </a:extLst>
          </p:cNvPr>
          <p:cNvSpPr/>
          <p:nvPr/>
        </p:nvSpPr>
        <p:spPr>
          <a:xfrm flipH="1">
            <a:off x="5645825" y="2187574"/>
            <a:ext cx="1535350" cy="530226"/>
          </a:xfrm>
          <a:prstGeom prst="curvedDownArrow">
            <a:avLst>
              <a:gd name="adj1" fmla="val 25000"/>
              <a:gd name="adj2" fmla="val 100702"/>
              <a:gd name="adj3" fmla="val 2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4" name="Flecha: curvada hacia abajo 33">
            <a:extLst>
              <a:ext uri="{FF2B5EF4-FFF2-40B4-BE49-F238E27FC236}">
                <a16:creationId xmlns:a16="http://schemas.microsoft.com/office/drawing/2014/main" id="{1047B7F8-2DE7-4DA2-A0F0-73184763657D}"/>
              </a:ext>
            </a:extLst>
          </p:cNvPr>
          <p:cNvSpPr/>
          <p:nvPr/>
        </p:nvSpPr>
        <p:spPr>
          <a:xfrm rot="10800000" flipH="1">
            <a:off x="5747427" y="5424724"/>
            <a:ext cx="1535350" cy="530226"/>
          </a:xfrm>
          <a:prstGeom prst="curvedDownArrow">
            <a:avLst>
              <a:gd name="adj1" fmla="val 25000"/>
              <a:gd name="adj2" fmla="val 100702"/>
              <a:gd name="adj3" fmla="val 25000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603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Formatos de pagina - FLR</a:t>
            </a:r>
            <a:endParaRPr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D5A6A4F-A26A-42AA-8F5C-22612DC5CAE0}"/>
              </a:ext>
            </a:extLst>
          </p:cNvPr>
          <p:cNvSpPr txBox="1"/>
          <p:nvPr/>
        </p:nvSpPr>
        <p:spPr>
          <a:xfrm>
            <a:off x="1291933" y="1517355"/>
            <a:ext cx="4796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latin typeface="Roboto" panose="02000000000000000000" pitchFamily="2" charset="0"/>
                <a:ea typeface="Roboto" panose="02000000000000000000" pitchFamily="2" charset="0"/>
              </a:rPr>
              <a:t>Registros de Longitud Fija (FLR - Fixed Length Records)</a:t>
            </a:r>
            <a:endParaRPr lang="es-CO" sz="1600" dirty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DF3B6C6D-BCC3-47B5-A754-22D89568845D}"/>
              </a:ext>
            </a:extLst>
          </p:cNvPr>
          <p:cNvGrpSpPr/>
          <p:nvPr/>
        </p:nvGrpSpPr>
        <p:grpSpPr>
          <a:xfrm>
            <a:off x="1820027" y="2608673"/>
            <a:ext cx="3519952" cy="2382808"/>
            <a:chOff x="1552022" y="2870432"/>
            <a:chExt cx="3519952" cy="2382808"/>
          </a:xfrm>
        </p:grpSpPr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4839E4A3-71FC-4CD9-B12B-8B0BD7CE6BBD}"/>
                </a:ext>
              </a:extLst>
            </p:cNvPr>
            <p:cNvGrpSpPr/>
            <p:nvPr/>
          </p:nvGrpSpPr>
          <p:grpSpPr>
            <a:xfrm>
              <a:off x="1554378" y="2908847"/>
              <a:ext cx="2648822" cy="2344393"/>
              <a:chOff x="2670628" y="2908847"/>
              <a:chExt cx="2648822" cy="2344393"/>
            </a:xfrm>
            <a:solidFill>
              <a:schemeClr val="bg1"/>
            </a:solidFill>
          </p:grpSpPr>
          <p:sp>
            <p:nvSpPr>
              <p:cNvPr id="72" name="Rectángulo 71">
                <a:extLst>
                  <a:ext uri="{FF2B5EF4-FFF2-40B4-BE49-F238E27FC236}">
                    <a16:creationId xmlns:a16="http://schemas.microsoft.com/office/drawing/2014/main" id="{A8953A7F-735A-4EDC-8C41-E4AC5C566E91}"/>
                  </a:ext>
                </a:extLst>
              </p:cNvPr>
              <p:cNvSpPr/>
              <p:nvPr/>
            </p:nvSpPr>
            <p:spPr>
              <a:xfrm>
                <a:off x="2670628" y="2908847"/>
                <a:ext cx="2648821" cy="191582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73" name="Rectángulo 72">
                <a:extLst>
                  <a:ext uri="{FF2B5EF4-FFF2-40B4-BE49-F238E27FC236}">
                    <a16:creationId xmlns:a16="http://schemas.microsoft.com/office/drawing/2014/main" id="{6F99CFE3-7EFF-4100-8719-F33FA49D3D9F}"/>
                  </a:ext>
                </a:extLst>
              </p:cNvPr>
              <p:cNvSpPr/>
              <p:nvPr/>
            </p:nvSpPr>
            <p:spPr>
              <a:xfrm>
                <a:off x="4352200" y="4825553"/>
                <a:ext cx="967250" cy="42768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b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N</a:t>
                </a:r>
              </a:p>
            </p:txBody>
          </p:sp>
        </p:grp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98F2097A-EB76-41D2-A760-D6926267D10C}"/>
                </a:ext>
              </a:extLst>
            </p:cNvPr>
            <p:cNvSpPr/>
            <p:nvPr/>
          </p:nvSpPr>
          <p:spPr>
            <a:xfrm>
              <a:off x="1554376" y="2901226"/>
              <a:ext cx="2648823" cy="2410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96D49632-ADF0-4A5A-95F7-949AFB70078D}"/>
                </a:ext>
              </a:extLst>
            </p:cNvPr>
            <p:cNvSpPr/>
            <p:nvPr/>
          </p:nvSpPr>
          <p:spPr>
            <a:xfrm>
              <a:off x="1554378" y="3101975"/>
              <a:ext cx="2648822" cy="2007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45424EDC-7D79-4DA9-AF65-6E5819B81825}"/>
                </a:ext>
              </a:extLst>
            </p:cNvPr>
            <p:cNvSpPr/>
            <p:nvPr/>
          </p:nvSpPr>
          <p:spPr>
            <a:xfrm>
              <a:off x="1554376" y="4117584"/>
              <a:ext cx="2648824" cy="2410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A3ED7F8C-85B3-4246-9CB0-CB4CAC0A3A76}"/>
                </a:ext>
              </a:extLst>
            </p:cNvPr>
            <p:cNvSpPr/>
            <p:nvPr/>
          </p:nvSpPr>
          <p:spPr>
            <a:xfrm>
              <a:off x="1554374" y="4319061"/>
              <a:ext cx="2648825" cy="505611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541E1391-3829-4B6A-ABCF-3DFEE7589C13}"/>
                </a:ext>
              </a:extLst>
            </p:cNvPr>
            <p:cNvSpPr txBox="1"/>
            <p:nvPr/>
          </p:nvSpPr>
          <p:spPr>
            <a:xfrm>
              <a:off x="4206524" y="4483269"/>
              <a:ext cx="86545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Free space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6A740C33-1A0F-4A18-9E23-79D2F3D74467}"/>
                </a:ext>
              </a:extLst>
            </p:cNvPr>
            <p:cNvSpPr/>
            <p:nvPr/>
          </p:nvSpPr>
          <p:spPr>
            <a:xfrm>
              <a:off x="1554374" y="3301577"/>
              <a:ext cx="2648822" cy="2007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B1B269EE-5AC1-46C4-BF90-D2E77E31525E}"/>
                </a:ext>
              </a:extLst>
            </p:cNvPr>
            <p:cNvSpPr/>
            <p:nvPr/>
          </p:nvSpPr>
          <p:spPr>
            <a:xfrm>
              <a:off x="1554374" y="3495432"/>
              <a:ext cx="2648822" cy="2007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BDB2C2F0-D450-4102-AE36-4C9C5B523904}"/>
                </a:ext>
              </a:extLst>
            </p:cNvPr>
            <p:cNvSpPr txBox="1"/>
            <p:nvPr/>
          </p:nvSpPr>
          <p:spPr>
            <a:xfrm>
              <a:off x="4203196" y="2870432"/>
              <a:ext cx="7498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Slot #1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A262D9A0-188A-4430-B83D-DBA3EE4661E5}"/>
                </a:ext>
              </a:extLst>
            </p:cNvPr>
            <p:cNvSpPr txBox="1"/>
            <p:nvPr/>
          </p:nvSpPr>
          <p:spPr>
            <a:xfrm>
              <a:off x="4203196" y="3074028"/>
              <a:ext cx="635504" cy="252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Slot #2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03FB3D73-0C61-4E6E-AAF0-EDBC944BD6CC}"/>
                </a:ext>
              </a:extLst>
            </p:cNvPr>
            <p:cNvSpPr txBox="1"/>
            <p:nvPr/>
          </p:nvSpPr>
          <p:spPr>
            <a:xfrm>
              <a:off x="4188145" y="4111902"/>
              <a:ext cx="63550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Slot #N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E4C9BE27-BEE6-4820-A847-7C0D20E4F31A}"/>
                </a:ext>
              </a:extLst>
            </p:cNvPr>
            <p:cNvSpPr txBox="1"/>
            <p:nvPr/>
          </p:nvSpPr>
          <p:spPr>
            <a:xfrm>
              <a:off x="4203196" y="3270553"/>
              <a:ext cx="63550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Slot #3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C610AE20-A57E-4AFE-BB31-8707B30B5C56}"/>
                </a:ext>
              </a:extLst>
            </p:cNvPr>
            <p:cNvSpPr txBox="1"/>
            <p:nvPr/>
          </p:nvSpPr>
          <p:spPr>
            <a:xfrm>
              <a:off x="4203621" y="3491249"/>
              <a:ext cx="67860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Slot #4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39AAE500-51E4-402C-99C2-24DBA7FAD999}"/>
                </a:ext>
              </a:extLst>
            </p:cNvPr>
            <p:cNvSpPr/>
            <p:nvPr/>
          </p:nvSpPr>
          <p:spPr>
            <a:xfrm>
              <a:off x="1552022" y="3677459"/>
              <a:ext cx="2648824" cy="4373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CAD82C40-2BBE-499E-990D-1501E48746DB}"/>
                </a:ext>
              </a:extLst>
            </p:cNvPr>
            <p:cNvSpPr txBox="1"/>
            <p:nvPr/>
          </p:nvSpPr>
          <p:spPr>
            <a:xfrm>
              <a:off x="4200845" y="3775849"/>
              <a:ext cx="4727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...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CBE4B374-3533-4A98-9636-D1FCA925C5FB}"/>
                </a:ext>
              </a:extLst>
            </p:cNvPr>
            <p:cNvSpPr txBox="1"/>
            <p:nvPr/>
          </p:nvSpPr>
          <p:spPr>
            <a:xfrm>
              <a:off x="2235759" y="3711463"/>
              <a:ext cx="128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latin typeface="Roboto" panose="02000000000000000000" pitchFamily="2" charset="0"/>
                  <a:ea typeface="Roboto" panose="02000000000000000000" pitchFamily="2" charset="0"/>
                </a:rPr>
                <a:t>...</a:t>
              </a:r>
              <a:endParaRPr lang="es-CO" sz="28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74" name="CuadroTexto 73">
            <a:extLst>
              <a:ext uri="{FF2B5EF4-FFF2-40B4-BE49-F238E27FC236}">
                <a16:creationId xmlns:a16="http://schemas.microsoft.com/office/drawing/2014/main" id="{E6603BED-B632-48B0-8951-4B33EAEF8EC7}"/>
              </a:ext>
            </a:extLst>
          </p:cNvPr>
          <p:cNvSpPr txBox="1"/>
          <p:nvPr/>
        </p:nvSpPr>
        <p:spPr>
          <a:xfrm>
            <a:off x="6878232" y="1517355"/>
            <a:ext cx="4796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latin typeface="Roboto" panose="02000000000000000000" pitchFamily="2" charset="0"/>
                <a:ea typeface="Roboto" panose="02000000000000000000" pitchFamily="2" charset="0"/>
              </a:rPr>
              <a:t>Registros de Longitud Fija (FLR - Fixed Length Records) – Con mapa de bits</a:t>
            </a:r>
            <a:endParaRPr lang="es-CO" sz="1600" dirty="0"/>
          </a:p>
        </p:txBody>
      </p:sp>
      <p:grpSp>
        <p:nvGrpSpPr>
          <p:cNvPr id="75" name="Grupo 74">
            <a:extLst>
              <a:ext uri="{FF2B5EF4-FFF2-40B4-BE49-F238E27FC236}">
                <a16:creationId xmlns:a16="http://schemas.microsoft.com/office/drawing/2014/main" id="{F85B9416-F08D-4248-A39D-32247D0EC319}"/>
              </a:ext>
            </a:extLst>
          </p:cNvPr>
          <p:cNvGrpSpPr/>
          <p:nvPr/>
        </p:nvGrpSpPr>
        <p:grpSpPr>
          <a:xfrm>
            <a:off x="7911621" y="2594940"/>
            <a:ext cx="3553229" cy="2614218"/>
            <a:chOff x="7902790" y="2870432"/>
            <a:chExt cx="3553229" cy="2614218"/>
          </a:xfrm>
        </p:grpSpPr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2F98A8C0-9E35-4C88-A0D0-7FE5AE311DEF}"/>
                </a:ext>
              </a:extLst>
            </p:cNvPr>
            <p:cNvGrpSpPr/>
            <p:nvPr/>
          </p:nvGrpSpPr>
          <p:grpSpPr>
            <a:xfrm>
              <a:off x="7902790" y="2870432"/>
              <a:ext cx="3519952" cy="2382808"/>
              <a:chOff x="1552022" y="2870432"/>
              <a:chExt cx="3519952" cy="2382808"/>
            </a:xfrm>
          </p:grpSpPr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B306CB2C-4F11-4040-B647-75C055BAF110}"/>
                  </a:ext>
                </a:extLst>
              </p:cNvPr>
              <p:cNvGrpSpPr/>
              <p:nvPr/>
            </p:nvGrpSpPr>
            <p:grpSpPr>
              <a:xfrm>
                <a:off x="1554378" y="2908847"/>
                <a:ext cx="2648822" cy="2344393"/>
                <a:chOff x="2670628" y="2908847"/>
                <a:chExt cx="2648822" cy="2344393"/>
              </a:xfrm>
              <a:solidFill>
                <a:schemeClr val="bg1"/>
              </a:solidFill>
            </p:grpSpPr>
            <p:sp>
              <p:nvSpPr>
                <p:cNvPr id="105" name="Rectángulo 104">
                  <a:extLst>
                    <a:ext uri="{FF2B5EF4-FFF2-40B4-BE49-F238E27FC236}">
                      <a16:creationId xmlns:a16="http://schemas.microsoft.com/office/drawing/2014/main" id="{E97E14EA-C41B-4265-95D1-2FB190B5CBC9}"/>
                    </a:ext>
                  </a:extLst>
                </p:cNvPr>
                <p:cNvSpPr/>
                <p:nvPr/>
              </p:nvSpPr>
              <p:spPr>
                <a:xfrm>
                  <a:off x="2670628" y="2908847"/>
                  <a:ext cx="2648821" cy="19158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b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106" name="Rectángulo 105">
                  <a:extLst>
                    <a:ext uri="{FF2B5EF4-FFF2-40B4-BE49-F238E27FC236}">
                      <a16:creationId xmlns:a16="http://schemas.microsoft.com/office/drawing/2014/main" id="{2CBCF4BC-7ECC-4CAC-A633-223084BC91C7}"/>
                    </a:ext>
                  </a:extLst>
                </p:cNvPr>
                <p:cNvSpPr/>
                <p:nvPr/>
              </p:nvSpPr>
              <p:spPr>
                <a:xfrm>
                  <a:off x="3541182" y="4825553"/>
                  <a:ext cx="1778268" cy="427687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b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  <p:sp>
            <p:nvSpPr>
              <p:cNvPr id="90" name="Rectángulo 89">
                <a:extLst>
                  <a:ext uri="{FF2B5EF4-FFF2-40B4-BE49-F238E27FC236}">
                    <a16:creationId xmlns:a16="http://schemas.microsoft.com/office/drawing/2014/main" id="{FCB735B0-6B92-4182-89D5-254C4C3741C1}"/>
                  </a:ext>
                </a:extLst>
              </p:cNvPr>
              <p:cNvSpPr/>
              <p:nvPr/>
            </p:nvSpPr>
            <p:spPr>
              <a:xfrm>
                <a:off x="1554376" y="2901226"/>
                <a:ext cx="2648823" cy="2410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1" name="Rectángulo 90">
                <a:extLst>
                  <a:ext uri="{FF2B5EF4-FFF2-40B4-BE49-F238E27FC236}">
                    <a16:creationId xmlns:a16="http://schemas.microsoft.com/office/drawing/2014/main" id="{299F850A-BF67-4B1A-A416-5046DE8980E5}"/>
                  </a:ext>
                </a:extLst>
              </p:cNvPr>
              <p:cNvSpPr/>
              <p:nvPr/>
            </p:nvSpPr>
            <p:spPr>
              <a:xfrm>
                <a:off x="1554378" y="3101975"/>
                <a:ext cx="2648822" cy="2007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0F6506B7-DEF4-41B5-B866-367E011123F3}"/>
                  </a:ext>
                </a:extLst>
              </p:cNvPr>
              <p:cNvSpPr/>
              <p:nvPr/>
            </p:nvSpPr>
            <p:spPr>
              <a:xfrm>
                <a:off x="1554376" y="4117584"/>
                <a:ext cx="2648824" cy="2410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B1069880-2ED6-4814-88C4-0369C28799DD}"/>
                  </a:ext>
                </a:extLst>
              </p:cNvPr>
              <p:cNvSpPr/>
              <p:nvPr/>
            </p:nvSpPr>
            <p:spPr>
              <a:xfrm>
                <a:off x="1554374" y="4319061"/>
                <a:ext cx="2648825" cy="505611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3BCFFF43-6CC0-40EE-B0BD-58991747D608}"/>
                  </a:ext>
                </a:extLst>
              </p:cNvPr>
              <p:cNvSpPr txBox="1"/>
              <p:nvPr/>
            </p:nvSpPr>
            <p:spPr>
              <a:xfrm>
                <a:off x="4206524" y="4483269"/>
                <a:ext cx="86545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050" dirty="0">
                    <a:latin typeface="Roboto" panose="02000000000000000000" pitchFamily="2" charset="0"/>
                    <a:ea typeface="Roboto" panose="02000000000000000000" pitchFamily="2" charset="0"/>
                  </a:rPr>
                  <a:t>Free space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5" name="Rectángulo 94">
                <a:extLst>
                  <a:ext uri="{FF2B5EF4-FFF2-40B4-BE49-F238E27FC236}">
                    <a16:creationId xmlns:a16="http://schemas.microsoft.com/office/drawing/2014/main" id="{E156A2BB-7B76-4D28-A689-F7EAE24B55EF}"/>
                  </a:ext>
                </a:extLst>
              </p:cNvPr>
              <p:cNvSpPr/>
              <p:nvPr/>
            </p:nvSpPr>
            <p:spPr>
              <a:xfrm>
                <a:off x="1554374" y="3301577"/>
                <a:ext cx="2648822" cy="20074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6" name="Rectángulo 95">
                <a:extLst>
                  <a:ext uri="{FF2B5EF4-FFF2-40B4-BE49-F238E27FC236}">
                    <a16:creationId xmlns:a16="http://schemas.microsoft.com/office/drawing/2014/main" id="{6282D89D-DBC2-4A03-81BE-69E977299509}"/>
                  </a:ext>
                </a:extLst>
              </p:cNvPr>
              <p:cNvSpPr/>
              <p:nvPr/>
            </p:nvSpPr>
            <p:spPr>
              <a:xfrm>
                <a:off x="1554374" y="3495432"/>
                <a:ext cx="2648822" cy="2007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7" name="CuadroTexto 96">
                <a:extLst>
                  <a:ext uri="{FF2B5EF4-FFF2-40B4-BE49-F238E27FC236}">
                    <a16:creationId xmlns:a16="http://schemas.microsoft.com/office/drawing/2014/main" id="{B184E9FC-9DD6-4721-AB86-5C791895924D}"/>
                  </a:ext>
                </a:extLst>
              </p:cNvPr>
              <p:cNvSpPr txBox="1"/>
              <p:nvPr/>
            </p:nvSpPr>
            <p:spPr>
              <a:xfrm>
                <a:off x="4203196" y="2870432"/>
                <a:ext cx="74980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050" dirty="0">
                    <a:latin typeface="Roboto" panose="02000000000000000000" pitchFamily="2" charset="0"/>
                    <a:ea typeface="Roboto" panose="02000000000000000000" pitchFamily="2" charset="0"/>
                  </a:rPr>
                  <a:t>Slot #1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2DE5EC18-B65E-484F-9615-9E9C55310289}"/>
                  </a:ext>
                </a:extLst>
              </p:cNvPr>
              <p:cNvSpPr txBox="1"/>
              <p:nvPr/>
            </p:nvSpPr>
            <p:spPr>
              <a:xfrm>
                <a:off x="4203196" y="3074028"/>
                <a:ext cx="635504" cy="252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050" dirty="0">
                    <a:latin typeface="Roboto" panose="02000000000000000000" pitchFamily="2" charset="0"/>
                    <a:ea typeface="Roboto" panose="02000000000000000000" pitchFamily="2" charset="0"/>
                  </a:rPr>
                  <a:t>Slot #2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405CF530-EE88-43B6-B5EB-7CE474BD7D5D}"/>
                  </a:ext>
                </a:extLst>
              </p:cNvPr>
              <p:cNvSpPr txBox="1"/>
              <p:nvPr/>
            </p:nvSpPr>
            <p:spPr>
              <a:xfrm>
                <a:off x="4188661" y="4080795"/>
                <a:ext cx="63550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050" dirty="0">
                    <a:latin typeface="Roboto" panose="02000000000000000000" pitchFamily="2" charset="0"/>
                    <a:ea typeface="Roboto" panose="02000000000000000000" pitchFamily="2" charset="0"/>
                  </a:rPr>
                  <a:t>Slot #N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00" name="CuadroTexto 99">
                <a:extLst>
                  <a:ext uri="{FF2B5EF4-FFF2-40B4-BE49-F238E27FC236}">
                    <a16:creationId xmlns:a16="http://schemas.microsoft.com/office/drawing/2014/main" id="{62F7137C-35CC-489B-BEA7-DAC303F75EAA}"/>
                  </a:ext>
                </a:extLst>
              </p:cNvPr>
              <p:cNvSpPr txBox="1"/>
              <p:nvPr/>
            </p:nvSpPr>
            <p:spPr>
              <a:xfrm>
                <a:off x="4203196" y="3270553"/>
                <a:ext cx="63550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050" dirty="0">
                    <a:latin typeface="Roboto" panose="02000000000000000000" pitchFamily="2" charset="0"/>
                    <a:ea typeface="Roboto" panose="02000000000000000000" pitchFamily="2" charset="0"/>
                  </a:rPr>
                  <a:t>Slot #3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BDAF7C21-77CA-433F-90D7-3F4621AEE375}"/>
                  </a:ext>
                </a:extLst>
              </p:cNvPr>
              <p:cNvSpPr txBox="1"/>
              <p:nvPr/>
            </p:nvSpPr>
            <p:spPr>
              <a:xfrm>
                <a:off x="4203621" y="3491249"/>
                <a:ext cx="67860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050" dirty="0">
                    <a:latin typeface="Roboto" panose="02000000000000000000" pitchFamily="2" charset="0"/>
                    <a:ea typeface="Roboto" panose="02000000000000000000" pitchFamily="2" charset="0"/>
                  </a:rPr>
                  <a:t>Slot #4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02" name="Rectángulo 101">
                <a:extLst>
                  <a:ext uri="{FF2B5EF4-FFF2-40B4-BE49-F238E27FC236}">
                    <a16:creationId xmlns:a16="http://schemas.microsoft.com/office/drawing/2014/main" id="{4F949D53-7575-419C-BD89-A9FFAB2F5F8D}"/>
                  </a:ext>
                </a:extLst>
              </p:cNvPr>
              <p:cNvSpPr/>
              <p:nvPr/>
            </p:nvSpPr>
            <p:spPr>
              <a:xfrm>
                <a:off x="1552022" y="3677459"/>
                <a:ext cx="2648824" cy="43734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03" name="CuadroTexto 102">
                <a:extLst>
                  <a:ext uri="{FF2B5EF4-FFF2-40B4-BE49-F238E27FC236}">
                    <a16:creationId xmlns:a16="http://schemas.microsoft.com/office/drawing/2014/main" id="{F14B1A0E-CEC4-436A-BF1C-B0C0EEA4EFBD}"/>
                  </a:ext>
                </a:extLst>
              </p:cNvPr>
              <p:cNvSpPr txBox="1"/>
              <p:nvPr/>
            </p:nvSpPr>
            <p:spPr>
              <a:xfrm>
                <a:off x="4200845" y="3775849"/>
                <a:ext cx="47275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050" dirty="0">
                    <a:latin typeface="Roboto" panose="02000000000000000000" pitchFamily="2" charset="0"/>
                    <a:ea typeface="Roboto" panose="02000000000000000000" pitchFamily="2" charset="0"/>
                  </a:rPr>
                  <a:t>...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04" name="CuadroTexto 103">
                <a:extLst>
                  <a:ext uri="{FF2B5EF4-FFF2-40B4-BE49-F238E27FC236}">
                    <a16:creationId xmlns:a16="http://schemas.microsoft.com/office/drawing/2014/main" id="{5EAE66DD-D345-442D-B000-AAFE15F89B76}"/>
                  </a:ext>
                </a:extLst>
              </p:cNvPr>
              <p:cNvSpPr txBox="1"/>
              <p:nvPr/>
            </p:nvSpPr>
            <p:spPr>
              <a:xfrm>
                <a:off x="2235759" y="3711463"/>
                <a:ext cx="1281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800" dirty="0">
                    <a:latin typeface="Roboto" panose="02000000000000000000" pitchFamily="2" charset="0"/>
                    <a:ea typeface="Roboto" panose="02000000000000000000" pitchFamily="2" charset="0"/>
                  </a:rPr>
                  <a:t>...</a:t>
                </a:r>
                <a:endParaRPr lang="es-CO" sz="28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4FE56095-3971-410A-9B7F-E5DE5FDECD01}"/>
                </a:ext>
              </a:extLst>
            </p:cNvPr>
            <p:cNvSpPr/>
            <p:nvPr/>
          </p:nvSpPr>
          <p:spPr>
            <a:xfrm>
              <a:off x="8775882" y="4825553"/>
              <a:ext cx="196668" cy="4276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416C17DB-B913-489E-9E85-11818CAF287C}"/>
                </a:ext>
              </a:extLst>
            </p:cNvPr>
            <p:cNvSpPr/>
            <p:nvPr/>
          </p:nvSpPr>
          <p:spPr>
            <a:xfrm>
              <a:off x="8972550" y="4825553"/>
              <a:ext cx="196668" cy="4276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</a:p>
          </p:txBody>
        </p:sp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7FD77B12-1D8A-4ED7-8296-16B5D6C2396C}"/>
                </a:ext>
              </a:extLst>
            </p:cNvPr>
            <p:cNvSpPr/>
            <p:nvPr/>
          </p:nvSpPr>
          <p:spPr>
            <a:xfrm>
              <a:off x="9169218" y="4825553"/>
              <a:ext cx="196668" cy="4276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DE5CD54A-97B7-42E2-AC5C-3D24EC1A9BA5}"/>
                </a:ext>
              </a:extLst>
            </p:cNvPr>
            <p:cNvSpPr/>
            <p:nvPr/>
          </p:nvSpPr>
          <p:spPr>
            <a:xfrm>
              <a:off x="9365886" y="4825553"/>
              <a:ext cx="196668" cy="4276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</a:p>
          </p:txBody>
        </p:sp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7B259FB4-DC49-4D5D-AEDC-30A687F93753}"/>
                </a:ext>
              </a:extLst>
            </p:cNvPr>
            <p:cNvSpPr/>
            <p:nvPr/>
          </p:nvSpPr>
          <p:spPr>
            <a:xfrm>
              <a:off x="10033000" y="4825553"/>
              <a:ext cx="520968" cy="42768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</a:t>
              </a:r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50E5C9D3-CC65-4668-ADAE-495F6598733D}"/>
                </a:ext>
              </a:extLst>
            </p:cNvPr>
            <p:cNvSpPr/>
            <p:nvPr/>
          </p:nvSpPr>
          <p:spPr>
            <a:xfrm>
              <a:off x="9562554" y="4821116"/>
              <a:ext cx="520968" cy="42768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...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47FA0FCD-539F-4320-9FB9-C255EA896D9E}"/>
                </a:ext>
              </a:extLst>
            </p:cNvPr>
            <p:cNvSpPr txBox="1"/>
            <p:nvPr/>
          </p:nvSpPr>
          <p:spPr>
            <a:xfrm>
              <a:off x="10590569" y="4908001"/>
              <a:ext cx="86545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Header</a:t>
              </a:r>
              <a:endParaRPr lang="es-CO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49CB3EA1-CDE8-4E4D-92A1-5089EF60D2FD}"/>
                </a:ext>
              </a:extLst>
            </p:cNvPr>
            <p:cNvSpPr txBox="1"/>
            <p:nvPr/>
          </p:nvSpPr>
          <p:spPr>
            <a:xfrm>
              <a:off x="8775700" y="5269206"/>
              <a:ext cx="1968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800" dirty="0"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  <a:endParaRPr lang="es-CO" sz="105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E47075AF-DCCF-4BFC-895F-72F1562BF8A6}"/>
                </a:ext>
              </a:extLst>
            </p:cNvPr>
            <p:cNvSpPr txBox="1"/>
            <p:nvPr/>
          </p:nvSpPr>
          <p:spPr>
            <a:xfrm>
              <a:off x="8968195" y="5269206"/>
              <a:ext cx="1968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800" dirty="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  <a:endParaRPr lang="es-CO" sz="105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A5FE02B1-AB6B-4DC7-9BF1-4AFD04046BD1}"/>
                </a:ext>
              </a:extLst>
            </p:cNvPr>
            <p:cNvSpPr txBox="1"/>
            <p:nvPr/>
          </p:nvSpPr>
          <p:spPr>
            <a:xfrm>
              <a:off x="9170667" y="5269206"/>
              <a:ext cx="1968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8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es-CO" sz="105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B43E8E69-406F-4B2F-8C7A-85D89A68B847}"/>
                </a:ext>
              </a:extLst>
            </p:cNvPr>
            <p:cNvSpPr txBox="1"/>
            <p:nvPr/>
          </p:nvSpPr>
          <p:spPr>
            <a:xfrm>
              <a:off x="9373139" y="5264769"/>
              <a:ext cx="1968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800" dirty="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endParaRPr lang="es-CO" sz="105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51CFD0F3-22D3-4002-974C-81DE3010ED41}"/>
                </a:ext>
              </a:extLst>
            </p:cNvPr>
            <p:cNvSpPr txBox="1"/>
            <p:nvPr/>
          </p:nvSpPr>
          <p:spPr>
            <a:xfrm>
              <a:off x="9668844" y="5204200"/>
              <a:ext cx="30838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800" dirty="0">
                  <a:latin typeface="Roboto" panose="02000000000000000000" pitchFamily="2" charset="0"/>
                  <a:ea typeface="Roboto" panose="02000000000000000000" pitchFamily="2" charset="0"/>
                </a:rPr>
                <a:t>...</a:t>
              </a:r>
              <a:endParaRPr lang="es-CO" sz="105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6879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Formatos de pagina - VLR </a:t>
            </a:r>
            <a:endParaRPr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82F0FB-3DCC-4A70-9C6F-7D794752A737}"/>
              </a:ext>
            </a:extLst>
          </p:cNvPr>
          <p:cNvSpPr txBox="1"/>
          <p:nvPr/>
        </p:nvSpPr>
        <p:spPr>
          <a:xfrm>
            <a:off x="3679885" y="1262021"/>
            <a:ext cx="5132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latin typeface="Roboto" panose="02000000000000000000" pitchFamily="2" charset="0"/>
                <a:ea typeface="Roboto" panose="02000000000000000000" pitchFamily="2" charset="0"/>
              </a:rPr>
              <a:t>Registros de Longitud Variable (VLR - Variable Length Records)</a:t>
            </a:r>
            <a:endParaRPr lang="es-CO" sz="1600" dirty="0">
              <a:solidFill>
                <a:srgbClr val="FF000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8A9D1D9-EFB3-49EF-8289-A7864374210F}"/>
              </a:ext>
            </a:extLst>
          </p:cNvPr>
          <p:cNvSpPr txBox="1"/>
          <p:nvPr/>
        </p:nvSpPr>
        <p:spPr>
          <a:xfrm>
            <a:off x="4875420" y="3229056"/>
            <a:ext cx="8654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50" dirty="0">
                <a:latin typeface="Roboto" panose="02000000000000000000" pitchFamily="2" charset="0"/>
                <a:ea typeface="Roboto" panose="02000000000000000000" pitchFamily="2" charset="0"/>
              </a:rPr>
              <a:t>Free space</a:t>
            </a:r>
            <a:endParaRPr lang="es-CO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EC24790-2E77-4244-B4EF-7A1F3C8D91CF}"/>
              </a:ext>
            </a:extLst>
          </p:cNvPr>
          <p:cNvGrpSpPr/>
          <p:nvPr/>
        </p:nvGrpSpPr>
        <p:grpSpPr>
          <a:xfrm>
            <a:off x="2226596" y="2310814"/>
            <a:ext cx="2648826" cy="2346543"/>
            <a:chOff x="7957412" y="3186097"/>
            <a:chExt cx="2648826" cy="2346543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9C569B20-61E8-4619-B3C5-5C098324BD3F}"/>
                </a:ext>
              </a:extLst>
            </p:cNvPr>
            <p:cNvGrpSpPr/>
            <p:nvPr/>
          </p:nvGrpSpPr>
          <p:grpSpPr>
            <a:xfrm>
              <a:off x="7957416" y="3188247"/>
              <a:ext cx="2648822" cy="2344393"/>
              <a:chOff x="2670628" y="2908847"/>
              <a:chExt cx="2648822" cy="2344393"/>
            </a:xfrm>
            <a:solidFill>
              <a:schemeClr val="bg1"/>
            </a:solidFill>
          </p:grpSpPr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5AF21808-7191-41E3-A228-BF82198A7953}"/>
                  </a:ext>
                </a:extLst>
              </p:cNvPr>
              <p:cNvSpPr/>
              <p:nvPr/>
            </p:nvSpPr>
            <p:spPr>
              <a:xfrm>
                <a:off x="2670628" y="2908847"/>
                <a:ext cx="2648821" cy="19158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8" name="Rectángulo 57">
                <a:extLst>
                  <a:ext uri="{FF2B5EF4-FFF2-40B4-BE49-F238E27FC236}">
                    <a16:creationId xmlns:a16="http://schemas.microsoft.com/office/drawing/2014/main" id="{FEF4235E-D9A6-4CB2-BCB1-50067E30A5BA}"/>
                  </a:ext>
                </a:extLst>
              </p:cNvPr>
              <p:cNvSpPr/>
              <p:nvPr/>
            </p:nvSpPr>
            <p:spPr>
              <a:xfrm>
                <a:off x="3742912" y="4825553"/>
                <a:ext cx="1576538" cy="42768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b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BE2CE63F-BB46-40DF-9266-D244493D1DC6}"/>
                </a:ext>
              </a:extLst>
            </p:cNvPr>
            <p:cNvSpPr/>
            <p:nvPr/>
          </p:nvSpPr>
          <p:spPr>
            <a:xfrm>
              <a:off x="7957415" y="3186976"/>
              <a:ext cx="1453286" cy="1998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D4B91F4F-CEBA-4A10-B2D5-470E98C49B20}"/>
                </a:ext>
              </a:extLst>
            </p:cNvPr>
            <p:cNvSpPr/>
            <p:nvPr/>
          </p:nvSpPr>
          <p:spPr>
            <a:xfrm>
              <a:off x="7957416" y="3381375"/>
              <a:ext cx="570634" cy="20074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1551ACEF-BBF7-4BF3-8696-D97223C36A27}"/>
                </a:ext>
              </a:extLst>
            </p:cNvPr>
            <p:cNvSpPr/>
            <p:nvPr/>
          </p:nvSpPr>
          <p:spPr>
            <a:xfrm>
              <a:off x="9410701" y="3186097"/>
              <a:ext cx="1195536" cy="20074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E93F36D-5292-4129-B686-2DEB356D4AD4}"/>
                </a:ext>
              </a:extLst>
            </p:cNvPr>
            <p:cNvSpPr/>
            <p:nvPr/>
          </p:nvSpPr>
          <p:spPr>
            <a:xfrm>
              <a:off x="8528049" y="3382254"/>
              <a:ext cx="2078187" cy="1998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31F62FCF-DC7B-4E50-8C83-B2E4244F1DB1}"/>
                </a:ext>
              </a:extLst>
            </p:cNvPr>
            <p:cNvSpPr/>
            <p:nvPr/>
          </p:nvSpPr>
          <p:spPr>
            <a:xfrm>
              <a:off x="7957412" y="3579973"/>
              <a:ext cx="983388" cy="1998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83F7E03-E654-458C-A736-6CB935A5A1AA}"/>
                </a:ext>
              </a:extLst>
            </p:cNvPr>
            <p:cNvSpPr txBox="1"/>
            <p:nvPr/>
          </p:nvSpPr>
          <p:spPr>
            <a:xfrm>
              <a:off x="9134417" y="4231297"/>
              <a:ext cx="4327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dirty="0">
                  <a:latin typeface="Roboto" panose="02000000000000000000" pitchFamily="2" charset="0"/>
                  <a:ea typeface="Roboto" panose="02000000000000000000" pitchFamily="2" charset="0"/>
                </a:rPr>
                <a:t>...</a:t>
              </a:r>
              <a:endParaRPr lang="es-CO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8ECD193E-133A-456A-8C1B-D2DBF9DD4295}"/>
                </a:ext>
              </a:extLst>
            </p:cNvPr>
            <p:cNvSpPr/>
            <p:nvPr/>
          </p:nvSpPr>
          <p:spPr>
            <a:xfrm>
              <a:off x="9029698" y="5104953"/>
              <a:ext cx="190952" cy="4276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1F73C3E2-FCAC-4042-A008-F2A86981845B}"/>
                </a:ext>
              </a:extLst>
            </p:cNvPr>
            <p:cNvSpPr/>
            <p:nvPr/>
          </p:nvSpPr>
          <p:spPr>
            <a:xfrm>
              <a:off x="9220650" y="5104953"/>
              <a:ext cx="190952" cy="42768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64B1922C-F7B1-4E6B-987C-2FEFA803C053}"/>
                </a:ext>
              </a:extLst>
            </p:cNvPr>
            <p:cNvSpPr/>
            <p:nvPr/>
          </p:nvSpPr>
          <p:spPr>
            <a:xfrm>
              <a:off x="9411600" y="5104953"/>
              <a:ext cx="190952" cy="4276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B250BFED-26AC-43D3-97AC-C20F75300EEA}"/>
                </a:ext>
              </a:extLst>
            </p:cNvPr>
            <p:cNvSpPr/>
            <p:nvPr/>
          </p:nvSpPr>
          <p:spPr>
            <a:xfrm>
              <a:off x="9602550" y="5104072"/>
              <a:ext cx="190952" cy="4276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60F09CA4-95E3-4DB4-B2EF-897AFC1C3E17}"/>
                </a:ext>
              </a:extLst>
            </p:cNvPr>
            <p:cNvSpPr/>
            <p:nvPr/>
          </p:nvSpPr>
          <p:spPr>
            <a:xfrm>
              <a:off x="9793500" y="5104072"/>
              <a:ext cx="190952" cy="4276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3E6E829E-23AB-4FB4-988F-F8AB5378904C}"/>
                </a:ext>
              </a:extLst>
            </p:cNvPr>
            <p:cNvSpPr/>
            <p:nvPr/>
          </p:nvSpPr>
          <p:spPr>
            <a:xfrm>
              <a:off x="9984448" y="5104072"/>
              <a:ext cx="190952" cy="4276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AC3A2D1A-D038-4280-B557-BD859DC2E2C9}"/>
              </a:ext>
            </a:extLst>
          </p:cNvPr>
          <p:cNvSpPr/>
          <p:nvPr/>
        </p:nvSpPr>
        <p:spPr>
          <a:xfrm>
            <a:off x="1151622" y="2407667"/>
            <a:ext cx="2248862" cy="2266567"/>
          </a:xfrm>
          <a:custGeom>
            <a:avLst/>
            <a:gdLst>
              <a:gd name="connsiteX0" fmla="*/ 2248862 w 2248862"/>
              <a:gd name="connsiteY0" fmla="*/ 2032000 h 2266567"/>
              <a:gd name="connsiteX1" fmla="*/ 1810712 w 2248862"/>
              <a:gd name="connsiteY1" fmla="*/ 2190750 h 2266567"/>
              <a:gd name="connsiteX2" fmla="*/ 966162 w 2248862"/>
              <a:gd name="connsiteY2" fmla="*/ 2235200 h 2266567"/>
              <a:gd name="connsiteX3" fmla="*/ 305762 w 2248862"/>
              <a:gd name="connsiteY3" fmla="*/ 1720850 h 2266567"/>
              <a:gd name="connsiteX4" fmla="*/ 962 w 2248862"/>
              <a:gd name="connsiteY4" fmla="*/ 876300 h 2266567"/>
              <a:gd name="connsiteX5" fmla="*/ 394662 w 2248862"/>
              <a:gd name="connsiteY5" fmla="*/ 146050 h 2266567"/>
              <a:gd name="connsiteX6" fmla="*/ 1061412 w 2248862"/>
              <a:gd name="connsiteY6" fmla="*/ 0 h 2266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48862" h="2266567">
                <a:moveTo>
                  <a:pt x="2248862" y="2032000"/>
                </a:moveTo>
                <a:cubicBezTo>
                  <a:pt x="2136678" y="2094441"/>
                  <a:pt x="2024495" y="2156883"/>
                  <a:pt x="1810712" y="2190750"/>
                </a:cubicBezTo>
                <a:cubicBezTo>
                  <a:pt x="1596929" y="2224617"/>
                  <a:pt x="1216987" y="2313517"/>
                  <a:pt x="966162" y="2235200"/>
                </a:cubicBezTo>
                <a:cubicBezTo>
                  <a:pt x="715337" y="2156883"/>
                  <a:pt x="466629" y="1947333"/>
                  <a:pt x="305762" y="1720850"/>
                </a:cubicBezTo>
                <a:cubicBezTo>
                  <a:pt x="144895" y="1494367"/>
                  <a:pt x="-13855" y="1138767"/>
                  <a:pt x="962" y="876300"/>
                </a:cubicBezTo>
                <a:cubicBezTo>
                  <a:pt x="15779" y="613833"/>
                  <a:pt x="217920" y="292100"/>
                  <a:pt x="394662" y="146050"/>
                </a:cubicBezTo>
                <a:cubicBezTo>
                  <a:pt x="571404" y="0"/>
                  <a:pt x="816408" y="0"/>
                  <a:pt x="1061412" y="0"/>
                </a:cubicBezTo>
              </a:path>
            </a:pathLst>
          </a:custGeom>
          <a:noFill/>
          <a:ln w="127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BA7A35F7-AF30-4F5D-98BE-59A8781FD31B}"/>
              </a:ext>
            </a:extLst>
          </p:cNvPr>
          <p:cNvSpPr/>
          <p:nvPr/>
        </p:nvSpPr>
        <p:spPr>
          <a:xfrm>
            <a:off x="2826853" y="2387129"/>
            <a:ext cx="840331" cy="2052538"/>
          </a:xfrm>
          <a:custGeom>
            <a:avLst/>
            <a:gdLst>
              <a:gd name="connsiteX0" fmla="*/ 757781 w 840331"/>
              <a:gd name="connsiteY0" fmla="*/ 2052538 h 2052538"/>
              <a:gd name="connsiteX1" fmla="*/ 262481 w 840331"/>
              <a:gd name="connsiteY1" fmla="*/ 1912838 h 2052538"/>
              <a:gd name="connsiteX2" fmla="*/ 33881 w 840331"/>
              <a:gd name="connsiteY2" fmla="*/ 1481038 h 2052538"/>
              <a:gd name="connsiteX3" fmla="*/ 14831 w 840331"/>
              <a:gd name="connsiteY3" fmla="*/ 941288 h 2052538"/>
              <a:gd name="connsiteX4" fmla="*/ 167231 w 840331"/>
              <a:gd name="connsiteY4" fmla="*/ 471388 h 2052538"/>
              <a:gd name="connsiteX5" fmla="*/ 535531 w 840331"/>
              <a:gd name="connsiteY5" fmla="*/ 52288 h 2052538"/>
              <a:gd name="connsiteX6" fmla="*/ 840331 w 840331"/>
              <a:gd name="connsiteY6" fmla="*/ 20538 h 2052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0331" h="2052538">
                <a:moveTo>
                  <a:pt x="757781" y="2052538"/>
                </a:moveTo>
                <a:cubicBezTo>
                  <a:pt x="570456" y="2030313"/>
                  <a:pt x="383131" y="2008088"/>
                  <a:pt x="262481" y="1912838"/>
                </a:cubicBezTo>
                <a:cubicBezTo>
                  <a:pt x="141831" y="1817588"/>
                  <a:pt x="75156" y="1642963"/>
                  <a:pt x="33881" y="1481038"/>
                </a:cubicBezTo>
                <a:cubicBezTo>
                  <a:pt x="-7394" y="1319113"/>
                  <a:pt x="-7394" y="1109563"/>
                  <a:pt x="14831" y="941288"/>
                </a:cubicBezTo>
                <a:cubicBezTo>
                  <a:pt x="37056" y="773013"/>
                  <a:pt x="80448" y="619555"/>
                  <a:pt x="167231" y="471388"/>
                </a:cubicBezTo>
                <a:cubicBezTo>
                  <a:pt x="254014" y="323221"/>
                  <a:pt x="423348" y="127430"/>
                  <a:pt x="535531" y="52288"/>
                </a:cubicBezTo>
                <a:cubicBezTo>
                  <a:pt x="647714" y="-22854"/>
                  <a:pt x="744022" y="-1158"/>
                  <a:pt x="840331" y="20538"/>
                </a:cubicBezTo>
              </a:path>
            </a:pathLst>
          </a:custGeom>
          <a:noFill/>
          <a:ln w="12700">
            <a:solidFill>
              <a:schemeClr val="accent4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415E5F81-CE3E-42D5-B2D2-4C952ED23946}"/>
              </a:ext>
            </a:extLst>
          </p:cNvPr>
          <p:cNvSpPr/>
          <p:nvPr/>
        </p:nvSpPr>
        <p:spPr>
          <a:xfrm>
            <a:off x="2273978" y="2604517"/>
            <a:ext cx="1507506" cy="2277395"/>
          </a:xfrm>
          <a:custGeom>
            <a:avLst/>
            <a:gdLst>
              <a:gd name="connsiteX0" fmla="*/ 1507506 w 1507506"/>
              <a:gd name="connsiteY0" fmla="*/ 1841500 h 2277395"/>
              <a:gd name="connsiteX1" fmla="*/ 1329706 w 1507506"/>
              <a:gd name="connsiteY1" fmla="*/ 2108200 h 2277395"/>
              <a:gd name="connsiteX2" fmla="*/ 916956 w 1507506"/>
              <a:gd name="connsiteY2" fmla="*/ 2260600 h 2277395"/>
              <a:gd name="connsiteX3" fmla="*/ 453406 w 1507506"/>
              <a:gd name="connsiteY3" fmla="*/ 2209800 h 2277395"/>
              <a:gd name="connsiteX4" fmla="*/ 34306 w 1507506"/>
              <a:gd name="connsiteY4" fmla="*/ 1695450 h 2277395"/>
              <a:gd name="connsiteX5" fmla="*/ 78756 w 1507506"/>
              <a:gd name="connsiteY5" fmla="*/ 565150 h 2277395"/>
              <a:gd name="connsiteX6" fmla="*/ 510556 w 1507506"/>
              <a:gd name="connsiteY6" fmla="*/ 0 h 2277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7506" h="2277395">
                <a:moveTo>
                  <a:pt x="1507506" y="1841500"/>
                </a:moveTo>
                <a:cubicBezTo>
                  <a:pt x="1467818" y="1939925"/>
                  <a:pt x="1428131" y="2038350"/>
                  <a:pt x="1329706" y="2108200"/>
                </a:cubicBezTo>
                <a:cubicBezTo>
                  <a:pt x="1231281" y="2178050"/>
                  <a:pt x="1063006" y="2243667"/>
                  <a:pt x="916956" y="2260600"/>
                </a:cubicBezTo>
                <a:cubicBezTo>
                  <a:pt x="770906" y="2277533"/>
                  <a:pt x="600514" y="2303992"/>
                  <a:pt x="453406" y="2209800"/>
                </a:cubicBezTo>
                <a:cubicBezTo>
                  <a:pt x="306298" y="2115608"/>
                  <a:pt x="96748" y="1969558"/>
                  <a:pt x="34306" y="1695450"/>
                </a:cubicBezTo>
                <a:cubicBezTo>
                  <a:pt x="-28136" y="1421342"/>
                  <a:pt x="-619" y="847725"/>
                  <a:pt x="78756" y="565150"/>
                </a:cubicBezTo>
                <a:cubicBezTo>
                  <a:pt x="158131" y="282575"/>
                  <a:pt x="334343" y="141287"/>
                  <a:pt x="510556" y="0"/>
                </a:cubicBezTo>
              </a:path>
            </a:pathLst>
          </a:custGeom>
          <a:noFill/>
          <a:ln w="127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724124F-7600-49ED-9BA4-572375CA4DF9}"/>
              </a:ext>
            </a:extLst>
          </p:cNvPr>
          <p:cNvSpPr/>
          <p:nvPr/>
        </p:nvSpPr>
        <p:spPr>
          <a:xfrm>
            <a:off x="1868543" y="2775967"/>
            <a:ext cx="2097091" cy="2263211"/>
          </a:xfrm>
          <a:custGeom>
            <a:avLst/>
            <a:gdLst>
              <a:gd name="connsiteX0" fmla="*/ 2097091 w 2097091"/>
              <a:gd name="connsiteY0" fmla="*/ 1682750 h 2263211"/>
              <a:gd name="connsiteX1" fmla="*/ 1976441 w 2097091"/>
              <a:gd name="connsiteY1" fmla="*/ 2012950 h 2263211"/>
              <a:gd name="connsiteX2" fmla="*/ 1506541 w 2097091"/>
              <a:gd name="connsiteY2" fmla="*/ 2228850 h 2263211"/>
              <a:gd name="connsiteX3" fmla="*/ 884241 w 2097091"/>
              <a:gd name="connsiteY3" fmla="*/ 2241550 h 2263211"/>
              <a:gd name="connsiteX4" fmla="*/ 350841 w 2097091"/>
              <a:gd name="connsiteY4" fmla="*/ 2019300 h 2263211"/>
              <a:gd name="connsiteX5" fmla="*/ 52391 w 2097091"/>
              <a:gd name="connsiteY5" fmla="*/ 1485900 h 2263211"/>
              <a:gd name="connsiteX6" fmla="*/ 1591 w 2097091"/>
              <a:gd name="connsiteY6" fmla="*/ 774700 h 2263211"/>
              <a:gd name="connsiteX7" fmla="*/ 71441 w 2097091"/>
              <a:gd name="connsiteY7" fmla="*/ 349250 h 2263211"/>
              <a:gd name="connsiteX8" fmla="*/ 236541 w 2097091"/>
              <a:gd name="connsiteY8" fmla="*/ 63500 h 2263211"/>
              <a:gd name="connsiteX9" fmla="*/ 344491 w 2097091"/>
              <a:gd name="connsiteY9" fmla="*/ 0 h 226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7091" h="2263211">
                <a:moveTo>
                  <a:pt x="2097091" y="1682750"/>
                </a:moveTo>
                <a:cubicBezTo>
                  <a:pt x="2085978" y="1802341"/>
                  <a:pt x="2074866" y="1921933"/>
                  <a:pt x="1976441" y="2012950"/>
                </a:cubicBezTo>
                <a:cubicBezTo>
                  <a:pt x="1878016" y="2103967"/>
                  <a:pt x="1688574" y="2190750"/>
                  <a:pt x="1506541" y="2228850"/>
                </a:cubicBezTo>
                <a:cubicBezTo>
                  <a:pt x="1324508" y="2266950"/>
                  <a:pt x="1076858" y="2276475"/>
                  <a:pt x="884241" y="2241550"/>
                </a:cubicBezTo>
                <a:cubicBezTo>
                  <a:pt x="691624" y="2206625"/>
                  <a:pt x="489483" y="2145242"/>
                  <a:pt x="350841" y="2019300"/>
                </a:cubicBezTo>
                <a:cubicBezTo>
                  <a:pt x="212199" y="1893358"/>
                  <a:pt x="110599" y="1693333"/>
                  <a:pt x="52391" y="1485900"/>
                </a:cubicBezTo>
                <a:cubicBezTo>
                  <a:pt x="-5817" y="1278467"/>
                  <a:pt x="-1584" y="964142"/>
                  <a:pt x="1591" y="774700"/>
                </a:cubicBezTo>
                <a:cubicBezTo>
                  <a:pt x="4766" y="585258"/>
                  <a:pt x="32283" y="467783"/>
                  <a:pt x="71441" y="349250"/>
                </a:cubicBezTo>
                <a:cubicBezTo>
                  <a:pt x="110599" y="230717"/>
                  <a:pt x="191033" y="121708"/>
                  <a:pt x="236541" y="63500"/>
                </a:cubicBezTo>
                <a:cubicBezTo>
                  <a:pt x="282049" y="5292"/>
                  <a:pt x="313270" y="2646"/>
                  <a:pt x="344491" y="0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85D1DFF-D4C2-4FA1-9C03-620DB353C8A9}"/>
              </a:ext>
            </a:extLst>
          </p:cNvPr>
          <p:cNvSpPr txBox="1"/>
          <p:nvPr/>
        </p:nvSpPr>
        <p:spPr>
          <a:xfrm>
            <a:off x="4889022" y="4312709"/>
            <a:ext cx="8654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50" dirty="0">
                <a:latin typeface="Roboto" panose="02000000000000000000" pitchFamily="2" charset="0"/>
                <a:ea typeface="Roboto" panose="02000000000000000000" pitchFamily="2" charset="0"/>
              </a:rPr>
              <a:t>Header</a:t>
            </a:r>
            <a:endParaRPr lang="es-CO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DEB60308-ECFF-486A-844E-43973782963C}"/>
              </a:ext>
            </a:extLst>
          </p:cNvPr>
          <p:cNvSpPr/>
          <p:nvPr/>
        </p:nvSpPr>
        <p:spPr>
          <a:xfrm rot="5400000">
            <a:off x="3699297" y="4313031"/>
            <a:ext cx="318123" cy="1090850"/>
          </a:xfrm>
          <a:prstGeom prst="rightBrace">
            <a:avLst>
              <a:gd name="adj1" fmla="val 3803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errar llave 47">
            <a:extLst>
              <a:ext uri="{FF2B5EF4-FFF2-40B4-BE49-F238E27FC236}">
                <a16:creationId xmlns:a16="http://schemas.microsoft.com/office/drawing/2014/main" id="{06D59CEE-40C9-448C-9195-98BE1D75AA2E}"/>
              </a:ext>
            </a:extLst>
          </p:cNvPr>
          <p:cNvSpPr/>
          <p:nvPr/>
        </p:nvSpPr>
        <p:spPr>
          <a:xfrm rot="5400000">
            <a:off x="4525396" y="4618433"/>
            <a:ext cx="267476" cy="429100"/>
          </a:xfrm>
          <a:prstGeom prst="rightBrace">
            <a:avLst>
              <a:gd name="adj1" fmla="val 3803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0D15FF1-977F-4144-B79B-98C1F5F4A147}"/>
              </a:ext>
            </a:extLst>
          </p:cNvPr>
          <p:cNvSpPr txBox="1"/>
          <p:nvPr/>
        </p:nvSpPr>
        <p:spPr>
          <a:xfrm>
            <a:off x="3291053" y="5073683"/>
            <a:ext cx="10908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latin typeface="Roboto" panose="02000000000000000000" pitchFamily="2" charset="0"/>
                <a:ea typeface="Roboto" panose="02000000000000000000" pitchFamily="2" charset="0"/>
              </a:rPr>
              <a:t>Slot directory</a:t>
            </a:r>
            <a:endParaRPr lang="es-CO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3D233B4-5DB2-473E-8810-9DB47B7A1A69}"/>
              </a:ext>
            </a:extLst>
          </p:cNvPr>
          <p:cNvSpPr txBox="1"/>
          <p:nvPr/>
        </p:nvSpPr>
        <p:spPr>
          <a:xfrm>
            <a:off x="4222924" y="5051542"/>
            <a:ext cx="8654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latin typeface="Roboto" panose="02000000000000000000" pitchFamily="2" charset="0"/>
                <a:ea typeface="Roboto" panose="02000000000000000000" pitchFamily="2" charset="0"/>
              </a:rPr>
              <a:t>other info</a:t>
            </a:r>
            <a:endParaRPr lang="es-CO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4" name="Picture 10">
            <a:extLst>
              <a:ext uri="{FF2B5EF4-FFF2-40B4-BE49-F238E27FC236}">
                <a16:creationId xmlns:a16="http://schemas.microsoft.com/office/drawing/2014/main" id="{81A29536-5941-4F5A-A676-4563A7D61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132" y="2616218"/>
            <a:ext cx="5103812" cy="173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0753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826625" y="800525"/>
            <a:ext cx="10538750" cy="16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/>
              <a:t>Es el método más común y flexible para organizar registros de longitud variable dentro de una página de base de datos.</a:t>
            </a:r>
          </a:p>
          <a:p>
            <a:r>
              <a:rPr lang="es-MX" sz="2000" dirty="0"/>
              <a:t>Gestionar el espacio libre de forma eficiente y permitir que los registros se muevan físicamente dentro de la página sin perder su rastro</a:t>
            </a:r>
          </a:p>
          <a:p>
            <a:endParaRPr lang="es-MX" sz="2000" dirty="0"/>
          </a:p>
          <a:p>
            <a:endParaRPr lang="es-MX" sz="2000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6DA69AC-CABB-47BE-9AFC-44177D2BA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400" y="2786686"/>
            <a:ext cx="7061200" cy="3025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7A9C0C4-92C9-447C-B142-8F4083444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2956549"/>
            <a:ext cx="833562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Page i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AD67E6-3502-43F5-B4ED-F61DE1E88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050" y="3051799"/>
            <a:ext cx="1968500" cy="25876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6C1BBA6-5324-48F6-A12E-A692022A6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850" y="3729661"/>
            <a:ext cx="1663700" cy="25876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9BBE6FC7-1956-4CC2-BDE8-FD998E784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204324"/>
            <a:ext cx="2501900" cy="25876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793E5621-8C24-453A-A5FE-ED9BBD3AA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4544049"/>
            <a:ext cx="7053263" cy="1261439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9CD8E3A2-0031-4730-8863-ABC7DA4DA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450" y="2754936"/>
            <a:ext cx="1181414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Rid = (</a:t>
            </a:r>
            <a:r>
              <a:rPr lang="en-US" altLang="es-CO" sz="18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i,N</a:t>
            </a:r>
            <a:r>
              <a:rPr lang="en-US" altLang="es-CO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77BC1CF9-E66C-47A3-A8D3-C6F7E1C7B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3434386"/>
            <a:ext cx="11858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Rid = (i,2)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DCA82D9A-40B5-4D15-9134-C1863067F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3907461"/>
            <a:ext cx="11858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Rid = (i,1)</a:t>
            </a:r>
          </a:p>
        </p:txBody>
      </p:sp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8A7A9234-CE7B-4AD1-BED9-3DAA9D5F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0" y="5425111"/>
            <a:ext cx="520700" cy="393700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FC8FFB2B-FF37-4DDD-9322-8F18E884D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0" y="5425111"/>
            <a:ext cx="596900" cy="393700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 useBgFill="1">
        <p:nvSpPr>
          <p:cNvPr id="15" name="Rectangle 17">
            <a:extLst>
              <a:ext uri="{FF2B5EF4-FFF2-40B4-BE49-F238E27FC236}">
                <a16:creationId xmlns:a16="http://schemas.microsoft.com/office/drawing/2014/main" id="{27F1DEF2-623A-4B06-B155-04DE9479D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0" y="5425111"/>
            <a:ext cx="520700" cy="393700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F3C7A285-843A-4043-A8B4-E5D4E18A7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25111"/>
            <a:ext cx="596900" cy="393700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61E64C54-B487-46CC-8A09-E8F6A794F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650" y="5425111"/>
            <a:ext cx="1130300" cy="393700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 useBgFill="1">
        <p:nvSpPr>
          <p:cNvPr id="18" name="Rectangle 20">
            <a:extLst>
              <a:ext uri="{FF2B5EF4-FFF2-40B4-BE49-F238E27FC236}">
                <a16:creationId xmlns:a16="http://schemas.microsoft.com/office/drawing/2014/main" id="{2C7112A4-A5F7-421C-A3E3-9EADB6288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050" y="5425111"/>
            <a:ext cx="596900" cy="393700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9BC8CF3A-7BBD-406E-81C7-AED1CAA41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3425" y="5496549"/>
            <a:ext cx="689291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2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Pointer</a:t>
            </a:r>
          </a:p>
          <a:p>
            <a:r>
              <a:rPr lang="en-US" altLang="es-CO" sz="12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start</a:t>
            </a:r>
          </a:p>
          <a:p>
            <a:r>
              <a:rPr lang="en-US" altLang="es-CO" sz="12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of free</a:t>
            </a:r>
          </a:p>
          <a:p>
            <a:r>
              <a:rPr lang="en-US" altLang="es-CO" sz="12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space</a:t>
            </a: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B89E7BBB-70A0-45C6-B26D-6F893254D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845" y="6412314"/>
            <a:ext cx="1611018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SLOT DIRECTORY</a:t>
            </a:r>
          </a:p>
        </p:txBody>
      </p:sp>
      <p:grpSp>
        <p:nvGrpSpPr>
          <p:cNvPr id="21" name="Group 26">
            <a:extLst>
              <a:ext uri="{FF2B5EF4-FFF2-40B4-BE49-F238E27FC236}">
                <a16:creationId xmlns:a16="http://schemas.microsoft.com/office/drawing/2014/main" id="{72C483D8-AF61-48FF-8FD1-1D4B38723F44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6053761"/>
            <a:ext cx="2895600" cy="304800"/>
            <a:chOff x="2544" y="3024"/>
            <a:chExt cx="1824" cy="192"/>
          </a:xfrm>
        </p:grpSpPr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868B8152-30A6-404F-983C-41B8949F9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024"/>
              <a:ext cx="384" cy="192"/>
            </a:xfrm>
            <a:prstGeom prst="line">
              <a:avLst/>
            </a:prstGeom>
            <a:noFill/>
            <a:ln w="12700">
              <a:solidFill>
                <a:srgbClr val="CF0E3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B07C5A5E-5665-4E47-83BE-EF3058DDC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216"/>
              <a:ext cx="1104" cy="0"/>
            </a:xfrm>
            <a:prstGeom prst="line">
              <a:avLst/>
            </a:prstGeom>
            <a:noFill/>
            <a:ln w="12700">
              <a:solidFill>
                <a:srgbClr val="CF0E3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C5189848-F049-47A6-AA27-A87A4C9E6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3024"/>
              <a:ext cx="336" cy="192"/>
            </a:xfrm>
            <a:prstGeom prst="line">
              <a:avLst/>
            </a:prstGeom>
            <a:noFill/>
            <a:ln w="12700">
              <a:solidFill>
                <a:srgbClr val="CF0E3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CO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25" name="Rectangle 27">
            <a:extLst>
              <a:ext uri="{FF2B5EF4-FFF2-40B4-BE49-F238E27FC236}">
                <a16:creationId xmlns:a16="http://schemas.microsoft.com/office/drawing/2014/main" id="{4D039F79-EC82-4271-9CC3-50889C182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5" y="5802936"/>
            <a:ext cx="2680221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                  . . .              2           1</a:t>
            </a:r>
          </a:p>
        </p:txBody>
      </p:sp>
      <p:sp>
        <p:nvSpPr>
          <p:cNvPr id="26" name="Rectangle 31">
            <a:extLst>
              <a:ext uri="{FF2B5EF4-FFF2-40B4-BE49-F238E27FC236}">
                <a16:creationId xmlns:a16="http://schemas.microsoft.com/office/drawing/2014/main" id="{EA257C07-A8BC-476D-A02D-81AE3F498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25" y="5499724"/>
            <a:ext cx="44563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</a:t>
            </a:r>
          </a:p>
        </p:txBody>
      </p:sp>
      <p:sp>
        <p:nvSpPr>
          <p:cNvPr id="27" name="Rectangle 32">
            <a:extLst>
              <a:ext uri="{FF2B5EF4-FFF2-40B4-BE49-F238E27FC236}">
                <a16:creationId xmlns:a16="http://schemas.microsoft.com/office/drawing/2014/main" id="{1CA2E09B-EA5C-45D8-90A4-F9737E094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5498136"/>
            <a:ext cx="44563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16</a:t>
            </a:r>
          </a:p>
        </p:txBody>
      </p:sp>
      <p:sp>
        <p:nvSpPr>
          <p:cNvPr id="28" name="Rectangle 33">
            <a:extLst>
              <a:ext uri="{FF2B5EF4-FFF2-40B4-BE49-F238E27FC236}">
                <a16:creationId xmlns:a16="http://schemas.microsoft.com/office/drawing/2014/main" id="{2F9A8EAB-20AD-4072-8126-EBD3BF924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3225" y="5498136"/>
            <a:ext cx="44563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24</a:t>
            </a:r>
          </a:p>
        </p:txBody>
      </p:sp>
      <p:sp>
        <p:nvSpPr>
          <p:cNvPr id="29" name="Arc 34">
            <a:extLst>
              <a:ext uri="{FF2B5EF4-FFF2-40B4-BE49-F238E27FC236}">
                <a16:creationId xmlns:a16="http://schemas.microsoft.com/office/drawing/2014/main" id="{72E88FEC-4FA5-4292-BE40-44C03972C550}"/>
              </a:ext>
            </a:extLst>
          </p:cNvPr>
          <p:cNvSpPr>
            <a:spLocks/>
          </p:cNvSpPr>
          <p:nvPr/>
        </p:nvSpPr>
        <p:spPr bwMode="auto">
          <a:xfrm>
            <a:off x="2249488" y="4531349"/>
            <a:ext cx="304800" cy="3048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488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714"/>
                  <a:pt x="9602" y="61"/>
                  <a:pt x="21488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714"/>
                  <a:pt x="9602" y="61"/>
                  <a:pt x="21488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063DE8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Rectangle 36">
            <a:extLst>
              <a:ext uri="{FF2B5EF4-FFF2-40B4-BE49-F238E27FC236}">
                <a16:creationId xmlns:a16="http://schemas.microsoft.com/office/drawing/2014/main" id="{0905EBB0-B02C-4DC4-8452-D54B1B3E7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825" y="5474324"/>
            <a:ext cx="368691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sz="20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</a:t>
            </a:r>
          </a:p>
        </p:txBody>
      </p:sp>
      <p:sp>
        <p:nvSpPr>
          <p:cNvPr id="31" name="Rectangle 37">
            <a:extLst>
              <a:ext uri="{FF2B5EF4-FFF2-40B4-BE49-F238E27FC236}">
                <a16:creationId xmlns:a16="http://schemas.microsoft.com/office/drawing/2014/main" id="{3DAA20A9-5126-4E87-91FC-7F2D17C0A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646" y="5793019"/>
            <a:ext cx="732573" cy="30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s-CO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# slots</a:t>
            </a:r>
          </a:p>
        </p:txBody>
      </p:sp>
      <p:cxnSp>
        <p:nvCxnSpPr>
          <p:cNvPr id="32" name="AutoShape 38">
            <a:extLst>
              <a:ext uri="{FF2B5EF4-FFF2-40B4-BE49-F238E27FC236}">
                <a16:creationId xmlns:a16="http://schemas.microsoft.com/office/drawing/2014/main" id="{3492B4F9-4B0E-4B67-BEC4-96549AAECCDE}"/>
              </a:ext>
            </a:extLst>
          </p:cNvPr>
          <p:cNvCxnSpPr>
            <a:cxnSpLocks noChangeShapeType="1"/>
            <a:stCxn id="33" idx="1"/>
            <a:endCxn id="29" idx="0"/>
          </p:cNvCxnSpPr>
          <p:nvPr/>
        </p:nvCxnSpPr>
        <p:spPr bwMode="auto">
          <a:xfrm rot="5400000" flipH="1">
            <a:off x="5411788" y="1673849"/>
            <a:ext cx="771525" cy="7096125"/>
          </a:xfrm>
          <a:prstGeom prst="curvedConnector3">
            <a:avLst>
              <a:gd name="adj1" fmla="val 50616"/>
            </a:avLst>
          </a:prstGeom>
          <a:noFill/>
          <a:ln w="12700">
            <a:solidFill>
              <a:srgbClr val="007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Oval 39">
            <a:extLst>
              <a:ext uri="{FF2B5EF4-FFF2-40B4-BE49-F238E27FC236}">
                <a16:creationId xmlns:a16="http://schemas.microsoft.com/office/drawing/2014/main" id="{FE61C240-4408-4927-86B9-B86647B7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0" y="5596561"/>
            <a:ext cx="76200" cy="76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CO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34" name="AutoShape 41">
            <a:extLst>
              <a:ext uri="{FF2B5EF4-FFF2-40B4-BE49-F238E27FC236}">
                <a16:creationId xmlns:a16="http://schemas.microsoft.com/office/drawing/2014/main" id="{447EA0DF-D676-4C40-9FD1-FD3EB5C2E0C6}"/>
              </a:ext>
            </a:extLst>
          </p:cNvPr>
          <p:cNvCxnSpPr>
            <a:cxnSpLocks noChangeShapeType="1"/>
            <a:stCxn id="28" idx="0"/>
            <a:endCxn id="8" idx="1"/>
          </p:cNvCxnSpPr>
          <p:nvPr/>
        </p:nvCxnSpPr>
        <p:spPr bwMode="auto">
          <a:xfrm rot="16200000" flipV="1">
            <a:off x="6839632" y="4091724"/>
            <a:ext cx="1164431" cy="1648393"/>
          </a:xfrm>
          <a:prstGeom prst="curvedConnector4">
            <a:avLst>
              <a:gd name="adj1" fmla="val 44444"/>
              <a:gd name="adj2" fmla="val 113868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42">
            <a:extLst>
              <a:ext uri="{FF2B5EF4-FFF2-40B4-BE49-F238E27FC236}">
                <a16:creationId xmlns:a16="http://schemas.microsoft.com/office/drawing/2014/main" id="{341C30C1-E5CF-44F2-B947-FE68289C70B6}"/>
              </a:ext>
            </a:extLst>
          </p:cNvPr>
          <p:cNvCxnSpPr>
            <a:cxnSpLocks noChangeShapeType="1"/>
            <a:stCxn id="27" idx="0"/>
            <a:endCxn id="7" idx="1"/>
          </p:cNvCxnSpPr>
          <p:nvPr/>
        </p:nvCxnSpPr>
        <p:spPr bwMode="auto">
          <a:xfrm rot="16200000" flipV="1">
            <a:off x="5573601" y="3435293"/>
            <a:ext cx="1639093" cy="2486593"/>
          </a:xfrm>
          <a:prstGeom prst="curvedConnector4">
            <a:avLst>
              <a:gd name="adj1" fmla="val 46053"/>
              <a:gd name="adj2" fmla="val 109193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43">
            <a:extLst>
              <a:ext uri="{FF2B5EF4-FFF2-40B4-BE49-F238E27FC236}">
                <a16:creationId xmlns:a16="http://schemas.microsoft.com/office/drawing/2014/main" id="{D2050280-9621-460B-8168-A82529BFE082}"/>
              </a:ext>
            </a:extLst>
          </p:cNvPr>
          <p:cNvCxnSpPr>
            <a:cxnSpLocks noChangeShapeType="1"/>
            <a:stCxn id="26" idx="0"/>
            <a:endCxn id="6" idx="1"/>
          </p:cNvCxnSpPr>
          <p:nvPr/>
        </p:nvCxnSpPr>
        <p:spPr bwMode="auto">
          <a:xfrm rot="16200000" flipV="1">
            <a:off x="3252675" y="2868555"/>
            <a:ext cx="2318544" cy="2943793"/>
          </a:xfrm>
          <a:prstGeom prst="curvedConnector4">
            <a:avLst>
              <a:gd name="adj1" fmla="val 47210"/>
              <a:gd name="adj2" fmla="val 107765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65956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797941" y="682109"/>
            <a:ext cx="10596118" cy="278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Anatomía de la pagina</a:t>
            </a:r>
          </a:p>
          <a:p>
            <a:pPr marL="127000" indent="0">
              <a:buNone/>
            </a:pPr>
            <a:r>
              <a:rPr lang="es-MX" sz="2000" dirty="0"/>
              <a:t>La página se divide en tres secciones principales:</a:t>
            </a:r>
          </a:p>
          <a:p>
            <a:r>
              <a:rPr lang="es-MX" sz="2000" b="1" dirty="0"/>
              <a:t>Encabezado (Header)</a:t>
            </a:r>
            <a:r>
              <a:rPr lang="es-MX" sz="2000" dirty="0"/>
              <a:t>: Almacena metadatos como el número de ranuras usadas, el tamaño de la página y punteros al inicio del espacio libre</a:t>
            </a:r>
          </a:p>
          <a:p>
            <a:r>
              <a:rPr lang="es-MX" sz="2000" b="1" dirty="0"/>
              <a:t>Directorio de Ranuras (Slot Directory)</a:t>
            </a:r>
            <a:r>
              <a:rPr lang="es-MX" sz="2000" dirty="0"/>
              <a:t>: Un arreglo de punteros situados al inicio de la página. Cada entrada contiene un par: </a:t>
            </a:r>
            <a:r>
              <a:rPr lang="es-MX" sz="2000" b="1" dirty="0"/>
              <a:t>(desplazamiento del registro, longitud)</a:t>
            </a:r>
          </a:p>
          <a:p>
            <a:r>
              <a:rPr lang="es-MX" sz="2000" b="1" dirty="0"/>
              <a:t>Área de Datos</a:t>
            </a:r>
            <a:r>
              <a:rPr lang="es-MX" sz="2000" dirty="0"/>
              <a:t>: Zona donde se almacenan los registros reales (tuplas o celdas)</a:t>
            </a:r>
          </a:p>
          <a:p>
            <a:endParaRPr lang="es-MX" sz="2000" dirty="0"/>
          </a:p>
          <a:p>
            <a:endParaRPr lang="es-MX" sz="2000" dirty="0"/>
          </a:p>
        </p:txBody>
      </p:sp>
      <p:pic>
        <p:nvPicPr>
          <p:cNvPr id="37" name="Picture 10">
            <a:extLst>
              <a:ext uri="{FF2B5EF4-FFF2-40B4-BE49-F238E27FC236}">
                <a16:creationId xmlns:a16="http://schemas.microsoft.com/office/drawing/2014/main" id="{AE6B6F60-9595-4F71-B332-95C4BCC2E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908" y="4206533"/>
            <a:ext cx="5103812" cy="173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9C320DA2-3409-4EFF-A63E-DF0E8F871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686" y="3466612"/>
            <a:ext cx="2889704" cy="321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96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797941" y="783709"/>
            <a:ext cx="10596118" cy="133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Anatomía de la pagina</a:t>
            </a:r>
          </a:p>
          <a:p>
            <a:pPr marL="127000" indent="0">
              <a:buNone/>
            </a:pPr>
            <a:r>
              <a:rPr lang="es-MX" sz="2000" dirty="0"/>
              <a:t>Los punteros no deben apuntar directamente al registro; en su lugar, deben apuntar a la entrada correspondiente del registro en la cabecera (el directorio de slots).</a:t>
            </a:r>
          </a:p>
          <a:p>
            <a:endParaRPr lang="es-MX" sz="2000" dirty="0"/>
          </a:p>
        </p:txBody>
      </p:sp>
      <p:sp>
        <p:nvSpPr>
          <p:cNvPr id="6" name="TextBox 139">
            <a:extLst>
              <a:ext uri="{FF2B5EF4-FFF2-40B4-BE49-F238E27FC236}">
                <a16:creationId xmlns:a16="http://schemas.microsoft.com/office/drawing/2014/main" id="{674FD1EC-07F5-4655-8D07-E2D4BEDF7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618" y="2806757"/>
            <a:ext cx="25062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entury Gothic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entury Gothic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entury Gothic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entury Gothic" charset="0"/>
                <a:ea typeface="Osaka" charset="-128"/>
              </a:defRPr>
            </a:lvl9pPr>
          </a:lstStyle>
          <a:p>
            <a:pPr algn="ctr" defTabSz="685800">
              <a:spcBef>
                <a:spcPct val="0"/>
              </a:spcBef>
              <a:buNone/>
              <a:defRPr/>
            </a:pPr>
            <a:r>
              <a:rPr lang="en-US" altLang="en-US" sz="1200" b="1" kern="0" dirty="0"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Slotted Page</a:t>
            </a:r>
          </a:p>
        </p:txBody>
      </p:sp>
      <p:sp>
        <p:nvSpPr>
          <p:cNvPr id="7" name="Folded Corner 166">
            <a:extLst>
              <a:ext uri="{FF2B5EF4-FFF2-40B4-BE49-F238E27FC236}">
                <a16:creationId xmlns:a16="http://schemas.microsoft.com/office/drawing/2014/main" id="{726CA567-A2AF-421D-8BB6-40ED4DFDB1D4}"/>
              </a:ext>
            </a:extLst>
          </p:cNvPr>
          <p:cNvSpPr/>
          <p:nvPr/>
        </p:nvSpPr>
        <p:spPr bwMode="auto">
          <a:xfrm>
            <a:off x="2809380" y="3096466"/>
            <a:ext cx="2567297" cy="1547813"/>
          </a:xfrm>
          <a:prstGeom prst="foldedCorner">
            <a:avLst>
              <a:gd name="adj" fmla="val 10513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Rectangle 168">
            <a:extLst>
              <a:ext uri="{FF2B5EF4-FFF2-40B4-BE49-F238E27FC236}">
                <a16:creationId xmlns:a16="http://schemas.microsoft.com/office/drawing/2014/main" id="{18BEFA00-94B0-4880-92A7-DAC1BAE37BE9}"/>
              </a:ext>
            </a:extLst>
          </p:cNvPr>
          <p:cNvSpPr/>
          <p:nvPr/>
        </p:nvSpPr>
        <p:spPr bwMode="auto">
          <a:xfrm>
            <a:off x="2900618" y="3161028"/>
            <a:ext cx="1744266" cy="378619"/>
          </a:xfrm>
          <a:prstGeom prst="rect">
            <a:avLst/>
          </a:prstGeom>
          <a:solidFill>
            <a:srgbClr val="2980B9"/>
          </a:solidFill>
          <a:ln w="25400" cap="flat" cmpd="sng" algn="ctr">
            <a:solidFill>
              <a:srgbClr val="95A5A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900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Page</a:t>
            </a:r>
            <a:br>
              <a:rPr lang="en-US" sz="900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</a:br>
            <a:r>
              <a:rPr lang="en-US" sz="900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Helvetica Neue" charset="0"/>
              </a:rPr>
              <a:t>Header</a:t>
            </a:r>
          </a:p>
        </p:txBody>
      </p:sp>
      <p:grpSp>
        <p:nvGrpSpPr>
          <p:cNvPr id="9" name="Group 169">
            <a:extLst>
              <a:ext uri="{FF2B5EF4-FFF2-40B4-BE49-F238E27FC236}">
                <a16:creationId xmlns:a16="http://schemas.microsoft.com/office/drawing/2014/main" id="{EA187F46-4C18-4FC3-914D-3EBFF5FA2533}"/>
              </a:ext>
            </a:extLst>
          </p:cNvPr>
          <p:cNvGrpSpPr>
            <a:grpSpLocks/>
          </p:cNvGrpSpPr>
          <p:nvPr/>
        </p:nvGrpSpPr>
        <p:grpSpPr bwMode="auto">
          <a:xfrm>
            <a:off x="3544176" y="3216096"/>
            <a:ext cx="1016227" cy="274390"/>
            <a:chOff x="1247675" y="4823303"/>
            <a:chExt cx="1355362" cy="365970"/>
          </a:xfrm>
        </p:grpSpPr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E923204E-9EF8-4C3D-A9A4-D9B6653546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675" y="4823303"/>
              <a:ext cx="211059" cy="365970"/>
              <a:chOff x="5790463" y="2643797"/>
              <a:chExt cx="211059" cy="365970"/>
            </a:xfrm>
          </p:grpSpPr>
          <p:sp>
            <p:nvSpPr>
              <p:cNvPr id="23" name="Rectangle 234">
                <a:extLst>
                  <a:ext uri="{FF2B5EF4-FFF2-40B4-BE49-F238E27FC236}">
                    <a16:creationId xmlns:a16="http://schemas.microsoft.com/office/drawing/2014/main" id="{D7AD11FD-B9ED-4C6D-BF95-50A3D4781D59}"/>
                  </a:ext>
                </a:extLst>
              </p:cNvPr>
              <p:cNvSpPr/>
              <p:nvPr/>
            </p:nvSpPr>
            <p:spPr bwMode="auto">
              <a:xfrm>
                <a:off x="5791223" y="2643399"/>
                <a:ext cx="222314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24" name="Oval 235">
                <a:extLst>
                  <a:ext uri="{FF2B5EF4-FFF2-40B4-BE49-F238E27FC236}">
                    <a16:creationId xmlns:a16="http://schemas.microsoft.com/office/drawing/2014/main" id="{39D5F1CA-E32B-4AB0-B8AC-454BFE907B4B}"/>
                  </a:ext>
                </a:extLst>
              </p:cNvPr>
              <p:cNvSpPr/>
              <p:nvPr/>
            </p:nvSpPr>
            <p:spPr bwMode="auto">
              <a:xfrm>
                <a:off x="5870621" y="2787907"/>
                <a:ext cx="74634" cy="77813"/>
              </a:xfrm>
              <a:prstGeom prst="ellipse">
                <a:avLst/>
              </a:prstGeom>
              <a:solidFill>
                <a:srgbClr val="95A5A6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11" name="Group 149">
              <a:extLst>
                <a:ext uri="{FF2B5EF4-FFF2-40B4-BE49-F238E27FC236}">
                  <a16:creationId xmlns:a16="http://schemas.microsoft.com/office/drawing/2014/main" id="{DCC228EE-9CFE-4FCB-A7FF-0759B507E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3751" y="4823303"/>
              <a:ext cx="211059" cy="365970"/>
              <a:chOff x="5790463" y="2643797"/>
              <a:chExt cx="211059" cy="365970"/>
            </a:xfrm>
          </p:grpSpPr>
          <p:sp>
            <p:nvSpPr>
              <p:cNvPr id="21" name="Rectangle 232">
                <a:extLst>
                  <a:ext uri="{FF2B5EF4-FFF2-40B4-BE49-F238E27FC236}">
                    <a16:creationId xmlns:a16="http://schemas.microsoft.com/office/drawing/2014/main" id="{8009E60B-BFAA-4459-90DA-6D84AFBCC90F}"/>
                  </a:ext>
                </a:extLst>
              </p:cNvPr>
              <p:cNvSpPr/>
              <p:nvPr/>
            </p:nvSpPr>
            <p:spPr bwMode="auto">
              <a:xfrm>
                <a:off x="5790980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22" name="Oval 233">
                <a:extLst>
                  <a:ext uri="{FF2B5EF4-FFF2-40B4-BE49-F238E27FC236}">
                    <a16:creationId xmlns:a16="http://schemas.microsoft.com/office/drawing/2014/main" id="{26CF8762-44E7-4201-9FB0-462F98F2CC33}"/>
                  </a:ext>
                </a:extLst>
              </p:cNvPr>
              <p:cNvSpPr/>
              <p:nvPr/>
            </p:nvSpPr>
            <p:spPr bwMode="auto">
              <a:xfrm>
                <a:off x="5859262" y="2787907"/>
                <a:ext cx="74635" cy="77813"/>
              </a:xfrm>
              <a:prstGeom prst="ellipse">
                <a:avLst/>
              </a:prstGeom>
              <a:solidFill>
                <a:srgbClr val="95A5A6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12" name="Group 165">
              <a:extLst>
                <a:ext uri="{FF2B5EF4-FFF2-40B4-BE49-F238E27FC236}">
                  <a16:creationId xmlns:a16="http://schemas.microsoft.com/office/drawing/2014/main" id="{127E9F1A-7360-45B9-9871-1701DE50C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9827" y="4823303"/>
              <a:ext cx="211059" cy="365970"/>
              <a:chOff x="5790463" y="2643797"/>
              <a:chExt cx="211059" cy="365970"/>
            </a:xfrm>
          </p:grpSpPr>
          <p:sp>
            <p:nvSpPr>
              <p:cNvPr id="19" name="Rectangle 230">
                <a:extLst>
                  <a:ext uri="{FF2B5EF4-FFF2-40B4-BE49-F238E27FC236}">
                    <a16:creationId xmlns:a16="http://schemas.microsoft.com/office/drawing/2014/main" id="{DFF59A11-E694-4ECD-86E5-E189C14A9C54}"/>
                  </a:ext>
                </a:extLst>
              </p:cNvPr>
              <p:cNvSpPr/>
              <p:nvPr/>
            </p:nvSpPr>
            <p:spPr bwMode="auto">
              <a:xfrm>
                <a:off x="5790737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20" name="Oval 231">
                <a:extLst>
                  <a:ext uri="{FF2B5EF4-FFF2-40B4-BE49-F238E27FC236}">
                    <a16:creationId xmlns:a16="http://schemas.microsoft.com/office/drawing/2014/main" id="{8A69592C-DDBD-4BD7-AD71-D936F5E821EE}"/>
                  </a:ext>
                </a:extLst>
              </p:cNvPr>
              <p:cNvSpPr/>
              <p:nvPr/>
            </p:nvSpPr>
            <p:spPr bwMode="auto">
              <a:xfrm>
                <a:off x="5859019" y="2787907"/>
                <a:ext cx="74635" cy="77813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13" name="Group 172">
              <a:extLst>
                <a:ext uri="{FF2B5EF4-FFF2-40B4-BE49-F238E27FC236}">
                  <a16:creationId xmlns:a16="http://schemas.microsoft.com/office/drawing/2014/main" id="{D1D65358-DC31-4999-9D57-825036F5C3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5903" y="4823303"/>
              <a:ext cx="211059" cy="365970"/>
              <a:chOff x="5790463" y="2643797"/>
              <a:chExt cx="211059" cy="365970"/>
            </a:xfrm>
          </p:grpSpPr>
          <p:sp>
            <p:nvSpPr>
              <p:cNvPr id="17" name="Rectangle 228">
                <a:extLst>
                  <a:ext uri="{FF2B5EF4-FFF2-40B4-BE49-F238E27FC236}">
                    <a16:creationId xmlns:a16="http://schemas.microsoft.com/office/drawing/2014/main" id="{CD49385A-3F8C-4823-9121-38C72C37E91C}"/>
                  </a:ext>
                </a:extLst>
              </p:cNvPr>
              <p:cNvSpPr/>
              <p:nvPr/>
            </p:nvSpPr>
            <p:spPr bwMode="auto">
              <a:xfrm>
                <a:off x="5790494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18" name="Oval 229">
                <a:extLst>
                  <a:ext uri="{FF2B5EF4-FFF2-40B4-BE49-F238E27FC236}">
                    <a16:creationId xmlns:a16="http://schemas.microsoft.com/office/drawing/2014/main" id="{8EA5D879-893D-469B-82B6-B64555BC2F4F}"/>
                  </a:ext>
                </a:extLst>
              </p:cNvPr>
              <p:cNvSpPr/>
              <p:nvPr/>
            </p:nvSpPr>
            <p:spPr bwMode="auto">
              <a:xfrm>
                <a:off x="5858776" y="2787907"/>
                <a:ext cx="74635" cy="77813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  <p:grpSp>
          <p:nvGrpSpPr>
            <p:cNvPr id="14" name="Group 190">
              <a:extLst>
                <a:ext uri="{FF2B5EF4-FFF2-40B4-BE49-F238E27FC236}">
                  <a16:creationId xmlns:a16="http://schemas.microsoft.com/office/drawing/2014/main" id="{7B2FEEA3-C8C9-4AD8-BDE2-2FF8C7AAD2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1978" y="4823303"/>
              <a:ext cx="211059" cy="365970"/>
              <a:chOff x="5790463" y="2643797"/>
              <a:chExt cx="211059" cy="365970"/>
            </a:xfrm>
          </p:grpSpPr>
          <p:sp>
            <p:nvSpPr>
              <p:cNvPr id="15" name="Rectangle 226">
                <a:extLst>
                  <a:ext uri="{FF2B5EF4-FFF2-40B4-BE49-F238E27FC236}">
                    <a16:creationId xmlns:a16="http://schemas.microsoft.com/office/drawing/2014/main" id="{0B323053-B6E5-42FA-B1EE-6E75C1196FBE}"/>
                  </a:ext>
                </a:extLst>
              </p:cNvPr>
              <p:cNvSpPr/>
              <p:nvPr/>
            </p:nvSpPr>
            <p:spPr bwMode="auto">
              <a:xfrm>
                <a:off x="5790252" y="2643399"/>
                <a:ext cx="211198" cy="366828"/>
              </a:xfrm>
              <a:prstGeom prst="rect">
                <a:avLst/>
              </a:prstGeom>
              <a:solidFill>
                <a:srgbClr val="C00000"/>
              </a:solidFill>
              <a:ln w="25400" cap="flat" cmpd="sng" algn="ctr">
                <a:solidFill>
                  <a:srgbClr val="5F0702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16" name="Oval 227">
                <a:extLst>
                  <a:ext uri="{FF2B5EF4-FFF2-40B4-BE49-F238E27FC236}">
                    <a16:creationId xmlns:a16="http://schemas.microsoft.com/office/drawing/2014/main" id="{65F6CDDD-6A8E-42E5-9B76-84A8CE250BBD}"/>
                  </a:ext>
                </a:extLst>
              </p:cNvPr>
              <p:cNvSpPr/>
              <p:nvPr/>
            </p:nvSpPr>
            <p:spPr bwMode="auto">
              <a:xfrm>
                <a:off x="5858534" y="2787907"/>
                <a:ext cx="74635" cy="77813"/>
              </a:xfrm>
              <a:prstGeom prst="ellipse">
                <a:avLst/>
              </a:prstGeom>
              <a:solidFill>
                <a:srgbClr val="95A5A6"/>
              </a:solidFill>
              <a:ln w="25400" cap="flat" cmpd="sng" algn="ctr">
                <a:solidFill>
                  <a:srgbClr val="95A5A6">
                    <a:shade val="50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685800"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  <a:defRPr/>
                </a:pPr>
                <a:endParaRPr lang="en-US" sz="1200" kern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p:grpSp>
      </p:grpSp>
      <p:grpSp>
        <p:nvGrpSpPr>
          <p:cNvPr id="25" name="Group 225">
            <a:extLst>
              <a:ext uri="{FF2B5EF4-FFF2-40B4-BE49-F238E27FC236}">
                <a16:creationId xmlns:a16="http://schemas.microsoft.com/office/drawing/2014/main" id="{DD6CC92C-2D7D-4DA4-978B-DA63D832F211}"/>
              </a:ext>
            </a:extLst>
          </p:cNvPr>
          <p:cNvGrpSpPr>
            <a:grpSpLocks/>
          </p:cNvGrpSpPr>
          <p:nvPr/>
        </p:nvGrpSpPr>
        <p:grpSpPr bwMode="auto">
          <a:xfrm>
            <a:off x="3989565" y="3809237"/>
            <a:ext cx="1323839" cy="192769"/>
            <a:chOff x="5388934" y="2903927"/>
            <a:chExt cx="3337100" cy="541672"/>
          </a:xfrm>
        </p:grpSpPr>
        <p:sp>
          <p:nvSpPr>
            <p:cNvPr id="26" name="Rectangle 207">
              <a:extLst>
                <a:ext uri="{FF2B5EF4-FFF2-40B4-BE49-F238E27FC236}">
                  <a16:creationId xmlns:a16="http://schemas.microsoft.com/office/drawing/2014/main" id="{A8B81B15-6738-4B40-9072-BC4773996070}"/>
                </a:ext>
              </a:extLst>
            </p:cNvPr>
            <p:cNvSpPr/>
            <p:nvPr/>
          </p:nvSpPr>
          <p:spPr bwMode="auto">
            <a:xfrm>
              <a:off x="5390131" y="2902498"/>
              <a:ext cx="789340" cy="505185"/>
            </a:xfrm>
            <a:prstGeom prst="rect">
              <a:avLst/>
            </a:prstGeom>
            <a:solidFill>
              <a:srgbClr val="2980B9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27" name="Rectangle 208">
              <a:extLst>
                <a:ext uri="{FF2B5EF4-FFF2-40B4-BE49-F238E27FC236}">
                  <a16:creationId xmlns:a16="http://schemas.microsoft.com/office/drawing/2014/main" id="{3AC980DB-E7B7-4259-9FE3-1F093463591C}"/>
                </a:ext>
              </a:extLst>
            </p:cNvPr>
            <p:cNvSpPr/>
            <p:nvPr/>
          </p:nvSpPr>
          <p:spPr bwMode="auto">
            <a:xfrm>
              <a:off x="5681256" y="2972755"/>
              <a:ext cx="213093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28" name="Rectangle 209">
              <a:extLst>
                <a:ext uri="{FF2B5EF4-FFF2-40B4-BE49-F238E27FC236}">
                  <a16:creationId xmlns:a16="http://schemas.microsoft.com/office/drawing/2014/main" id="{471764E3-D9C8-44C2-A89B-84FAB61734D1}"/>
                </a:ext>
              </a:extLst>
            </p:cNvPr>
            <p:cNvSpPr/>
            <p:nvPr/>
          </p:nvSpPr>
          <p:spPr bwMode="auto">
            <a:xfrm>
              <a:off x="5930364" y="2972755"/>
              <a:ext cx="210091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29" name="Rectangle 210">
              <a:extLst>
                <a:ext uri="{FF2B5EF4-FFF2-40B4-BE49-F238E27FC236}">
                  <a16:creationId xmlns:a16="http://schemas.microsoft.com/office/drawing/2014/main" id="{9DE2597E-2990-498A-BFDC-F52D7349E6CC}"/>
                </a:ext>
              </a:extLst>
            </p:cNvPr>
            <p:cNvSpPr/>
            <p:nvPr/>
          </p:nvSpPr>
          <p:spPr bwMode="auto">
            <a:xfrm>
              <a:off x="6170468" y="2902498"/>
              <a:ext cx="207089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30" name="Rectangle 211">
              <a:extLst>
                <a:ext uri="{FF2B5EF4-FFF2-40B4-BE49-F238E27FC236}">
                  <a16:creationId xmlns:a16="http://schemas.microsoft.com/office/drawing/2014/main" id="{8A9B8A87-06D9-4B57-ADF2-C64D5ED49941}"/>
                </a:ext>
              </a:extLst>
            </p:cNvPr>
            <p:cNvSpPr/>
            <p:nvPr/>
          </p:nvSpPr>
          <p:spPr bwMode="auto">
            <a:xfrm>
              <a:off x="6377556" y="2902498"/>
              <a:ext cx="207090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31" name="Rectangle 212">
              <a:extLst>
                <a:ext uri="{FF2B5EF4-FFF2-40B4-BE49-F238E27FC236}">
                  <a16:creationId xmlns:a16="http://schemas.microsoft.com/office/drawing/2014/main" id="{0430F6FB-C17B-4EA5-B258-4906866A58BE}"/>
                </a:ext>
              </a:extLst>
            </p:cNvPr>
            <p:cNvSpPr/>
            <p:nvPr/>
          </p:nvSpPr>
          <p:spPr bwMode="auto">
            <a:xfrm rot="16200000">
              <a:off x="6408587" y="3069553"/>
              <a:ext cx="505185" cy="17107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32" name="Rectangle 213">
              <a:extLst>
                <a:ext uri="{FF2B5EF4-FFF2-40B4-BE49-F238E27FC236}">
                  <a16:creationId xmlns:a16="http://schemas.microsoft.com/office/drawing/2014/main" id="{147C177F-DDF9-4500-B953-6F40C86B6CF5}"/>
                </a:ext>
              </a:extLst>
            </p:cNvPr>
            <p:cNvSpPr/>
            <p:nvPr/>
          </p:nvSpPr>
          <p:spPr bwMode="auto">
            <a:xfrm>
              <a:off x="6740714" y="2902498"/>
              <a:ext cx="501216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33" name="Rectangle 214">
              <a:extLst>
                <a:ext uri="{FF2B5EF4-FFF2-40B4-BE49-F238E27FC236}">
                  <a16:creationId xmlns:a16="http://schemas.microsoft.com/office/drawing/2014/main" id="{468DDFD0-5007-49C5-BC1C-8C7BC1E2AA11}"/>
                </a:ext>
              </a:extLst>
            </p:cNvPr>
            <p:cNvSpPr/>
            <p:nvPr/>
          </p:nvSpPr>
          <p:spPr bwMode="auto">
            <a:xfrm>
              <a:off x="7241930" y="2902498"/>
              <a:ext cx="1449627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34" name="Elbow Connector 236">
              <a:extLst>
                <a:ext uri="{FF2B5EF4-FFF2-40B4-BE49-F238E27FC236}">
                  <a16:creationId xmlns:a16="http://schemas.microsoft.com/office/drawing/2014/main" id="{BEFC7213-9D5B-42EF-8613-C5C3B93DD7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391342" y="2596151"/>
              <a:ext cx="251461" cy="1447434"/>
            </a:xfrm>
            <a:prstGeom prst="bentConnector3">
              <a:avLst>
                <a:gd name="adj1" fmla="val 19090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Elbow Connector 237">
              <a:extLst>
                <a:ext uri="{FF2B5EF4-FFF2-40B4-BE49-F238E27FC236}">
                  <a16:creationId xmlns:a16="http://schemas.microsoft.com/office/drawing/2014/main" id="{4BC55730-B51D-43B9-AA37-91DC5A76EE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234134" y="1990275"/>
              <a:ext cx="251463" cy="2659185"/>
            </a:xfrm>
            <a:prstGeom prst="bentConnector3">
              <a:avLst>
                <a:gd name="adj1" fmla="val 246306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Oval 217">
              <a:extLst>
                <a:ext uri="{FF2B5EF4-FFF2-40B4-BE49-F238E27FC236}">
                  <a16:creationId xmlns:a16="http://schemas.microsoft.com/office/drawing/2014/main" id="{6B56D36C-3A81-48D5-A579-157489B2D761}"/>
                </a:ext>
              </a:extLst>
            </p:cNvPr>
            <p:cNvSpPr/>
            <p:nvPr/>
          </p:nvSpPr>
          <p:spPr bwMode="auto">
            <a:xfrm>
              <a:off x="5756289" y="3116617"/>
              <a:ext cx="75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38" name="Oval 218">
              <a:extLst>
                <a:ext uri="{FF2B5EF4-FFF2-40B4-BE49-F238E27FC236}">
                  <a16:creationId xmlns:a16="http://schemas.microsoft.com/office/drawing/2014/main" id="{BEE8D74E-CA70-420D-BDFD-C50D3D7F683C}"/>
                </a:ext>
              </a:extLst>
            </p:cNvPr>
            <p:cNvSpPr/>
            <p:nvPr/>
          </p:nvSpPr>
          <p:spPr bwMode="auto">
            <a:xfrm>
              <a:off x="5993390" y="3116617"/>
              <a:ext cx="75033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0" name="Oval 219">
              <a:extLst>
                <a:ext uri="{FF2B5EF4-FFF2-40B4-BE49-F238E27FC236}">
                  <a16:creationId xmlns:a16="http://schemas.microsoft.com/office/drawing/2014/main" id="{AE16B63C-07E7-4008-A6FB-0BED870D2FA7}"/>
                </a:ext>
              </a:extLst>
            </p:cNvPr>
            <p:cNvSpPr/>
            <p:nvPr/>
          </p:nvSpPr>
          <p:spPr bwMode="auto">
            <a:xfrm>
              <a:off x="7202914" y="3367536"/>
              <a:ext cx="75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1" name="Oval 220">
              <a:extLst>
                <a:ext uri="{FF2B5EF4-FFF2-40B4-BE49-F238E27FC236}">
                  <a16:creationId xmlns:a16="http://schemas.microsoft.com/office/drawing/2014/main" id="{A3485FAE-F6BA-49BB-87B9-DA18B6CCD3D5}"/>
                </a:ext>
              </a:extLst>
            </p:cNvPr>
            <p:cNvSpPr/>
            <p:nvPr/>
          </p:nvSpPr>
          <p:spPr bwMode="auto">
            <a:xfrm>
              <a:off x="8652540" y="336753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</p:grpSp>
      <p:grpSp>
        <p:nvGrpSpPr>
          <p:cNvPr id="42" name="Group 205">
            <a:extLst>
              <a:ext uri="{FF2B5EF4-FFF2-40B4-BE49-F238E27FC236}">
                <a16:creationId xmlns:a16="http://schemas.microsoft.com/office/drawing/2014/main" id="{BE5695EE-52B7-429A-BF53-7F59FB4783E8}"/>
              </a:ext>
            </a:extLst>
          </p:cNvPr>
          <p:cNvGrpSpPr>
            <a:grpSpLocks/>
          </p:cNvGrpSpPr>
          <p:nvPr/>
        </p:nvGrpSpPr>
        <p:grpSpPr bwMode="auto">
          <a:xfrm>
            <a:off x="2945594" y="3809237"/>
            <a:ext cx="1058221" cy="192769"/>
            <a:chOff x="5388934" y="2903927"/>
            <a:chExt cx="2667537" cy="541672"/>
          </a:xfrm>
        </p:grpSpPr>
        <p:sp>
          <p:nvSpPr>
            <p:cNvPr id="43" name="Rectangle 193">
              <a:extLst>
                <a:ext uri="{FF2B5EF4-FFF2-40B4-BE49-F238E27FC236}">
                  <a16:creationId xmlns:a16="http://schemas.microsoft.com/office/drawing/2014/main" id="{C1BC1C7A-C9D8-4070-8858-32BB6E863D7E}"/>
                </a:ext>
              </a:extLst>
            </p:cNvPr>
            <p:cNvSpPr/>
            <p:nvPr/>
          </p:nvSpPr>
          <p:spPr bwMode="auto">
            <a:xfrm>
              <a:off x="5389607" y="2902498"/>
              <a:ext cx="789342" cy="505185"/>
            </a:xfrm>
            <a:prstGeom prst="rect">
              <a:avLst/>
            </a:prstGeom>
            <a:solidFill>
              <a:srgbClr val="2980B9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4" name="Rectangle 194">
              <a:extLst>
                <a:ext uri="{FF2B5EF4-FFF2-40B4-BE49-F238E27FC236}">
                  <a16:creationId xmlns:a16="http://schemas.microsoft.com/office/drawing/2014/main" id="{4B7C6D34-15F9-4DA3-9678-D4F7A14D375C}"/>
                </a:ext>
              </a:extLst>
            </p:cNvPr>
            <p:cNvSpPr/>
            <p:nvPr/>
          </p:nvSpPr>
          <p:spPr bwMode="auto">
            <a:xfrm>
              <a:off x="5683734" y="2972755"/>
              <a:ext cx="210091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5" name="Rectangle 195">
              <a:extLst>
                <a:ext uri="{FF2B5EF4-FFF2-40B4-BE49-F238E27FC236}">
                  <a16:creationId xmlns:a16="http://schemas.microsoft.com/office/drawing/2014/main" id="{14A6AA9C-DB4F-4EC3-AC0C-88ADC935C215}"/>
                </a:ext>
              </a:extLst>
            </p:cNvPr>
            <p:cNvSpPr/>
            <p:nvPr/>
          </p:nvSpPr>
          <p:spPr bwMode="auto">
            <a:xfrm>
              <a:off x="5929841" y="2972755"/>
              <a:ext cx="213093" cy="36467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6" name="Rectangle 196">
              <a:extLst>
                <a:ext uri="{FF2B5EF4-FFF2-40B4-BE49-F238E27FC236}">
                  <a16:creationId xmlns:a16="http://schemas.microsoft.com/office/drawing/2014/main" id="{427621C4-C25C-433F-AFF6-4EC9B63FF400}"/>
                </a:ext>
              </a:extLst>
            </p:cNvPr>
            <p:cNvSpPr/>
            <p:nvPr/>
          </p:nvSpPr>
          <p:spPr bwMode="auto">
            <a:xfrm>
              <a:off x="6169945" y="2902498"/>
              <a:ext cx="210091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7" name="Rectangle 197">
              <a:extLst>
                <a:ext uri="{FF2B5EF4-FFF2-40B4-BE49-F238E27FC236}">
                  <a16:creationId xmlns:a16="http://schemas.microsoft.com/office/drawing/2014/main" id="{AC147C9E-279E-436D-B3BC-889FA06C3F2C}"/>
                </a:ext>
              </a:extLst>
            </p:cNvPr>
            <p:cNvSpPr/>
            <p:nvPr/>
          </p:nvSpPr>
          <p:spPr bwMode="auto">
            <a:xfrm>
              <a:off x="6380036" y="2902498"/>
              <a:ext cx="207091" cy="50518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8" name="Rectangle 198">
              <a:extLst>
                <a:ext uri="{FF2B5EF4-FFF2-40B4-BE49-F238E27FC236}">
                  <a16:creationId xmlns:a16="http://schemas.microsoft.com/office/drawing/2014/main" id="{8665A158-47A2-4E01-AC11-8C3B90B8FF05}"/>
                </a:ext>
              </a:extLst>
            </p:cNvPr>
            <p:cNvSpPr/>
            <p:nvPr/>
          </p:nvSpPr>
          <p:spPr bwMode="auto">
            <a:xfrm rot="16200000">
              <a:off x="6409567" y="3068052"/>
              <a:ext cx="505185" cy="17407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49" name="Rectangle 199">
              <a:extLst>
                <a:ext uri="{FF2B5EF4-FFF2-40B4-BE49-F238E27FC236}">
                  <a16:creationId xmlns:a16="http://schemas.microsoft.com/office/drawing/2014/main" id="{13E9798C-BAF1-4C88-AE47-BE1A59CB079D}"/>
                </a:ext>
              </a:extLst>
            </p:cNvPr>
            <p:cNvSpPr/>
            <p:nvPr/>
          </p:nvSpPr>
          <p:spPr bwMode="auto">
            <a:xfrm>
              <a:off x="6740191" y="2902498"/>
              <a:ext cx="501218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50" name="Rectangle 200">
              <a:extLst>
                <a:ext uri="{FF2B5EF4-FFF2-40B4-BE49-F238E27FC236}">
                  <a16:creationId xmlns:a16="http://schemas.microsoft.com/office/drawing/2014/main" id="{CBA9BF50-D3DA-4559-9560-E03F4F0E4DBB}"/>
                </a:ext>
              </a:extLst>
            </p:cNvPr>
            <p:cNvSpPr/>
            <p:nvPr/>
          </p:nvSpPr>
          <p:spPr bwMode="auto">
            <a:xfrm>
              <a:off x="7241409" y="2902498"/>
              <a:ext cx="783338" cy="505185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51" name="Elbow Connector 218">
              <a:extLst>
                <a:ext uri="{FF2B5EF4-FFF2-40B4-BE49-F238E27FC236}">
                  <a16:creationId xmlns:a16="http://schemas.microsoft.com/office/drawing/2014/main" id="{2849F0AD-A6C2-4070-95B6-888B66291F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391342" y="2596151"/>
              <a:ext cx="251461" cy="1447434"/>
            </a:xfrm>
            <a:prstGeom prst="bentConnector3">
              <a:avLst>
                <a:gd name="adj1" fmla="val 19090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Elbow Connector 219">
              <a:extLst>
                <a:ext uri="{FF2B5EF4-FFF2-40B4-BE49-F238E27FC236}">
                  <a16:creationId xmlns:a16="http://schemas.microsoft.com/office/drawing/2014/main" id="{976EF8FD-00ED-43B7-80DE-C4B13325D7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899354" y="2325057"/>
              <a:ext cx="251461" cy="1989622"/>
            </a:xfrm>
            <a:prstGeom prst="bentConnector3">
              <a:avLst>
                <a:gd name="adj1" fmla="val 241412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Oval 203">
              <a:extLst>
                <a:ext uri="{FF2B5EF4-FFF2-40B4-BE49-F238E27FC236}">
                  <a16:creationId xmlns:a16="http://schemas.microsoft.com/office/drawing/2014/main" id="{47290DF1-C2C7-449D-BA79-D207F127671E}"/>
                </a:ext>
              </a:extLst>
            </p:cNvPr>
            <p:cNvSpPr/>
            <p:nvPr/>
          </p:nvSpPr>
          <p:spPr bwMode="auto">
            <a:xfrm>
              <a:off x="5758768" y="311661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54" name="Oval 204">
              <a:extLst>
                <a:ext uri="{FF2B5EF4-FFF2-40B4-BE49-F238E27FC236}">
                  <a16:creationId xmlns:a16="http://schemas.microsoft.com/office/drawing/2014/main" id="{EA66A7C0-F258-4E97-81B6-8C33C784001E}"/>
                </a:ext>
              </a:extLst>
            </p:cNvPr>
            <p:cNvSpPr/>
            <p:nvPr/>
          </p:nvSpPr>
          <p:spPr bwMode="auto">
            <a:xfrm>
              <a:off x="5995869" y="311661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55" name="Oval 205">
              <a:extLst>
                <a:ext uri="{FF2B5EF4-FFF2-40B4-BE49-F238E27FC236}">
                  <a16:creationId xmlns:a16="http://schemas.microsoft.com/office/drawing/2014/main" id="{3B218D77-141F-4228-9D71-AE153417B237}"/>
                </a:ext>
              </a:extLst>
            </p:cNvPr>
            <p:cNvSpPr/>
            <p:nvPr/>
          </p:nvSpPr>
          <p:spPr bwMode="auto">
            <a:xfrm>
              <a:off x="7205394" y="336753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56" name="Oval 206">
              <a:extLst>
                <a:ext uri="{FF2B5EF4-FFF2-40B4-BE49-F238E27FC236}">
                  <a16:creationId xmlns:a16="http://schemas.microsoft.com/office/drawing/2014/main" id="{6192D775-8B75-4DE4-94D8-B28CFEAECA71}"/>
                </a:ext>
              </a:extLst>
            </p:cNvPr>
            <p:cNvSpPr/>
            <p:nvPr/>
          </p:nvSpPr>
          <p:spPr bwMode="auto">
            <a:xfrm>
              <a:off x="7985731" y="336753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</p:grpSp>
      <p:sp>
        <p:nvSpPr>
          <p:cNvPr id="57" name="Oval 172">
            <a:extLst>
              <a:ext uri="{FF2B5EF4-FFF2-40B4-BE49-F238E27FC236}">
                <a16:creationId xmlns:a16="http://schemas.microsoft.com/office/drawing/2014/main" id="{045406AD-B497-458A-9103-8E96F2FD9BC2}"/>
              </a:ext>
            </a:extLst>
          </p:cNvPr>
          <p:cNvSpPr/>
          <p:nvPr/>
        </p:nvSpPr>
        <p:spPr bwMode="auto">
          <a:xfrm>
            <a:off x="2926811" y="3784916"/>
            <a:ext cx="28575" cy="27384"/>
          </a:xfrm>
          <a:prstGeom prst="ellipse">
            <a:avLst/>
          </a:prstGeom>
          <a:solidFill>
            <a:srgbClr val="95A5A6"/>
          </a:solidFill>
          <a:ln w="25400" cap="flat" cmpd="sng" algn="ctr">
            <a:solidFill>
              <a:srgbClr val="95A5A6">
                <a:shade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8" name="Oval 173">
            <a:extLst>
              <a:ext uri="{FF2B5EF4-FFF2-40B4-BE49-F238E27FC236}">
                <a16:creationId xmlns:a16="http://schemas.microsoft.com/office/drawing/2014/main" id="{C085CBC9-E261-4644-9C60-191E3A47214D}"/>
              </a:ext>
            </a:extLst>
          </p:cNvPr>
          <p:cNvSpPr/>
          <p:nvPr/>
        </p:nvSpPr>
        <p:spPr bwMode="auto">
          <a:xfrm>
            <a:off x="3980515" y="3786106"/>
            <a:ext cx="29766" cy="27385"/>
          </a:xfrm>
          <a:prstGeom prst="ellipse">
            <a:avLst/>
          </a:prstGeom>
          <a:solidFill>
            <a:srgbClr val="95A5A6"/>
          </a:solidFill>
          <a:ln w="25400" cap="flat" cmpd="sng" algn="ctr">
            <a:solidFill>
              <a:srgbClr val="95A5A6">
                <a:shade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cxnSp>
        <p:nvCxnSpPr>
          <p:cNvPr id="59" name="Elbow Connector 246">
            <a:extLst>
              <a:ext uri="{FF2B5EF4-FFF2-40B4-BE49-F238E27FC236}">
                <a16:creationId xmlns:a16="http://schemas.microsoft.com/office/drawing/2014/main" id="{EDE542F6-7FC5-41A0-B2D9-D660A40D401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080500" y="3242379"/>
            <a:ext cx="403082" cy="682519"/>
          </a:xfrm>
          <a:prstGeom prst="bentConnector3">
            <a:avLst>
              <a:gd name="adj1" fmla="val 70009"/>
            </a:avLst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Elbow Connector 251">
            <a:extLst>
              <a:ext uri="{FF2B5EF4-FFF2-40B4-BE49-F238E27FC236}">
                <a16:creationId xmlns:a16="http://schemas.microsoft.com/office/drawing/2014/main" id="{41E6216F-E103-4CE9-A793-1865ABB18E7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714657" y="3505234"/>
            <a:ext cx="403807" cy="15753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1" name="Group 254">
            <a:extLst>
              <a:ext uri="{FF2B5EF4-FFF2-40B4-BE49-F238E27FC236}">
                <a16:creationId xmlns:a16="http://schemas.microsoft.com/office/drawing/2014/main" id="{CFAA2D57-9B2A-4D02-AA4F-A1EAAAD387AD}"/>
              </a:ext>
            </a:extLst>
          </p:cNvPr>
          <p:cNvGrpSpPr>
            <a:grpSpLocks/>
          </p:cNvGrpSpPr>
          <p:nvPr/>
        </p:nvGrpSpPr>
        <p:grpSpPr bwMode="auto">
          <a:xfrm>
            <a:off x="2951615" y="4227279"/>
            <a:ext cx="1771700" cy="192769"/>
            <a:chOff x="5388934" y="2903927"/>
            <a:chExt cx="4466058" cy="541672"/>
          </a:xfrm>
        </p:grpSpPr>
        <p:sp>
          <p:nvSpPr>
            <p:cNvPr id="62" name="Rectangle 179">
              <a:extLst>
                <a:ext uri="{FF2B5EF4-FFF2-40B4-BE49-F238E27FC236}">
                  <a16:creationId xmlns:a16="http://schemas.microsoft.com/office/drawing/2014/main" id="{8F0BCC5A-BB1D-4034-A0CE-36B1870DB720}"/>
                </a:ext>
              </a:extLst>
            </p:cNvPr>
            <p:cNvSpPr/>
            <p:nvPr/>
          </p:nvSpPr>
          <p:spPr bwMode="auto">
            <a:xfrm>
              <a:off x="5389437" y="2905474"/>
              <a:ext cx="789340" cy="501841"/>
            </a:xfrm>
            <a:prstGeom prst="rect">
              <a:avLst/>
            </a:prstGeom>
            <a:solidFill>
              <a:srgbClr val="2980B9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63" name="Rectangle 180">
              <a:extLst>
                <a:ext uri="{FF2B5EF4-FFF2-40B4-BE49-F238E27FC236}">
                  <a16:creationId xmlns:a16="http://schemas.microsoft.com/office/drawing/2014/main" id="{7CCEE80B-F8A9-4E7D-82FA-2F5C9B5F451C}"/>
                </a:ext>
              </a:extLst>
            </p:cNvPr>
            <p:cNvSpPr/>
            <p:nvPr/>
          </p:nvSpPr>
          <p:spPr bwMode="auto">
            <a:xfrm>
              <a:off x="5683564" y="2972386"/>
              <a:ext cx="210091" cy="364670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64" name="Rectangle 181">
              <a:extLst>
                <a:ext uri="{FF2B5EF4-FFF2-40B4-BE49-F238E27FC236}">
                  <a16:creationId xmlns:a16="http://schemas.microsoft.com/office/drawing/2014/main" id="{E355E94D-C39D-415F-A0A8-E7EB856F2616}"/>
                </a:ext>
              </a:extLst>
            </p:cNvPr>
            <p:cNvSpPr/>
            <p:nvPr/>
          </p:nvSpPr>
          <p:spPr bwMode="auto">
            <a:xfrm>
              <a:off x="5929671" y="2972386"/>
              <a:ext cx="213091" cy="364670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5F0702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65" name="Rectangle 182">
              <a:extLst>
                <a:ext uri="{FF2B5EF4-FFF2-40B4-BE49-F238E27FC236}">
                  <a16:creationId xmlns:a16="http://schemas.microsoft.com/office/drawing/2014/main" id="{95D1D034-3488-4DE3-AD28-5C08F1927A38}"/>
                </a:ext>
              </a:extLst>
            </p:cNvPr>
            <p:cNvSpPr/>
            <p:nvPr/>
          </p:nvSpPr>
          <p:spPr bwMode="auto">
            <a:xfrm>
              <a:off x="6169774" y="2905474"/>
              <a:ext cx="210091" cy="501841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66" name="Rectangle 183">
              <a:extLst>
                <a:ext uri="{FF2B5EF4-FFF2-40B4-BE49-F238E27FC236}">
                  <a16:creationId xmlns:a16="http://schemas.microsoft.com/office/drawing/2014/main" id="{F0246E74-6B3B-4D7B-8559-A1F7A298BE91}"/>
                </a:ext>
              </a:extLst>
            </p:cNvPr>
            <p:cNvSpPr/>
            <p:nvPr/>
          </p:nvSpPr>
          <p:spPr bwMode="auto">
            <a:xfrm>
              <a:off x="6379865" y="2905474"/>
              <a:ext cx="207089" cy="501841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67" name="Rectangle 184">
              <a:extLst>
                <a:ext uri="{FF2B5EF4-FFF2-40B4-BE49-F238E27FC236}">
                  <a16:creationId xmlns:a16="http://schemas.microsoft.com/office/drawing/2014/main" id="{8800DDCF-FF9C-4D60-8C9B-3FF44EA66A9C}"/>
                </a:ext>
              </a:extLst>
            </p:cNvPr>
            <p:cNvSpPr/>
            <p:nvPr/>
          </p:nvSpPr>
          <p:spPr bwMode="auto">
            <a:xfrm rot="16200000">
              <a:off x="6411066" y="3069357"/>
              <a:ext cx="501841" cy="174075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525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68" name="Rectangle 185">
              <a:extLst>
                <a:ext uri="{FF2B5EF4-FFF2-40B4-BE49-F238E27FC236}">
                  <a16:creationId xmlns:a16="http://schemas.microsoft.com/office/drawing/2014/main" id="{013B5ECE-129C-4F8F-9801-6A153EC02E24}"/>
                </a:ext>
              </a:extLst>
            </p:cNvPr>
            <p:cNvSpPr/>
            <p:nvPr/>
          </p:nvSpPr>
          <p:spPr bwMode="auto">
            <a:xfrm>
              <a:off x="6740021" y="2905474"/>
              <a:ext cx="2289989" cy="501841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69" name="Rectangle 186">
              <a:extLst>
                <a:ext uri="{FF2B5EF4-FFF2-40B4-BE49-F238E27FC236}">
                  <a16:creationId xmlns:a16="http://schemas.microsoft.com/office/drawing/2014/main" id="{CBAE5AB1-FFD5-4291-912B-597CB8F5A5B8}"/>
                </a:ext>
              </a:extLst>
            </p:cNvPr>
            <p:cNvSpPr/>
            <p:nvPr/>
          </p:nvSpPr>
          <p:spPr bwMode="auto">
            <a:xfrm>
              <a:off x="9039015" y="2905474"/>
              <a:ext cx="783338" cy="501841"/>
            </a:xfrm>
            <a:prstGeom prst="rect">
              <a:avLst/>
            </a:prstGeom>
            <a:solidFill>
              <a:srgbClr val="15405B"/>
            </a:solidFill>
            <a:ln w="9525" cap="flat" cmpd="sng" algn="ctr">
              <a:solidFill>
                <a:srgbClr val="95A5A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cxnSp>
          <p:nvCxnSpPr>
            <p:cNvPr id="70" name="Elbow Connector 264">
              <a:extLst>
                <a:ext uri="{FF2B5EF4-FFF2-40B4-BE49-F238E27FC236}">
                  <a16:creationId xmlns:a16="http://schemas.microsoft.com/office/drawing/2014/main" id="{9F46FCBB-3717-408D-B204-A452116E07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282984" y="1704508"/>
              <a:ext cx="251463" cy="3230720"/>
            </a:xfrm>
            <a:prstGeom prst="bentConnector3">
              <a:avLst>
                <a:gd name="adj1" fmla="val 291523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Elbow Connector 265">
              <a:extLst>
                <a:ext uri="{FF2B5EF4-FFF2-40B4-BE49-F238E27FC236}">
                  <a16:creationId xmlns:a16="http://schemas.microsoft.com/office/drawing/2014/main" id="{A1495D3D-ED88-41A1-B716-13B2182D12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798613" y="1425796"/>
              <a:ext cx="251463" cy="3788143"/>
            </a:xfrm>
            <a:prstGeom prst="bentConnector3">
              <a:avLst>
                <a:gd name="adj1" fmla="val 211796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Oval 189">
              <a:extLst>
                <a:ext uri="{FF2B5EF4-FFF2-40B4-BE49-F238E27FC236}">
                  <a16:creationId xmlns:a16="http://schemas.microsoft.com/office/drawing/2014/main" id="{DAFB0D05-9DCB-41A7-9CC3-2DDB803F72D1}"/>
                </a:ext>
              </a:extLst>
            </p:cNvPr>
            <p:cNvSpPr/>
            <p:nvPr/>
          </p:nvSpPr>
          <p:spPr bwMode="auto">
            <a:xfrm>
              <a:off x="5758596" y="3116246"/>
              <a:ext cx="72031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3" name="Oval 190">
              <a:extLst>
                <a:ext uri="{FF2B5EF4-FFF2-40B4-BE49-F238E27FC236}">
                  <a16:creationId xmlns:a16="http://schemas.microsoft.com/office/drawing/2014/main" id="{48D0452E-3907-4482-B3AD-6994012BCF64}"/>
                </a:ext>
              </a:extLst>
            </p:cNvPr>
            <p:cNvSpPr/>
            <p:nvPr/>
          </p:nvSpPr>
          <p:spPr bwMode="auto">
            <a:xfrm>
              <a:off x="5992697" y="3116246"/>
              <a:ext cx="75033" cy="76950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4" name="Oval 191">
              <a:extLst>
                <a:ext uri="{FF2B5EF4-FFF2-40B4-BE49-F238E27FC236}">
                  <a16:creationId xmlns:a16="http://schemas.microsoft.com/office/drawing/2014/main" id="{BB79C78E-1264-4288-A692-D36D8752B39E}"/>
                </a:ext>
              </a:extLst>
            </p:cNvPr>
            <p:cNvSpPr/>
            <p:nvPr/>
          </p:nvSpPr>
          <p:spPr bwMode="auto">
            <a:xfrm>
              <a:off x="8987992" y="336716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5" name="Oval 192">
              <a:extLst>
                <a:ext uri="{FF2B5EF4-FFF2-40B4-BE49-F238E27FC236}">
                  <a16:creationId xmlns:a16="http://schemas.microsoft.com/office/drawing/2014/main" id="{D2B846F0-6160-4A2F-9746-0175389F7DCF}"/>
                </a:ext>
              </a:extLst>
            </p:cNvPr>
            <p:cNvSpPr/>
            <p:nvPr/>
          </p:nvSpPr>
          <p:spPr bwMode="auto">
            <a:xfrm>
              <a:off x="9783337" y="3367167"/>
              <a:ext cx="72031" cy="76948"/>
            </a:xfrm>
            <a:prstGeom prst="ellipse">
              <a:avLst/>
            </a:prstGeom>
            <a:solidFill>
              <a:srgbClr val="95A5A6"/>
            </a:solidFill>
            <a:ln w="9525" cap="flat" cmpd="sng" algn="ctr">
              <a:solidFill>
                <a:srgbClr val="95A5A6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685800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  <a:defRPr/>
              </a:pPr>
              <a:endParaRPr lang="en-US" sz="1200" ker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</p:grpSp>
      <p:sp>
        <p:nvSpPr>
          <p:cNvPr id="76" name="Oval 177">
            <a:extLst>
              <a:ext uri="{FF2B5EF4-FFF2-40B4-BE49-F238E27FC236}">
                <a16:creationId xmlns:a16="http://schemas.microsoft.com/office/drawing/2014/main" id="{3F90711E-3026-4E47-BA64-FD05748FAC23}"/>
              </a:ext>
            </a:extLst>
          </p:cNvPr>
          <p:cNvSpPr/>
          <p:nvPr/>
        </p:nvSpPr>
        <p:spPr bwMode="auto">
          <a:xfrm>
            <a:off x="2932765" y="4190919"/>
            <a:ext cx="28575" cy="27385"/>
          </a:xfrm>
          <a:prstGeom prst="ellipse">
            <a:avLst/>
          </a:prstGeom>
          <a:solidFill>
            <a:srgbClr val="95A5A6"/>
          </a:solidFill>
          <a:ln w="25400" cap="flat" cmpd="sng" algn="ctr">
            <a:solidFill>
              <a:srgbClr val="95A5A6">
                <a:shade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endParaRPr lang="en-US" sz="1200" ker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cxnSp>
        <p:nvCxnSpPr>
          <p:cNvPr id="77" name="Elbow Connector 271">
            <a:extLst>
              <a:ext uri="{FF2B5EF4-FFF2-40B4-BE49-F238E27FC236}">
                <a16:creationId xmlns:a16="http://schemas.microsoft.com/office/drawing/2014/main" id="{47570CFA-ECE0-434F-850B-C22D8990760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295710" y="3018680"/>
            <a:ext cx="822152" cy="1548986"/>
          </a:xfrm>
          <a:prstGeom prst="bentConnector4">
            <a:avLst>
              <a:gd name="adj1" fmla="val 29171"/>
              <a:gd name="adj2" fmla="val 103454"/>
            </a:avLst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8" name="Imagen 77">
            <a:extLst>
              <a:ext uri="{FF2B5EF4-FFF2-40B4-BE49-F238E27FC236}">
                <a16:creationId xmlns:a16="http://schemas.microsoft.com/office/drawing/2014/main" id="{4A9E5399-4DB9-4EF3-B0FD-F69A4B48D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231" y="2305637"/>
            <a:ext cx="2889704" cy="321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46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916650" y="978326"/>
            <a:ext cx="6884315" cy="2621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Funcionamiento</a:t>
            </a:r>
          </a:p>
          <a:p>
            <a:r>
              <a:rPr lang="es-MX" sz="2000" b="1" dirty="0"/>
              <a:t>Crecimiento Opuesto</a:t>
            </a:r>
            <a:r>
              <a:rPr lang="es-MX" sz="2000" dirty="0"/>
              <a:t>: El directorio de ranuras crece desde el principio de la página hacia adelante, mientras que los registros se insertan desde el final de la página hacia atrás.</a:t>
            </a:r>
          </a:p>
          <a:p>
            <a:r>
              <a:rPr lang="es-MX" sz="2000" b="1" dirty="0"/>
              <a:t>Espacio Libre</a:t>
            </a:r>
            <a:r>
              <a:rPr lang="es-MX" sz="2000" dirty="0"/>
              <a:t>: Se mantiene como un bloque contiguo en el centro de la página, entre el directorio y los datos.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22AC90-5CEC-4090-A555-AAFEFB2A5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026" y="1461407"/>
            <a:ext cx="35337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01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826625" y="800526"/>
            <a:ext cx="11061928" cy="151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Funcionamiento</a:t>
            </a:r>
          </a:p>
          <a:p>
            <a:r>
              <a:rPr lang="es-MX" sz="2000" dirty="0"/>
              <a:t>Gracias a la estrategia de </a:t>
            </a:r>
            <a:r>
              <a:rPr lang="es-MX" sz="2000" b="1" dirty="0"/>
              <a:t>crecimiento opuesto</a:t>
            </a:r>
            <a:r>
              <a:rPr lang="es-MX" sz="2000" dirty="0"/>
              <a:t>, el espacio libre siempre queda concentrado en el medio, lo que permite aprovechar cada byte disponible antes de que la página se considere "llena".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A6C56B-3298-4662-B967-9B343495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371" y="3019282"/>
            <a:ext cx="2322286" cy="279337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34F469-D855-4546-9DAE-A06F218C8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4383" y="3019282"/>
            <a:ext cx="2458093" cy="274927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081D57A-FF9D-492F-B298-39F249CBE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870" y="2491921"/>
            <a:ext cx="35337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00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826625" y="800525"/>
            <a:ext cx="11061928" cy="221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Inserción de registros</a:t>
            </a:r>
          </a:p>
          <a:p>
            <a:pPr marL="127000" indent="0">
              <a:buNone/>
            </a:pPr>
            <a:r>
              <a:rPr lang="es-MX" sz="2000" dirty="0"/>
              <a:t>Cuando se inserta un registro, el DBMS:</a:t>
            </a:r>
          </a:p>
          <a:p>
            <a:r>
              <a:rPr lang="es-MX" sz="2000" dirty="0"/>
              <a:t>Se coloca el </a:t>
            </a:r>
            <a:r>
              <a:rPr lang="es-MX" sz="2000" b="1" dirty="0"/>
              <a:t>registro en el espacio libre de la página</a:t>
            </a:r>
          </a:p>
          <a:p>
            <a:r>
              <a:rPr lang="es-MX" sz="2000" dirty="0"/>
              <a:t>agrega un </a:t>
            </a:r>
            <a:r>
              <a:rPr lang="es-MX" sz="2000" b="1" dirty="0"/>
              <a:t>nuevo slot en el slot array</a:t>
            </a:r>
          </a:p>
          <a:p>
            <a:r>
              <a:rPr lang="es-MX" sz="2000" dirty="0"/>
              <a:t>el slot guarda el </a:t>
            </a:r>
            <a:r>
              <a:rPr lang="es-MX" sz="2000" b="1" dirty="0"/>
              <a:t>offset donde comienza el registro</a:t>
            </a:r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A6C56B-3298-4662-B967-9B343495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127" y="3370657"/>
            <a:ext cx="2797330" cy="336478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34F469-D855-4546-9DAE-A06F218C8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279" y="3211000"/>
            <a:ext cx="2902180" cy="324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04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812111" y="720271"/>
            <a:ext cx="11061928" cy="237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Eliminación de registros</a:t>
            </a:r>
          </a:p>
          <a:p>
            <a:pPr marL="127000" indent="0">
              <a:buNone/>
            </a:pPr>
            <a:r>
              <a:rPr lang="es-MX" sz="2000" dirty="0"/>
              <a:t>Cuando un registro se elimina:</a:t>
            </a:r>
          </a:p>
          <a:p>
            <a:r>
              <a:rPr lang="es-MX" sz="2000" dirty="0"/>
              <a:t>El </a:t>
            </a:r>
            <a:r>
              <a:rPr lang="es-MX" sz="2000" b="1" dirty="0"/>
              <a:t>slot se marca como vacío</a:t>
            </a:r>
          </a:p>
          <a:p>
            <a:r>
              <a:rPr lang="es-MX" sz="2000" dirty="0"/>
              <a:t>El espacio del registro queda disponible</a:t>
            </a:r>
          </a:p>
          <a:p>
            <a:r>
              <a:rPr lang="es-MX" sz="2000" dirty="0"/>
              <a:t>El resto de los registros </a:t>
            </a:r>
            <a:r>
              <a:rPr lang="es-MX" sz="2000" b="1" dirty="0"/>
              <a:t>no necesitan moverse inmediatamente</a:t>
            </a:r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A6C56B-3298-4662-B967-9B343495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697" y="3374103"/>
            <a:ext cx="1977046" cy="23781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48B126-810D-4041-9B9B-29CFE0D17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164" y="3429000"/>
            <a:ext cx="2106179" cy="23851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E304AD-A4AA-4C11-B50C-979BB84CA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766" y="3429000"/>
            <a:ext cx="2106179" cy="243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80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812111" y="720271"/>
            <a:ext cx="11061928" cy="237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Reorganización de registros</a:t>
            </a:r>
          </a:p>
          <a:p>
            <a:pPr marL="127000" indent="0">
              <a:buNone/>
            </a:pPr>
            <a:r>
              <a:rPr lang="es-MX" sz="2000" dirty="0"/>
              <a:t>Cuando el espacio libre se fragmenta:</a:t>
            </a:r>
          </a:p>
          <a:p>
            <a:r>
              <a:rPr lang="es-MX" sz="2000" dirty="0"/>
              <a:t>El sistema puede </a:t>
            </a:r>
            <a:r>
              <a:rPr lang="es-MX" sz="2000" b="1" dirty="0"/>
              <a:t>mover registros dentro de la página</a:t>
            </a:r>
          </a:p>
          <a:p>
            <a:r>
              <a:rPr lang="es-MX" sz="2000" dirty="0"/>
              <a:t>Solo se actualizan los </a:t>
            </a:r>
            <a:r>
              <a:rPr lang="es-MX" sz="2000" b="1" dirty="0"/>
              <a:t>offsets en el slot array</a:t>
            </a:r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48B126-810D-4041-9B9B-29CFE0D17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765" y="2745014"/>
            <a:ext cx="3202627" cy="362675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E304AD-A4AA-4C11-B50C-979BB84CA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908" y="3341892"/>
            <a:ext cx="2106179" cy="2433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34F469-D855-4546-9DAE-A06F218C8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03" y="3341892"/>
            <a:ext cx="2296484" cy="256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4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Slotted Page (Pagina ranurada)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45" name="Google Shape;310;p34">
            <a:extLst>
              <a:ext uri="{FF2B5EF4-FFF2-40B4-BE49-F238E27FC236}">
                <a16:creationId xmlns:a16="http://schemas.microsoft.com/office/drawing/2014/main" id="{8D73A1AB-B365-434E-B134-E80E4F3F26B3}"/>
              </a:ext>
            </a:extLst>
          </p:cNvPr>
          <p:cNvSpPr txBox="1">
            <a:spLocks/>
          </p:cNvSpPr>
          <p:nvPr/>
        </p:nvSpPr>
        <p:spPr>
          <a:xfrm>
            <a:off x="826625" y="800526"/>
            <a:ext cx="10726746" cy="29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solidFill>
                  <a:srgbClr val="92D050"/>
                </a:solidFill>
              </a:rPr>
              <a:t>Sobre el identificador de registro RID</a:t>
            </a:r>
          </a:p>
          <a:p>
            <a:pPr marL="127000" indent="0">
              <a:buNone/>
            </a:pPr>
            <a:r>
              <a:rPr lang="es-MX" sz="2000" dirty="0"/>
              <a:t>El identificador de registro (RID) externo suele ser una pareja (ID de página, número de ranura).</a:t>
            </a:r>
          </a:p>
          <a:p>
            <a:r>
              <a:rPr lang="es-MX" sz="2000" b="1" dirty="0"/>
              <a:t>Ventaja de Indirección</a:t>
            </a:r>
            <a:r>
              <a:rPr lang="es-MX" sz="2000" dirty="0"/>
              <a:t>: Como el RID apunta a una ranura en el directorio y no a una posición física exacta, el DBMS puede mover registros dentro de la página para desfragmentar el espacio.</a:t>
            </a:r>
          </a:p>
          <a:p>
            <a:r>
              <a:rPr lang="es-MX" sz="2000" b="1" dirty="0"/>
              <a:t>Resultado</a:t>
            </a:r>
            <a:r>
              <a:rPr lang="es-MX" sz="2000" dirty="0"/>
              <a:t>: Solo hace falta actualizar el desplazamiento (offset) en el directorio; las referencias externas (índices) permanecen válidas.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94FBC8-A167-43A0-9B47-C71A94190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78" y="3930841"/>
            <a:ext cx="2282076" cy="165969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3AD4DE8-F34F-4AEC-AD52-1066B76FA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364" y="4020456"/>
            <a:ext cx="2290118" cy="165969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451A3B7-3993-431A-8AA5-AE03FA836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992" y="4020456"/>
            <a:ext cx="2564606" cy="18288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D1A2D99-3843-4DC0-97F1-885085123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0108" y="3930841"/>
            <a:ext cx="2633263" cy="191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44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Referencias</a:t>
            </a:r>
            <a:endParaRPr/>
          </a:p>
        </p:txBody>
      </p:sp>
      <p:sp>
        <p:nvSpPr>
          <p:cNvPr id="715" name="Google Shape;715;p66"/>
          <p:cNvSpPr txBox="1">
            <a:spLocks noGrp="1"/>
          </p:cNvSpPr>
          <p:nvPr>
            <p:ph type="body" idx="1"/>
          </p:nvPr>
        </p:nvSpPr>
        <p:spPr>
          <a:xfrm>
            <a:off x="916650" y="834260"/>
            <a:ext cx="10639097" cy="57189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000" dirty="0">
                <a:hlinkClick r:id="rId3"/>
              </a:rPr>
              <a:t>https://www.mongodb.com/resources/basics/databases/nosql-explained</a:t>
            </a:r>
            <a:endParaRPr lang="es-MX" sz="20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CO" sz="2000" dirty="0">
                <a:hlinkClick r:id="rId4"/>
              </a:rPr>
              <a:t>https://blog.bytebytego.com/p/sql-vs-nosql-choosing-the-right-database</a:t>
            </a:r>
            <a:endParaRPr lang="es-MX" sz="20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CO" sz="2000" dirty="0">
                <a:hlinkClick r:id="rId5"/>
              </a:rPr>
              <a:t>https://cs186berkeley.net/notes/note17/</a:t>
            </a:r>
            <a:endParaRPr lang="es-CO" sz="20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000" dirty="0">
                <a:hlinkClick r:id="rId6"/>
              </a:rPr>
              <a:t>https://levelup.gitconnected.com/postgresql-deep-dive-the-anatomy-of-disk-file-and-page-layout-part-2-9b6fb7ede383</a:t>
            </a:r>
            <a:endParaRPr lang="es-MX" sz="20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CO" sz="2000" dirty="0">
                <a:hlinkClick r:id="rId7"/>
              </a:rPr>
              <a:t>https://medium.com/@pablo.lopez.santori/what-do-postgres-tables-actually-look-like-426028eabc1a</a:t>
            </a:r>
            <a:r>
              <a:rPr lang="es-MX" sz="2000" dirty="0"/>
              <a:t> 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CO" sz="2000" dirty="0">
                <a:hlinkClick r:id="rId8"/>
              </a:rPr>
              <a:t>https://michalpitr.substack.com/p/how-does-sqlite-store-data</a:t>
            </a:r>
            <a:r>
              <a:rPr lang="es-MX" sz="2000" dirty="0"/>
              <a:t> </a:t>
            </a:r>
            <a:r>
              <a:rPr lang="es-CO" sz="2000" dirty="0"/>
              <a:t> 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000" dirty="0">
                <a:hlinkClick r:id="rId9"/>
              </a:rPr>
              <a:t>https://cs186berkeley.net/notes/note3/</a:t>
            </a:r>
            <a:r>
              <a:rPr lang="es-CO" sz="2000" dirty="0"/>
              <a:t> 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000" dirty="0">
                <a:hlinkClick r:id="rId10"/>
              </a:rPr>
              <a:t>https://github.com/MIT-DB-Class/simple-db-hw</a:t>
            </a:r>
            <a:r>
              <a:rPr lang="es-CO" sz="2000" dirty="0"/>
              <a:t> 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000" dirty="0">
                <a:hlinkClick r:id="rId11"/>
              </a:rPr>
              <a:t>https://simpledb-java.netlify.app/#/</a:t>
            </a:r>
            <a:r>
              <a:rPr lang="es-CO" sz="2000" dirty="0"/>
              <a:t> 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000" dirty="0">
                <a:hlinkClick r:id="rId12"/>
              </a:rPr>
              <a:t>https://github.com/quazi-irfan/pySimpleDB</a:t>
            </a:r>
            <a:endParaRPr lang="es-MX" sz="20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CO" sz="2000" dirty="0">
                <a:hlinkClick r:id="rId13"/>
              </a:rPr>
              <a:t>https://tinydb.readthedocs.io/en/latest/</a:t>
            </a:r>
            <a:r>
              <a:rPr lang="es-MX" sz="2000" dirty="0"/>
              <a:t> </a:t>
            </a:r>
            <a:r>
              <a:rPr lang="es-CO" sz="2000" dirty="0"/>
              <a:t> </a:t>
            </a:r>
            <a:endParaRPr lang="es-MX" sz="20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7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Curso de </a:t>
            </a:r>
            <a:r>
              <a:rPr lang="es-MX" dirty="0"/>
              <a:t>Estructuras de datos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Clase 5 </a:t>
            </a:r>
            <a:r>
              <a:rPr lang="es-ES" dirty="0"/>
              <a:t>– </a:t>
            </a:r>
            <a:r>
              <a:rPr lang="es-MX" dirty="0"/>
              <a:t>Archivos (Parte 2)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21253</TotalTime>
  <Words>3562</Words>
  <Application>Microsoft Office PowerPoint</Application>
  <PresentationFormat>Panorámica</PresentationFormat>
  <Paragraphs>927</Paragraphs>
  <Slides>40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8" baseType="lpstr">
      <vt:lpstr>Cambria Math</vt:lpstr>
      <vt:lpstr>Roboto Slab</vt:lpstr>
      <vt:lpstr>Roboto</vt:lpstr>
      <vt:lpstr>Consolas</vt:lpstr>
      <vt:lpstr>Helvetica Neue</vt:lpstr>
      <vt:lpstr>Arial</vt:lpstr>
      <vt:lpstr>Calibri</vt:lpstr>
      <vt:lpstr>Tema de Office</vt:lpstr>
      <vt:lpstr>Curso Estructuras de datos</vt:lpstr>
      <vt:lpstr>Sobre el curso</vt:lpstr>
      <vt:lpstr>Base de datos</vt:lpstr>
      <vt:lpstr>Base de datos</vt:lpstr>
      <vt:lpstr>Representación de los datos</vt:lpstr>
      <vt:lpstr>Buffer Pool</vt:lpstr>
      <vt:lpstr>Buffer Pool</vt:lpstr>
      <vt:lpstr>Buffer Pool</vt:lpstr>
      <vt:lpstr>Archivo</vt:lpstr>
      <vt:lpstr>Archivo</vt:lpstr>
      <vt:lpstr>Archivo</vt:lpstr>
      <vt:lpstr>Registros</vt:lpstr>
      <vt:lpstr>Formato de los registros</vt:lpstr>
      <vt:lpstr>Registros de longitud fija (FLR)</vt:lpstr>
      <vt:lpstr>Registros de longitud fija (FLR)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Registros de longitud variable (VLR)</vt:lpstr>
      <vt:lpstr>Formatos de pagina</vt:lpstr>
      <vt:lpstr>Formatos de pagina - FLR</vt:lpstr>
      <vt:lpstr>Formatos de pagina - VLR </vt:lpstr>
      <vt:lpstr>Slotted Page (Pagina ranurada)</vt:lpstr>
      <vt:lpstr>Slotted Page (Pagina ranurada)</vt:lpstr>
      <vt:lpstr>Slotted Page (Pagina ranurada)</vt:lpstr>
      <vt:lpstr>Slotted Page (Pagina ranurada)</vt:lpstr>
      <vt:lpstr>Slotted Page (Pagina ranurada)</vt:lpstr>
      <vt:lpstr>Slotted Page (Pagina ranurada)</vt:lpstr>
      <vt:lpstr>Slotted Page (Pagina ranurada)</vt:lpstr>
      <vt:lpstr>Slotted Page (Pagina ranurada)</vt:lpstr>
      <vt:lpstr>Slotted Page (Pagina ranurada)</vt:lpstr>
      <vt:lpstr>Referencias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Matemáticas Discretas I</dc:title>
  <dc:creator>Usuario</dc:creator>
  <cp:lastModifiedBy>HENRY ALBERTO ARCILA RAMIREZ</cp:lastModifiedBy>
  <cp:revision>161</cp:revision>
  <dcterms:modified xsi:type="dcterms:W3CDTF">2026-03-19T04:13:10Z</dcterms:modified>
</cp:coreProperties>
</file>