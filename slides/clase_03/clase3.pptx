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40"/>
  </p:notesMasterIdLst>
  <p:sldIdLst>
    <p:sldId id="256" r:id="rId2"/>
    <p:sldId id="425" r:id="rId3"/>
    <p:sldId id="390" r:id="rId4"/>
    <p:sldId id="391" r:id="rId5"/>
    <p:sldId id="392" r:id="rId6"/>
    <p:sldId id="424" r:id="rId7"/>
    <p:sldId id="423" r:id="rId8"/>
    <p:sldId id="393" r:id="rId9"/>
    <p:sldId id="394" r:id="rId10"/>
    <p:sldId id="396" r:id="rId11"/>
    <p:sldId id="404" r:id="rId12"/>
    <p:sldId id="432" r:id="rId13"/>
    <p:sldId id="431" r:id="rId14"/>
    <p:sldId id="406" r:id="rId15"/>
    <p:sldId id="405" r:id="rId16"/>
    <p:sldId id="409" r:id="rId17"/>
    <p:sldId id="408" r:id="rId18"/>
    <p:sldId id="407" r:id="rId19"/>
    <p:sldId id="421" r:id="rId20"/>
    <p:sldId id="422" r:id="rId21"/>
    <p:sldId id="412" r:id="rId22"/>
    <p:sldId id="413" r:id="rId23"/>
    <p:sldId id="414" r:id="rId24"/>
    <p:sldId id="415" r:id="rId25"/>
    <p:sldId id="410" r:id="rId26"/>
    <p:sldId id="417" r:id="rId27"/>
    <p:sldId id="418" r:id="rId28"/>
    <p:sldId id="419" r:id="rId29"/>
    <p:sldId id="420" r:id="rId30"/>
    <p:sldId id="416" r:id="rId31"/>
    <p:sldId id="411" r:id="rId32"/>
    <p:sldId id="426" r:id="rId33"/>
    <p:sldId id="427" r:id="rId34"/>
    <p:sldId id="428" r:id="rId35"/>
    <p:sldId id="429" r:id="rId36"/>
    <p:sldId id="430" r:id="rId37"/>
    <p:sldId id="368" r:id="rId38"/>
    <p:sldId id="306" r:id="rId39"/>
  </p:sldIdLst>
  <p:sldSz cx="12192000" cy="6858000"/>
  <p:notesSz cx="6858000" cy="9144000"/>
  <p:embeddedFontLs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mbria Math" panose="02040503050406030204" pitchFamily="18" charset="0"/>
      <p:regular r:id="rId45"/>
    </p:embeddedFon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  <p:embeddedFont>
      <p:font typeface="Roboto Slab" panose="020B0604020202020204" charset="0"/>
      <p:regular r:id="rId54"/>
      <p:bold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y Arcila" initials="HA" lastIdx="1" clrIdx="0">
    <p:extLst>
      <p:ext uri="{19B8F6BF-5375-455C-9EA6-DF929625EA0E}">
        <p15:presenceInfo xmlns:p15="http://schemas.microsoft.com/office/powerpoint/2012/main" userId="fa81e750b1be23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 varScale="1">
        <p:scale>
          <a:sx n="69" d="100"/>
          <a:sy n="69" d="100"/>
        </p:scale>
        <p:origin x="672" y="6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027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6332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58707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630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98315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59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5494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06698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514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55368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280287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73132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27324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52103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03548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3122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25871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87338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836674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01203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15031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0846803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3178345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62055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56941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6449017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294794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4070583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579504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074799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8304967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6186024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69151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6306600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399159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06752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78358aba0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78358aba08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OBJECT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-1" y="0"/>
            <a:ext cx="12203100" cy="68580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-3" y="2362201"/>
            <a:ext cx="12203100" cy="21336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>
            <a:spLocks noGrp="1"/>
          </p:cNvSpPr>
          <p:nvPr>
            <p:ph type="ctrTitle"/>
          </p:nvPr>
        </p:nvSpPr>
        <p:spPr>
          <a:xfrm>
            <a:off x="502025" y="2952025"/>
            <a:ext cx="72276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68" name="Google Shape;68;p6"/>
          <p:cNvCxnSpPr/>
          <p:nvPr/>
        </p:nvCxnSpPr>
        <p:spPr>
          <a:xfrm>
            <a:off x="2239617" y="3190047"/>
            <a:ext cx="47310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9" name="Google Shape;6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3479" y="2875817"/>
            <a:ext cx="3522904" cy="1106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Final">
  <p:cSld name="TITLE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-1" y="0"/>
            <a:ext cx="12203100" cy="68580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-3" y="2362201"/>
            <a:ext cx="12203100" cy="21336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77" name="Google Shape;7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53153" y="2757784"/>
            <a:ext cx="4274582" cy="134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0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 Slab"/>
              <a:buNone/>
              <a:defRPr sz="32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  <a:defRPr sz="2600" i="0" u="none" strike="noStrike" cap="none">
                <a:solidFill>
                  <a:schemeClr val="dk1"/>
                </a:solidFill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 i="0" u="none" strike="noStrike" cap="none">
                <a:solidFill>
                  <a:schemeClr val="dk1"/>
                </a:solidFill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 i="0" u="none" strike="noStrike" cap="none">
                <a:solidFill>
                  <a:schemeClr val="dk1"/>
                </a:solidFill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 i="0" u="none" strike="noStrike" cap="none">
                <a:solidFill>
                  <a:schemeClr val="dk1"/>
                </a:solidFill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 i="0" u="none" strike="noStrike" cap="none">
                <a:solidFill>
                  <a:schemeClr val="dk1"/>
                </a:solidFill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 i="0" u="none" strike="noStrike" cap="none">
                <a:solidFill>
                  <a:schemeClr val="dk1"/>
                </a:solidFill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192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876800" y="62039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9296400" y="62039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in-scott.github.io/personal_website/research/interactive_latency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13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16.jp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11" Type="http://schemas.openxmlformats.org/officeDocument/2006/relationships/image" Target="../media/image22.png"/><Relationship Id="rId5" Type="http://schemas.openxmlformats.org/officeDocument/2006/relationships/image" Target="../media/image7.jp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9.png"/><Relationship Id="rId5" Type="http://schemas.openxmlformats.org/officeDocument/2006/relationships/image" Target="../media/image7.jp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1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7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50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Relationship Id="rId9" Type="http://schemas.openxmlformats.org/officeDocument/2006/relationships/image" Target="../media/image35.png"/><Relationship Id="rId1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3" Type="http://schemas.openxmlformats.org/officeDocument/2006/relationships/image" Target="../media/image54.png"/><Relationship Id="rId21" Type="http://schemas.openxmlformats.org/officeDocument/2006/relationships/image" Target="../media/image47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4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3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hyperlink" Target="https://www.youtube.com/watch?v=n6uPALWAyxc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hyperlink" Target="https://www.youtube.com/watch?v=9eMWG3fwiEU&amp;t=30s" TargetMode="Externa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600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3.png"/><Relationship Id="rId3" Type="http://schemas.openxmlformats.org/officeDocument/2006/relationships/image" Target="../media/image600.png"/><Relationship Id="rId7" Type="http://schemas.openxmlformats.org/officeDocument/2006/relationships/image" Target="../media/image108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1.png"/><Relationship Id="rId5" Type="http://schemas.openxmlformats.org/officeDocument/2006/relationships/image" Target="../media/image106.png"/><Relationship Id="rId15" Type="http://schemas.openxmlformats.org/officeDocument/2006/relationships/image" Target="../media/image114.png"/><Relationship Id="rId10" Type="http://schemas.openxmlformats.org/officeDocument/2006/relationships/image" Target="../media/image98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7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7.jp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9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cs.washington.edu/courses/cse444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s186berkeley.net/notes/note17/" TargetMode="External"/><Relationship Id="rId4" Type="http://schemas.openxmlformats.org/officeDocument/2006/relationships/hyperlink" Target="https://15445.courses.cs.cmu.edu/spring2026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5" y="2964875"/>
            <a:ext cx="7356900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sz="3200" b="1" dirty="0"/>
              <a:t>Curso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Estructuras de datos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Clase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/>
              <a:t>3 –</a:t>
            </a: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/>
              <a:t>Almacenamiento de datos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Bases de datos</a:t>
            </a:r>
            <a:endParaRPr dirty="0"/>
          </a:p>
        </p:txBody>
      </p:sp>
      <p:sp>
        <p:nvSpPr>
          <p:cNvPr id="33" name="Marcador de texto 3">
            <a:extLst>
              <a:ext uri="{FF2B5EF4-FFF2-40B4-BE49-F238E27FC236}">
                <a16:creationId xmlns:a16="http://schemas.microsoft.com/office/drawing/2014/main" id="{9A0B3E57-D3E0-4463-B0D9-642E1DD8869C}"/>
              </a:ext>
            </a:extLst>
          </p:cNvPr>
          <p:cNvSpPr txBox="1">
            <a:spLocks/>
          </p:cNvSpPr>
          <p:nvPr/>
        </p:nvSpPr>
        <p:spPr>
          <a:xfrm>
            <a:off x="1087132" y="902096"/>
            <a:ext cx="10723635" cy="20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sz="2200" dirty="0"/>
              <a:t>La clase anterior tratamos algunos de los siguientes conceptos</a:t>
            </a:r>
          </a:p>
          <a:p>
            <a:pPr marL="342900"/>
            <a:r>
              <a:rPr lang="es-MX" sz="2000" dirty="0"/>
              <a:t>Base de datos</a:t>
            </a:r>
          </a:p>
          <a:p>
            <a:pPr marL="342900"/>
            <a:r>
              <a:rPr lang="es-MX" sz="2000" dirty="0"/>
              <a:t>Manejo de bases de datos:</a:t>
            </a:r>
          </a:p>
          <a:p>
            <a:pPr marL="800100" lvl="1"/>
            <a:r>
              <a:rPr lang="es-MX" sz="2000" b="1" dirty="0"/>
              <a:t>Forma antigua</a:t>
            </a:r>
            <a:r>
              <a:rPr lang="es-MX" sz="2000" dirty="0"/>
              <a:t>: Sistemas basados en archivos</a:t>
            </a:r>
          </a:p>
          <a:p>
            <a:pPr marL="800100" lvl="1"/>
            <a:r>
              <a:rPr lang="es-MX" sz="2000" b="1" dirty="0"/>
              <a:t>Actual</a:t>
            </a:r>
            <a:r>
              <a:rPr lang="es-MX" sz="2000" dirty="0"/>
              <a:t>: Motor de bases de datos (DBSM)</a:t>
            </a:r>
          </a:p>
          <a:p>
            <a:endParaRPr lang="es-CO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9C0DBE53-9716-4E87-9F81-5FBAFC933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608" y="3781124"/>
            <a:ext cx="4884160" cy="2827672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90245AC-FFAC-4FA0-B259-349D27F04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483" y="4053103"/>
            <a:ext cx="4193089" cy="2444679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85F0E85D-021A-4793-8CEA-F67903097E63}"/>
              </a:ext>
            </a:extLst>
          </p:cNvPr>
          <p:cNvSpPr txBox="1"/>
          <p:nvPr/>
        </p:nvSpPr>
        <p:spPr>
          <a:xfrm>
            <a:off x="2534933" y="3195657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Sistemas basados en archivos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45E0C1C-BC73-44E9-AA18-3CC92C008704}"/>
              </a:ext>
            </a:extLst>
          </p:cNvPr>
          <p:cNvSpPr txBox="1"/>
          <p:nvPr/>
        </p:nvSpPr>
        <p:spPr>
          <a:xfrm>
            <a:off x="7752068" y="3195657"/>
            <a:ext cx="2937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Motor de bases de datos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96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Jerarquía de memoria</a:t>
            </a:r>
            <a:endParaRPr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EA3C57-78BB-4E1E-AA9A-87CC4F9DDA7D}"/>
              </a:ext>
            </a:extLst>
          </p:cNvPr>
          <p:cNvGrpSpPr/>
          <p:nvPr/>
        </p:nvGrpSpPr>
        <p:grpSpPr>
          <a:xfrm>
            <a:off x="4548224" y="1276469"/>
            <a:ext cx="5236329" cy="5374321"/>
            <a:chOff x="4217148" y="1276469"/>
            <a:chExt cx="5236329" cy="5374321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141C2FB7-C232-4A74-8285-591EC8D129B4}"/>
                </a:ext>
              </a:extLst>
            </p:cNvPr>
            <p:cNvGrpSpPr/>
            <p:nvPr/>
          </p:nvGrpSpPr>
          <p:grpSpPr>
            <a:xfrm>
              <a:off x="4217148" y="1276469"/>
              <a:ext cx="5236329" cy="5374321"/>
              <a:chOff x="4106789" y="1229172"/>
              <a:chExt cx="5236329" cy="5374321"/>
            </a:xfrm>
          </p:grpSpPr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FBECF27-068B-4AFF-89E7-919463CB5082}"/>
                  </a:ext>
                </a:extLst>
              </p:cNvPr>
              <p:cNvSpPr txBox="1"/>
              <p:nvPr/>
            </p:nvSpPr>
            <p:spPr>
              <a:xfrm>
                <a:off x="5991856" y="1229172"/>
                <a:ext cx="1466194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Registers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09D7268-6E04-485B-BF0E-DFD80ACD7668}"/>
                  </a:ext>
                </a:extLst>
              </p:cNvPr>
              <p:cNvSpPr txBox="1"/>
              <p:nvPr/>
            </p:nvSpPr>
            <p:spPr>
              <a:xfrm>
                <a:off x="5718268" y="2132824"/>
                <a:ext cx="2013370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Caches</a:t>
                </a: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44378EA-318A-4276-B940-C0688A996EE9}"/>
                  </a:ext>
                </a:extLst>
              </p:cNvPr>
              <p:cNvSpPr txBox="1"/>
              <p:nvPr/>
            </p:nvSpPr>
            <p:spPr>
              <a:xfrm>
                <a:off x="5467128" y="3067253"/>
                <a:ext cx="263053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DRAM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6E87620-A43E-4B23-A540-F5C4C0F22532}"/>
                  </a:ext>
                </a:extLst>
              </p:cNvPr>
              <p:cNvSpPr txBox="1"/>
              <p:nvPr/>
            </p:nvSpPr>
            <p:spPr>
              <a:xfrm>
                <a:off x="5073230" y="4030556"/>
                <a:ext cx="3418328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SSD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D61CBE9-2187-4756-8989-12C85AD4FA85}"/>
                  </a:ext>
                </a:extLst>
              </p:cNvPr>
              <p:cNvSpPr txBox="1"/>
              <p:nvPr/>
            </p:nvSpPr>
            <p:spPr>
              <a:xfrm>
                <a:off x="4606753" y="5024637"/>
                <a:ext cx="4351283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4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HHD</a:t>
                </a:r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17B904C-9F69-4D06-8578-69E6DE1C8DD0}"/>
                  </a:ext>
                </a:extLst>
              </p:cNvPr>
              <p:cNvSpPr txBox="1"/>
              <p:nvPr/>
            </p:nvSpPr>
            <p:spPr>
              <a:xfrm>
                <a:off x="4106789" y="6080273"/>
                <a:ext cx="5236329" cy="5232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Network Storage</a:t>
                </a:r>
              </a:p>
            </p:txBody>
          </p:sp>
        </p:grpSp>
        <p:sp>
          <p:nvSpPr>
            <p:cNvPr id="6" name="Flecha: hacia abajo 5">
              <a:extLst>
                <a:ext uri="{FF2B5EF4-FFF2-40B4-BE49-F238E27FC236}">
                  <a16:creationId xmlns:a16="http://schemas.microsoft.com/office/drawing/2014/main" id="{FE620CD4-4F57-4588-8C74-FE53B07631D8}"/>
                </a:ext>
              </a:extLst>
            </p:cNvPr>
            <p:cNvSpPr/>
            <p:nvPr/>
          </p:nvSpPr>
          <p:spPr>
            <a:xfrm>
              <a:off x="6999891" y="162384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Flecha: hacia abajo 15">
              <a:extLst>
                <a:ext uri="{FF2B5EF4-FFF2-40B4-BE49-F238E27FC236}">
                  <a16:creationId xmlns:a16="http://schemas.microsoft.com/office/drawing/2014/main" id="{BA083CED-8471-4A6C-A482-567D29B74C00}"/>
                </a:ext>
              </a:extLst>
            </p:cNvPr>
            <p:cNvSpPr/>
            <p:nvPr/>
          </p:nvSpPr>
          <p:spPr>
            <a:xfrm>
              <a:off x="6999891" y="2563412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6E1B1FC2-10F2-4869-928D-AAF5B9A69F7E}"/>
                </a:ext>
              </a:extLst>
            </p:cNvPr>
            <p:cNvSpPr/>
            <p:nvPr/>
          </p:nvSpPr>
          <p:spPr>
            <a:xfrm>
              <a:off x="6999890" y="3523687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Flecha: hacia abajo 17">
              <a:extLst>
                <a:ext uri="{FF2B5EF4-FFF2-40B4-BE49-F238E27FC236}">
                  <a16:creationId xmlns:a16="http://schemas.microsoft.com/office/drawing/2014/main" id="{07F85090-8D08-48E4-A4EC-04E492BF30AD}"/>
                </a:ext>
              </a:extLst>
            </p:cNvPr>
            <p:cNvSpPr/>
            <p:nvPr/>
          </p:nvSpPr>
          <p:spPr>
            <a:xfrm>
              <a:off x="6999890" y="451776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Flecha: hacia abajo 18">
              <a:extLst>
                <a:ext uri="{FF2B5EF4-FFF2-40B4-BE49-F238E27FC236}">
                  <a16:creationId xmlns:a16="http://schemas.microsoft.com/office/drawing/2014/main" id="{46D896DA-0C46-4A0C-861C-BF3663165303}"/>
                </a:ext>
              </a:extLst>
            </p:cNvPr>
            <p:cNvSpPr/>
            <p:nvPr/>
          </p:nvSpPr>
          <p:spPr>
            <a:xfrm>
              <a:off x="6999890" y="5578336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Flecha: hacia abajo 19">
              <a:extLst>
                <a:ext uri="{FF2B5EF4-FFF2-40B4-BE49-F238E27FC236}">
                  <a16:creationId xmlns:a16="http://schemas.microsoft.com/office/drawing/2014/main" id="{5CF27B7E-2AAD-4A38-A492-163297C219B9}"/>
                </a:ext>
              </a:extLst>
            </p:cNvPr>
            <p:cNvSpPr/>
            <p:nvPr/>
          </p:nvSpPr>
          <p:spPr>
            <a:xfrm rot="10800000">
              <a:off x="6424320" y="1628834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Flecha: hacia abajo 20">
              <a:extLst>
                <a:ext uri="{FF2B5EF4-FFF2-40B4-BE49-F238E27FC236}">
                  <a16:creationId xmlns:a16="http://schemas.microsoft.com/office/drawing/2014/main" id="{B8B32969-1837-4E5A-8F5D-E8C35E58AF27}"/>
                </a:ext>
              </a:extLst>
            </p:cNvPr>
            <p:cNvSpPr/>
            <p:nvPr/>
          </p:nvSpPr>
          <p:spPr>
            <a:xfrm rot="10800000">
              <a:off x="6403300" y="256951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Flecha: hacia abajo 21">
              <a:extLst>
                <a:ext uri="{FF2B5EF4-FFF2-40B4-BE49-F238E27FC236}">
                  <a16:creationId xmlns:a16="http://schemas.microsoft.com/office/drawing/2014/main" id="{9F99CD17-4F81-4926-933E-410B11A550EE}"/>
                </a:ext>
              </a:extLst>
            </p:cNvPr>
            <p:cNvSpPr/>
            <p:nvPr/>
          </p:nvSpPr>
          <p:spPr>
            <a:xfrm rot="10800000">
              <a:off x="6403300" y="352464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Flecha: hacia abajo 22">
              <a:extLst>
                <a:ext uri="{FF2B5EF4-FFF2-40B4-BE49-F238E27FC236}">
                  <a16:creationId xmlns:a16="http://schemas.microsoft.com/office/drawing/2014/main" id="{3977D526-C21A-44BB-8E63-D3A7D19855CE}"/>
                </a:ext>
              </a:extLst>
            </p:cNvPr>
            <p:cNvSpPr/>
            <p:nvPr/>
          </p:nvSpPr>
          <p:spPr>
            <a:xfrm rot="10800000">
              <a:off x="6404550" y="4526679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Flecha: hacia abajo 23">
              <a:extLst>
                <a:ext uri="{FF2B5EF4-FFF2-40B4-BE49-F238E27FC236}">
                  <a16:creationId xmlns:a16="http://schemas.microsoft.com/office/drawing/2014/main" id="{6EE3871E-6DA0-4077-B5F6-DFCA80B9B36C}"/>
                </a:ext>
              </a:extLst>
            </p:cNvPr>
            <p:cNvSpPr/>
            <p:nvPr/>
          </p:nvSpPr>
          <p:spPr>
            <a:xfrm rot="10800000">
              <a:off x="6403299" y="5578335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5" name="Flecha: arriba y abajo 24">
            <a:extLst>
              <a:ext uri="{FF2B5EF4-FFF2-40B4-BE49-F238E27FC236}">
                <a16:creationId xmlns:a16="http://schemas.microsoft.com/office/drawing/2014/main" id="{0B9C95D9-DB90-4ABE-B0C5-F4FFA10A6211}"/>
              </a:ext>
            </a:extLst>
          </p:cNvPr>
          <p:cNvSpPr/>
          <p:nvPr/>
        </p:nvSpPr>
        <p:spPr>
          <a:xfrm>
            <a:off x="2026405" y="2395087"/>
            <a:ext cx="898635" cy="2891813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9A389DE-9A64-428B-A0F5-3372AC2698C2}"/>
              </a:ext>
            </a:extLst>
          </p:cNvPr>
          <p:cNvSpPr txBox="1"/>
          <p:nvPr/>
        </p:nvSpPr>
        <p:spPr>
          <a:xfrm>
            <a:off x="1640188" y="5437494"/>
            <a:ext cx="1667308" cy="12003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Lenta</a:t>
            </a:r>
          </a:p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Grande</a:t>
            </a:r>
          </a:p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Barata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32CE619-5A23-4E16-9FAB-40CED45AD877}"/>
              </a:ext>
            </a:extLst>
          </p:cNvPr>
          <p:cNvSpPr txBox="1"/>
          <p:nvPr/>
        </p:nvSpPr>
        <p:spPr>
          <a:xfrm>
            <a:off x="1734279" y="1045538"/>
            <a:ext cx="1466195" cy="12003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Rapida</a:t>
            </a:r>
          </a:p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Pequeña</a:t>
            </a:r>
          </a:p>
          <a:p>
            <a:pPr algn="ctr"/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Costosa</a:t>
            </a:r>
          </a:p>
        </p:txBody>
      </p:sp>
      <p:pic>
        <p:nvPicPr>
          <p:cNvPr id="29" name="Google Shape;163;p35">
            <a:extLst>
              <a:ext uri="{FF2B5EF4-FFF2-40B4-BE49-F238E27FC236}">
                <a16:creationId xmlns:a16="http://schemas.microsoft.com/office/drawing/2014/main" id="{EE4B7ADD-84E4-403C-BEBF-943E4D8FC7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9165" y="1360257"/>
            <a:ext cx="1095702" cy="98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61;p35">
            <a:extLst>
              <a:ext uri="{FF2B5EF4-FFF2-40B4-BE49-F238E27FC236}">
                <a16:creationId xmlns:a16="http://schemas.microsoft.com/office/drawing/2014/main" id="{171B07BF-D96B-4EC3-841F-28043DB71D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4022" y="2852829"/>
            <a:ext cx="1125185" cy="79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54;p35">
            <a:extLst>
              <a:ext uri="{FF2B5EF4-FFF2-40B4-BE49-F238E27FC236}">
                <a16:creationId xmlns:a16="http://schemas.microsoft.com/office/drawing/2014/main" id="{3AA17EED-EB11-41E7-8151-4AE61ABCA2D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7456" y="4005171"/>
            <a:ext cx="1316418" cy="60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55;p35">
            <a:extLst>
              <a:ext uri="{FF2B5EF4-FFF2-40B4-BE49-F238E27FC236}">
                <a16:creationId xmlns:a16="http://schemas.microsoft.com/office/drawing/2014/main" id="{ABC49508-E31C-49F4-A598-6D289A0D273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88909" y="4974148"/>
            <a:ext cx="860925" cy="62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077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Jerarquía de memoria</a:t>
            </a:r>
            <a:endParaRPr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EA3C57-78BB-4E1E-AA9A-87CC4F9DDA7D}"/>
              </a:ext>
            </a:extLst>
          </p:cNvPr>
          <p:cNvGrpSpPr/>
          <p:nvPr/>
        </p:nvGrpSpPr>
        <p:grpSpPr>
          <a:xfrm>
            <a:off x="4548224" y="1276469"/>
            <a:ext cx="5236329" cy="5374321"/>
            <a:chOff x="4217148" y="1276469"/>
            <a:chExt cx="5236329" cy="5374321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141C2FB7-C232-4A74-8285-591EC8D129B4}"/>
                </a:ext>
              </a:extLst>
            </p:cNvPr>
            <p:cNvGrpSpPr/>
            <p:nvPr/>
          </p:nvGrpSpPr>
          <p:grpSpPr>
            <a:xfrm>
              <a:off x="4217148" y="1276469"/>
              <a:ext cx="5236329" cy="5374321"/>
              <a:chOff x="4106789" y="1229172"/>
              <a:chExt cx="5236329" cy="5374321"/>
            </a:xfrm>
          </p:grpSpPr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FBECF27-068B-4AFF-89E7-919463CB5082}"/>
                  </a:ext>
                </a:extLst>
              </p:cNvPr>
              <p:cNvSpPr txBox="1"/>
              <p:nvPr/>
            </p:nvSpPr>
            <p:spPr>
              <a:xfrm>
                <a:off x="5991856" y="1229172"/>
                <a:ext cx="1466194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Registers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09D7268-6E04-485B-BF0E-DFD80ACD7668}"/>
                  </a:ext>
                </a:extLst>
              </p:cNvPr>
              <p:cNvSpPr txBox="1"/>
              <p:nvPr/>
            </p:nvSpPr>
            <p:spPr>
              <a:xfrm>
                <a:off x="5718268" y="2132824"/>
                <a:ext cx="2013370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Caches</a:t>
                </a: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44378EA-318A-4276-B940-C0688A996EE9}"/>
                  </a:ext>
                </a:extLst>
              </p:cNvPr>
              <p:cNvSpPr txBox="1"/>
              <p:nvPr/>
            </p:nvSpPr>
            <p:spPr>
              <a:xfrm>
                <a:off x="5467128" y="3067253"/>
                <a:ext cx="263053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DRAM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6E87620-A43E-4B23-A540-F5C4C0F22532}"/>
                  </a:ext>
                </a:extLst>
              </p:cNvPr>
              <p:cNvSpPr txBox="1"/>
              <p:nvPr/>
            </p:nvSpPr>
            <p:spPr>
              <a:xfrm>
                <a:off x="5073230" y="4030556"/>
                <a:ext cx="3418328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SSD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D61CBE9-2187-4756-8989-12C85AD4FA85}"/>
                  </a:ext>
                </a:extLst>
              </p:cNvPr>
              <p:cNvSpPr txBox="1"/>
              <p:nvPr/>
            </p:nvSpPr>
            <p:spPr>
              <a:xfrm>
                <a:off x="4606753" y="5024637"/>
                <a:ext cx="4351283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4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HHD</a:t>
                </a:r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17B904C-9F69-4D06-8578-69E6DE1C8DD0}"/>
                  </a:ext>
                </a:extLst>
              </p:cNvPr>
              <p:cNvSpPr txBox="1"/>
              <p:nvPr/>
            </p:nvSpPr>
            <p:spPr>
              <a:xfrm>
                <a:off x="4106789" y="6080273"/>
                <a:ext cx="5236329" cy="5232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Network Storage</a:t>
                </a:r>
              </a:p>
            </p:txBody>
          </p:sp>
        </p:grpSp>
        <p:sp>
          <p:nvSpPr>
            <p:cNvPr id="6" name="Flecha: hacia abajo 5">
              <a:extLst>
                <a:ext uri="{FF2B5EF4-FFF2-40B4-BE49-F238E27FC236}">
                  <a16:creationId xmlns:a16="http://schemas.microsoft.com/office/drawing/2014/main" id="{FE620CD4-4F57-4588-8C74-FE53B07631D8}"/>
                </a:ext>
              </a:extLst>
            </p:cNvPr>
            <p:cNvSpPr/>
            <p:nvPr/>
          </p:nvSpPr>
          <p:spPr>
            <a:xfrm>
              <a:off x="6999891" y="162384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Flecha: hacia abajo 15">
              <a:extLst>
                <a:ext uri="{FF2B5EF4-FFF2-40B4-BE49-F238E27FC236}">
                  <a16:creationId xmlns:a16="http://schemas.microsoft.com/office/drawing/2014/main" id="{BA083CED-8471-4A6C-A482-567D29B74C00}"/>
                </a:ext>
              </a:extLst>
            </p:cNvPr>
            <p:cNvSpPr/>
            <p:nvPr/>
          </p:nvSpPr>
          <p:spPr>
            <a:xfrm>
              <a:off x="6999891" y="2563412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6E1B1FC2-10F2-4869-928D-AAF5B9A69F7E}"/>
                </a:ext>
              </a:extLst>
            </p:cNvPr>
            <p:cNvSpPr/>
            <p:nvPr/>
          </p:nvSpPr>
          <p:spPr>
            <a:xfrm>
              <a:off x="6999890" y="3523687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Flecha: hacia abajo 17">
              <a:extLst>
                <a:ext uri="{FF2B5EF4-FFF2-40B4-BE49-F238E27FC236}">
                  <a16:creationId xmlns:a16="http://schemas.microsoft.com/office/drawing/2014/main" id="{07F85090-8D08-48E4-A4EC-04E492BF30AD}"/>
                </a:ext>
              </a:extLst>
            </p:cNvPr>
            <p:cNvSpPr/>
            <p:nvPr/>
          </p:nvSpPr>
          <p:spPr>
            <a:xfrm>
              <a:off x="6999890" y="451776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Flecha: hacia abajo 18">
              <a:extLst>
                <a:ext uri="{FF2B5EF4-FFF2-40B4-BE49-F238E27FC236}">
                  <a16:creationId xmlns:a16="http://schemas.microsoft.com/office/drawing/2014/main" id="{46D896DA-0C46-4A0C-861C-BF3663165303}"/>
                </a:ext>
              </a:extLst>
            </p:cNvPr>
            <p:cNvSpPr/>
            <p:nvPr/>
          </p:nvSpPr>
          <p:spPr>
            <a:xfrm>
              <a:off x="6999890" y="5578336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Flecha: hacia abajo 19">
              <a:extLst>
                <a:ext uri="{FF2B5EF4-FFF2-40B4-BE49-F238E27FC236}">
                  <a16:creationId xmlns:a16="http://schemas.microsoft.com/office/drawing/2014/main" id="{5CF27B7E-2AAD-4A38-A492-163297C219B9}"/>
                </a:ext>
              </a:extLst>
            </p:cNvPr>
            <p:cNvSpPr/>
            <p:nvPr/>
          </p:nvSpPr>
          <p:spPr>
            <a:xfrm rot="10800000">
              <a:off x="6424320" y="1628834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Flecha: hacia abajo 20">
              <a:extLst>
                <a:ext uri="{FF2B5EF4-FFF2-40B4-BE49-F238E27FC236}">
                  <a16:creationId xmlns:a16="http://schemas.microsoft.com/office/drawing/2014/main" id="{B8B32969-1837-4E5A-8F5D-E8C35E58AF27}"/>
                </a:ext>
              </a:extLst>
            </p:cNvPr>
            <p:cNvSpPr/>
            <p:nvPr/>
          </p:nvSpPr>
          <p:spPr>
            <a:xfrm rot="10800000">
              <a:off x="6403300" y="256951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Flecha: hacia abajo 21">
              <a:extLst>
                <a:ext uri="{FF2B5EF4-FFF2-40B4-BE49-F238E27FC236}">
                  <a16:creationId xmlns:a16="http://schemas.microsoft.com/office/drawing/2014/main" id="{9F99CD17-4F81-4926-933E-410B11A550EE}"/>
                </a:ext>
              </a:extLst>
            </p:cNvPr>
            <p:cNvSpPr/>
            <p:nvPr/>
          </p:nvSpPr>
          <p:spPr>
            <a:xfrm rot="10800000">
              <a:off x="6403300" y="352464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Flecha: hacia abajo 22">
              <a:extLst>
                <a:ext uri="{FF2B5EF4-FFF2-40B4-BE49-F238E27FC236}">
                  <a16:creationId xmlns:a16="http://schemas.microsoft.com/office/drawing/2014/main" id="{3977D526-C21A-44BB-8E63-D3A7D19855CE}"/>
                </a:ext>
              </a:extLst>
            </p:cNvPr>
            <p:cNvSpPr/>
            <p:nvPr/>
          </p:nvSpPr>
          <p:spPr>
            <a:xfrm rot="10800000">
              <a:off x="6404550" y="4526679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Flecha: hacia abajo 23">
              <a:extLst>
                <a:ext uri="{FF2B5EF4-FFF2-40B4-BE49-F238E27FC236}">
                  <a16:creationId xmlns:a16="http://schemas.microsoft.com/office/drawing/2014/main" id="{6EE3871E-6DA0-4077-B5F6-DFCA80B9B36C}"/>
                </a:ext>
              </a:extLst>
            </p:cNvPr>
            <p:cNvSpPr/>
            <p:nvPr/>
          </p:nvSpPr>
          <p:spPr>
            <a:xfrm rot="10800000">
              <a:off x="6403299" y="5578335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32CE619-5A23-4E16-9FAB-40CED45AD877}"/>
              </a:ext>
            </a:extLst>
          </p:cNvPr>
          <p:cNvSpPr txBox="1"/>
          <p:nvPr/>
        </p:nvSpPr>
        <p:spPr>
          <a:xfrm>
            <a:off x="1024979" y="2585893"/>
            <a:ext cx="2800534" cy="107721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Volatil</a:t>
            </a:r>
          </a:p>
          <a:p>
            <a:r>
              <a:rPr lang="es-CO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Acceso aleatorio</a:t>
            </a:r>
          </a:p>
          <a:p>
            <a:r>
              <a:rPr lang="es-CO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Byte - Addressable</a:t>
            </a:r>
          </a:p>
        </p:txBody>
      </p:sp>
      <p:pic>
        <p:nvPicPr>
          <p:cNvPr id="29" name="Google Shape;163;p35">
            <a:extLst>
              <a:ext uri="{FF2B5EF4-FFF2-40B4-BE49-F238E27FC236}">
                <a16:creationId xmlns:a16="http://schemas.microsoft.com/office/drawing/2014/main" id="{EE4B7ADD-84E4-403C-BEBF-943E4D8FC7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9165" y="1360257"/>
            <a:ext cx="1095702" cy="98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61;p35">
            <a:extLst>
              <a:ext uri="{FF2B5EF4-FFF2-40B4-BE49-F238E27FC236}">
                <a16:creationId xmlns:a16="http://schemas.microsoft.com/office/drawing/2014/main" id="{171B07BF-D96B-4EC3-841F-28043DB71D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4022" y="2852829"/>
            <a:ext cx="1125185" cy="79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54;p35">
            <a:extLst>
              <a:ext uri="{FF2B5EF4-FFF2-40B4-BE49-F238E27FC236}">
                <a16:creationId xmlns:a16="http://schemas.microsoft.com/office/drawing/2014/main" id="{3AA17EED-EB11-41E7-8151-4AE61ABCA2D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7456" y="4005171"/>
            <a:ext cx="1316418" cy="60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55;p35">
            <a:extLst>
              <a:ext uri="{FF2B5EF4-FFF2-40B4-BE49-F238E27FC236}">
                <a16:creationId xmlns:a16="http://schemas.microsoft.com/office/drawing/2014/main" id="{ABC49508-E31C-49F4-A598-6D289A0D273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88909" y="4974148"/>
            <a:ext cx="860925" cy="6255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6B3C9A5-DB5F-4F33-952F-E81ABF11FC26}"/>
              </a:ext>
            </a:extLst>
          </p:cNvPr>
          <p:cNvCxnSpPr>
            <a:cxnSpLocks/>
          </p:cNvCxnSpPr>
          <p:nvPr/>
        </p:nvCxnSpPr>
        <p:spPr>
          <a:xfrm flipH="1">
            <a:off x="916650" y="3815255"/>
            <a:ext cx="10387225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CB77F8B-7A2D-467C-8A4E-63D9C868A70E}"/>
              </a:ext>
            </a:extLst>
          </p:cNvPr>
          <p:cNvSpPr txBox="1"/>
          <p:nvPr/>
        </p:nvSpPr>
        <p:spPr>
          <a:xfrm>
            <a:off x="1017328" y="3967400"/>
            <a:ext cx="2533611" cy="107721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Volatil</a:t>
            </a:r>
          </a:p>
          <a:p>
            <a:r>
              <a:rPr lang="es-CO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Acceso secuencial</a:t>
            </a:r>
          </a:p>
          <a:p>
            <a:r>
              <a:rPr lang="es-CO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Block - Addressable</a:t>
            </a:r>
          </a:p>
        </p:txBody>
      </p:sp>
    </p:spTree>
    <p:extLst>
      <p:ext uri="{BB962C8B-B14F-4D97-AF65-F5344CB8AC3E}">
        <p14:creationId xmlns:p14="http://schemas.microsoft.com/office/powerpoint/2010/main" val="57258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Jerarquía de memoria</a:t>
            </a:r>
            <a:endParaRPr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FEA3C57-78BB-4E1E-AA9A-87CC4F9DDA7D}"/>
              </a:ext>
            </a:extLst>
          </p:cNvPr>
          <p:cNvGrpSpPr/>
          <p:nvPr/>
        </p:nvGrpSpPr>
        <p:grpSpPr>
          <a:xfrm>
            <a:off x="4548224" y="1276469"/>
            <a:ext cx="5236329" cy="5374321"/>
            <a:chOff x="4217148" y="1276469"/>
            <a:chExt cx="5236329" cy="5374321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141C2FB7-C232-4A74-8285-591EC8D129B4}"/>
                </a:ext>
              </a:extLst>
            </p:cNvPr>
            <p:cNvGrpSpPr/>
            <p:nvPr/>
          </p:nvGrpSpPr>
          <p:grpSpPr>
            <a:xfrm>
              <a:off x="4217148" y="1276469"/>
              <a:ext cx="5236329" cy="5374321"/>
              <a:chOff x="4106789" y="1229172"/>
              <a:chExt cx="5236329" cy="5374321"/>
            </a:xfrm>
          </p:grpSpPr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FBECF27-068B-4AFF-89E7-919463CB5082}"/>
                  </a:ext>
                </a:extLst>
              </p:cNvPr>
              <p:cNvSpPr txBox="1"/>
              <p:nvPr/>
            </p:nvSpPr>
            <p:spPr>
              <a:xfrm>
                <a:off x="5991856" y="1229172"/>
                <a:ext cx="1466194" cy="30777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Registers</a:t>
                </a:r>
              </a:p>
            </p:txBody>
          </p: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09D7268-6E04-485B-BF0E-DFD80ACD7668}"/>
                  </a:ext>
                </a:extLst>
              </p:cNvPr>
              <p:cNvSpPr txBox="1"/>
              <p:nvPr/>
            </p:nvSpPr>
            <p:spPr>
              <a:xfrm>
                <a:off x="5718268" y="2132824"/>
                <a:ext cx="2013370" cy="338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6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CPU Caches</a:t>
                </a:r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44378EA-318A-4276-B940-C0688A996EE9}"/>
                  </a:ext>
                </a:extLst>
              </p:cNvPr>
              <p:cNvSpPr txBox="1"/>
              <p:nvPr/>
            </p:nvSpPr>
            <p:spPr>
              <a:xfrm>
                <a:off x="5467128" y="3067253"/>
                <a:ext cx="263053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DRAM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6E87620-A43E-4B23-A540-F5C4C0F22532}"/>
                  </a:ext>
                </a:extLst>
              </p:cNvPr>
              <p:cNvSpPr txBox="1"/>
              <p:nvPr/>
            </p:nvSpPr>
            <p:spPr>
              <a:xfrm>
                <a:off x="5073230" y="4030556"/>
                <a:ext cx="3418328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0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SSD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D61CBE9-2187-4756-8989-12C85AD4FA85}"/>
                  </a:ext>
                </a:extLst>
              </p:cNvPr>
              <p:cNvSpPr txBox="1"/>
              <p:nvPr/>
            </p:nvSpPr>
            <p:spPr>
              <a:xfrm>
                <a:off x="4606753" y="5024637"/>
                <a:ext cx="4351283" cy="46166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4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HHD</a:t>
                </a:r>
              </a:p>
            </p:txBody>
          </p:sp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17B904C-9F69-4D06-8578-69E6DE1C8DD0}"/>
                  </a:ext>
                </a:extLst>
              </p:cNvPr>
              <p:cNvSpPr txBox="1"/>
              <p:nvPr/>
            </p:nvSpPr>
            <p:spPr>
              <a:xfrm>
                <a:off x="4106789" y="6080273"/>
                <a:ext cx="5236329" cy="5232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800" b="1" dirty="0">
                    <a:solidFill>
                      <a:schemeClr val="bg1">
                        <a:lumMod val="50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Network Storage</a:t>
                </a:r>
              </a:p>
            </p:txBody>
          </p:sp>
        </p:grpSp>
        <p:sp>
          <p:nvSpPr>
            <p:cNvPr id="6" name="Flecha: hacia abajo 5">
              <a:extLst>
                <a:ext uri="{FF2B5EF4-FFF2-40B4-BE49-F238E27FC236}">
                  <a16:creationId xmlns:a16="http://schemas.microsoft.com/office/drawing/2014/main" id="{FE620CD4-4F57-4588-8C74-FE53B07631D8}"/>
                </a:ext>
              </a:extLst>
            </p:cNvPr>
            <p:cNvSpPr/>
            <p:nvPr/>
          </p:nvSpPr>
          <p:spPr>
            <a:xfrm>
              <a:off x="6999891" y="162384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Flecha: hacia abajo 15">
              <a:extLst>
                <a:ext uri="{FF2B5EF4-FFF2-40B4-BE49-F238E27FC236}">
                  <a16:creationId xmlns:a16="http://schemas.microsoft.com/office/drawing/2014/main" id="{BA083CED-8471-4A6C-A482-567D29B74C00}"/>
                </a:ext>
              </a:extLst>
            </p:cNvPr>
            <p:cNvSpPr/>
            <p:nvPr/>
          </p:nvSpPr>
          <p:spPr>
            <a:xfrm>
              <a:off x="6999891" y="2563412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" name="Flecha: hacia abajo 16">
              <a:extLst>
                <a:ext uri="{FF2B5EF4-FFF2-40B4-BE49-F238E27FC236}">
                  <a16:creationId xmlns:a16="http://schemas.microsoft.com/office/drawing/2014/main" id="{6E1B1FC2-10F2-4869-928D-AAF5B9A69F7E}"/>
                </a:ext>
              </a:extLst>
            </p:cNvPr>
            <p:cNvSpPr/>
            <p:nvPr/>
          </p:nvSpPr>
          <p:spPr>
            <a:xfrm>
              <a:off x="6999890" y="3523687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Flecha: hacia abajo 17">
              <a:extLst>
                <a:ext uri="{FF2B5EF4-FFF2-40B4-BE49-F238E27FC236}">
                  <a16:creationId xmlns:a16="http://schemas.microsoft.com/office/drawing/2014/main" id="{07F85090-8D08-48E4-A4EC-04E492BF30AD}"/>
                </a:ext>
              </a:extLst>
            </p:cNvPr>
            <p:cNvSpPr/>
            <p:nvPr/>
          </p:nvSpPr>
          <p:spPr>
            <a:xfrm>
              <a:off x="6999890" y="4517768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Flecha: hacia abajo 18">
              <a:extLst>
                <a:ext uri="{FF2B5EF4-FFF2-40B4-BE49-F238E27FC236}">
                  <a16:creationId xmlns:a16="http://schemas.microsoft.com/office/drawing/2014/main" id="{46D896DA-0C46-4A0C-861C-BF3663165303}"/>
                </a:ext>
              </a:extLst>
            </p:cNvPr>
            <p:cNvSpPr/>
            <p:nvPr/>
          </p:nvSpPr>
          <p:spPr>
            <a:xfrm>
              <a:off x="6999890" y="5578336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Flecha: hacia abajo 19">
              <a:extLst>
                <a:ext uri="{FF2B5EF4-FFF2-40B4-BE49-F238E27FC236}">
                  <a16:creationId xmlns:a16="http://schemas.microsoft.com/office/drawing/2014/main" id="{5CF27B7E-2AAD-4A38-A492-163297C219B9}"/>
                </a:ext>
              </a:extLst>
            </p:cNvPr>
            <p:cNvSpPr/>
            <p:nvPr/>
          </p:nvSpPr>
          <p:spPr>
            <a:xfrm rot="10800000">
              <a:off x="6424320" y="1628834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Flecha: hacia abajo 20">
              <a:extLst>
                <a:ext uri="{FF2B5EF4-FFF2-40B4-BE49-F238E27FC236}">
                  <a16:creationId xmlns:a16="http://schemas.microsoft.com/office/drawing/2014/main" id="{B8B32969-1837-4E5A-8F5D-E8C35E58AF27}"/>
                </a:ext>
              </a:extLst>
            </p:cNvPr>
            <p:cNvSpPr/>
            <p:nvPr/>
          </p:nvSpPr>
          <p:spPr>
            <a:xfrm rot="10800000">
              <a:off x="6403300" y="256951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Flecha: hacia abajo 21">
              <a:extLst>
                <a:ext uri="{FF2B5EF4-FFF2-40B4-BE49-F238E27FC236}">
                  <a16:creationId xmlns:a16="http://schemas.microsoft.com/office/drawing/2014/main" id="{9F99CD17-4F81-4926-933E-410B11A550EE}"/>
                </a:ext>
              </a:extLst>
            </p:cNvPr>
            <p:cNvSpPr/>
            <p:nvPr/>
          </p:nvSpPr>
          <p:spPr>
            <a:xfrm rot="10800000">
              <a:off x="6403300" y="3524640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Flecha: hacia abajo 22">
              <a:extLst>
                <a:ext uri="{FF2B5EF4-FFF2-40B4-BE49-F238E27FC236}">
                  <a16:creationId xmlns:a16="http://schemas.microsoft.com/office/drawing/2014/main" id="{3977D526-C21A-44BB-8E63-D3A7D19855CE}"/>
                </a:ext>
              </a:extLst>
            </p:cNvPr>
            <p:cNvSpPr/>
            <p:nvPr/>
          </p:nvSpPr>
          <p:spPr>
            <a:xfrm rot="10800000">
              <a:off x="6404550" y="4526679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Flecha: hacia abajo 23">
              <a:extLst>
                <a:ext uri="{FF2B5EF4-FFF2-40B4-BE49-F238E27FC236}">
                  <a16:creationId xmlns:a16="http://schemas.microsoft.com/office/drawing/2014/main" id="{6EE3871E-6DA0-4077-B5F6-DFCA80B9B36C}"/>
                </a:ext>
              </a:extLst>
            </p:cNvPr>
            <p:cNvSpPr/>
            <p:nvPr/>
          </p:nvSpPr>
          <p:spPr>
            <a:xfrm rot="10800000">
              <a:off x="6403299" y="5578335"/>
              <a:ext cx="315310" cy="504497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06D5D304-9332-47F0-BCD6-066AC67C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132" y="1638649"/>
            <a:ext cx="638175" cy="62865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86F130-C2CF-4B6A-A726-9FF4C3037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090" y="2777281"/>
            <a:ext cx="609600" cy="962025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BFFAECF-7CE3-425E-8880-582599430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573" y="4824314"/>
            <a:ext cx="657225" cy="895350"/>
          </a:xfrm>
          <a:prstGeom prst="rect">
            <a:avLst/>
          </a:prstGeom>
        </p:spPr>
      </p:pic>
      <p:sp>
        <p:nvSpPr>
          <p:cNvPr id="27" name="Abrir llave 26">
            <a:extLst>
              <a:ext uri="{FF2B5EF4-FFF2-40B4-BE49-F238E27FC236}">
                <a16:creationId xmlns:a16="http://schemas.microsoft.com/office/drawing/2014/main" id="{AF20F1F2-86D4-4860-9354-60F55A141CF1}"/>
              </a:ext>
            </a:extLst>
          </p:cNvPr>
          <p:cNvSpPr/>
          <p:nvPr/>
        </p:nvSpPr>
        <p:spPr>
          <a:xfrm>
            <a:off x="4154087" y="1137693"/>
            <a:ext cx="323320" cy="1637037"/>
          </a:xfrm>
          <a:prstGeom prst="leftBrace">
            <a:avLst>
              <a:gd name="adj1" fmla="val 3245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Abrir llave 34">
            <a:extLst>
              <a:ext uri="{FF2B5EF4-FFF2-40B4-BE49-F238E27FC236}">
                <a16:creationId xmlns:a16="http://schemas.microsoft.com/office/drawing/2014/main" id="{CDB075B8-7A56-4B21-ADA4-C1D5B179A157}"/>
              </a:ext>
            </a:extLst>
          </p:cNvPr>
          <p:cNvSpPr/>
          <p:nvPr/>
        </p:nvSpPr>
        <p:spPr>
          <a:xfrm>
            <a:off x="4169852" y="2821698"/>
            <a:ext cx="315310" cy="962025"/>
          </a:xfrm>
          <a:prstGeom prst="leftBrace">
            <a:avLst>
              <a:gd name="adj1" fmla="val 3245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Abrir llave 35">
            <a:extLst>
              <a:ext uri="{FF2B5EF4-FFF2-40B4-BE49-F238E27FC236}">
                <a16:creationId xmlns:a16="http://schemas.microsoft.com/office/drawing/2014/main" id="{98F58640-4A41-4D12-A572-A92F668EC7DD}"/>
              </a:ext>
            </a:extLst>
          </p:cNvPr>
          <p:cNvSpPr/>
          <p:nvPr/>
        </p:nvSpPr>
        <p:spPr>
          <a:xfrm>
            <a:off x="4178347" y="3837036"/>
            <a:ext cx="306815" cy="2924926"/>
          </a:xfrm>
          <a:prstGeom prst="leftBrace">
            <a:avLst>
              <a:gd name="adj1" fmla="val 3245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180D0F6-5DD9-496D-925E-2C8E9534582A}"/>
              </a:ext>
            </a:extLst>
          </p:cNvPr>
          <p:cNvSpPr txBox="1"/>
          <p:nvPr/>
        </p:nvSpPr>
        <p:spPr>
          <a:xfrm>
            <a:off x="3256263" y="1780011"/>
            <a:ext cx="767693" cy="4001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CO" sz="2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CPU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1058304-975C-4A65-BC3A-79CB2EF0A648}"/>
              </a:ext>
            </a:extLst>
          </p:cNvPr>
          <p:cNvSpPr txBox="1"/>
          <p:nvPr/>
        </p:nvSpPr>
        <p:spPr>
          <a:xfrm>
            <a:off x="2746451" y="3114550"/>
            <a:ext cx="1277506" cy="4001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CO" sz="2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Memoria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BB170F8-64F9-45E2-917C-EABB53452E79}"/>
              </a:ext>
            </a:extLst>
          </p:cNvPr>
          <p:cNvSpPr txBox="1"/>
          <p:nvPr/>
        </p:nvSpPr>
        <p:spPr>
          <a:xfrm>
            <a:off x="2786959" y="5099444"/>
            <a:ext cx="1277507" cy="40011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CO" sz="20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Disco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EA1AC1BA-D9A0-450F-8498-1B34F08FF5D7}"/>
              </a:ext>
            </a:extLst>
          </p:cNvPr>
          <p:cNvCxnSpPr>
            <a:cxnSpLocks/>
          </p:cNvCxnSpPr>
          <p:nvPr/>
        </p:nvCxnSpPr>
        <p:spPr>
          <a:xfrm flipH="1">
            <a:off x="1055200" y="3815255"/>
            <a:ext cx="10387225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5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CO" dirty="0"/>
              <a:t>Arquitectura del Sistema</a:t>
            </a:r>
            <a:endParaRPr lang="es-MX" b="1" dirty="0"/>
          </a:p>
        </p:txBody>
      </p:sp>
      <p:sp>
        <p:nvSpPr>
          <p:cNvPr id="34" name="Google Shape;310;p34">
            <a:extLst>
              <a:ext uri="{FF2B5EF4-FFF2-40B4-BE49-F238E27FC236}">
                <a16:creationId xmlns:a16="http://schemas.microsoft.com/office/drawing/2014/main" id="{83546903-9B63-42E9-A7FE-35308AEC41D0}"/>
              </a:ext>
            </a:extLst>
          </p:cNvPr>
          <p:cNvSpPr txBox="1">
            <a:spLocks/>
          </p:cNvSpPr>
          <p:nvPr/>
        </p:nvSpPr>
        <p:spPr>
          <a:xfrm>
            <a:off x="878468" y="988388"/>
            <a:ext cx="5707717" cy="552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1600" b="1" dirty="0"/>
              <a:t>Núcleo de Procesamiento y Control</a:t>
            </a:r>
          </a:p>
          <a:p>
            <a:pPr lvl="1"/>
            <a:r>
              <a:rPr lang="es-MX" sz="1400" b="1" dirty="0"/>
              <a:t>CPU:</a:t>
            </a:r>
            <a:r>
              <a:rPr lang="es-MX" sz="1400" dirty="0"/>
              <a:t> Coordina la ejecución de instrucciones y la lógica del sistema.</a:t>
            </a:r>
          </a:p>
          <a:p>
            <a:pPr lvl="1"/>
            <a:r>
              <a:rPr lang="es-MX" sz="1400" b="1" dirty="0"/>
              <a:t>Controladores de Memoria:</a:t>
            </a:r>
            <a:r>
              <a:rPr lang="es-MX" sz="1400" dirty="0"/>
              <a:t> Gestionan el flujo de datos entre la CPU y la memoria principal (RAM).</a:t>
            </a:r>
          </a:p>
          <a:p>
            <a:r>
              <a:rPr lang="es-MX" sz="1600" b="1" dirty="0"/>
              <a:t>Infraestructura de Comunicación (Buses)</a:t>
            </a:r>
          </a:p>
          <a:p>
            <a:pPr lvl="1"/>
            <a:r>
              <a:rPr lang="es-MX" sz="1400" b="1" dirty="0"/>
              <a:t>Bus PCI / Sistema:</a:t>
            </a:r>
            <a:r>
              <a:rPr lang="es-MX" sz="1400" dirty="0"/>
              <a:t> Actúa como la "autopista" principal que interconecta todos los módulos críticos.</a:t>
            </a:r>
          </a:p>
          <a:p>
            <a:pPr lvl="1"/>
            <a:r>
              <a:rPr lang="es-MX" sz="1400" b="1" dirty="0"/>
              <a:t>Bus de Expansión:</a:t>
            </a:r>
            <a:r>
              <a:rPr lang="es-MX" sz="1400" dirty="0"/>
              <a:t> Vías secundarias para periféricos y puertos de comunicación externa.</a:t>
            </a:r>
          </a:p>
          <a:p>
            <a:r>
              <a:rPr lang="es-MX" sz="1600" b="1" dirty="0"/>
              <a:t>Unidades Especializadas (Controladores de I/O)</a:t>
            </a:r>
          </a:p>
          <a:p>
            <a:pPr lvl="1"/>
            <a:r>
              <a:rPr lang="es-MX" sz="1400" b="1" dirty="0"/>
              <a:t>Gestión Dedicada:</a:t>
            </a:r>
            <a:r>
              <a:rPr lang="es-MX" sz="1400" dirty="0"/>
              <a:t> Dispositivos como el </a:t>
            </a:r>
            <a:r>
              <a:rPr lang="es-MX" sz="1400" b="1" dirty="0"/>
              <a:t>Graphics Controller</a:t>
            </a:r>
            <a:r>
              <a:rPr lang="es-MX" sz="1400" dirty="0"/>
              <a:t> o el </a:t>
            </a:r>
            <a:r>
              <a:rPr lang="es-MX" sz="1400" b="1" dirty="0"/>
              <a:t>Disk Controller</a:t>
            </a:r>
            <a:r>
              <a:rPr lang="es-MX" sz="1400" dirty="0"/>
              <a:t> procesan tareas específicas de forma independiente.</a:t>
            </a:r>
          </a:p>
          <a:p>
            <a:pPr lvl="1"/>
            <a:r>
              <a:rPr lang="es-MX" sz="1400" b="1" dirty="0"/>
              <a:t>Eficiencia:</a:t>
            </a:r>
            <a:r>
              <a:rPr lang="es-MX" sz="1400" dirty="0"/>
              <a:t> Permiten que la CPU delegue el manejo físico de los datos, optimizando el rendimiento global del sistema.</a:t>
            </a:r>
          </a:p>
          <a:p>
            <a:r>
              <a:rPr lang="es-MX" sz="1600" b="1" dirty="0"/>
              <a:t>Jerarquía de Almacenamiento</a:t>
            </a:r>
          </a:p>
          <a:p>
            <a:pPr lvl="1"/>
            <a:r>
              <a:rPr lang="es-MX" sz="1400" b="1" dirty="0"/>
              <a:t>Cache / RAM:</a:t>
            </a:r>
            <a:r>
              <a:rPr lang="es-MX" sz="1400" dirty="0"/>
              <a:t> Estaciones temporales de alta velocidad para datos en uso.</a:t>
            </a:r>
          </a:p>
          <a:p>
            <a:pPr lvl="1"/>
            <a:r>
              <a:rPr lang="es-MX" sz="1400" b="1" dirty="0"/>
              <a:t>Almacenamiento Persistente:</a:t>
            </a:r>
            <a:r>
              <a:rPr lang="es-MX" sz="1400" dirty="0"/>
              <a:t> Destino final de la información en discos físicos.</a:t>
            </a:r>
          </a:p>
          <a:p>
            <a:pPr marL="0" indent="0">
              <a:buNone/>
            </a:pPr>
            <a:endParaRPr lang="es-MX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58EF8BD-F75B-40B2-8245-FF6EE0894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733550"/>
            <a:ext cx="5707717" cy="382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0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MX" b="1" dirty="0"/>
              <a:t>El Viaje del Dato: De la Memoria al Disco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EABC89-45D5-49BB-AC5A-EDF2B6408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878917"/>
            <a:ext cx="5962650" cy="3977042"/>
          </a:xfrm>
          <a:prstGeom prst="rect">
            <a:avLst/>
          </a:prstGeom>
        </p:spPr>
      </p:pic>
      <p:sp>
        <p:nvSpPr>
          <p:cNvPr id="34" name="Google Shape;310;p34">
            <a:extLst>
              <a:ext uri="{FF2B5EF4-FFF2-40B4-BE49-F238E27FC236}">
                <a16:creationId xmlns:a16="http://schemas.microsoft.com/office/drawing/2014/main" id="{83546903-9B63-42E9-A7FE-35308AEC41D0}"/>
              </a:ext>
            </a:extLst>
          </p:cNvPr>
          <p:cNvSpPr txBox="1">
            <a:spLocks/>
          </p:cNvSpPr>
          <p:nvPr/>
        </p:nvSpPr>
        <p:spPr>
          <a:xfrm>
            <a:off x="916650" y="1497917"/>
            <a:ext cx="4626900" cy="4129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Viaje de los datos</a:t>
            </a:r>
          </a:p>
          <a:p>
            <a:pPr marL="342900" indent="-342900"/>
            <a:r>
              <a:rPr lang="es-MX" sz="2000" b="1" dirty="0"/>
              <a:t>Origen</a:t>
            </a:r>
            <a:r>
              <a:rPr lang="es-MX" sz="2000" dirty="0"/>
              <a:t>: El programa del usuario solicita una operación de escritura.</a:t>
            </a:r>
          </a:p>
          <a:p>
            <a:pPr marL="342900" indent="-342900"/>
            <a:r>
              <a:rPr lang="es-MX" sz="2000" b="1" dirty="0"/>
              <a:t>Intermediario</a:t>
            </a:r>
            <a:r>
              <a:rPr lang="es-MX" sz="2000" dirty="0"/>
              <a:t>: El dato se traslada al Buffer del Sistema para liberar al programa.</a:t>
            </a:r>
          </a:p>
          <a:p>
            <a:pPr marL="342900" indent="-342900"/>
            <a:r>
              <a:rPr lang="es-MX" sz="2000" b="1" dirty="0"/>
              <a:t>Delegación</a:t>
            </a:r>
            <a:r>
              <a:rPr lang="es-MX" sz="2000" dirty="0"/>
              <a:t>: El Procesador de I/O toma el control de la transferencia.</a:t>
            </a:r>
          </a:p>
          <a:p>
            <a:pPr marL="342900" indent="-342900"/>
            <a:r>
              <a:rPr lang="es-MX" sz="2000" b="1" dirty="0"/>
              <a:t>Destino</a:t>
            </a:r>
            <a:r>
              <a:rPr lang="es-MX" sz="2000" dirty="0"/>
              <a:t>: El Controlador de Disco escribe físicamente el dato en el plato magnético.</a:t>
            </a:r>
          </a:p>
        </p:txBody>
      </p:sp>
    </p:spTree>
    <p:extLst>
      <p:ext uri="{BB962C8B-B14F-4D97-AF65-F5344CB8AC3E}">
        <p14:creationId xmlns:p14="http://schemas.microsoft.com/office/powerpoint/2010/main" val="198196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Tiempos de acceso</a:t>
            </a:r>
            <a:endParaRPr dirty="0"/>
          </a:p>
        </p:txBody>
      </p:sp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9336861D-8C76-497B-B73D-456F9AA36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649" y="999332"/>
            <a:ext cx="1073406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>
                <a:solidFill>
                  <a:schemeClr val="accent2"/>
                </a:solidFill>
              </a:rPr>
              <a:t>Números de latencia que todo programador debería conocer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256ACE7-81CD-4829-9921-05D7084BB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86718"/>
              </p:ext>
            </p:extLst>
          </p:nvPr>
        </p:nvGraphicFramePr>
        <p:xfrm>
          <a:off x="1305282" y="1925708"/>
          <a:ext cx="4978400" cy="316992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3705136714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533779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b="1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Latency (ns)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464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L1 Cache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930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L2 Cache 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153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982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16,000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42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2,000,000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601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~50,000,000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Network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53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CO" sz="2000" dirty="0">
                          <a:solidFill>
                            <a:srgbClr val="C0000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1,000,000,000 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Tape Archives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56184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BA252FA-BD92-4D45-8400-4D0F2333709B}"/>
              </a:ext>
            </a:extLst>
          </p:cNvPr>
          <p:cNvSpPr txBox="1"/>
          <p:nvPr/>
        </p:nvSpPr>
        <p:spPr>
          <a:xfrm>
            <a:off x="6544712" y="1653803"/>
            <a:ext cx="5351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¿Qué tan lento cree que es un acceso a disco comparado con la memoria?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107C37F6-55CE-4EAE-AF6A-4567D9DD0DB8}"/>
              </a:ext>
            </a:extLst>
          </p:cNvPr>
          <p:cNvGrpSpPr/>
          <p:nvPr/>
        </p:nvGrpSpPr>
        <p:grpSpPr>
          <a:xfrm>
            <a:off x="6549838" y="2355529"/>
            <a:ext cx="3088734" cy="2712355"/>
            <a:chOff x="6560091" y="3228944"/>
            <a:chExt cx="3088734" cy="2712355"/>
          </a:xfrm>
        </p:grpSpPr>
        <p:sp>
          <p:nvSpPr>
            <p:cNvPr id="5" name="Flecha: a la derecha 4">
              <a:extLst>
                <a:ext uri="{FF2B5EF4-FFF2-40B4-BE49-F238E27FC236}">
                  <a16:creationId xmlns:a16="http://schemas.microsoft.com/office/drawing/2014/main" id="{DD604C49-476F-47FE-9F89-BBC38765C0CC}"/>
                </a:ext>
              </a:extLst>
            </p:cNvPr>
            <p:cNvSpPr/>
            <p:nvPr/>
          </p:nvSpPr>
          <p:spPr>
            <a:xfrm flipH="1">
              <a:off x="6574219" y="3350172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Flecha: a la derecha 8">
              <a:extLst>
                <a:ext uri="{FF2B5EF4-FFF2-40B4-BE49-F238E27FC236}">
                  <a16:creationId xmlns:a16="http://schemas.microsoft.com/office/drawing/2014/main" id="{A9401749-902D-4587-87B6-918368C27B91}"/>
                </a:ext>
              </a:extLst>
            </p:cNvPr>
            <p:cNvSpPr/>
            <p:nvPr/>
          </p:nvSpPr>
          <p:spPr>
            <a:xfrm flipH="1">
              <a:off x="6560092" y="3742900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F2AC771C-5292-4641-9B3D-517FF2A93A40}"/>
                </a:ext>
              </a:extLst>
            </p:cNvPr>
            <p:cNvSpPr/>
            <p:nvPr/>
          </p:nvSpPr>
          <p:spPr>
            <a:xfrm flipH="1">
              <a:off x="6573562" y="4132613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Flecha: a la derecha 11">
              <a:extLst>
                <a:ext uri="{FF2B5EF4-FFF2-40B4-BE49-F238E27FC236}">
                  <a16:creationId xmlns:a16="http://schemas.microsoft.com/office/drawing/2014/main" id="{13A841AF-7DC7-4C62-92DB-B73028B7576E}"/>
                </a:ext>
              </a:extLst>
            </p:cNvPr>
            <p:cNvSpPr/>
            <p:nvPr/>
          </p:nvSpPr>
          <p:spPr>
            <a:xfrm flipH="1">
              <a:off x="6577827" y="4516591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6CAE5F4A-7CCD-411F-A504-736374480CD9}"/>
                </a:ext>
              </a:extLst>
            </p:cNvPr>
            <p:cNvSpPr/>
            <p:nvPr/>
          </p:nvSpPr>
          <p:spPr>
            <a:xfrm flipH="1">
              <a:off x="6573561" y="4898533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Flecha: a la derecha 13">
              <a:extLst>
                <a:ext uri="{FF2B5EF4-FFF2-40B4-BE49-F238E27FC236}">
                  <a16:creationId xmlns:a16="http://schemas.microsoft.com/office/drawing/2014/main" id="{12B4141D-E833-4378-A50D-0C3AB89C3643}"/>
                </a:ext>
              </a:extLst>
            </p:cNvPr>
            <p:cNvSpPr/>
            <p:nvPr/>
          </p:nvSpPr>
          <p:spPr>
            <a:xfrm flipH="1">
              <a:off x="6573561" y="5280475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Flecha: a la derecha 14">
              <a:extLst>
                <a:ext uri="{FF2B5EF4-FFF2-40B4-BE49-F238E27FC236}">
                  <a16:creationId xmlns:a16="http://schemas.microsoft.com/office/drawing/2014/main" id="{079A5439-9941-42FE-8AF0-B60CEFECED4B}"/>
                </a:ext>
              </a:extLst>
            </p:cNvPr>
            <p:cNvSpPr/>
            <p:nvPr/>
          </p:nvSpPr>
          <p:spPr>
            <a:xfrm flipH="1">
              <a:off x="6560091" y="5662417"/>
              <a:ext cx="425669" cy="15765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EEB3659-06B4-4F37-AD69-DABE03E915AF}"/>
                </a:ext>
              </a:extLst>
            </p:cNvPr>
            <p:cNvSpPr txBox="1"/>
            <p:nvPr/>
          </p:nvSpPr>
          <p:spPr>
            <a:xfrm>
              <a:off x="7047185" y="3228944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 s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951F1B10-006C-46FF-92A5-08CADFCA21F2}"/>
                </a:ext>
              </a:extLst>
            </p:cNvPr>
            <p:cNvSpPr txBox="1"/>
            <p:nvPr/>
          </p:nvSpPr>
          <p:spPr>
            <a:xfrm>
              <a:off x="7047185" y="4007996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100 s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5DC327E-EBF7-4C63-89AC-D33E6B6DE6B0}"/>
                </a:ext>
              </a:extLst>
            </p:cNvPr>
            <p:cNvSpPr txBox="1"/>
            <p:nvPr/>
          </p:nvSpPr>
          <p:spPr>
            <a:xfrm>
              <a:off x="7047185" y="3629054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 s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4E4775A6-A5C3-4DE4-AD8A-6A16CBB4B1F4}"/>
                </a:ext>
              </a:extLst>
            </p:cNvPr>
            <p:cNvSpPr txBox="1"/>
            <p:nvPr/>
          </p:nvSpPr>
          <p:spPr>
            <a:xfrm>
              <a:off x="7047185" y="4408106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4.4 horas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EF4CACA-B0A0-4113-930A-23A8AAC2EA9C}"/>
                </a:ext>
              </a:extLst>
            </p:cNvPr>
            <p:cNvSpPr txBox="1"/>
            <p:nvPr/>
          </p:nvSpPr>
          <p:spPr>
            <a:xfrm>
              <a:off x="7042919" y="4801883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3.3 semanas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B1C0029-F2D2-4355-A233-E808BB1D476B}"/>
                </a:ext>
              </a:extLst>
            </p:cNvPr>
            <p:cNvSpPr txBox="1"/>
            <p:nvPr/>
          </p:nvSpPr>
          <p:spPr>
            <a:xfrm>
              <a:off x="7047185" y="5159247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1.5 años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80568E9E-D502-4EE0-954B-DE422B12169C}"/>
                </a:ext>
              </a:extLst>
            </p:cNvPr>
            <p:cNvSpPr txBox="1"/>
            <p:nvPr/>
          </p:nvSpPr>
          <p:spPr>
            <a:xfrm>
              <a:off x="7042919" y="5541189"/>
              <a:ext cx="2601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000" dirty="0">
                  <a:solidFill>
                    <a:srgbClr val="C0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31 años</a:t>
              </a: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A8B7A61-2B78-48E7-9C92-12706B1E73A1}"/>
              </a:ext>
            </a:extLst>
          </p:cNvPr>
          <p:cNvSpPr txBox="1"/>
          <p:nvPr/>
        </p:nvSpPr>
        <p:spPr>
          <a:xfrm>
            <a:off x="6549838" y="5291174"/>
            <a:ext cx="5346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La diferencia entre un buen sistema y uno malo no suele ser el algoritmo, es </a:t>
            </a:r>
            <a:r>
              <a:rPr lang="es-MX" sz="1600" b="1" dirty="0">
                <a:latin typeface="Roboto" panose="02000000000000000000" pitchFamily="2" charset="0"/>
                <a:ea typeface="Roboto" panose="02000000000000000000" pitchFamily="2" charset="0"/>
              </a:rPr>
              <a:t>dónde</a:t>
            </a: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 están los datos.</a:t>
            </a:r>
            <a:endParaRPr lang="es-CO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A5196F-E452-4D1E-BD5B-372156D2CD91}"/>
              </a:ext>
            </a:extLst>
          </p:cNvPr>
          <p:cNvSpPr txBox="1"/>
          <p:nvPr/>
        </p:nvSpPr>
        <p:spPr>
          <a:xfrm>
            <a:off x="1305282" y="5489336"/>
            <a:ext cx="497840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Conclusión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 La latencia manda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C72FB0E-B467-40BC-8A58-DBD974F40BAA}"/>
              </a:ext>
            </a:extLst>
          </p:cNvPr>
          <p:cNvSpPr txBox="1"/>
          <p:nvPr/>
        </p:nvSpPr>
        <p:spPr>
          <a:xfrm>
            <a:off x="1305282" y="5052086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hlinkClick r:id="rId3"/>
              </a:rPr>
              <a:t>link</a:t>
            </a:r>
            <a:endParaRPr lang="es-CO" dirty="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5679048F-8122-4677-BE94-69B8B60EB120}"/>
              </a:ext>
            </a:extLst>
          </p:cNvPr>
          <p:cNvCxnSpPr/>
          <p:nvPr/>
        </p:nvCxnSpPr>
        <p:spPr>
          <a:xfrm>
            <a:off x="6563308" y="3522071"/>
            <a:ext cx="2798406" cy="0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630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Tiempos de acceso</a:t>
            </a:r>
            <a:endParaRPr dirty="0"/>
          </a:p>
        </p:txBody>
      </p:sp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9336861D-8C76-497B-B73D-456F9AA36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6650" y="810190"/>
            <a:ext cx="1073406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>
                <a:solidFill>
                  <a:schemeClr val="accent2"/>
                </a:solidFill>
              </a:rPr>
              <a:t>Tamaño</a:t>
            </a:r>
          </a:p>
        </p:txBody>
      </p:sp>
      <p:pic>
        <p:nvPicPr>
          <p:cNvPr id="27" name="Google Shape;154;p35">
            <a:extLst>
              <a:ext uri="{FF2B5EF4-FFF2-40B4-BE49-F238E27FC236}">
                <a16:creationId xmlns:a16="http://schemas.microsoft.com/office/drawing/2014/main" id="{EDD4AF3B-7CE6-437E-B401-D05AA5B5BA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997" y="5625460"/>
            <a:ext cx="1000514" cy="5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55;p35">
            <a:extLst>
              <a:ext uri="{FF2B5EF4-FFF2-40B4-BE49-F238E27FC236}">
                <a16:creationId xmlns:a16="http://schemas.microsoft.com/office/drawing/2014/main" id="{18DC9F5E-1882-4E35-B4DF-D71E043C837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2244" y="5483871"/>
            <a:ext cx="830906" cy="92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160;p35">
            <a:extLst>
              <a:ext uri="{FF2B5EF4-FFF2-40B4-BE49-F238E27FC236}">
                <a16:creationId xmlns:a16="http://schemas.microsoft.com/office/drawing/2014/main" id="{4F2DAA66-785C-4879-9912-395A61953660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7518480" y="4017685"/>
            <a:ext cx="0" cy="134971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35" name="Google Shape;161;p35">
            <a:extLst>
              <a:ext uri="{FF2B5EF4-FFF2-40B4-BE49-F238E27FC236}">
                <a16:creationId xmlns:a16="http://schemas.microsoft.com/office/drawing/2014/main" id="{A9A5E7D3-85AF-454F-B90A-7325701B037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8222" y="3164971"/>
            <a:ext cx="1000515" cy="85271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62;p35">
            <a:extLst>
              <a:ext uri="{FF2B5EF4-FFF2-40B4-BE49-F238E27FC236}">
                <a16:creationId xmlns:a16="http://schemas.microsoft.com/office/drawing/2014/main" id="{4C658D43-2269-4B6D-945F-E29854F19AFC}"/>
              </a:ext>
            </a:extLst>
          </p:cNvPr>
          <p:cNvSpPr txBox="1"/>
          <p:nvPr/>
        </p:nvSpPr>
        <p:spPr>
          <a:xfrm>
            <a:off x="7686150" y="4144483"/>
            <a:ext cx="1534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highlight>
                  <a:schemeClr val="lt1"/>
                </a:highlight>
              </a:rPr>
              <a:t>RAM – SSD/HDD Read/Writes</a:t>
            </a:r>
            <a:endParaRPr sz="12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2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highlight>
                  <a:schemeClr val="lt1"/>
                </a:highlight>
              </a:rPr>
              <a:t>(aka ‘Paging’)</a:t>
            </a:r>
            <a:endParaRPr sz="1200" dirty="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37" name="Google Shape;163;p35">
            <a:extLst>
              <a:ext uri="{FF2B5EF4-FFF2-40B4-BE49-F238E27FC236}">
                <a16:creationId xmlns:a16="http://schemas.microsoft.com/office/drawing/2014/main" id="{AD3DE491-CB1C-4695-8983-B395B280834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4157" y="1490605"/>
            <a:ext cx="908647" cy="8744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164;p35">
            <a:extLst>
              <a:ext uri="{FF2B5EF4-FFF2-40B4-BE49-F238E27FC236}">
                <a16:creationId xmlns:a16="http://schemas.microsoft.com/office/drawing/2014/main" id="{097A78AB-D183-48CD-9D1B-08DF16597358}"/>
              </a:ext>
            </a:extLst>
          </p:cNvPr>
          <p:cNvCxnSpPr>
            <a:cxnSpLocks/>
            <a:stCxn id="37" idx="2"/>
            <a:endCxn id="35" idx="0"/>
          </p:cNvCxnSpPr>
          <p:nvPr/>
        </p:nvCxnSpPr>
        <p:spPr>
          <a:xfrm flipH="1">
            <a:off x="7518480" y="2365059"/>
            <a:ext cx="1" cy="799912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" name="Google Shape;165;p35">
            <a:extLst>
              <a:ext uri="{FF2B5EF4-FFF2-40B4-BE49-F238E27FC236}">
                <a16:creationId xmlns:a16="http://schemas.microsoft.com/office/drawing/2014/main" id="{8D7DF078-6F8D-4038-81B9-749A9EC3BF1E}"/>
              </a:ext>
            </a:extLst>
          </p:cNvPr>
          <p:cNvSpPr txBox="1"/>
          <p:nvPr/>
        </p:nvSpPr>
        <p:spPr>
          <a:xfrm>
            <a:off x="7682768" y="2712695"/>
            <a:ext cx="115688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CPU – RAM Read/Writes</a:t>
            </a:r>
            <a:endParaRPr sz="1200" dirty="0">
              <a:solidFill>
                <a:schemeClr val="dk2"/>
              </a:solidFill>
              <a:highlight>
                <a:schemeClr val="lt1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B24C9F6-BB0D-41FF-A3FD-E0C9C0638CD2}"/>
              </a:ext>
            </a:extLst>
          </p:cNvPr>
          <p:cNvCxnSpPr>
            <a:cxnSpLocks/>
          </p:cNvCxnSpPr>
          <p:nvPr/>
        </p:nvCxnSpPr>
        <p:spPr>
          <a:xfrm>
            <a:off x="6422244" y="4682441"/>
            <a:ext cx="2798406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830171A-2B26-4CEC-B7DE-C8031815A87D}"/>
              </a:ext>
            </a:extLst>
          </p:cNvPr>
          <p:cNvSpPr txBox="1"/>
          <p:nvPr/>
        </p:nvSpPr>
        <p:spPr>
          <a:xfrm>
            <a:off x="9027249" y="5698636"/>
            <a:ext cx="2677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acceso a disco es costoso; si no se gestiona bien, provoca bloqueos y degrada el rendimiento.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543F810-3450-4AA2-B321-99B315C7B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20734"/>
              </p:ext>
            </p:extLst>
          </p:nvPr>
        </p:nvGraphicFramePr>
        <p:xfrm>
          <a:off x="1021084" y="1422755"/>
          <a:ext cx="4938740" cy="3688080"/>
        </p:xfrm>
        <a:graphic>
          <a:graphicData uri="http://schemas.openxmlformats.org/drawingml/2006/table">
            <a:tbl>
              <a:tblPr/>
              <a:tblGrid>
                <a:gridCol w="1368971">
                  <a:extLst>
                    <a:ext uri="{9D8B030D-6E8A-4147-A177-3AD203B41FA5}">
                      <a16:colId xmlns:a16="http://schemas.microsoft.com/office/drawing/2014/main" val="4119793316"/>
                    </a:ext>
                  </a:extLst>
                </a:gridCol>
                <a:gridCol w="1655380">
                  <a:extLst>
                    <a:ext uri="{9D8B030D-6E8A-4147-A177-3AD203B41FA5}">
                      <a16:colId xmlns:a16="http://schemas.microsoft.com/office/drawing/2014/main" val="3353414724"/>
                    </a:ext>
                  </a:extLst>
                </a:gridCol>
                <a:gridCol w="1914389">
                  <a:extLst>
                    <a:ext uri="{9D8B030D-6E8A-4147-A177-3AD203B41FA5}">
                      <a16:colId xmlns:a16="http://schemas.microsoft.com/office/drawing/2014/main" val="115421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Categoría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Elemento</a:t>
                      </a:r>
                      <a:endParaRPr lang="es-CO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Valor aproximado</a:t>
                      </a:r>
                      <a:endParaRPr lang="es-CO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878264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Tamaño primitivo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INT32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6380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INT64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 bytes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032850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Potencias de 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2¹⁰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1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5993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2²⁰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1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3414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2³⁰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1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21867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2⁴⁰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1 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23986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Regla práctica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millón de registros INT32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4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11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billón de registros INT32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337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Aproximación de ingeniería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Aproximación decimal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Usar 1000 en lugar de 1024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314097"/>
                  </a:ext>
                </a:extLst>
              </a:tr>
            </a:tbl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619CA4B8-DA59-4C5C-9ACE-330C4C795F5F}"/>
              </a:ext>
            </a:extLst>
          </p:cNvPr>
          <p:cNvGrpSpPr/>
          <p:nvPr/>
        </p:nvGrpSpPr>
        <p:grpSpPr>
          <a:xfrm>
            <a:off x="1869398" y="5494222"/>
            <a:ext cx="1006244" cy="307777"/>
            <a:chOff x="1168358" y="5597754"/>
            <a:chExt cx="1006244" cy="30777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DD7CA8C-78D0-4E62-93B1-14C11D920550}"/>
                </a:ext>
              </a:extLst>
            </p:cNvPr>
            <p:cNvSpPr/>
            <p:nvPr/>
          </p:nvSpPr>
          <p:spPr>
            <a:xfrm>
              <a:off x="1938119" y="5633402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259CFAAF-15FD-41C7-AE3F-E9154E9AAE40}"/>
                </a:ext>
              </a:extLst>
            </p:cNvPr>
            <p:cNvSpPr txBox="1"/>
            <p:nvPr/>
          </p:nvSpPr>
          <p:spPr>
            <a:xfrm>
              <a:off x="1168358" y="5597754"/>
              <a:ext cx="655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b="1" dirty="0">
                  <a:solidFill>
                    <a:schemeClr val="accent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 bit</a:t>
              </a:r>
              <a:endParaRPr lang="es-CO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26FF1B5-ADD6-4030-B694-DB31BBCD6176}"/>
              </a:ext>
            </a:extLst>
          </p:cNvPr>
          <p:cNvGrpSpPr/>
          <p:nvPr/>
        </p:nvGrpSpPr>
        <p:grpSpPr>
          <a:xfrm>
            <a:off x="1784640" y="5981083"/>
            <a:ext cx="2749307" cy="307777"/>
            <a:chOff x="1083600" y="6084615"/>
            <a:chExt cx="2749307" cy="307777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3D82F460-18A8-4A6B-A0B3-0B095CE598B2}"/>
                </a:ext>
              </a:extLst>
            </p:cNvPr>
            <p:cNvGrpSpPr/>
            <p:nvPr/>
          </p:nvGrpSpPr>
          <p:grpSpPr>
            <a:xfrm>
              <a:off x="1932613" y="6120263"/>
              <a:ext cx="1900294" cy="236483"/>
              <a:chOff x="1277006" y="6009151"/>
              <a:chExt cx="1900294" cy="236483"/>
            </a:xfrm>
          </p:grpSpPr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D4B42680-3DC3-4717-9AAF-E5638F33FE78}"/>
                  </a:ext>
                </a:extLst>
              </p:cNvPr>
              <p:cNvSpPr/>
              <p:nvPr/>
            </p:nvSpPr>
            <p:spPr>
              <a:xfrm>
                <a:off x="1277006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17E65ECD-7379-42E6-B507-0D675EB4538E}"/>
                  </a:ext>
                </a:extLst>
              </p:cNvPr>
              <p:cNvSpPr/>
              <p:nvPr/>
            </p:nvSpPr>
            <p:spPr>
              <a:xfrm>
                <a:off x="1513934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CFF72D02-7E67-4F7B-821B-534032CFE849}"/>
                  </a:ext>
                </a:extLst>
              </p:cNvPr>
              <p:cNvSpPr/>
              <p:nvPr/>
            </p:nvSpPr>
            <p:spPr>
              <a:xfrm>
                <a:off x="1753742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37A13AF4-BE4F-4463-83FB-592F989E46DC}"/>
                  </a:ext>
                </a:extLst>
              </p:cNvPr>
              <p:cNvSpPr/>
              <p:nvPr/>
            </p:nvSpPr>
            <p:spPr>
              <a:xfrm>
                <a:off x="1990670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1D15D0C3-3684-4FE7-A94A-FF486AF46C79}"/>
                  </a:ext>
                </a:extLst>
              </p:cNvPr>
              <p:cNvSpPr/>
              <p:nvPr/>
            </p:nvSpPr>
            <p:spPr>
              <a:xfrm>
                <a:off x="2227153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2BF78C14-0810-461D-9231-B6827DCA8A25}"/>
                  </a:ext>
                </a:extLst>
              </p:cNvPr>
              <p:cNvSpPr/>
              <p:nvPr/>
            </p:nvSpPr>
            <p:spPr>
              <a:xfrm>
                <a:off x="2464081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20F185E-1A42-431A-B2F4-0367EA482A70}"/>
                  </a:ext>
                </a:extLst>
              </p:cNvPr>
              <p:cNvSpPr/>
              <p:nvPr/>
            </p:nvSpPr>
            <p:spPr>
              <a:xfrm>
                <a:off x="2703889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0B95A6FA-91F7-41D1-A32A-2DF9425F8F95}"/>
                  </a:ext>
                </a:extLst>
              </p:cNvPr>
              <p:cNvSpPr/>
              <p:nvPr/>
            </p:nvSpPr>
            <p:spPr>
              <a:xfrm>
                <a:off x="2940817" y="6009151"/>
                <a:ext cx="236483" cy="23648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6E556B8-763A-4FCA-9340-A0E332AF2D45}"/>
                </a:ext>
              </a:extLst>
            </p:cNvPr>
            <p:cNvSpPr txBox="1"/>
            <p:nvPr/>
          </p:nvSpPr>
          <p:spPr>
            <a:xfrm>
              <a:off x="1083600" y="6084615"/>
              <a:ext cx="7324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b="1" dirty="0">
                  <a:solidFill>
                    <a:schemeClr val="accent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 byte</a:t>
              </a:r>
              <a:endParaRPr lang="es-CO" b="1" dirty="0">
                <a:solidFill>
                  <a:schemeClr val="accent5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61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I/O Block (page)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855234" y="767806"/>
            <a:ext cx="10734067" cy="213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dirty="0"/>
              <a:t>Un </a:t>
            </a:r>
            <a:r>
              <a:rPr lang="es-MX" sz="2000" b="1" dirty="0"/>
              <a:t>I/O block</a:t>
            </a:r>
            <a:r>
              <a:rPr lang="es-MX" sz="2000" dirty="0"/>
              <a:t> (bloque de E/S) es la </a:t>
            </a:r>
            <a:r>
              <a:rPr lang="es-MX" sz="2000" b="1" u="sng" dirty="0"/>
              <a:t>unidad mínima de datos</a:t>
            </a:r>
            <a:r>
              <a:rPr lang="es-MX" sz="2000" dirty="0"/>
              <a:t> que el sistema lee o escribe entre la memoria (RAM) y el dispositivo de almacenamiento secundario (SSD/HDD)</a:t>
            </a:r>
          </a:p>
          <a:p>
            <a:pPr marL="342900" indent="-342900"/>
            <a:r>
              <a:rPr lang="es-MX" sz="2000" dirty="0"/>
              <a:t>El hardware no lee bytes individuales.</a:t>
            </a:r>
          </a:p>
          <a:p>
            <a:pPr marL="342900" indent="-342900"/>
            <a:r>
              <a:rPr lang="es-MX" sz="2000" dirty="0"/>
              <a:t>Lee sectores o bloques completos.</a:t>
            </a:r>
          </a:p>
          <a:p>
            <a:pPr marL="342900" indent="-342900"/>
            <a:r>
              <a:rPr lang="es-MX" sz="2000" dirty="0"/>
              <a:t>Aunque el proceso pida 1 byte, el sistema lee un bloque completo.</a:t>
            </a:r>
          </a:p>
        </p:txBody>
      </p:sp>
      <p:pic>
        <p:nvPicPr>
          <p:cNvPr id="39" name="Google Shape;154;p35">
            <a:extLst>
              <a:ext uri="{FF2B5EF4-FFF2-40B4-BE49-F238E27FC236}">
                <a16:creationId xmlns:a16="http://schemas.microsoft.com/office/drawing/2014/main" id="{EC5E170E-9233-41C6-8A29-0DDAC83170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205" y="5874441"/>
            <a:ext cx="1156329" cy="66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155;p35">
            <a:extLst>
              <a:ext uri="{FF2B5EF4-FFF2-40B4-BE49-F238E27FC236}">
                <a16:creationId xmlns:a16="http://schemas.microsoft.com/office/drawing/2014/main" id="{FEB94747-1F0D-4107-8BAC-B304EEDF65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9976" y="5701171"/>
            <a:ext cx="996417" cy="101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160;p35">
            <a:extLst>
              <a:ext uri="{FF2B5EF4-FFF2-40B4-BE49-F238E27FC236}">
                <a16:creationId xmlns:a16="http://schemas.microsoft.com/office/drawing/2014/main" id="{3EE2EE7A-479E-40D3-9304-36A791C68C1C}"/>
              </a:ext>
            </a:extLst>
          </p:cNvPr>
          <p:cNvCxnSpPr>
            <a:cxnSpLocks/>
          </p:cNvCxnSpPr>
          <p:nvPr/>
        </p:nvCxnSpPr>
        <p:spPr>
          <a:xfrm>
            <a:off x="2176898" y="4004920"/>
            <a:ext cx="0" cy="169625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42" name="Google Shape;161;p35">
            <a:extLst>
              <a:ext uri="{FF2B5EF4-FFF2-40B4-BE49-F238E27FC236}">
                <a16:creationId xmlns:a16="http://schemas.microsoft.com/office/drawing/2014/main" id="{0C94F7FB-AF0D-458B-A2ED-7F02116874E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1449" y="2822695"/>
            <a:ext cx="1138373" cy="10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A79516B2-09B1-42B7-AE37-A0E744D9DD5B}"/>
              </a:ext>
            </a:extLst>
          </p:cNvPr>
          <p:cNvSpPr/>
          <p:nvPr/>
        </p:nvSpPr>
        <p:spPr>
          <a:xfrm>
            <a:off x="2438280" y="4181731"/>
            <a:ext cx="551542" cy="4354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Google Shape;162;p35">
            <a:extLst>
              <a:ext uri="{FF2B5EF4-FFF2-40B4-BE49-F238E27FC236}">
                <a16:creationId xmlns:a16="http://schemas.microsoft.com/office/drawing/2014/main" id="{B95131CC-F995-4748-B61F-99D4B7CD575B}"/>
              </a:ext>
            </a:extLst>
          </p:cNvPr>
          <p:cNvSpPr txBox="1"/>
          <p:nvPr/>
        </p:nvSpPr>
        <p:spPr>
          <a:xfrm>
            <a:off x="2420636" y="4675014"/>
            <a:ext cx="113837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I/O Block</a:t>
            </a:r>
            <a:endParaRPr dirty="0">
              <a:solidFill>
                <a:schemeClr val="dk2"/>
              </a:solidFill>
              <a:highlight>
                <a:schemeClr val="lt1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5" name="Google Shape;236;p38">
            <a:extLst>
              <a:ext uri="{FF2B5EF4-FFF2-40B4-BE49-F238E27FC236}">
                <a16:creationId xmlns:a16="http://schemas.microsoft.com/office/drawing/2014/main" id="{B796393F-7200-45B2-89E4-BDFCFB688DA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0794" y="3185175"/>
            <a:ext cx="1659787" cy="81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237;p38">
            <a:extLst>
              <a:ext uri="{FF2B5EF4-FFF2-40B4-BE49-F238E27FC236}">
                <a16:creationId xmlns:a16="http://schemas.microsoft.com/office/drawing/2014/main" id="{DD801C62-8954-4891-B8B5-96DBE2CE106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6572" y="3187013"/>
            <a:ext cx="1648968" cy="85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238;p38">
            <a:extLst>
              <a:ext uri="{FF2B5EF4-FFF2-40B4-BE49-F238E27FC236}">
                <a16:creationId xmlns:a16="http://schemas.microsoft.com/office/drawing/2014/main" id="{3219AAA2-95CE-4B8A-9138-53FDB7DC265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83745" y="3185175"/>
            <a:ext cx="1522700" cy="85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243;p38">
            <a:extLst>
              <a:ext uri="{FF2B5EF4-FFF2-40B4-BE49-F238E27FC236}">
                <a16:creationId xmlns:a16="http://schemas.microsoft.com/office/drawing/2014/main" id="{21519D7C-7E74-412B-B38E-84CA4E79F04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340551" y="3173051"/>
            <a:ext cx="1522700" cy="81974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39;p38">
            <a:extLst>
              <a:ext uri="{FF2B5EF4-FFF2-40B4-BE49-F238E27FC236}">
                <a16:creationId xmlns:a16="http://schemas.microsoft.com/office/drawing/2014/main" id="{4A408514-0007-428D-BA38-FB3ECA36826C}"/>
              </a:ext>
            </a:extLst>
          </p:cNvPr>
          <p:cNvSpPr txBox="1"/>
          <p:nvPr/>
        </p:nvSpPr>
        <p:spPr>
          <a:xfrm>
            <a:off x="4203442" y="4193244"/>
            <a:ext cx="1357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1 Package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4" name="Google Shape;240;p38">
            <a:extLst>
              <a:ext uri="{FF2B5EF4-FFF2-40B4-BE49-F238E27FC236}">
                <a16:creationId xmlns:a16="http://schemas.microsoft.com/office/drawing/2014/main" id="{02887382-972B-49E8-826E-1B05B73789D3}"/>
              </a:ext>
            </a:extLst>
          </p:cNvPr>
          <p:cNvSpPr txBox="1"/>
          <p:nvPr/>
        </p:nvSpPr>
        <p:spPr>
          <a:xfrm>
            <a:off x="6183745" y="4169088"/>
            <a:ext cx="1616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1000 Packages 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(1 Trailer)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5" name="Google Shape;241;p38">
            <a:extLst>
              <a:ext uri="{FF2B5EF4-FFF2-40B4-BE49-F238E27FC236}">
                <a16:creationId xmlns:a16="http://schemas.microsoft.com/office/drawing/2014/main" id="{04BE6B48-86DC-4E8E-A741-6F965C3F2518}"/>
              </a:ext>
            </a:extLst>
          </p:cNvPr>
          <p:cNvSpPr txBox="1"/>
          <p:nvPr/>
        </p:nvSpPr>
        <p:spPr>
          <a:xfrm>
            <a:off x="8190794" y="4167759"/>
            <a:ext cx="1357500" cy="48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3000 Packages 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(3 Trailers)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6" name="Google Shape;242;p38">
            <a:extLst>
              <a:ext uri="{FF2B5EF4-FFF2-40B4-BE49-F238E27FC236}">
                <a16:creationId xmlns:a16="http://schemas.microsoft.com/office/drawing/2014/main" id="{BEE44C3A-E716-4ACE-8A0D-77A194CD8773}"/>
              </a:ext>
            </a:extLst>
          </p:cNvPr>
          <p:cNvSpPr txBox="1"/>
          <p:nvPr/>
        </p:nvSpPr>
        <p:spPr>
          <a:xfrm>
            <a:off x="10340551" y="4222443"/>
            <a:ext cx="1357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‘M’ Trucks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7" name="Google Shape;244;p38">
            <a:extLst>
              <a:ext uri="{FF2B5EF4-FFF2-40B4-BE49-F238E27FC236}">
                <a16:creationId xmlns:a16="http://schemas.microsoft.com/office/drawing/2014/main" id="{6E923414-594F-4575-B76F-0439A42CEC7C}"/>
              </a:ext>
            </a:extLst>
          </p:cNvPr>
          <p:cNvSpPr txBox="1"/>
          <p:nvPr/>
        </p:nvSpPr>
        <p:spPr>
          <a:xfrm>
            <a:off x="4203442" y="4766133"/>
            <a:ext cx="1357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1 Byte</a:t>
            </a:r>
            <a:endParaRPr sz="120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8" name="Google Shape;245;p38">
            <a:extLst>
              <a:ext uri="{FF2B5EF4-FFF2-40B4-BE49-F238E27FC236}">
                <a16:creationId xmlns:a16="http://schemas.microsoft.com/office/drawing/2014/main" id="{054490DE-C9E1-4052-9464-0938D20A00C1}"/>
              </a:ext>
            </a:extLst>
          </p:cNvPr>
          <p:cNvSpPr txBox="1"/>
          <p:nvPr/>
        </p:nvSpPr>
        <p:spPr>
          <a:xfrm>
            <a:off x="6222267" y="4725880"/>
            <a:ext cx="1357500" cy="101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64MB-Blocks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</a:t>
            </a:r>
            <a:r>
              <a:rPr lang="en" sz="1200" dirty="0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64MBs of sequential, aka contiguous bytes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9" name="Google Shape;246;p38">
            <a:extLst>
              <a:ext uri="{FF2B5EF4-FFF2-40B4-BE49-F238E27FC236}">
                <a16:creationId xmlns:a16="http://schemas.microsoft.com/office/drawing/2014/main" id="{19E43305-8955-4A5D-B18F-6BD53827415F}"/>
              </a:ext>
            </a:extLst>
          </p:cNvPr>
          <p:cNvSpPr txBox="1"/>
          <p:nvPr/>
        </p:nvSpPr>
        <p:spPr>
          <a:xfrm>
            <a:off x="8190794" y="4713720"/>
            <a:ext cx="1357500" cy="101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Nx64MB-Blocks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</a:t>
            </a:r>
            <a:r>
              <a:rPr lang="en" sz="1200" dirty="0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‘N’ sequential 64MB-Blocks</a:t>
            </a: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)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70" name="Google Shape;247;p38">
            <a:extLst>
              <a:ext uri="{FF2B5EF4-FFF2-40B4-BE49-F238E27FC236}">
                <a16:creationId xmlns:a16="http://schemas.microsoft.com/office/drawing/2014/main" id="{886313A7-136A-45A4-9B2B-59D8B6B8058C}"/>
              </a:ext>
            </a:extLst>
          </p:cNvPr>
          <p:cNvSpPr txBox="1"/>
          <p:nvPr/>
        </p:nvSpPr>
        <p:spPr>
          <a:xfrm>
            <a:off x="10340551" y="4754620"/>
            <a:ext cx="1438200" cy="81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Set of </a:t>
            </a:r>
            <a:r>
              <a:rPr lang="en"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‘M’ 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Nx64MB-Blocks</a:t>
            </a:r>
            <a:endParaRPr sz="1200" b="1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8BC5CED0-D295-4436-8E58-1732318ACEF1}"/>
              </a:ext>
            </a:extLst>
          </p:cNvPr>
          <p:cNvGrpSpPr/>
          <p:nvPr/>
        </p:nvGrpSpPr>
        <p:grpSpPr>
          <a:xfrm>
            <a:off x="4514268" y="6281756"/>
            <a:ext cx="599852" cy="74266"/>
            <a:chOff x="1277006" y="6009151"/>
            <a:chExt cx="1900294" cy="236483"/>
          </a:xfrm>
        </p:grpSpPr>
        <p:sp>
          <p:nvSpPr>
            <p:cNvPr id="74" name="Rectángulo 73">
              <a:extLst>
                <a:ext uri="{FF2B5EF4-FFF2-40B4-BE49-F238E27FC236}">
                  <a16:creationId xmlns:a16="http://schemas.microsoft.com/office/drawing/2014/main" id="{FF9AEEDF-8F0D-4E15-99F5-EBE80E078E15}"/>
                </a:ext>
              </a:extLst>
            </p:cNvPr>
            <p:cNvSpPr/>
            <p:nvPr/>
          </p:nvSpPr>
          <p:spPr>
            <a:xfrm>
              <a:off x="1277006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01AF1CAE-166E-4735-A351-7EC8894BAE9A}"/>
                </a:ext>
              </a:extLst>
            </p:cNvPr>
            <p:cNvSpPr/>
            <p:nvPr/>
          </p:nvSpPr>
          <p:spPr>
            <a:xfrm>
              <a:off x="1513934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3841532A-E9EB-4B39-8314-961A9FB1E323}"/>
                </a:ext>
              </a:extLst>
            </p:cNvPr>
            <p:cNvSpPr/>
            <p:nvPr/>
          </p:nvSpPr>
          <p:spPr>
            <a:xfrm>
              <a:off x="1753742" y="6009151"/>
              <a:ext cx="236483" cy="23648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53EB402D-5449-4EDF-AA84-827196DDADAE}"/>
                </a:ext>
              </a:extLst>
            </p:cNvPr>
            <p:cNvSpPr/>
            <p:nvPr/>
          </p:nvSpPr>
          <p:spPr>
            <a:xfrm>
              <a:off x="1990670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B1F310F6-8919-4C98-8591-9E0476CFED19}"/>
                </a:ext>
              </a:extLst>
            </p:cNvPr>
            <p:cNvSpPr/>
            <p:nvPr/>
          </p:nvSpPr>
          <p:spPr>
            <a:xfrm>
              <a:off x="2227153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EA6D6A3E-DF12-41EF-8DD4-9255CDE6649A}"/>
                </a:ext>
              </a:extLst>
            </p:cNvPr>
            <p:cNvSpPr/>
            <p:nvPr/>
          </p:nvSpPr>
          <p:spPr>
            <a:xfrm>
              <a:off x="2464081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6F1F73A3-D142-4A74-82D2-815165AE56F4}"/>
                </a:ext>
              </a:extLst>
            </p:cNvPr>
            <p:cNvSpPr/>
            <p:nvPr/>
          </p:nvSpPr>
          <p:spPr>
            <a:xfrm>
              <a:off x="2703889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2" name="Rectángulo 81">
              <a:extLst>
                <a:ext uri="{FF2B5EF4-FFF2-40B4-BE49-F238E27FC236}">
                  <a16:creationId xmlns:a16="http://schemas.microsoft.com/office/drawing/2014/main" id="{53F20DCD-F11E-4AAF-ACF2-D85EE2439EA2}"/>
                </a:ext>
              </a:extLst>
            </p:cNvPr>
            <p:cNvSpPr/>
            <p:nvPr/>
          </p:nvSpPr>
          <p:spPr>
            <a:xfrm>
              <a:off x="2940817" y="6009151"/>
              <a:ext cx="236483" cy="236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83" name="Rectángulo 82">
            <a:extLst>
              <a:ext uri="{FF2B5EF4-FFF2-40B4-BE49-F238E27FC236}">
                <a16:creationId xmlns:a16="http://schemas.microsoft.com/office/drawing/2014/main" id="{D5ABE27C-503E-496A-9EA3-62DC4A019E98}"/>
              </a:ext>
            </a:extLst>
          </p:cNvPr>
          <p:cNvSpPr/>
          <p:nvPr/>
        </p:nvSpPr>
        <p:spPr>
          <a:xfrm>
            <a:off x="6633981" y="6047172"/>
            <a:ext cx="461652" cy="4691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3316BFA-B99A-4C24-AA5C-195ACEE6A126}"/>
              </a:ext>
            </a:extLst>
          </p:cNvPr>
          <p:cNvGrpSpPr/>
          <p:nvPr/>
        </p:nvGrpSpPr>
        <p:grpSpPr>
          <a:xfrm>
            <a:off x="8192195" y="6173216"/>
            <a:ext cx="1314450" cy="328154"/>
            <a:chOff x="8215313" y="5982159"/>
            <a:chExt cx="1314450" cy="328154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0FA663F5-9DF7-4669-969B-060791DEABAA}"/>
                </a:ext>
              </a:extLst>
            </p:cNvPr>
            <p:cNvGrpSpPr/>
            <p:nvPr/>
          </p:nvGrpSpPr>
          <p:grpSpPr>
            <a:xfrm>
              <a:off x="8237980" y="5982159"/>
              <a:ext cx="1257819" cy="307777"/>
              <a:chOff x="8283419" y="5877513"/>
              <a:chExt cx="1257819" cy="307777"/>
            </a:xfrm>
          </p:grpSpPr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CD1A3934-371C-4021-9FA7-D5E643345FF2}"/>
                  </a:ext>
                </a:extLst>
              </p:cNvPr>
              <p:cNvSpPr/>
              <p:nvPr/>
            </p:nvSpPr>
            <p:spPr>
              <a:xfrm>
                <a:off x="8283419" y="5974736"/>
                <a:ext cx="207999" cy="21055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59E7CEA4-A0F7-468B-AC0B-D682489CD17B}"/>
                  </a:ext>
                </a:extLst>
              </p:cNvPr>
              <p:cNvSpPr/>
              <p:nvPr/>
            </p:nvSpPr>
            <p:spPr>
              <a:xfrm>
                <a:off x="8544160" y="5974736"/>
                <a:ext cx="207999" cy="21055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F30520DA-BFFE-42C8-B23F-00B21F750A8F}"/>
                  </a:ext>
                </a:extLst>
              </p:cNvPr>
              <p:cNvSpPr/>
              <p:nvPr/>
            </p:nvSpPr>
            <p:spPr>
              <a:xfrm>
                <a:off x="8808329" y="5965755"/>
                <a:ext cx="207999" cy="21055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59B259C9-EECE-422E-9CDD-D13984242D19}"/>
                  </a:ext>
                </a:extLst>
              </p:cNvPr>
              <p:cNvSpPr/>
              <p:nvPr/>
            </p:nvSpPr>
            <p:spPr>
              <a:xfrm>
                <a:off x="9333239" y="5965755"/>
                <a:ext cx="207999" cy="21055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1FCE317-9FC4-4A65-88FF-C40A359C4954}"/>
                  </a:ext>
                </a:extLst>
              </p:cNvPr>
              <p:cNvSpPr txBox="1"/>
              <p:nvPr/>
            </p:nvSpPr>
            <p:spPr>
              <a:xfrm>
                <a:off x="9045239" y="5877513"/>
                <a:ext cx="2590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dirty="0">
                    <a:solidFill>
                      <a:schemeClr val="bg1">
                        <a:lumMod val="50000"/>
                      </a:schemeClr>
                    </a:solidFill>
                  </a:rPr>
                  <a:t>…</a:t>
                </a:r>
              </a:p>
            </p:txBody>
          </p:sp>
        </p:grp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427C3255-96EF-4CA9-BC2A-49F938EF301E}"/>
                </a:ext>
              </a:extLst>
            </p:cNvPr>
            <p:cNvSpPr/>
            <p:nvPr/>
          </p:nvSpPr>
          <p:spPr>
            <a:xfrm>
              <a:off x="8215313" y="6043613"/>
              <a:ext cx="1314450" cy="266700"/>
            </a:xfrm>
            <a:prstGeom prst="rect">
              <a:avLst/>
            </a:prstGeom>
            <a:noFill/>
            <a:ln w="635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1FAAC70-22B6-4200-A105-80959A059C96}"/>
              </a:ext>
            </a:extLst>
          </p:cNvPr>
          <p:cNvGrpSpPr/>
          <p:nvPr/>
        </p:nvGrpSpPr>
        <p:grpSpPr>
          <a:xfrm>
            <a:off x="10279878" y="5427325"/>
            <a:ext cx="1438200" cy="1147903"/>
            <a:chOff x="10322020" y="5486808"/>
            <a:chExt cx="1438200" cy="1147903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14EF2988-72C7-4A0F-988C-DB611EDA6C82}"/>
                </a:ext>
              </a:extLst>
            </p:cNvPr>
            <p:cNvGrpSpPr/>
            <p:nvPr/>
          </p:nvGrpSpPr>
          <p:grpSpPr>
            <a:xfrm>
              <a:off x="10322020" y="5486808"/>
              <a:ext cx="1438200" cy="1147903"/>
              <a:chOff x="10364384" y="5473877"/>
              <a:chExt cx="1438200" cy="1147903"/>
            </a:xfrm>
          </p:grpSpPr>
          <p:sp>
            <p:nvSpPr>
              <p:cNvPr id="113" name="Rectángulo 112">
                <a:extLst>
                  <a:ext uri="{FF2B5EF4-FFF2-40B4-BE49-F238E27FC236}">
                    <a16:creationId xmlns:a16="http://schemas.microsoft.com/office/drawing/2014/main" id="{F3A52816-086F-49FF-BEE2-ECA4F50E40D1}"/>
                  </a:ext>
                </a:extLst>
              </p:cNvPr>
              <p:cNvSpPr/>
              <p:nvPr/>
            </p:nvSpPr>
            <p:spPr>
              <a:xfrm>
                <a:off x="10364384" y="5473877"/>
                <a:ext cx="1438200" cy="11479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grpSp>
            <p:nvGrpSpPr>
              <p:cNvPr id="114" name="Grupo 113">
                <a:extLst>
                  <a:ext uri="{FF2B5EF4-FFF2-40B4-BE49-F238E27FC236}">
                    <a16:creationId xmlns:a16="http://schemas.microsoft.com/office/drawing/2014/main" id="{84804813-C76E-464A-B4B8-172680CFDFD4}"/>
                  </a:ext>
                </a:extLst>
              </p:cNvPr>
              <p:cNvGrpSpPr/>
              <p:nvPr/>
            </p:nvGrpSpPr>
            <p:grpSpPr>
              <a:xfrm>
                <a:off x="10440232" y="5475988"/>
                <a:ext cx="1257819" cy="307777"/>
                <a:chOff x="8283419" y="5891368"/>
                <a:chExt cx="1257819" cy="307777"/>
              </a:xfrm>
            </p:grpSpPr>
            <p:sp>
              <p:nvSpPr>
                <p:cNvPr id="115" name="Rectángulo 114">
                  <a:extLst>
                    <a:ext uri="{FF2B5EF4-FFF2-40B4-BE49-F238E27FC236}">
                      <a16:creationId xmlns:a16="http://schemas.microsoft.com/office/drawing/2014/main" id="{04A2BD01-2FF3-48D0-B29F-FE4BA39EFCD3}"/>
                    </a:ext>
                  </a:extLst>
                </p:cNvPr>
                <p:cNvSpPr/>
                <p:nvPr/>
              </p:nvSpPr>
              <p:spPr>
                <a:xfrm>
                  <a:off x="8283419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16" name="Rectángulo 115">
                  <a:extLst>
                    <a:ext uri="{FF2B5EF4-FFF2-40B4-BE49-F238E27FC236}">
                      <a16:creationId xmlns:a16="http://schemas.microsoft.com/office/drawing/2014/main" id="{CE304AB3-8F90-4A3F-8C65-35AA896D1B28}"/>
                    </a:ext>
                  </a:extLst>
                </p:cNvPr>
                <p:cNvSpPr/>
                <p:nvPr/>
              </p:nvSpPr>
              <p:spPr>
                <a:xfrm>
                  <a:off x="8544160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20" name="Rectángulo 119">
                  <a:extLst>
                    <a:ext uri="{FF2B5EF4-FFF2-40B4-BE49-F238E27FC236}">
                      <a16:creationId xmlns:a16="http://schemas.microsoft.com/office/drawing/2014/main" id="{554614DE-CA97-4244-A377-77B3107B0A61}"/>
                    </a:ext>
                  </a:extLst>
                </p:cNvPr>
                <p:cNvSpPr/>
                <p:nvPr/>
              </p:nvSpPr>
              <p:spPr>
                <a:xfrm>
                  <a:off x="880832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24" name="Rectángulo 123">
                  <a:extLst>
                    <a:ext uri="{FF2B5EF4-FFF2-40B4-BE49-F238E27FC236}">
                      <a16:creationId xmlns:a16="http://schemas.microsoft.com/office/drawing/2014/main" id="{6E75F400-D745-4B83-9F85-23E239CDFF61}"/>
                    </a:ext>
                  </a:extLst>
                </p:cNvPr>
                <p:cNvSpPr/>
                <p:nvPr/>
              </p:nvSpPr>
              <p:spPr>
                <a:xfrm>
                  <a:off x="933323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CuadroTexto 124">
                      <a:extLst>
                        <a:ext uri="{FF2B5EF4-FFF2-40B4-BE49-F238E27FC236}">
                          <a16:creationId xmlns:a16="http://schemas.microsoft.com/office/drawing/2014/main" id="{495BD60D-5322-4D0C-A75F-AF37D3FDA5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72949" y="5891368"/>
                      <a:ext cx="2590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5" name="CuadroTexto 124">
                      <a:extLst>
                        <a:ext uri="{FF2B5EF4-FFF2-40B4-BE49-F238E27FC236}">
                          <a16:creationId xmlns:a16="http://schemas.microsoft.com/office/drawing/2014/main" id="{495BD60D-5322-4D0C-A75F-AF37D3FDA5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72949" y="5891368"/>
                      <a:ext cx="259089" cy="3077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6" name="Grupo 125">
                <a:extLst>
                  <a:ext uri="{FF2B5EF4-FFF2-40B4-BE49-F238E27FC236}">
                    <a16:creationId xmlns:a16="http://schemas.microsoft.com/office/drawing/2014/main" id="{8C5CCF58-B692-482C-B4C6-2BCF43A43F47}"/>
                  </a:ext>
                </a:extLst>
              </p:cNvPr>
              <p:cNvGrpSpPr/>
              <p:nvPr/>
            </p:nvGrpSpPr>
            <p:grpSpPr>
              <a:xfrm>
                <a:off x="10440232" y="5785875"/>
                <a:ext cx="1257819" cy="307777"/>
                <a:chOff x="8283419" y="5917644"/>
                <a:chExt cx="1257819" cy="307777"/>
              </a:xfrm>
            </p:grpSpPr>
            <p:sp>
              <p:nvSpPr>
                <p:cNvPr id="127" name="Rectángulo 126">
                  <a:extLst>
                    <a:ext uri="{FF2B5EF4-FFF2-40B4-BE49-F238E27FC236}">
                      <a16:creationId xmlns:a16="http://schemas.microsoft.com/office/drawing/2014/main" id="{083CBB9B-003A-4C27-8359-7F48F4DDDA03}"/>
                    </a:ext>
                  </a:extLst>
                </p:cNvPr>
                <p:cNvSpPr/>
                <p:nvPr/>
              </p:nvSpPr>
              <p:spPr>
                <a:xfrm>
                  <a:off x="8283419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28" name="Rectángulo 127">
                  <a:extLst>
                    <a:ext uri="{FF2B5EF4-FFF2-40B4-BE49-F238E27FC236}">
                      <a16:creationId xmlns:a16="http://schemas.microsoft.com/office/drawing/2014/main" id="{9BE6ED88-ABE6-495B-AA63-7A8BC5B1A04A}"/>
                    </a:ext>
                  </a:extLst>
                </p:cNvPr>
                <p:cNvSpPr/>
                <p:nvPr/>
              </p:nvSpPr>
              <p:spPr>
                <a:xfrm>
                  <a:off x="8544160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29" name="Rectángulo 128">
                  <a:extLst>
                    <a:ext uri="{FF2B5EF4-FFF2-40B4-BE49-F238E27FC236}">
                      <a16:creationId xmlns:a16="http://schemas.microsoft.com/office/drawing/2014/main" id="{298A2CEE-EC02-4F8E-80B2-BF9F944E9D82}"/>
                    </a:ext>
                  </a:extLst>
                </p:cNvPr>
                <p:cNvSpPr/>
                <p:nvPr/>
              </p:nvSpPr>
              <p:spPr>
                <a:xfrm>
                  <a:off x="880832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30" name="Rectángulo 129">
                  <a:extLst>
                    <a:ext uri="{FF2B5EF4-FFF2-40B4-BE49-F238E27FC236}">
                      <a16:creationId xmlns:a16="http://schemas.microsoft.com/office/drawing/2014/main" id="{8B28A1BB-1A48-429F-8AAF-A18330FF6A76}"/>
                    </a:ext>
                  </a:extLst>
                </p:cNvPr>
                <p:cNvSpPr/>
                <p:nvPr/>
              </p:nvSpPr>
              <p:spPr>
                <a:xfrm>
                  <a:off x="933323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1" name="CuadroTexto 130">
                      <a:extLst>
                        <a:ext uri="{FF2B5EF4-FFF2-40B4-BE49-F238E27FC236}">
                          <a16:creationId xmlns:a16="http://schemas.microsoft.com/office/drawing/2014/main" id="{8D582EFE-9747-4844-B18C-D6AFA6E768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59094" y="5917644"/>
                      <a:ext cx="2590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1" name="CuadroTexto 130">
                      <a:extLst>
                        <a:ext uri="{FF2B5EF4-FFF2-40B4-BE49-F238E27FC236}">
                          <a16:creationId xmlns:a16="http://schemas.microsoft.com/office/drawing/2014/main" id="{8D582EFE-9747-4844-B18C-D6AFA6E768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59094" y="5917644"/>
                      <a:ext cx="259089" cy="30777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3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2" name="Grupo 131">
                <a:extLst>
                  <a:ext uri="{FF2B5EF4-FFF2-40B4-BE49-F238E27FC236}">
                    <a16:creationId xmlns:a16="http://schemas.microsoft.com/office/drawing/2014/main" id="{057C6518-7E09-4860-926D-E7E3765522F5}"/>
                  </a:ext>
                </a:extLst>
              </p:cNvPr>
              <p:cNvGrpSpPr/>
              <p:nvPr/>
            </p:nvGrpSpPr>
            <p:grpSpPr>
              <a:xfrm>
                <a:off x="10456789" y="6216114"/>
                <a:ext cx="1257819" cy="307777"/>
                <a:chOff x="8283419" y="5877513"/>
                <a:chExt cx="1257819" cy="307777"/>
              </a:xfrm>
            </p:grpSpPr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04E9BE4B-CD06-4F15-B0D3-7E56532B8202}"/>
                    </a:ext>
                  </a:extLst>
                </p:cNvPr>
                <p:cNvSpPr/>
                <p:nvPr/>
              </p:nvSpPr>
              <p:spPr>
                <a:xfrm>
                  <a:off x="8283419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34" name="Rectángulo 133">
                  <a:extLst>
                    <a:ext uri="{FF2B5EF4-FFF2-40B4-BE49-F238E27FC236}">
                      <a16:creationId xmlns:a16="http://schemas.microsoft.com/office/drawing/2014/main" id="{A00505B2-12C4-4225-A484-4F077A10D7D4}"/>
                    </a:ext>
                  </a:extLst>
                </p:cNvPr>
                <p:cNvSpPr/>
                <p:nvPr/>
              </p:nvSpPr>
              <p:spPr>
                <a:xfrm>
                  <a:off x="8544160" y="5974736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135" name="Rectángulo 134">
                  <a:extLst>
                    <a:ext uri="{FF2B5EF4-FFF2-40B4-BE49-F238E27FC236}">
                      <a16:creationId xmlns:a16="http://schemas.microsoft.com/office/drawing/2014/main" id="{D8B9D5B1-AA1E-4C7A-9B56-7ABB60289E29}"/>
                    </a:ext>
                  </a:extLst>
                </p:cNvPr>
                <p:cNvSpPr/>
                <p:nvPr/>
              </p:nvSpPr>
              <p:spPr>
                <a:xfrm>
                  <a:off x="880832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136" name="Rectángulo 135">
                  <a:extLst>
                    <a:ext uri="{FF2B5EF4-FFF2-40B4-BE49-F238E27FC236}">
                      <a16:creationId xmlns:a16="http://schemas.microsoft.com/office/drawing/2014/main" id="{9EA48E7C-3341-4FBF-843A-E560B73DF923}"/>
                    </a:ext>
                  </a:extLst>
                </p:cNvPr>
                <p:cNvSpPr/>
                <p:nvPr/>
              </p:nvSpPr>
              <p:spPr>
                <a:xfrm>
                  <a:off x="9333239" y="5965755"/>
                  <a:ext cx="207999" cy="210554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CuadroTexto 136">
                      <a:extLst>
                        <a:ext uri="{FF2B5EF4-FFF2-40B4-BE49-F238E27FC236}">
                          <a16:creationId xmlns:a16="http://schemas.microsoft.com/office/drawing/2014/main" id="{13C1122F-A7D3-4917-B2C0-0A8BC2867A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45239" y="5877513"/>
                      <a:ext cx="2590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O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7" name="CuadroTexto 136">
                      <a:extLst>
                        <a:ext uri="{FF2B5EF4-FFF2-40B4-BE49-F238E27FC236}">
                          <a16:creationId xmlns:a16="http://schemas.microsoft.com/office/drawing/2014/main" id="{13C1122F-A7D3-4917-B2C0-0A8BC2867A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45239" y="5877513"/>
                      <a:ext cx="259089" cy="307777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E0E93CF7-E43D-43F6-A6E2-FFA1CEAC1EDA}"/>
                      </a:ext>
                    </a:extLst>
                  </p:cNvPr>
                  <p:cNvSpPr txBox="1"/>
                  <p:nvPr/>
                </p:nvSpPr>
                <p:spPr>
                  <a:xfrm>
                    <a:off x="10932336" y="5987830"/>
                    <a:ext cx="2904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E0E93CF7-E43D-43F6-A6E2-FFA1CEAC1E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32336" y="5987830"/>
                    <a:ext cx="290464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0D1231DF-5A1B-4401-979A-935FE762B13E}"/>
                </a:ext>
              </a:extLst>
            </p:cNvPr>
            <p:cNvSpPr/>
            <p:nvPr/>
          </p:nvSpPr>
          <p:spPr>
            <a:xfrm>
              <a:off x="10368707" y="5550041"/>
              <a:ext cx="1314450" cy="266700"/>
            </a:xfrm>
            <a:prstGeom prst="rect">
              <a:avLst/>
            </a:prstGeom>
            <a:noFill/>
            <a:ln w="635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B32E0D5B-7873-452E-B578-CAB8D1D987B9}"/>
                </a:ext>
              </a:extLst>
            </p:cNvPr>
            <p:cNvSpPr/>
            <p:nvPr/>
          </p:nvSpPr>
          <p:spPr>
            <a:xfrm>
              <a:off x="10340551" y="5518819"/>
              <a:ext cx="1383312" cy="1052022"/>
            </a:xfrm>
            <a:prstGeom prst="rect">
              <a:avLst/>
            </a:prstGeom>
            <a:noFill/>
            <a:ln w="63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232FAF0-EC28-41BB-B0FE-83400E9D4A6E}"/>
              </a:ext>
            </a:extLst>
          </p:cNvPr>
          <p:cNvSpPr txBox="1"/>
          <p:nvPr/>
        </p:nvSpPr>
        <p:spPr>
          <a:xfrm>
            <a:off x="8308332" y="6499090"/>
            <a:ext cx="1122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N</a:t>
            </a:r>
            <a:r>
              <a:rPr lang="es-CO" sz="10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x64MB-Blocks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D0D7FCDD-9949-4DE4-B25F-17491ACB19D3}"/>
              </a:ext>
            </a:extLst>
          </p:cNvPr>
          <p:cNvSpPr txBox="1"/>
          <p:nvPr/>
        </p:nvSpPr>
        <p:spPr>
          <a:xfrm>
            <a:off x="6391235" y="6511358"/>
            <a:ext cx="9012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b="1" dirty="0">
                <a:latin typeface="Roboto" panose="02000000000000000000" pitchFamily="2" charset="0"/>
                <a:ea typeface="Roboto" panose="02000000000000000000" pitchFamily="2" charset="0"/>
              </a:rPr>
              <a:t>64MB-Block</a:t>
            </a:r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3A4F717E-8E39-46C5-8485-239240B12EA1}"/>
              </a:ext>
            </a:extLst>
          </p:cNvPr>
          <p:cNvSpPr txBox="1"/>
          <p:nvPr/>
        </p:nvSpPr>
        <p:spPr>
          <a:xfrm>
            <a:off x="10264690" y="6499744"/>
            <a:ext cx="1438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0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Mx</a:t>
            </a:r>
            <a:r>
              <a:rPr lang="es-CO" sz="1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(</a:t>
            </a:r>
            <a:r>
              <a:rPr lang="es-CO" sz="10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Nx64MB-Blocks</a:t>
            </a:r>
            <a:r>
              <a:rPr lang="es-CO" sz="10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)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225DEB7-E4D7-4F90-850F-1E0CCF172AD8}"/>
              </a:ext>
            </a:extLst>
          </p:cNvPr>
          <p:cNvSpPr txBox="1"/>
          <p:nvPr/>
        </p:nvSpPr>
        <p:spPr>
          <a:xfrm>
            <a:off x="4274776" y="6511358"/>
            <a:ext cx="1007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000" b="1" dirty="0">
                <a:latin typeface="Roboto" panose="02000000000000000000" pitchFamily="2" charset="0"/>
                <a:ea typeface="Roboto" panose="02000000000000000000" pitchFamily="2" charset="0"/>
              </a:rPr>
              <a:t>1 Byte = 8 bits</a:t>
            </a:r>
          </a:p>
        </p:txBody>
      </p:sp>
    </p:spTree>
    <p:extLst>
      <p:ext uri="{BB962C8B-B14F-4D97-AF65-F5344CB8AC3E}">
        <p14:creationId xmlns:p14="http://schemas.microsoft.com/office/powerpoint/2010/main" val="12884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I/O Block (page)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855234" y="767807"/>
            <a:ext cx="10734067" cy="85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200" b="1" dirty="0"/>
              <a:t>Ejemplo</a:t>
            </a:r>
            <a:r>
              <a:rPr lang="es-MX" sz="2200" dirty="0"/>
              <a:t>: </a:t>
            </a:r>
            <a:r>
              <a:rPr lang="es-MX" sz="2400" dirty="0"/>
              <a:t>¿Cuántos bloques de 64 MB se necesitan para almacenar 1 GB de datos?</a:t>
            </a:r>
          </a:p>
          <a:p>
            <a:pPr marL="342900" indent="-342900"/>
            <a:endParaRPr lang="es-MX" sz="22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AC1C2BB-FF1B-4E22-A5B2-FF769D9D73A9}"/>
              </a:ext>
            </a:extLst>
          </p:cNvPr>
          <p:cNvGrpSpPr/>
          <p:nvPr/>
        </p:nvGrpSpPr>
        <p:grpSpPr>
          <a:xfrm>
            <a:off x="1087127" y="1861662"/>
            <a:ext cx="4639616" cy="435428"/>
            <a:chOff x="793560" y="2258266"/>
            <a:chExt cx="5144924" cy="435428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66C618C-211D-40AB-B052-E671F59EA9AB}"/>
                </a:ext>
              </a:extLst>
            </p:cNvPr>
            <p:cNvSpPr/>
            <p:nvPr/>
          </p:nvSpPr>
          <p:spPr>
            <a:xfrm>
              <a:off x="1562065" y="2258266"/>
              <a:ext cx="4376419" cy="43542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3323E10D-AE42-47D4-9D7E-15525E8F28B4}"/>
                </a:ext>
              </a:extLst>
            </p:cNvPr>
            <p:cNvSpPr txBox="1"/>
            <p:nvPr/>
          </p:nvSpPr>
          <p:spPr>
            <a:xfrm>
              <a:off x="793560" y="2336326"/>
              <a:ext cx="65583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 GB</a:t>
              </a:r>
              <a:endParaRPr lang="es-CO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80EBDEF-9CC0-4F25-A065-31EE10E54248}"/>
              </a:ext>
            </a:extLst>
          </p:cNvPr>
          <p:cNvGrpSpPr/>
          <p:nvPr/>
        </p:nvGrpSpPr>
        <p:grpSpPr>
          <a:xfrm>
            <a:off x="1901787" y="2869390"/>
            <a:ext cx="1785983" cy="2174232"/>
            <a:chOff x="2059992" y="2821122"/>
            <a:chExt cx="1785983" cy="217423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45B7638-227D-47E5-8ACC-2CB8CE0E777C}"/>
                </a:ext>
              </a:extLst>
            </p:cNvPr>
            <p:cNvGrpSpPr/>
            <p:nvPr/>
          </p:nvGrpSpPr>
          <p:grpSpPr>
            <a:xfrm>
              <a:off x="2059992" y="3161570"/>
              <a:ext cx="1785983" cy="1833784"/>
              <a:chOff x="1562064" y="3219249"/>
              <a:chExt cx="1785983" cy="1833784"/>
            </a:xfrm>
          </p:grpSpPr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496B7663-AC67-421C-99F6-85D608D48FDA}"/>
                  </a:ext>
                </a:extLst>
              </p:cNvPr>
              <p:cNvGrpSpPr/>
              <p:nvPr/>
            </p:nvGrpSpPr>
            <p:grpSpPr>
              <a:xfrm>
                <a:off x="1562064" y="3219249"/>
                <a:ext cx="551543" cy="1828796"/>
                <a:chOff x="2336800" y="3102913"/>
                <a:chExt cx="551543" cy="1828796"/>
              </a:xfrm>
            </p:grpSpPr>
            <p:sp>
              <p:nvSpPr>
                <p:cNvPr id="49" name="Rectángulo 48">
                  <a:extLst>
                    <a:ext uri="{FF2B5EF4-FFF2-40B4-BE49-F238E27FC236}">
                      <a16:creationId xmlns:a16="http://schemas.microsoft.com/office/drawing/2014/main" id="{3175523A-3F68-4E6E-B47C-BF307E669516}"/>
                    </a:ext>
                  </a:extLst>
                </p:cNvPr>
                <p:cNvSpPr/>
                <p:nvPr/>
              </p:nvSpPr>
              <p:spPr>
                <a:xfrm>
                  <a:off x="2336801" y="3102913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0" name="Rectángulo 49">
                  <a:extLst>
                    <a:ext uri="{FF2B5EF4-FFF2-40B4-BE49-F238E27FC236}">
                      <a16:creationId xmlns:a16="http://schemas.microsoft.com/office/drawing/2014/main" id="{C9E21C42-A582-43BA-B943-F4AD3938BB1B}"/>
                    </a:ext>
                  </a:extLst>
                </p:cNvPr>
                <p:cNvSpPr/>
                <p:nvPr/>
              </p:nvSpPr>
              <p:spPr>
                <a:xfrm>
                  <a:off x="2336800" y="3567369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1" name="Rectángulo 50">
                  <a:extLst>
                    <a:ext uri="{FF2B5EF4-FFF2-40B4-BE49-F238E27FC236}">
                      <a16:creationId xmlns:a16="http://schemas.microsoft.com/office/drawing/2014/main" id="{239FF5EA-AD95-492C-A182-2A7D6F427843}"/>
                    </a:ext>
                  </a:extLst>
                </p:cNvPr>
                <p:cNvSpPr/>
                <p:nvPr/>
              </p:nvSpPr>
              <p:spPr>
                <a:xfrm>
                  <a:off x="2336801" y="4031825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2" name="Rectángulo 51">
                  <a:extLst>
                    <a:ext uri="{FF2B5EF4-FFF2-40B4-BE49-F238E27FC236}">
                      <a16:creationId xmlns:a16="http://schemas.microsoft.com/office/drawing/2014/main" id="{A1AFB3BF-026F-45F9-9D37-D24AAABCA69D}"/>
                    </a:ext>
                  </a:extLst>
                </p:cNvPr>
                <p:cNvSpPr/>
                <p:nvPr/>
              </p:nvSpPr>
              <p:spPr>
                <a:xfrm>
                  <a:off x="2336800" y="4496281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DB4B67C9-3684-42B6-85AC-EC8E4E612B5F}"/>
                  </a:ext>
                </a:extLst>
              </p:cNvPr>
              <p:cNvGrpSpPr/>
              <p:nvPr/>
            </p:nvGrpSpPr>
            <p:grpSpPr>
              <a:xfrm>
                <a:off x="2179284" y="3224237"/>
                <a:ext cx="551543" cy="1828796"/>
                <a:chOff x="2336800" y="3102913"/>
                <a:chExt cx="551543" cy="1828796"/>
              </a:xfrm>
            </p:grpSpPr>
            <p:sp>
              <p:nvSpPr>
                <p:cNvPr id="55" name="Rectángulo 54">
                  <a:extLst>
                    <a:ext uri="{FF2B5EF4-FFF2-40B4-BE49-F238E27FC236}">
                      <a16:creationId xmlns:a16="http://schemas.microsoft.com/office/drawing/2014/main" id="{579FA37D-E773-4599-A821-E36AAD82A242}"/>
                    </a:ext>
                  </a:extLst>
                </p:cNvPr>
                <p:cNvSpPr/>
                <p:nvPr/>
              </p:nvSpPr>
              <p:spPr>
                <a:xfrm>
                  <a:off x="2336801" y="3102913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6" name="Rectángulo 55">
                  <a:extLst>
                    <a:ext uri="{FF2B5EF4-FFF2-40B4-BE49-F238E27FC236}">
                      <a16:creationId xmlns:a16="http://schemas.microsoft.com/office/drawing/2014/main" id="{F364A311-B862-4352-BFAF-0EFD7270196C}"/>
                    </a:ext>
                  </a:extLst>
                </p:cNvPr>
                <p:cNvSpPr/>
                <p:nvPr/>
              </p:nvSpPr>
              <p:spPr>
                <a:xfrm>
                  <a:off x="2336800" y="3567369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7" name="Rectángulo 56">
                  <a:extLst>
                    <a:ext uri="{FF2B5EF4-FFF2-40B4-BE49-F238E27FC236}">
                      <a16:creationId xmlns:a16="http://schemas.microsoft.com/office/drawing/2014/main" id="{566B456B-9AD6-4D40-B078-4CF64978B175}"/>
                    </a:ext>
                  </a:extLst>
                </p:cNvPr>
                <p:cNvSpPr/>
                <p:nvPr/>
              </p:nvSpPr>
              <p:spPr>
                <a:xfrm>
                  <a:off x="2336801" y="4031825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58" name="Rectángulo 57">
                  <a:extLst>
                    <a:ext uri="{FF2B5EF4-FFF2-40B4-BE49-F238E27FC236}">
                      <a16:creationId xmlns:a16="http://schemas.microsoft.com/office/drawing/2014/main" id="{FC2E0946-EA3E-4227-87DA-72731ED60712}"/>
                    </a:ext>
                  </a:extLst>
                </p:cNvPr>
                <p:cNvSpPr/>
                <p:nvPr/>
              </p:nvSpPr>
              <p:spPr>
                <a:xfrm>
                  <a:off x="2336800" y="4496281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71244112-E794-4BF5-B54C-7A2C6DB9B8D7}"/>
                  </a:ext>
                </a:extLst>
              </p:cNvPr>
              <p:cNvGrpSpPr/>
              <p:nvPr/>
            </p:nvGrpSpPr>
            <p:grpSpPr>
              <a:xfrm>
                <a:off x="2796504" y="3224237"/>
                <a:ext cx="551543" cy="1828796"/>
                <a:chOff x="2336800" y="3102913"/>
                <a:chExt cx="551543" cy="1828796"/>
              </a:xfrm>
            </p:grpSpPr>
            <p:sp>
              <p:nvSpPr>
                <p:cNvPr id="60" name="Rectángulo 59">
                  <a:extLst>
                    <a:ext uri="{FF2B5EF4-FFF2-40B4-BE49-F238E27FC236}">
                      <a16:creationId xmlns:a16="http://schemas.microsoft.com/office/drawing/2014/main" id="{EB815DCF-D662-4A98-8E1F-D86380B83AAE}"/>
                    </a:ext>
                  </a:extLst>
                </p:cNvPr>
                <p:cNvSpPr/>
                <p:nvPr/>
              </p:nvSpPr>
              <p:spPr>
                <a:xfrm>
                  <a:off x="2336801" y="3102913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61" name="Rectángulo 60">
                  <a:extLst>
                    <a:ext uri="{FF2B5EF4-FFF2-40B4-BE49-F238E27FC236}">
                      <a16:creationId xmlns:a16="http://schemas.microsoft.com/office/drawing/2014/main" id="{EB09E425-C127-41FE-8777-78EA5399C3D1}"/>
                    </a:ext>
                  </a:extLst>
                </p:cNvPr>
                <p:cNvSpPr/>
                <p:nvPr/>
              </p:nvSpPr>
              <p:spPr>
                <a:xfrm>
                  <a:off x="2336800" y="3567369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62" name="Rectángulo 61">
                  <a:extLst>
                    <a:ext uri="{FF2B5EF4-FFF2-40B4-BE49-F238E27FC236}">
                      <a16:creationId xmlns:a16="http://schemas.microsoft.com/office/drawing/2014/main" id="{DBC4BE49-5C6D-45B0-A59F-9F7250C66ED5}"/>
                    </a:ext>
                  </a:extLst>
                </p:cNvPr>
                <p:cNvSpPr/>
                <p:nvPr/>
              </p:nvSpPr>
              <p:spPr>
                <a:xfrm>
                  <a:off x="2336801" y="4031825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63" name="Rectángulo 62">
                  <a:extLst>
                    <a:ext uri="{FF2B5EF4-FFF2-40B4-BE49-F238E27FC236}">
                      <a16:creationId xmlns:a16="http://schemas.microsoft.com/office/drawing/2014/main" id="{BFAD2005-AB1C-4B5D-B7D8-77AB78BA1B96}"/>
                    </a:ext>
                  </a:extLst>
                </p:cNvPr>
                <p:cNvSpPr/>
                <p:nvPr/>
              </p:nvSpPr>
              <p:spPr>
                <a:xfrm>
                  <a:off x="2336800" y="4496281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</p:grpSp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4C0277CB-C57F-4329-8AC8-6BB9CEC1D078}"/>
                </a:ext>
              </a:extLst>
            </p:cNvPr>
            <p:cNvSpPr txBox="1"/>
            <p:nvPr/>
          </p:nvSpPr>
          <p:spPr>
            <a:xfrm>
              <a:off x="2486596" y="2821122"/>
              <a:ext cx="9798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4x64 GB</a:t>
              </a:r>
              <a:endParaRPr lang="es-CO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4FFE375F-175D-4B5D-97C8-7D56E16A7248}"/>
              </a:ext>
            </a:extLst>
          </p:cNvPr>
          <p:cNvGrpSpPr/>
          <p:nvPr/>
        </p:nvGrpSpPr>
        <p:grpSpPr>
          <a:xfrm>
            <a:off x="4036759" y="2869390"/>
            <a:ext cx="1168763" cy="1236858"/>
            <a:chOff x="4769721" y="2843721"/>
            <a:chExt cx="1168763" cy="1236858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808D16B-2E27-4FC0-8D45-66FA972DA35F}"/>
                </a:ext>
              </a:extLst>
            </p:cNvPr>
            <p:cNvGrpSpPr/>
            <p:nvPr/>
          </p:nvGrpSpPr>
          <p:grpSpPr>
            <a:xfrm>
              <a:off x="4769721" y="3179969"/>
              <a:ext cx="1168763" cy="900610"/>
              <a:chOff x="4769721" y="3179969"/>
              <a:chExt cx="1168763" cy="900610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057CCE9-863D-487F-95EE-517E9300CB55}"/>
                  </a:ext>
                </a:extLst>
              </p:cNvPr>
              <p:cNvGrpSpPr/>
              <p:nvPr/>
            </p:nvGrpSpPr>
            <p:grpSpPr>
              <a:xfrm>
                <a:off x="4769721" y="3180695"/>
                <a:ext cx="551543" cy="899884"/>
                <a:chOff x="2336800" y="3102913"/>
                <a:chExt cx="551543" cy="899884"/>
              </a:xfrm>
            </p:grpSpPr>
            <p:sp>
              <p:nvSpPr>
                <p:cNvPr id="85" name="Rectángulo 84">
                  <a:extLst>
                    <a:ext uri="{FF2B5EF4-FFF2-40B4-BE49-F238E27FC236}">
                      <a16:creationId xmlns:a16="http://schemas.microsoft.com/office/drawing/2014/main" id="{374B4133-8598-4DB7-A5F9-2E56536FDC0A}"/>
                    </a:ext>
                  </a:extLst>
                </p:cNvPr>
                <p:cNvSpPr/>
                <p:nvPr/>
              </p:nvSpPr>
              <p:spPr>
                <a:xfrm>
                  <a:off x="2336801" y="3102913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86" name="Rectángulo 85">
                  <a:extLst>
                    <a:ext uri="{FF2B5EF4-FFF2-40B4-BE49-F238E27FC236}">
                      <a16:creationId xmlns:a16="http://schemas.microsoft.com/office/drawing/2014/main" id="{61A85205-9216-4BBA-A35A-DAD8263DE78A}"/>
                    </a:ext>
                  </a:extLst>
                </p:cNvPr>
                <p:cNvSpPr/>
                <p:nvPr/>
              </p:nvSpPr>
              <p:spPr>
                <a:xfrm>
                  <a:off x="2336800" y="3567369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2C44FC76-06A6-465D-A9A8-0CA3996CFF03}"/>
                  </a:ext>
                </a:extLst>
              </p:cNvPr>
              <p:cNvGrpSpPr/>
              <p:nvPr/>
            </p:nvGrpSpPr>
            <p:grpSpPr>
              <a:xfrm>
                <a:off x="5386941" y="3179969"/>
                <a:ext cx="551543" cy="899884"/>
                <a:chOff x="2336800" y="3102913"/>
                <a:chExt cx="551543" cy="899884"/>
              </a:xfrm>
            </p:grpSpPr>
            <p:sp>
              <p:nvSpPr>
                <p:cNvPr id="93" name="Rectángulo 92">
                  <a:extLst>
                    <a:ext uri="{FF2B5EF4-FFF2-40B4-BE49-F238E27FC236}">
                      <a16:creationId xmlns:a16="http://schemas.microsoft.com/office/drawing/2014/main" id="{3A33175A-9BE6-45EC-8564-D33B14B10645}"/>
                    </a:ext>
                  </a:extLst>
                </p:cNvPr>
                <p:cNvSpPr/>
                <p:nvPr/>
              </p:nvSpPr>
              <p:spPr>
                <a:xfrm>
                  <a:off x="2336801" y="3102913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94" name="Rectángulo 93">
                  <a:extLst>
                    <a:ext uri="{FF2B5EF4-FFF2-40B4-BE49-F238E27FC236}">
                      <a16:creationId xmlns:a16="http://schemas.microsoft.com/office/drawing/2014/main" id="{77F6987E-A5A0-4A7D-B30F-BC6E25A6AADA}"/>
                    </a:ext>
                  </a:extLst>
                </p:cNvPr>
                <p:cNvSpPr/>
                <p:nvPr/>
              </p:nvSpPr>
              <p:spPr>
                <a:xfrm>
                  <a:off x="2336800" y="3567369"/>
                  <a:ext cx="551542" cy="43542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</p:grpSp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F3AA238D-73CF-4C18-9D1A-069C5067E452}"/>
                </a:ext>
              </a:extLst>
            </p:cNvPr>
            <p:cNvSpPr txBox="1"/>
            <p:nvPr/>
          </p:nvSpPr>
          <p:spPr>
            <a:xfrm>
              <a:off x="4897038" y="2843721"/>
              <a:ext cx="9798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b="1" dirty="0">
                  <a:solidFill>
                    <a:schemeClr val="bg1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2x64 GB</a:t>
              </a:r>
              <a:endParaRPr lang="es-CO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Google Shape;310;p34">
                <a:extLst>
                  <a:ext uri="{FF2B5EF4-FFF2-40B4-BE49-F238E27FC236}">
                    <a16:creationId xmlns:a16="http://schemas.microsoft.com/office/drawing/2014/main" id="{429E9684-D05C-42AE-BB61-AAA567A04A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6641" y="1625321"/>
                <a:ext cx="6037912" cy="51366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None/>
                </a:pPr>
                <a:r>
                  <a:rPr lang="es-MX" sz="2000" b="1" dirty="0"/>
                  <a:t>¿Cuántos bloques de 64 MB se necesitan para almacenar 1 GB de datos?</a:t>
                </a:r>
              </a:p>
              <a:p>
                <a:pPr marL="342900" indent="-342900"/>
                <a:endParaRPr lang="es-MX" sz="2200" dirty="0"/>
              </a:p>
              <a:p>
                <a:pPr marL="342900" indent="-342900"/>
                <a:endParaRPr lang="es-MX" sz="2200" dirty="0"/>
              </a:p>
              <a:p>
                <a:pPr marL="342900" indent="-342900"/>
                <a:endParaRPr lang="es-MX" sz="2200" dirty="0"/>
              </a:p>
              <a:p>
                <a:pPr marL="0" indent="0">
                  <a:buNone/>
                </a:pPr>
                <a:r>
                  <a:rPr lang="es-MX" sz="2000" dirty="0"/>
                  <a:t>Para almacenar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𝐺𝐵</m:t>
                    </m:r>
                  </m:oMath>
                </a14:m>
                <a:r>
                  <a:rPr lang="es-MX" sz="2000" dirty="0"/>
                  <a:t> necesitamos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MX" sz="2000" dirty="0"/>
                  <a:t>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2000" dirty="0"/>
                  <a:t> en configuraciones como:</a:t>
                </a:r>
              </a:p>
              <a:p>
                <a:pPr marL="342900" indent="-342900"/>
                <a:r>
                  <a:rPr lang="es-MX" sz="1800" dirty="0">
                    <a:solidFill>
                      <a:schemeClr val="accent2"/>
                    </a:solidFill>
                  </a:rPr>
                  <a:t>16</a:t>
                </a:r>
                <a:r>
                  <a:rPr lang="es-MX" sz="1800" dirty="0"/>
                  <a:t> de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1800" dirty="0"/>
                  <a:t>, (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s-MX" sz="1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=64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𝑀𝐵</m:t>
                    </m:r>
                  </m:oMath>
                </a14:m>
                <a:r>
                  <a:rPr lang="es-MX" sz="1800" dirty="0"/>
                  <a:t>) </a:t>
                </a:r>
                <a:r>
                  <a:rPr lang="es-MX" sz="1800" b="1" dirty="0"/>
                  <a:t>o</a:t>
                </a:r>
              </a:p>
              <a:p>
                <a:pPr marL="342900" indent="-342900"/>
                <a:r>
                  <a:rPr lang="es-MX" sz="1800" dirty="0">
                    <a:solidFill>
                      <a:schemeClr val="accent2"/>
                    </a:solidFill>
                  </a:rPr>
                  <a:t>8</a:t>
                </a:r>
                <a:r>
                  <a:rPr lang="es-MX" sz="1800" dirty="0"/>
                  <a:t> de 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s-MX" sz="180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1800" dirty="0"/>
                  <a:t>, (i.e.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=8,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MX" sz="1800" dirty="0"/>
                  <a:t>) </a:t>
                </a:r>
                <a:r>
                  <a:rPr lang="es-MX" sz="1800" b="1" dirty="0"/>
                  <a:t>o</a:t>
                </a:r>
              </a:p>
              <a:p>
                <a:pPr marL="342900" indent="-342900"/>
                <a:r>
                  <a:rPr lang="es-MX" sz="1800" dirty="0">
                    <a:solidFill>
                      <a:schemeClr val="accent2"/>
                    </a:solidFill>
                  </a:rPr>
                  <a:t>4</a:t>
                </a:r>
                <a:r>
                  <a:rPr lang="es-MX" sz="1800" dirty="0"/>
                  <a:t> de 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s-MX" sz="180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1800" dirty="0"/>
                  <a:t> </a:t>
                </a:r>
                <a:r>
                  <a:rPr lang="es-MX" sz="1800" b="1" dirty="0"/>
                  <a:t>o</a:t>
                </a:r>
                <a:r>
                  <a:rPr lang="es-MX" sz="1800" dirty="0"/>
                  <a:t>,  </a:t>
                </a:r>
              </a:p>
              <a:p>
                <a:pPr marL="342900" indent="-342900"/>
                <a:r>
                  <a:rPr lang="es-MX" sz="1800" dirty="0">
                    <a:solidFill>
                      <a:schemeClr val="accent2"/>
                    </a:solidFill>
                  </a:rPr>
                  <a:t>2</a:t>
                </a:r>
                <a:r>
                  <a:rPr lang="es-MX" sz="1800" dirty="0"/>
                  <a:t> 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s-MX" sz="180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1800" dirty="0"/>
                  <a:t> </a:t>
                </a:r>
                <a:r>
                  <a:rPr lang="es-MX" sz="1800" b="1" dirty="0"/>
                  <a:t>o</a:t>
                </a:r>
                <a:r>
                  <a:rPr lang="es-MX" sz="1800" dirty="0"/>
                  <a:t>, </a:t>
                </a:r>
              </a:p>
              <a:p>
                <a:pPr marL="342900" indent="-342900"/>
                <a:r>
                  <a:rPr lang="es-MX" sz="1800" dirty="0">
                    <a:solidFill>
                      <a:schemeClr val="accent2"/>
                    </a:solidFill>
                  </a:rPr>
                  <a:t>1</a:t>
                </a:r>
                <a:r>
                  <a:rPr lang="es-MX" sz="1800" dirty="0"/>
                  <a:t> </a:t>
                </a:r>
                <a14:m>
                  <m:oMath xmlns:m="http://schemas.openxmlformats.org/officeDocument/2006/math">
                    <m:r>
                      <a:rPr lang="es-MX" sz="1800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s-MX" sz="180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64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𝑀𝐵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800" i="1">
                        <a:latin typeface="Cambria Math" panose="02040503050406030204" pitchFamily="18" charset="0"/>
                      </a:rPr>
                      <m:t>𝐵𝑙𝑜𝑐𝑘𝑠</m:t>
                    </m:r>
                  </m:oMath>
                </a14:m>
                <a:r>
                  <a:rPr lang="es-MX" sz="1800" dirty="0"/>
                  <a:t> </a:t>
                </a:r>
                <a:r>
                  <a:rPr lang="es-MX" sz="1800" b="1" dirty="0"/>
                  <a:t>o</a:t>
                </a:r>
                <a:r>
                  <a:rPr lang="es-MX" sz="1800" dirty="0"/>
                  <a:t>, </a:t>
                </a:r>
              </a:p>
              <a:p>
                <a:pPr marL="342900" indent="-342900"/>
                <a:r>
                  <a:rPr lang="es-MX" sz="1800" dirty="0"/>
                  <a:t>Cualquier configuración.</a:t>
                </a:r>
                <a:endParaRPr lang="es-MX" sz="1800" b="1" dirty="0"/>
              </a:p>
              <a:p>
                <a:pPr marL="800100" lvl="1" indent="-342900"/>
                <a:endParaRPr lang="es-MX" sz="1800" b="1" dirty="0"/>
              </a:p>
              <a:p>
                <a:pPr marL="800100" lvl="1" indent="-342900"/>
                <a:endParaRPr lang="es-MX" sz="1800" dirty="0"/>
              </a:p>
              <a:p>
                <a:pPr marL="800100" lvl="1" indent="-342900"/>
                <a:endParaRPr lang="es-MX" sz="1800" dirty="0"/>
              </a:p>
            </p:txBody>
          </p:sp>
        </mc:Choice>
        <mc:Fallback xmlns="">
          <p:sp>
            <p:nvSpPr>
              <p:cNvPr id="121" name="Google Shape;310;p34">
                <a:extLst>
                  <a:ext uri="{FF2B5EF4-FFF2-40B4-BE49-F238E27FC236}">
                    <a16:creationId xmlns:a16="http://schemas.microsoft.com/office/drawing/2014/main" id="{429E9684-D05C-42AE-BB61-AAA567A04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641" y="1625321"/>
                <a:ext cx="6037912" cy="5136641"/>
              </a:xfrm>
              <a:prstGeom prst="rect">
                <a:avLst/>
              </a:prstGeom>
              <a:blipFill>
                <a:blip r:embed="rId3"/>
                <a:stretch>
                  <a:fillRect l="-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59B00E5-2745-4F21-A3CD-2C4094EB46D9}"/>
                  </a:ext>
                </a:extLst>
              </p:cNvPr>
              <p:cNvSpPr txBox="1"/>
              <p:nvPr/>
            </p:nvSpPr>
            <p:spPr>
              <a:xfrm>
                <a:off x="6819588" y="2693694"/>
                <a:ext cx="4562581" cy="5844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𝐺𝐵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1024 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𝐺𝐵</m:t>
                          </m:r>
                        </m:den>
                      </m:f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𝐵𝑙𝑜𝑐𝑘</m:t>
                          </m:r>
                        </m:num>
                        <m:den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=16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𝐵𝑙𝑜𝑐𝑘𝑠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59B00E5-2745-4F21-A3CD-2C4094EB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588" y="2693694"/>
                <a:ext cx="4562581" cy="5844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Google Shape;164;p35">
            <a:extLst>
              <a:ext uri="{FF2B5EF4-FFF2-40B4-BE49-F238E27FC236}">
                <a16:creationId xmlns:a16="http://schemas.microsoft.com/office/drawing/2014/main" id="{5DC7B4EA-B23C-4B37-957D-3281DAAF4649}"/>
              </a:ext>
            </a:extLst>
          </p:cNvPr>
          <p:cNvCxnSpPr>
            <a:cxnSpLocks/>
            <a:stCxn id="117" idx="0"/>
            <a:endCxn id="2" idx="2"/>
          </p:cNvCxnSpPr>
          <p:nvPr/>
        </p:nvCxnSpPr>
        <p:spPr>
          <a:xfrm flipV="1">
            <a:off x="2818294" y="2297090"/>
            <a:ext cx="935154" cy="572300"/>
          </a:xfrm>
          <a:prstGeom prst="straightConnector1">
            <a:avLst/>
          </a:prstGeom>
          <a:noFill/>
          <a:ln w="28575" cap="flat" cmpd="sng">
            <a:solidFill>
              <a:schemeClr val="bg1">
                <a:lumMod val="50000"/>
              </a:schemeClr>
            </a:solidFill>
            <a:prstDash val="dash"/>
            <a:round/>
            <a:headEnd type="triangle" w="med" len="med"/>
            <a:tailEnd type="none" w="med" len="med"/>
          </a:ln>
        </p:spPr>
      </p:cxnSp>
      <p:cxnSp>
        <p:nvCxnSpPr>
          <p:cNvPr id="123" name="Google Shape;164;p35">
            <a:extLst>
              <a:ext uri="{FF2B5EF4-FFF2-40B4-BE49-F238E27FC236}">
                <a16:creationId xmlns:a16="http://schemas.microsoft.com/office/drawing/2014/main" id="{01F2D305-078A-4802-BE19-F2333A5DC58A}"/>
              </a:ext>
            </a:extLst>
          </p:cNvPr>
          <p:cNvCxnSpPr>
            <a:cxnSpLocks/>
            <a:stCxn id="119" idx="0"/>
            <a:endCxn id="2" idx="2"/>
          </p:cNvCxnSpPr>
          <p:nvPr/>
        </p:nvCxnSpPr>
        <p:spPr>
          <a:xfrm flipH="1" flipV="1">
            <a:off x="3753448" y="2297090"/>
            <a:ext cx="900531" cy="572300"/>
          </a:xfrm>
          <a:prstGeom prst="straightConnector1">
            <a:avLst/>
          </a:prstGeom>
          <a:noFill/>
          <a:ln w="28575" cap="flat" cmpd="sng">
            <a:solidFill>
              <a:schemeClr val="bg1">
                <a:lumMod val="50000"/>
              </a:schemeClr>
            </a:solidFill>
            <a:prstDash val="dash"/>
            <a:round/>
            <a:headEnd type="triangl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6116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Read/Write I/O Blocks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50789" y="804755"/>
            <a:ext cx="6989592" cy="94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Problema</a:t>
            </a:r>
            <a:r>
              <a:rPr lang="es-MX" sz="2000" dirty="0"/>
              <a:t>: La latencia domina el costo. </a:t>
            </a:r>
          </a:p>
          <a:p>
            <a:pPr marL="342900" indent="-342900"/>
            <a:r>
              <a:rPr lang="es-MX" sz="2000" b="1" dirty="0"/>
              <a:t>Solución</a:t>
            </a:r>
            <a:r>
              <a:rPr lang="es-MX" sz="2000" dirty="0"/>
              <a:t>: Agrupar accesos contiguos</a:t>
            </a:r>
            <a:endParaRPr lang="es-MX" sz="2800" dirty="0"/>
          </a:p>
        </p:txBody>
      </p:sp>
      <p:pic>
        <p:nvPicPr>
          <p:cNvPr id="40" name="Google Shape;154;p35">
            <a:extLst>
              <a:ext uri="{FF2B5EF4-FFF2-40B4-BE49-F238E27FC236}">
                <a16:creationId xmlns:a16="http://schemas.microsoft.com/office/drawing/2014/main" id="{A366A79D-F99C-4816-8BD2-B1E91BA5F6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699" y="5141326"/>
            <a:ext cx="1156329" cy="66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55;p35">
            <a:extLst>
              <a:ext uri="{FF2B5EF4-FFF2-40B4-BE49-F238E27FC236}">
                <a16:creationId xmlns:a16="http://schemas.microsoft.com/office/drawing/2014/main" id="{84ED78FF-6DCA-46DF-A131-5A9778CC64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470" y="4968056"/>
            <a:ext cx="996417" cy="101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160;p35">
            <a:extLst>
              <a:ext uri="{FF2B5EF4-FFF2-40B4-BE49-F238E27FC236}">
                <a16:creationId xmlns:a16="http://schemas.microsoft.com/office/drawing/2014/main" id="{23778719-29CD-4ACC-8E86-CFB738039A51}"/>
              </a:ext>
            </a:extLst>
          </p:cNvPr>
          <p:cNvCxnSpPr>
            <a:cxnSpLocks/>
          </p:cNvCxnSpPr>
          <p:nvPr/>
        </p:nvCxnSpPr>
        <p:spPr>
          <a:xfrm>
            <a:off x="2483392" y="3271805"/>
            <a:ext cx="0" cy="169625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43" name="Google Shape;161;p35">
            <a:extLst>
              <a:ext uri="{FF2B5EF4-FFF2-40B4-BE49-F238E27FC236}">
                <a16:creationId xmlns:a16="http://schemas.microsoft.com/office/drawing/2014/main" id="{0AB4223D-0865-4451-B735-70768CD41D7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7943" y="2089580"/>
            <a:ext cx="1138373" cy="10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62;p35">
            <a:extLst>
              <a:ext uri="{FF2B5EF4-FFF2-40B4-BE49-F238E27FC236}">
                <a16:creationId xmlns:a16="http://schemas.microsoft.com/office/drawing/2014/main" id="{CB38250D-ED65-4746-AF25-93AD28BC44B1}"/>
              </a:ext>
            </a:extLst>
          </p:cNvPr>
          <p:cNvSpPr txBox="1"/>
          <p:nvPr/>
        </p:nvSpPr>
        <p:spPr>
          <a:xfrm>
            <a:off x="2516429" y="3946020"/>
            <a:ext cx="155977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Read/Write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nto RAM</a:t>
            </a:r>
            <a:endParaRPr dirty="0">
              <a:solidFill>
                <a:schemeClr val="dk2"/>
              </a:solidFill>
              <a:highlight>
                <a:schemeClr val="lt1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EFE1007-5E0E-4F69-B83C-545001B37E09}"/>
              </a:ext>
            </a:extLst>
          </p:cNvPr>
          <p:cNvGrpSpPr/>
          <p:nvPr/>
        </p:nvGrpSpPr>
        <p:grpSpPr>
          <a:xfrm>
            <a:off x="6896813" y="4501012"/>
            <a:ext cx="3352056" cy="688070"/>
            <a:chOff x="6224190" y="2531989"/>
            <a:chExt cx="3352056" cy="688070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93B28A5E-5ED6-4830-905C-512902B01997}"/>
                </a:ext>
              </a:extLst>
            </p:cNvPr>
            <p:cNvSpPr/>
            <p:nvPr/>
          </p:nvSpPr>
          <p:spPr>
            <a:xfrm>
              <a:off x="6224190" y="2531989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898013E-483F-4268-8533-D4735A4E5B40}"/>
                </a:ext>
              </a:extLst>
            </p:cNvPr>
            <p:cNvSpPr/>
            <p:nvPr/>
          </p:nvSpPr>
          <p:spPr>
            <a:xfrm>
              <a:off x="7171131" y="2531989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DD7436D9-837C-4FAC-A2E2-F4FB1D716026}"/>
                </a:ext>
              </a:extLst>
            </p:cNvPr>
            <p:cNvSpPr/>
            <p:nvPr/>
          </p:nvSpPr>
          <p:spPr>
            <a:xfrm>
              <a:off x="8118072" y="2537645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30743452-B664-44D6-B7FE-AC430A5696C7}"/>
                    </a:ext>
                  </a:extLst>
                </p:cNvPr>
                <p:cNvSpPr txBox="1"/>
                <p:nvPr/>
              </p:nvSpPr>
              <p:spPr>
                <a:xfrm>
                  <a:off x="6328963" y="2952793"/>
                  <a:ext cx="3016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30743452-B664-44D6-B7FE-AC430A569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8963" y="2952793"/>
                  <a:ext cx="301686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87FA2B4-413F-4E86-9466-34CF3597B07F}"/>
                    </a:ext>
                  </a:extLst>
                </p:cNvPr>
                <p:cNvSpPr txBox="1"/>
                <p:nvPr/>
              </p:nvSpPr>
              <p:spPr>
                <a:xfrm>
                  <a:off x="7275904" y="2952793"/>
                  <a:ext cx="3016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87FA2B4-413F-4E86-9466-34CF3597B0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5904" y="2952793"/>
                  <a:ext cx="301686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7178378B-752C-4F68-A217-DD6036A46DB7}"/>
                    </a:ext>
                  </a:extLst>
                </p:cNvPr>
                <p:cNvSpPr txBox="1"/>
                <p:nvPr/>
              </p:nvSpPr>
              <p:spPr>
                <a:xfrm>
                  <a:off x="8229423" y="2958449"/>
                  <a:ext cx="3016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7178378B-752C-4F68-A217-DD6036A46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423" y="2958449"/>
                  <a:ext cx="30168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8B86FAE-E321-4D25-8F2A-C6B1F73BDAFC}"/>
                </a:ext>
              </a:extLst>
            </p:cNvPr>
            <p:cNvSpPr/>
            <p:nvPr/>
          </p:nvSpPr>
          <p:spPr>
            <a:xfrm>
              <a:off x="9065013" y="2531989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DA9045B-4874-42FC-90B7-27C35D72184D}"/>
                    </a:ext>
                  </a:extLst>
                </p:cNvPr>
                <p:cNvSpPr txBox="1"/>
                <p:nvPr/>
              </p:nvSpPr>
              <p:spPr>
                <a:xfrm>
                  <a:off x="9176364" y="2952793"/>
                  <a:ext cx="3016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0DA9045B-4874-42FC-90B7-27C35D721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6364" y="2952793"/>
                  <a:ext cx="30168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25939F8-B905-46E3-A247-16F432706D48}"/>
              </a:ext>
            </a:extLst>
          </p:cNvPr>
          <p:cNvGrpSpPr/>
          <p:nvPr/>
        </p:nvGrpSpPr>
        <p:grpSpPr>
          <a:xfrm>
            <a:off x="6896813" y="2264833"/>
            <a:ext cx="3352056" cy="682414"/>
            <a:chOff x="6224190" y="3925501"/>
            <a:chExt cx="3352056" cy="68241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0215ADB2-E3D2-405A-A3E3-E49A6862B614}"/>
                </a:ext>
              </a:extLst>
            </p:cNvPr>
            <p:cNvSpPr/>
            <p:nvPr/>
          </p:nvSpPr>
          <p:spPr>
            <a:xfrm>
              <a:off x="6224190" y="3925501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C61446E-D51A-4A20-8F50-E6730D10E63A}"/>
                </a:ext>
              </a:extLst>
            </p:cNvPr>
            <p:cNvSpPr/>
            <p:nvPr/>
          </p:nvSpPr>
          <p:spPr>
            <a:xfrm>
              <a:off x="7171131" y="3925501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CD503B6-9DD9-46DD-A1EB-65EFD09C2641}"/>
                </a:ext>
              </a:extLst>
            </p:cNvPr>
            <p:cNvSpPr/>
            <p:nvPr/>
          </p:nvSpPr>
          <p:spPr>
            <a:xfrm>
              <a:off x="8118072" y="3931157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F215BAB8-1468-4095-915A-9BE99445E134}"/>
                    </a:ext>
                  </a:extLst>
                </p:cNvPr>
                <p:cNvSpPr txBox="1"/>
                <p:nvPr/>
              </p:nvSpPr>
              <p:spPr>
                <a:xfrm>
                  <a:off x="6328963" y="4346305"/>
                  <a:ext cx="30168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F215BAB8-1468-4095-915A-9BE99445E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8963" y="4346305"/>
                  <a:ext cx="301686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4459B8A3-4807-4E11-92BD-14B446BEC5F6}"/>
                    </a:ext>
                  </a:extLst>
                </p:cNvPr>
                <p:cNvSpPr txBox="1"/>
                <p:nvPr/>
              </p:nvSpPr>
              <p:spPr>
                <a:xfrm>
                  <a:off x="7220378" y="4332160"/>
                  <a:ext cx="46198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𝟏𝟎𝟎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4459B8A3-4807-4E11-92BD-14B446BEC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0378" y="4332160"/>
                  <a:ext cx="461986" cy="25391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4D123FC7-9B13-4796-8BC7-F2C94A011A73}"/>
                    </a:ext>
                  </a:extLst>
                </p:cNvPr>
                <p:cNvSpPr txBox="1"/>
                <p:nvPr/>
              </p:nvSpPr>
              <p:spPr>
                <a:xfrm>
                  <a:off x="8172517" y="4332160"/>
                  <a:ext cx="41549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r>
                        <a:rPr lang="es-MX" sz="105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a14:m>
                  <a:r>
                    <a:rPr lang="es-CO" sz="1050" b="1" dirty="0"/>
                    <a:t>00</a:t>
                  </a:r>
                </a:p>
              </p:txBody>
            </p:sp>
          </mc:Choice>
          <mc:Fallback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4D123FC7-9B13-4796-8BC7-F2C94A011A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517" y="4332160"/>
                  <a:ext cx="415498" cy="253916"/>
                </a:xfrm>
                <a:prstGeom prst="rect">
                  <a:avLst/>
                </a:prstGeom>
                <a:blipFill>
                  <a:blip r:embed="rId12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93375B07-4C3B-4EE5-88FF-7A74FC0E5F33}"/>
                </a:ext>
              </a:extLst>
            </p:cNvPr>
            <p:cNvSpPr/>
            <p:nvPr/>
          </p:nvSpPr>
          <p:spPr>
            <a:xfrm>
              <a:off x="9065013" y="3925501"/>
              <a:ext cx="511233" cy="39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E405914C-4084-462D-8137-D67981E47808}"/>
                    </a:ext>
                  </a:extLst>
                </p:cNvPr>
                <p:cNvSpPr txBox="1"/>
                <p:nvPr/>
              </p:nvSpPr>
              <p:spPr>
                <a:xfrm>
                  <a:off x="9109332" y="4293200"/>
                  <a:ext cx="461986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05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𝟖𝟎𝟎</m:t>
                        </m:r>
                      </m:oMath>
                    </m:oMathPara>
                  </a14:m>
                  <a:endParaRPr lang="es-CO" sz="1050" b="1" dirty="0"/>
                </a:p>
              </p:txBody>
            </p:sp>
          </mc:Choice>
          <mc:Fallback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E405914C-4084-462D-8137-D67981E47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9332" y="4293200"/>
                  <a:ext cx="461986" cy="25391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8C73EE1A-93E2-496C-8BD3-92AE53F6A1FC}"/>
              </a:ext>
            </a:extLst>
          </p:cNvPr>
          <p:cNvSpPr txBox="1"/>
          <p:nvPr/>
        </p:nvSpPr>
        <p:spPr>
          <a:xfrm>
            <a:off x="5164846" y="4486881"/>
            <a:ext cx="1343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N = 4 bloques contiguos</a:t>
            </a:r>
          </a:p>
        </p:txBody>
      </p:sp>
      <p:pic>
        <p:nvPicPr>
          <p:cNvPr id="6146" name="Picture 2" descr="icono Reloj de arena en estilo Parakeet">
            <a:extLst>
              <a:ext uri="{FF2B5EF4-FFF2-40B4-BE49-F238E27FC236}">
                <a16:creationId xmlns:a16="http://schemas.microsoft.com/office/drawing/2014/main" id="{434B945B-A1A1-4298-BDB4-EFA6FEF9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953" y="4078553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cono Reloj de arena en estilo Parakeet">
            <a:extLst>
              <a:ext uri="{FF2B5EF4-FFF2-40B4-BE49-F238E27FC236}">
                <a16:creationId xmlns:a16="http://schemas.microsoft.com/office/drawing/2014/main" id="{E0BAAD50-C7D8-4348-9025-9D2AD267F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01" y="5235390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cono Reloj de arena en estilo Parakeet">
            <a:extLst>
              <a:ext uri="{FF2B5EF4-FFF2-40B4-BE49-F238E27FC236}">
                <a16:creationId xmlns:a16="http://schemas.microsoft.com/office/drawing/2014/main" id="{377F41A0-5B69-472E-9AC4-99E003450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01" y="3120175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cono Reloj de arena en estilo Parakeet">
            <a:extLst>
              <a:ext uri="{FF2B5EF4-FFF2-40B4-BE49-F238E27FC236}">
                <a16:creationId xmlns:a16="http://schemas.microsoft.com/office/drawing/2014/main" id="{E22E3C33-1159-4B4A-B494-921D394F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381" y="3081447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cono Reloj de arena en estilo Parakeet">
            <a:extLst>
              <a:ext uri="{FF2B5EF4-FFF2-40B4-BE49-F238E27FC236}">
                <a16:creationId xmlns:a16="http://schemas.microsoft.com/office/drawing/2014/main" id="{279FDE6F-67CE-4A80-A5A0-1DD9EB3F7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5782" y="3081447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cono Reloj de arena en estilo Parakeet">
            <a:extLst>
              <a:ext uri="{FF2B5EF4-FFF2-40B4-BE49-F238E27FC236}">
                <a16:creationId xmlns:a16="http://schemas.microsoft.com/office/drawing/2014/main" id="{7CA6B48F-CD44-4861-B8DC-3171DB214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9085" y="3104010"/>
            <a:ext cx="394856" cy="39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9AD65A5-FB4B-4AF3-A5FE-2FFECE2B4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438" y="6233124"/>
            <a:ext cx="1031421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Regla de oro</a:t>
            </a: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Agrupar accesos → minimizar latencia → maximizar throughput.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DE51BBA-29C2-4287-9420-291897461601}"/>
              </a:ext>
            </a:extLst>
          </p:cNvPr>
          <p:cNvSpPr txBox="1"/>
          <p:nvPr/>
        </p:nvSpPr>
        <p:spPr>
          <a:xfrm>
            <a:off x="4821383" y="2225933"/>
            <a:ext cx="1876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N = 4 bloques contiguos no contiguos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AA51024-A202-4387-B14E-A957B009004D}"/>
              </a:ext>
            </a:extLst>
          </p:cNvPr>
          <p:cNvCxnSpPr>
            <a:cxnSpLocks/>
          </p:cNvCxnSpPr>
          <p:nvPr/>
        </p:nvCxnSpPr>
        <p:spPr>
          <a:xfrm flipV="1">
            <a:off x="6896813" y="2745500"/>
            <a:ext cx="0" cy="3138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5A31EF9D-77C1-4689-8FA4-F007D4FFFEA3}"/>
              </a:ext>
            </a:extLst>
          </p:cNvPr>
          <p:cNvCxnSpPr>
            <a:cxnSpLocks/>
          </p:cNvCxnSpPr>
          <p:nvPr/>
        </p:nvCxnSpPr>
        <p:spPr>
          <a:xfrm flipV="1">
            <a:off x="7856939" y="2745500"/>
            <a:ext cx="0" cy="3138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E0FC584C-A906-494E-8409-1E83EF7DA353}"/>
              </a:ext>
            </a:extLst>
          </p:cNvPr>
          <p:cNvCxnSpPr>
            <a:cxnSpLocks/>
          </p:cNvCxnSpPr>
          <p:nvPr/>
        </p:nvCxnSpPr>
        <p:spPr>
          <a:xfrm flipV="1">
            <a:off x="8790026" y="2729547"/>
            <a:ext cx="0" cy="3138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41110D26-5BF7-4FDD-A26D-777F1728E610}"/>
              </a:ext>
            </a:extLst>
          </p:cNvPr>
          <p:cNvCxnSpPr>
            <a:cxnSpLocks/>
          </p:cNvCxnSpPr>
          <p:nvPr/>
        </p:nvCxnSpPr>
        <p:spPr>
          <a:xfrm flipV="1">
            <a:off x="9759844" y="2729547"/>
            <a:ext cx="0" cy="3138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31EFD0A-9520-430F-B546-6AD1E0B8E6FC}"/>
              </a:ext>
            </a:extLst>
          </p:cNvPr>
          <p:cNvCxnSpPr>
            <a:cxnSpLocks/>
          </p:cNvCxnSpPr>
          <p:nvPr/>
        </p:nvCxnSpPr>
        <p:spPr>
          <a:xfrm flipV="1">
            <a:off x="6919021" y="4948546"/>
            <a:ext cx="0" cy="3138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05C6C3C-EF9E-4F59-A3BE-C179F8A873B3}"/>
              </a:ext>
            </a:extLst>
          </p:cNvPr>
          <p:cNvSpPr txBox="1"/>
          <p:nvPr/>
        </p:nvSpPr>
        <p:spPr>
          <a:xfrm>
            <a:off x="4832749" y="2775476"/>
            <a:ext cx="1876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2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 = 4 accesos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93B8901-9BE2-43BD-BC27-CE05C2FCFB9E}"/>
              </a:ext>
            </a:extLst>
          </p:cNvPr>
          <p:cNvSpPr txBox="1"/>
          <p:nvPr/>
        </p:nvSpPr>
        <p:spPr>
          <a:xfrm>
            <a:off x="4631951" y="4948546"/>
            <a:ext cx="1876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12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 = 1 acceso</a:t>
            </a:r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502188BB-6C7B-41C9-8AB1-66607A12AB90}"/>
              </a:ext>
            </a:extLst>
          </p:cNvPr>
          <p:cNvSpPr/>
          <p:nvPr/>
        </p:nvSpPr>
        <p:spPr>
          <a:xfrm>
            <a:off x="8354986" y="3736110"/>
            <a:ext cx="248686" cy="575170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EAB7812-9716-4750-903D-F6AA78F792B7}"/>
                  </a:ext>
                </a:extLst>
              </p:cNvPr>
              <p:cNvSpPr txBox="1"/>
              <p:nvPr/>
            </p:nvSpPr>
            <p:spPr>
              <a:xfrm>
                <a:off x="8790026" y="3786586"/>
                <a:ext cx="19770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s-MX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↓→</m:t>
                      </m:r>
                      <m:r>
                        <a:rPr lang="es-MX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𝑳𝒂𝒕𝒆𝒏𝒄𝒚</m:t>
                      </m:r>
                      <m:r>
                        <a:rPr lang="es-MX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es-CO" sz="2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EAB7812-9716-4750-903D-F6AA78F79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026" y="3786586"/>
                <a:ext cx="1977016" cy="307777"/>
              </a:xfrm>
              <a:prstGeom prst="rect">
                <a:avLst/>
              </a:prstGeom>
              <a:blipFill>
                <a:blip r:embed="rId15"/>
                <a:stretch>
                  <a:fillRect l="-2469" r="-2469" b="-352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123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Read/Write I/O Blocks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883169"/>
            <a:ext cx="10734067" cy="50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400" b="1" dirty="0"/>
              <a:t>Lectura y escritura eficiente</a:t>
            </a:r>
            <a:endParaRPr lang="es-MX" sz="3200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C12612D-4C03-4C95-BB9B-F9DAC28C9832}"/>
              </a:ext>
            </a:extLst>
          </p:cNvPr>
          <p:cNvSpPr txBox="1"/>
          <p:nvPr/>
        </p:nvSpPr>
        <p:spPr>
          <a:xfrm>
            <a:off x="3925614" y="1796137"/>
            <a:ext cx="7930055" cy="4801314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Read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N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contiguous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Blocks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from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startLocation</a:t>
            </a:r>
            <a:endParaRPr lang="es-CO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CO" sz="1800" b="1" dirty="0" err="1">
                <a:latin typeface="Consolas" panose="020B0609020204030204" pitchFamily="49" charset="0"/>
              </a:rPr>
              <a:t>ReadBlocks</a:t>
            </a:r>
            <a:r>
              <a:rPr lang="es-CO" sz="1800" b="1" dirty="0">
                <a:latin typeface="Consolas" panose="020B0609020204030204" pitchFamily="49" charset="0"/>
              </a:rPr>
              <a:t>(</a:t>
            </a:r>
            <a:r>
              <a:rPr lang="es-CO" sz="1800" b="1" dirty="0" err="1">
                <a:latin typeface="Consolas" panose="020B0609020204030204" pitchFamily="49" charset="0"/>
              </a:rPr>
              <a:t>startLocation</a:t>
            </a:r>
            <a:r>
              <a:rPr lang="es-CO" sz="1800" b="1" dirty="0">
                <a:latin typeface="Consolas" panose="020B0609020204030204" pitchFamily="49" charset="0"/>
              </a:rPr>
              <a:t>, N Blocks)</a:t>
            </a:r>
          </a:p>
          <a:p>
            <a:r>
              <a:rPr lang="es-CO" sz="1800" b="1" dirty="0">
                <a:latin typeface="Consolas" panose="020B0609020204030204" pitchFamily="49" charset="0"/>
              </a:rPr>
              <a:t>  1. </a:t>
            </a:r>
            <a:r>
              <a:rPr lang="es-CO" sz="1800" dirty="0">
                <a:latin typeface="Consolas" panose="020B0609020204030204" pitchFamily="49" charset="0"/>
              </a:rPr>
              <a:t>Access </a:t>
            </a:r>
            <a:r>
              <a:rPr lang="es-CO" sz="1800" dirty="0" err="1">
                <a:latin typeface="Consolas" panose="020B0609020204030204" pitchFamily="49" charset="0"/>
              </a:rPr>
              <a:t>Block’s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startLocation</a:t>
            </a:r>
            <a:r>
              <a:rPr lang="es-CO" sz="1800" dirty="0">
                <a:latin typeface="Consolas" panose="020B0609020204030204" pitchFamily="49" charset="0"/>
              </a:rPr>
              <a:t> in IO </a:t>
            </a:r>
            <a:r>
              <a:rPr lang="es-CO" sz="1800" dirty="0" err="1">
                <a:latin typeface="Consolas" panose="020B0609020204030204" pitchFamily="49" charset="0"/>
              </a:rPr>
              <a:t>device</a:t>
            </a:r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latin typeface="Consolas" panose="020B0609020204030204" pitchFamily="49" charset="0"/>
              </a:rPr>
              <a:t>  </a:t>
            </a:r>
            <a:r>
              <a:rPr lang="es-CO" sz="1800" b="1" dirty="0">
                <a:latin typeface="Consolas" panose="020B0609020204030204" pitchFamily="49" charset="0"/>
              </a:rPr>
              <a:t>2. </a:t>
            </a:r>
            <a:r>
              <a:rPr lang="es-CO" sz="1800" dirty="0">
                <a:latin typeface="Consolas" panose="020B0609020204030204" pitchFamily="49" charset="0"/>
              </a:rPr>
              <a:t>Scan N Blocks in </a:t>
            </a:r>
            <a:r>
              <a:rPr lang="es-CO" sz="1800" dirty="0" err="1">
                <a:latin typeface="Consolas" panose="020B0609020204030204" pitchFamily="49" charset="0"/>
              </a:rPr>
              <a:t>one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efficient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operation</a:t>
            </a:r>
            <a:r>
              <a:rPr lang="es-CO" sz="1800" dirty="0">
                <a:latin typeface="Consolas" panose="020B0609020204030204" pitchFamily="49" charset="0"/>
              </a:rPr>
              <a:t>. </a:t>
            </a:r>
            <a:r>
              <a:rPr lang="es-CO" sz="1800" dirty="0" err="1">
                <a:latin typeface="Consolas" panose="020B0609020204030204" pitchFamily="49" charset="0"/>
              </a:rPr>
              <a:t>That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is</a:t>
            </a:r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latin typeface="Consolas" panose="020B0609020204030204" pitchFamily="49" charset="0"/>
              </a:rPr>
              <a:t>     </a:t>
            </a:r>
            <a:r>
              <a:rPr lang="es-CO" sz="1800" b="1" dirty="0">
                <a:latin typeface="Consolas" panose="020B0609020204030204" pitchFamily="49" charset="0"/>
              </a:rPr>
              <a:t>a. </a:t>
            </a:r>
            <a:r>
              <a:rPr lang="es-CO" sz="1800" dirty="0" err="1">
                <a:latin typeface="Consolas" panose="020B0609020204030204" pitchFamily="49" charset="0"/>
              </a:rPr>
              <a:t>Read</a:t>
            </a:r>
            <a:r>
              <a:rPr lang="es-CO" sz="1800" dirty="0">
                <a:latin typeface="Consolas" panose="020B0609020204030204" pitchFamily="49" charset="0"/>
              </a:rPr>
              <a:t> N*64MB (</a:t>
            </a:r>
            <a:r>
              <a:rPr lang="es-CO" sz="1800" dirty="0" err="1">
                <a:latin typeface="Consolas" panose="020B0609020204030204" pitchFamily="49" charset="0"/>
              </a:rPr>
              <a:t>or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multiple</a:t>
            </a:r>
            <a:r>
              <a:rPr lang="es-CO" sz="1800" dirty="0">
                <a:latin typeface="Consolas" panose="020B0609020204030204" pitchFamily="49" charset="0"/>
              </a:rPr>
              <a:t>) </a:t>
            </a:r>
            <a:r>
              <a:rPr lang="es-CO" sz="1800" b="1" u="sng" dirty="0" err="1">
                <a:latin typeface="Consolas" panose="020B0609020204030204" pitchFamily="49" charset="0"/>
              </a:rPr>
              <a:t>contiguous</a:t>
            </a:r>
            <a:r>
              <a:rPr lang="es-CO" sz="1800" dirty="0">
                <a:latin typeface="Consolas" panose="020B0609020204030204" pitchFamily="49" charset="0"/>
              </a:rPr>
              <a:t> bytes </a:t>
            </a:r>
            <a:r>
              <a:rPr lang="es-CO" sz="1800" dirty="0" err="1">
                <a:latin typeface="Consolas" panose="020B0609020204030204" pitchFamily="49" charset="0"/>
              </a:rPr>
              <a:t>to</a:t>
            </a:r>
            <a:r>
              <a:rPr lang="es-CO" sz="1800" dirty="0">
                <a:latin typeface="Consolas" panose="020B0609020204030204" pitchFamily="49" charset="0"/>
              </a:rPr>
              <a:t> RAM</a:t>
            </a:r>
          </a:p>
          <a:p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Read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M    Nx64MB-Blocks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for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Data</a:t>
            </a:r>
          </a:p>
          <a:p>
            <a:r>
              <a:rPr lang="es-CO" sz="1800" b="1" dirty="0" err="1">
                <a:latin typeface="Consolas" panose="020B0609020204030204" pitchFamily="49" charset="0"/>
              </a:rPr>
              <a:t>ReadData</a:t>
            </a:r>
            <a:r>
              <a:rPr lang="es-CO" sz="1800" b="1" dirty="0">
                <a:latin typeface="Consolas" panose="020B0609020204030204" pitchFamily="49" charset="0"/>
              </a:rPr>
              <a:t>(M)</a:t>
            </a:r>
            <a:r>
              <a:rPr lang="es-CO" sz="1800" dirty="0">
                <a:latin typeface="Consolas" panose="020B0609020204030204" pitchFamily="49" charset="0"/>
              </a:rPr>
              <a:t>    </a:t>
            </a:r>
          </a:p>
          <a:p>
            <a:r>
              <a:rPr lang="es-CO" sz="1800" dirty="0">
                <a:latin typeface="Consolas" panose="020B0609020204030204" pitchFamily="49" charset="0"/>
              </a:rPr>
              <a:t>  </a:t>
            </a:r>
            <a:r>
              <a:rPr lang="es-CO" sz="1800" dirty="0" err="1">
                <a:latin typeface="Consolas" panose="020B0609020204030204" pitchFamily="49" charset="0"/>
              </a:rPr>
              <a:t>For</a:t>
            </a:r>
            <a:r>
              <a:rPr lang="es-CO" sz="1800" dirty="0">
                <a:latin typeface="Consolas" panose="020B0609020204030204" pitchFamily="49" charset="0"/>
              </a:rPr>
              <a:t> i:1...M Blocks</a:t>
            </a:r>
          </a:p>
          <a:p>
            <a:r>
              <a:rPr lang="es-CO" sz="1800" dirty="0">
                <a:latin typeface="Consolas" panose="020B0609020204030204" pitchFamily="49" charset="0"/>
              </a:rPr>
              <a:t>  </a:t>
            </a:r>
            <a:r>
              <a:rPr lang="es-CO" sz="1800" b="1" dirty="0">
                <a:latin typeface="Consolas" panose="020B0609020204030204" pitchFamily="49" charset="0"/>
              </a:rPr>
              <a:t>a.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ReadBlocks</a:t>
            </a:r>
            <a:r>
              <a:rPr lang="es-CO" sz="1800" dirty="0">
                <a:latin typeface="Consolas" panose="020B0609020204030204" pitchFamily="49" charset="0"/>
              </a:rPr>
              <a:t>(</a:t>
            </a:r>
            <a:r>
              <a:rPr lang="es-CO" sz="1800" dirty="0" err="1">
                <a:latin typeface="Consolas" panose="020B0609020204030204" pitchFamily="49" charset="0"/>
              </a:rPr>
              <a:t>startLocation</a:t>
            </a:r>
            <a:r>
              <a:rPr lang="es-CO" sz="1800" dirty="0">
                <a:latin typeface="Consolas" panose="020B0609020204030204" pitchFamily="49" charset="0"/>
              </a:rPr>
              <a:t>[</a:t>
            </a:r>
            <a:r>
              <a:rPr lang="es-CO" sz="1800" dirty="0" err="1">
                <a:latin typeface="Consolas" panose="020B0609020204030204" pitchFamily="49" charset="0"/>
              </a:rPr>
              <a:t>ith</a:t>
            </a:r>
            <a:r>
              <a:rPr lang="es-CO" sz="1800" dirty="0">
                <a:latin typeface="Consolas" panose="020B0609020204030204" pitchFamily="49" charset="0"/>
              </a:rPr>
              <a:t> Block], N)</a:t>
            </a:r>
          </a:p>
          <a:p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Write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N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contiguous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Blocks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from</a:t>
            </a:r>
            <a:r>
              <a:rPr lang="es-CO" sz="18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s-CO" sz="1800" dirty="0" err="1">
                <a:solidFill>
                  <a:srgbClr val="00B050"/>
                </a:solidFill>
                <a:latin typeface="Consolas" panose="020B0609020204030204" pitchFamily="49" charset="0"/>
              </a:rPr>
              <a:t>startLocation</a:t>
            </a:r>
            <a:endParaRPr lang="es-CO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s-CO" sz="1800" b="1" dirty="0" err="1">
                <a:latin typeface="Consolas" panose="020B0609020204030204" pitchFamily="49" charset="0"/>
              </a:rPr>
              <a:t>WriteBlocks</a:t>
            </a:r>
            <a:r>
              <a:rPr lang="es-CO" sz="1800" b="1" dirty="0">
                <a:latin typeface="Consolas" panose="020B0609020204030204" pitchFamily="49" charset="0"/>
              </a:rPr>
              <a:t>(</a:t>
            </a:r>
            <a:r>
              <a:rPr lang="es-CO" sz="1800" b="1" dirty="0" err="1">
                <a:latin typeface="Consolas" panose="020B0609020204030204" pitchFamily="49" charset="0"/>
              </a:rPr>
              <a:t>startLocation</a:t>
            </a:r>
            <a:r>
              <a:rPr lang="es-CO" sz="1800" b="1" dirty="0">
                <a:latin typeface="Consolas" panose="020B0609020204030204" pitchFamily="49" charset="0"/>
              </a:rPr>
              <a:t>, N Blocks)</a:t>
            </a:r>
          </a:p>
          <a:p>
            <a:r>
              <a:rPr lang="es-CO" sz="1800" b="1" dirty="0">
                <a:latin typeface="Consolas" panose="020B0609020204030204" pitchFamily="49" charset="0"/>
              </a:rPr>
              <a:t>  1. </a:t>
            </a:r>
            <a:r>
              <a:rPr lang="es-CO" sz="1800" dirty="0">
                <a:latin typeface="Consolas" panose="020B0609020204030204" pitchFamily="49" charset="0"/>
              </a:rPr>
              <a:t>Access </a:t>
            </a:r>
            <a:r>
              <a:rPr lang="es-CO" sz="1800" dirty="0" err="1">
                <a:latin typeface="Consolas" panose="020B0609020204030204" pitchFamily="49" charset="0"/>
              </a:rPr>
              <a:t>Block’s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startLocation</a:t>
            </a:r>
            <a:r>
              <a:rPr lang="es-CO" sz="1800" dirty="0">
                <a:latin typeface="Consolas" panose="020B0609020204030204" pitchFamily="49" charset="0"/>
              </a:rPr>
              <a:t> in IO </a:t>
            </a:r>
            <a:r>
              <a:rPr lang="es-CO" sz="1800" dirty="0" err="1">
                <a:latin typeface="Consolas" panose="020B0609020204030204" pitchFamily="49" charset="0"/>
              </a:rPr>
              <a:t>device</a:t>
            </a:r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latin typeface="Consolas" panose="020B0609020204030204" pitchFamily="49" charset="0"/>
              </a:rPr>
              <a:t>  </a:t>
            </a:r>
            <a:r>
              <a:rPr lang="es-CO" sz="1800" b="1" dirty="0">
                <a:latin typeface="Consolas" panose="020B0609020204030204" pitchFamily="49" charset="0"/>
              </a:rPr>
              <a:t>2. </a:t>
            </a:r>
            <a:r>
              <a:rPr lang="es-CO" sz="1800" dirty="0">
                <a:latin typeface="Consolas" panose="020B0609020204030204" pitchFamily="49" charset="0"/>
              </a:rPr>
              <a:t>Scan N Blocks in </a:t>
            </a:r>
            <a:r>
              <a:rPr lang="es-CO" sz="1800" dirty="0" err="1">
                <a:latin typeface="Consolas" panose="020B0609020204030204" pitchFamily="49" charset="0"/>
              </a:rPr>
              <a:t>one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efficient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operation</a:t>
            </a:r>
            <a:r>
              <a:rPr lang="es-CO" sz="1800" dirty="0">
                <a:latin typeface="Consolas" panose="020B0609020204030204" pitchFamily="49" charset="0"/>
              </a:rPr>
              <a:t>. </a:t>
            </a:r>
            <a:r>
              <a:rPr lang="es-CO" sz="1800" dirty="0" err="1">
                <a:latin typeface="Consolas" panose="020B0609020204030204" pitchFamily="49" charset="0"/>
              </a:rPr>
              <a:t>That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is</a:t>
            </a:r>
            <a:endParaRPr lang="es-CO" sz="1800" dirty="0">
              <a:latin typeface="Consolas" panose="020B0609020204030204" pitchFamily="49" charset="0"/>
            </a:endParaRPr>
          </a:p>
          <a:p>
            <a:r>
              <a:rPr lang="es-CO" sz="1800" dirty="0">
                <a:latin typeface="Consolas" panose="020B0609020204030204" pitchFamily="49" charset="0"/>
              </a:rPr>
              <a:t>     </a:t>
            </a:r>
            <a:r>
              <a:rPr lang="es-CO" sz="1800" b="1" dirty="0">
                <a:latin typeface="Consolas" panose="020B0609020204030204" pitchFamily="49" charset="0"/>
              </a:rPr>
              <a:t>a. </a:t>
            </a:r>
            <a:r>
              <a:rPr lang="es-CO" sz="1800" dirty="0" err="1">
                <a:latin typeface="Consolas" panose="020B0609020204030204" pitchFamily="49" charset="0"/>
              </a:rPr>
              <a:t>Write</a:t>
            </a:r>
            <a:r>
              <a:rPr lang="es-CO" sz="1800" dirty="0">
                <a:latin typeface="Consolas" panose="020B0609020204030204" pitchFamily="49" charset="0"/>
              </a:rPr>
              <a:t> N*64MB (</a:t>
            </a:r>
            <a:r>
              <a:rPr lang="es-CO" sz="1800" dirty="0" err="1">
                <a:latin typeface="Consolas" panose="020B0609020204030204" pitchFamily="49" charset="0"/>
              </a:rPr>
              <a:t>or</a:t>
            </a:r>
            <a:r>
              <a:rPr lang="es-CO" sz="1800" dirty="0">
                <a:latin typeface="Consolas" panose="020B0609020204030204" pitchFamily="49" charset="0"/>
              </a:rPr>
              <a:t> </a:t>
            </a:r>
            <a:r>
              <a:rPr lang="es-CO" sz="1800" dirty="0" err="1">
                <a:latin typeface="Consolas" panose="020B0609020204030204" pitchFamily="49" charset="0"/>
              </a:rPr>
              <a:t>multiple</a:t>
            </a:r>
            <a:r>
              <a:rPr lang="es-CO" sz="1800" dirty="0">
                <a:latin typeface="Consolas" panose="020B0609020204030204" pitchFamily="49" charset="0"/>
              </a:rPr>
              <a:t>) </a:t>
            </a:r>
            <a:r>
              <a:rPr lang="es-CO" sz="1800" dirty="0" err="1">
                <a:latin typeface="Consolas" panose="020B0609020204030204" pitchFamily="49" charset="0"/>
              </a:rPr>
              <a:t>contiguous</a:t>
            </a:r>
            <a:r>
              <a:rPr lang="es-CO" sz="1800" dirty="0">
                <a:latin typeface="Consolas" panose="020B0609020204030204" pitchFamily="49" charset="0"/>
              </a:rPr>
              <a:t> bytes </a:t>
            </a:r>
            <a:r>
              <a:rPr lang="es-CO" sz="1800" dirty="0" err="1">
                <a:latin typeface="Consolas" panose="020B0609020204030204" pitchFamily="49" charset="0"/>
              </a:rPr>
              <a:t>from</a:t>
            </a:r>
            <a:r>
              <a:rPr lang="es-CO" sz="1800" dirty="0">
                <a:latin typeface="Consolas" panose="020B0609020204030204" pitchFamily="49" charset="0"/>
              </a:rPr>
              <a:t> RAM</a:t>
            </a:r>
          </a:p>
          <a:p>
            <a:endParaRPr lang="es-CO" sz="1800" dirty="0">
              <a:latin typeface="Consolas" panose="020B0609020204030204" pitchFamily="49" charset="0"/>
            </a:endParaRPr>
          </a:p>
        </p:txBody>
      </p:sp>
      <p:pic>
        <p:nvPicPr>
          <p:cNvPr id="40" name="Google Shape;154;p35">
            <a:extLst>
              <a:ext uri="{FF2B5EF4-FFF2-40B4-BE49-F238E27FC236}">
                <a16:creationId xmlns:a16="http://schemas.microsoft.com/office/drawing/2014/main" id="{A366A79D-F99C-4816-8BD2-B1E91BA5F6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0473" y="5135801"/>
            <a:ext cx="1156329" cy="66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55;p35">
            <a:extLst>
              <a:ext uri="{FF2B5EF4-FFF2-40B4-BE49-F238E27FC236}">
                <a16:creationId xmlns:a16="http://schemas.microsoft.com/office/drawing/2014/main" id="{84ED78FF-6DCA-46DF-A131-5A9778CC64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244" y="4962531"/>
            <a:ext cx="996417" cy="101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" name="Google Shape;160;p35">
            <a:extLst>
              <a:ext uri="{FF2B5EF4-FFF2-40B4-BE49-F238E27FC236}">
                <a16:creationId xmlns:a16="http://schemas.microsoft.com/office/drawing/2014/main" id="{23778719-29CD-4ACC-8E86-CFB738039A51}"/>
              </a:ext>
            </a:extLst>
          </p:cNvPr>
          <p:cNvCxnSpPr>
            <a:cxnSpLocks/>
          </p:cNvCxnSpPr>
          <p:nvPr/>
        </p:nvCxnSpPr>
        <p:spPr>
          <a:xfrm>
            <a:off x="2072166" y="3266280"/>
            <a:ext cx="0" cy="169625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43" name="Google Shape;161;p35">
            <a:extLst>
              <a:ext uri="{FF2B5EF4-FFF2-40B4-BE49-F238E27FC236}">
                <a16:creationId xmlns:a16="http://schemas.microsoft.com/office/drawing/2014/main" id="{0AB4223D-0865-4451-B735-70768CD41D7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6717" y="2084055"/>
            <a:ext cx="1138373" cy="104063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62;p35">
            <a:extLst>
              <a:ext uri="{FF2B5EF4-FFF2-40B4-BE49-F238E27FC236}">
                <a16:creationId xmlns:a16="http://schemas.microsoft.com/office/drawing/2014/main" id="{CB38250D-ED65-4746-AF25-93AD28BC44B1}"/>
              </a:ext>
            </a:extLst>
          </p:cNvPr>
          <p:cNvSpPr txBox="1"/>
          <p:nvPr/>
        </p:nvSpPr>
        <p:spPr>
          <a:xfrm>
            <a:off x="2105203" y="3940495"/>
            <a:ext cx="155977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Read/Write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" dirty="0">
                <a:solidFill>
                  <a:schemeClr val="dk2"/>
                </a:solidFill>
                <a:highlight>
                  <a:schemeClr val="lt1"/>
                </a:highlight>
                <a:latin typeface="Roboto" panose="02000000000000000000" pitchFamily="2" charset="0"/>
                <a:ea typeface="Roboto" panose="02000000000000000000" pitchFamily="2" charset="0"/>
              </a:rPr>
              <a:t>nto RAM</a:t>
            </a:r>
            <a:endParaRPr dirty="0">
              <a:solidFill>
                <a:schemeClr val="dk2"/>
              </a:solidFill>
              <a:highlight>
                <a:schemeClr val="lt1"/>
              </a:highlight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535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rendimiento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855234" y="767807"/>
            <a:ext cx="10734067" cy="169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dirty="0"/>
              <a:t>En </a:t>
            </a:r>
            <a:r>
              <a:rPr lang="es-MX" sz="2200" b="1" dirty="0"/>
              <a:t>términos generales </a:t>
            </a:r>
            <a:r>
              <a:rPr lang="es-MX" sz="2200" dirty="0"/>
              <a:t>tenemos las siguientes métricas de rendimiento:</a:t>
            </a:r>
          </a:p>
          <a:p>
            <a:pPr marL="342900" indent="-342900"/>
            <a:r>
              <a:rPr lang="es-MX" sz="2000" b="1" dirty="0"/>
              <a:t>Latencia (Response Time)</a:t>
            </a:r>
            <a:r>
              <a:rPr lang="es-MX" sz="2000" dirty="0"/>
              <a:t>: Tiempo que tarda una operación en completarse desde que se solicita hasta que termina.</a:t>
            </a:r>
          </a:p>
          <a:p>
            <a:pPr marL="342900" indent="-342900"/>
            <a:r>
              <a:rPr lang="es-MX" sz="2000" b="1" dirty="0"/>
              <a:t>Throughput (Rendimiento)</a:t>
            </a:r>
            <a:r>
              <a:rPr lang="es-MX" sz="2000" dirty="0"/>
              <a:t>: Cantidad de trabajo completado por unidad de tiempo.</a:t>
            </a:r>
          </a:p>
          <a:p>
            <a:pPr marL="342900" indent="-342900"/>
            <a:endParaRPr lang="es-MX" sz="2200" dirty="0"/>
          </a:p>
        </p:txBody>
      </p:sp>
      <p:sp>
        <p:nvSpPr>
          <p:cNvPr id="38" name="Google Shape;310;p34">
            <a:extLst>
              <a:ext uri="{FF2B5EF4-FFF2-40B4-BE49-F238E27FC236}">
                <a16:creationId xmlns:a16="http://schemas.microsoft.com/office/drawing/2014/main" id="{78A95400-C6AD-49CF-88B4-3CFA3733BE88}"/>
              </a:ext>
            </a:extLst>
          </p:cNvPr>
          <p:cNvSpPr txBox="1">
            <a:spLocks/>
          </p:cNvSpPr>
          <p:nvPr/>
        </p:nvSpPr>
        <p:spPr>
          <a:xfrm>
            <a:off x="943760" y="2354917"/>
            <a:ext cx="10734067" cy="317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Suponga que a 100 personas desde un punto A hasta un punto B los cuales están separados a una distancia de 60 km. Para lo cual cuenta con dos opciones.</a:t>
            </a:r>
          </a:p>
          <a:p>
            <a:pPr marL="342900" indent="-342900"/>
            <a:r>
              <a:rPr lang="es-MX" sz="1800" b="1" dirty="0"/>
              <a:t>Automóvil</a:t>
            </a:r>
            <a:r>
              <a:rPr lang="es-MX" sz="1800" dirty="0"/>
              <a:t>: </a:t>
            </a:r>
          </a:p>
          <a:p>
            <a:pPr marL="800100" lvl="1" indent="-342900"/>
            <a:r>
              <a:rPr lang="es-MX" sz="1600" dirty="0"/>
              <a:t>Velocidad: 120 km/hr</a:t>
            </a:r>
          </a:p>
          <a:p>
            <a:pPr marL="800100" lvl="1" indent="-342900"/>
            <a:r>
              <a:rPr lang="es-MX" sz="1600" dirty="0"/>
              <a:t>Capacidad: 6 personas</a:t>
            </a:r>
            <a:endParaRPr lang="es-MX" sz="2000" dirty="0"/>
          </a:p>
          <a:p>
            <a:pPr marL="342900" indent="-342900"/>
            <a:endParaRPr lang="es-MX" sz="1800" b="1" dirty="0"/>
          </a:p>
          <a:p>
            <a:pPr marL="342900" indent="-342900"/>
            <a:endParaRPr lang="es-MX" sz="1800" b="1" dirty="0"/>
          </a:p>
          <a:p>
            <a:pPr marL="342900" indent="-342900"/>
            <a:r>
              <a:rPr lang="es-MX" sz="1800" b="1" dirty="0"/>
              <a:t>Bus</a:t>
            </a:r>
            <a:r>
              <a:rPr lang="es-MX" sz="1800" dirty="0"/>
              <a:t>:</a:t>
            </a:r>
          </a:p>
          <a:p>
            <a:pPr marL="800100" lvl="1" indent="-342900"/>
            <a:r>
              <a:rPr lang="es-MX" sz="1600" dirty="0"/>
              <a:t>Velocidad: 60 km/hr</a:t>
            </a:r>
          </a:p>
          <a:p>
            <a:pPr marL="800100" lvl="1" indent="-342900"/>
            <a:r>
              <a:rPr lang="es-MX" sz="1600" dirty="0"/>
              <a:t>Capacidad: 30 personas.</a:t>
            </a:r>
          </a:p>
          <a:p>
            <a:pPr marL="342900" indent="-342900"/>
            <a:endParaRPr lang="es-MX" sz="2000" dirty="0"/>
          </a:p>
          <a:p>
            <a:pPr marL="342900" indent="-342900"/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ACBB5D3-E869-4DDC-AC60-B7A631618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4011187"/>
                  </p:ext>
                </p:extLst>
              </p:nvPr>
            </p:nvGraphicFramePr>
            <p:xfrm>
              <a:off x="5227833" y="4523388"/>
              <a:ext cx="5689597" cy="1097280"/>
            </p:xfrm>
            <a:graphic>
              <a:graphicData uri="http://schemas.openxmlformats.org/drawingml/2006/table">
                <a:tbl>
                  <a:tblPr/>
                  <a:tblGrid>
                    <a:gridCol w="1393371">
                      <a:extLst>
                        <a:ext uri="{9D8B030D-6E8A-4147-A177-3AD203B41FA5}">
                          <a16:colId xmlns:a16="http://schemas.microsoft.com/office/drawing/2014/main" val="2316309833"/>
                        </a:ext>
                      </a:extLst>
                    </a:gridCol>
                    <a:gridCol w="1896119">
                      <a:extLst>
                        <a:ext uri="{9D8B030D-6E8A-4147-A177-3AD203B41FA5}">
                          <a16:colId xmlns:a16="http://schemas.microsoft.com/office/drawing/2014/main" val="4278318762"/>
                        </a:ext>
                      </a:extLst>
                    </a:gridCol>
                    <a:gridCol w="2400107">
                      <a:extLst>
                        <a:ext uri="{9D8B030D-6E8A-4147-A177-3AD203B41FA5}">
                          <a16:colId xmlns:a16="http://schemas.microsoft.com/office/drawing/2014/main" val="35578531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Throughput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20070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Automóvil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0.5 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h𝑟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~ 12 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𝑝𝑎𝑠𝑎𝑗𝑒𝑟𝑜𝑠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h𝑜𝑟𝑎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971274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1 </m:t>
                                </m:r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h𝑟</m:t>
                                </m:r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8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25 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𝑝𝑎𝑠𝑎𝑗𝑒𝑟𝑜𝑠</m:t>
                                    </m:r>
                                  </m:num>
                                  <m:den>
                                    <m:r>
                                      <a:rPr lang="es-MX" sz="18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h𝑜𝑟𝑎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8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67414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BACBB5D3-E869-4DDC-AC60-B7A631618D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4011187"/>
                  </p:ext>
                </p:extLst>
              </p:nvPr>
            </p:nvGraphicFramePr>
            <p:xfrm>
              <a:off x="5227833" y="4523388"/>
              <a:ext cx="5689597" cy="1097280"/>
            </p:xfrm>
            <a:graphic>
              <a:graphicData uri="http://schemas.openxmlformats.org/drawingml/2006/table">
                <a:tbl>
                  <a:tblPr/>
                  <a:tblGrid>
                    <a:gridCol w="1393371">
                      <a:extLst>
                        <a:ext uri="{9D8B030D-6E8A-4147-A177-3AD203B41FA5}">
                          <a16:colId xmlns:a16="http://schemas.microsoft.com/office/drawing/2014/main" val="2316309833"/>
                        </a:ext>
                      </a:extLst>
                    </a:gridCol>
                    <a:gridCol w="1896119">
                      <a:extLst>
                        <a:ext uri="{9D8B030D-6E8A-4147-A177-3AD203B41FA5}">
                          <a16:colId xmlns:a16="http://schemas.microsoft.com/office/drawing/2014/main" val="4278318762"/>
                        </a:ext>
                      </a:extLst>
                    </a:gridCol>
                    <a:gridCol w="2400107">
                      <a:extLst>
                        <a:ext uri="{9D8B030D-6E8A-4147-A177-3AD203B41FA5}">
                          <a16:colId xmlns:a16="http://schemas.microsoft.com/office/drawing/2014/main" val="355785318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Opción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Throughput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20070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Automóvil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73955" t="-114754" r="-127331" b="-2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37310" t="-114754" r="-508" b="-2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71274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sz="18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Bus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955" t="-218333" r="-127331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310" t="-218333" r="-508" b="-18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7414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ED19CA56-8581-4038-BDE7-22EEC2D82FFB}"/>
              </a:ext>
            </a:extLst>
          </p:cNvPr>
          <p:cNvSpPr txBox="1"/>
          <p:nvPr/>
        </p:nvSpPr>
        <p:spPr>
          <a:xfrm>
            <a:off x="6096000" y="3988447"/>
            <a:ext cx="4209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1" dirty="0"/>
              <a:t>Tabla comparativa</a:t>
            </a:r>
            <a:endParaRPr lang="es-CO" sz="1800" b="1" dirty="0"/>
          </a:p>
        </p:txBody>
      </p:sp>
      <p:pic>
        <p:nvPicPr>
          <p:cNvPr id="2054" name="Picture 6" descr="Car - Free transport icons">
            <a:extLst>
              <a:ext uri="{FF2B5EF4-FFF2-40B4-BE49-F238E27FC236}">
                <a16:creationId xmlns:a16="http://schemas.microsoft.com/office/drawing/2014/main" id="{B94ECB4C-4D8F-43E0-9DB1-CD41B9924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735" y="4054539"/>
            <a:ext cx="880318" cy="88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963084-5B41-4402-B8E2-0ED6427C9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531" y="5779690"/>
            <a:ext cx="12287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8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rendimiento</a:t>
            </a:r>
            <a:endParaRPr dirty="0"/>
          </a:p>
        </p:txBody>
      </p:sp>
      <p:sp>
        <p:nvSpPr>
          <p:cNvPr id="38" name="Google Shape;310;p34">
            <a:extLst>
              <a:ext uri="{FF2B5EF4-FFF2-40B4-BE49-F238E27FC236}">
                <a16:creationId xmlns:a16="http://schemas.microsoft.com/office/drawing/2014/main" id="{78A95400-C6AD-49CF-88B4-3CFA3733BE88}"/>
              </a:ext>
            </a:extLst>
          </p:cNvPr>
          <p:cNvSpPr txBox="1">
            <a:spLocks/>
          </p:cNvSpPr>
          <p:nvPr/>
        </p:nvSpPr>
        <p:spPr>
          <a:xfrm>
            <a:off x="916650" y="833695"/>
            <a:ext cx="10734067" cy="317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000" b="1" dirty="0"/>
              <a:t>Ejemplo</a:t>
            </a:r>
            <a:r>
              <a:rPr lang="es-MX" sz="2000" dirty="0"/>
              <a:t>: Suponga que a 100 personas desde un punto A hasta un punto B los cuales están separados a una distancia de 60 km. Para lo cual cuenta con dos opciones.</a:t>
            </a:r>
          </a:p>
          <a:p>
            <a:pPr marL="342900" indent="-342900"/>
            <a:r>
              <a:rPr lang="es-MX" sz="1800" b="1" dirty="0"/>
              <a:t>Automóvil</a:t>
            </a:r>
            <a:r>
              <a:rPr lang="es-MX" sz="1800" dirty="0"/>
              <a:t>: </a:t>
            </a:r>
          </a:p>
          <a:p>
            <a:pPr marL="800100" lvl="1" indent="-342900"/>
            <a:r>
              <a:rPr lang="es-MX" sz="1600" dirty="0"/>
              <a:t>Velocidad: 120 km/hr</a:t>
            </a:r>
          </a:p>
          <a:p>
            <a:pPr marL="800100" lvl="1" indent="-342900"/>
            <a:r>
              <a:rPr lang="es-MX" sz="1600" dirty="0"/>
              <a:t>Capacidad: 6 personas</a:t>
            </a:r>
            <a:endParaRPr lang="es-MX" sz="2000" dirty="0"/>
          </a:p>
          <a:p>
            <a:pPr marL="342900" indent="-342900"/>
            <a:endParaRPr lang="es-MX" sz="1800" b="1" dirty="0"/>
          </a:p>
          <a:p>
            <a:pPr marL="342900" indent="-342900"/>
            <a:endParaRPr lang="es-MX" sz="1800" b="1" dirty="0"/>
          </a:p>
          <a:p>
            <a:pPr marL="342900" indent="-342900"/>
            <a:endParaRPr lang="es-MX" sz="1800" b="1" dirty="0"/>
          </a:p>
          <a:p>
            <a:pPr marL="342900" indent="-342900"/>
            <a:endParaRPr lang="es-MX" sz="1800" b="1" dirty="0"/>
          </a:p>
          <a:p>
            <a:pPr marL="342900" indent="-342900"/>
            <a:r>
              <a:rPr lang="es-MX" sz="1800" b="1" dirty="0"/>
              <a:t>Bus</a:t>
            </a:r>
            <a:r>
              <a:rPr lang="es-MX" sz="1800" dirty="0"/>
              <a:t>:</a:t>
            </a:r>
          </a:p>
          <a:p>
            <a:pPr marL="800100" lvl="1" indent="-342900"/>
            <a:r>
              <a:rPr lang="es-MX" sz="1600" dirty="0"/>
              <a:t>Velocidad: 60 km/hr</a:t>
            </a:r>
          </a:p>
          <a:p>
            <a:pPr marL="800100" lvl="1" indent="-342900"/>
            <a:r>
              <a:rPr lang="es-MX" sz="1600" dirty="0"/>
              <a:t>Capacidad: 30 personas.</a:t>
            </a:r>
          </a:p>
          <a:p>
            <a:pPr marL="342900" indent="-342900"/>
            <a:endParaRPr lang="es-MX" sz="2000" dirty="0"/>
          </a:p>
          <a:p>
            <a:pPr marL="342900" indent="-342900"/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8ECCFCE-4ADB-41EB-A0D6-B49CD928341D}"/>
                  </a:ext>
                </a:extLst>
              </p:cNvPr>
              <p:cNvSpPr txBox="1"/>
              <p:nvPr/>
            </p:nvSpPr>
            <p:spPr>
              <a:xfrm>
                <a:off x="4879965" y="1811347"/>
                <a:ext cx="6125472" cy="500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es-MX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16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MX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120 </m:t>
                          </m:r>
                          <m:f>
                            <m:fPr>
                              <m:type m:val="lin"/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num>
                            <m:den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h𝑟</m:t>
                              </m:r>
                            </m:den>
                          </m:f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h𝑟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8ECCFCE-4ADB-41EB-A0D6-B49CD928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65" y="1811347"/>
                <a:ext cx="6125472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921958F5-3283-4229-8FC5-F838EBE26939}"/>
                  </a:ext>
                </a:extLst>
              </p:cNvPr>
              <p:cNvSpPr txBox="1"/>
              <p:nvPr/>
            </p:nvSpPr>
            <p:spPr>
              <a:xfrm>
                <a:off x="4879965" y="3529695"/>
                <a:ext cx="5705729" cy="532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latin typeface="Cambria Math" panose="02040503050406030204" pitchFamily="18" charset="0"/>
                        </a:rPr>
                        <m:t>𝑇h𝑟𝑜𝑢𝑔h𝑝𝑢𝑡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MX" sz="16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𝑣𝑖𝑎𝑗𝑒𝑠</m:t>
                              </m:r>
                            </m:sub>
                          </m:sSub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8.5 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921958F5-3283-4229-8FC5-F838EBE26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65" y="3529695"/>
                <a:ext cx="5705729" cy="5320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4FC4E355-7DBB-4469-BC64-BD1990AA9093}"/>
                  </a:ext>
                </a:extLst>
              </p:cNvPr>
              <p:cNvSpPr txBox="1"/>
              <p:nvPr/>
            </p:nvSpPr>
            <p:spPr>
              <a:xfrm>
                <a:off x="4879965" y="4251743"/>
                <a:ext cx="6125472" cy="500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es-MX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16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MX" sz="1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MX" sz="16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f>
                            <m:fPr>
                              <m:type m:val="lin"/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num>
                            <m:den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h𝑟</m:t>
                              </m:r>
                            </m:den>
                          </m:f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h𝑟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4FC4E355-7DBB-4469-BC64-BD1990AA9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65" y="4251743"/>
                <a:ext cx="6125472" cy="5005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64F07E2-1C0E-4F87-848B-183A876348BC}"/>
                  </a:ext>
                </a:extLst>
              </p:cNvPr>
              <p:cNvSpPr txBox="1"/>
              <p:nvPr/>
            </p:nvSpPr>
            <p:spPr>
              <a:xfrm>
                <a:off x="5351073" y="2465869"/>
                <a:ext cx="6125472" cy="8893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𝑝𝑎𝑠𝑎𝑗𝑒𝑟𝑜𝑠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6 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17 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</m:oMath>
                  </m:oMathPara>
                </a14:m>
                <a:endParaRPr lang="es-MX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𝑣𝑖𝑎𝑗𝑒𝑠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=17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0.5 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=8.5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h𝑟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364F07E2-1C0E-4F87-848B-183A87634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073" y="2465869"/>
                <a:ext cx="6125472" cy="889346"/>
              </a:xfrm>
              <a:prstGeom prst="rect">
                <a:avLst/>
              </a:prstGeom>
              <a:blipFill>
                <a:blip r:embed="rId6"/>
                <a:stretch>
                  <a:fillRect l="-1393" t="-2069" b="-82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AD277D0-7C4E-4CBE-9EBF-79E2342B971F}"/>
                  </a:ext>
                </a:extLst>
              </p:cNvPr>
              <p:cNvSpPr txBox="1"/>
              <p:nvPr/>
            </p:nvSpPr>
            <p:spPr>
              <a:xfrm>
                <a:off x="5394617" y="4924156"/>
                <a:ext cx="6125472" cy="8849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𝑝𝑎𝑠𝑎𝑗𝑒𝑟𝑜𝑠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</m:oMath>
                  </m:oMathPara>
                </a14:m>
                <a:endParaRPr lang="es-MX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MX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𝑣𝑖𝑎𝑗𝑒𝑠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𝑣𝑖𝑎𝑗𝑒𝑠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𝑣𝑖𝑎𝑗𝑒𝑠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h𝑟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AD277D0-7C4E-4CBE-9EBF-79E2342B9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617" y="4924156"/>
                <a:ext cx="6125472" cy="884986"/>
              </a:xfrm>
              <a:prstGeom prst="rect">
                <a:avLst/>
              </a:prstGeom>
              <a:blipFill>
                <a:blip r:embed="rId7"/>
                <a:stretch>
                  <a:fillRect l="-1393" t="-2069" b="-827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52738C0-C581-437B-97B0-B807ED7EE53C}"/>
                  </a:ext>
                </a:extLst>
              </p:cNvPr>
              <p:cNvSpPr txBox="1"/>
              <p:nvPr/>
            </p:nvSpPr>
            <p:spPr>
              <a:xfrm>
                <a:off x="4879965" y="5981033"/>
                <a:ext cx="5705729" cy="5320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latin typeface="Cambria Math" panose="02040503050406030204" pitchFamily="18" charset="0"/>
                        </a:rPr>
                        <m:t>𝑇h𝑟𝑜𝑢𝑔h𝑝𝑢𝑡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MX" sz="16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𝑣𝑖𝑎𝑗𝑒𝑠</m:t>
                              </m:r>
                            </m:sub>
                          </m:sSub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52738C0-C581-437B-97B0-B807ED7EE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65" y="5981033"/>
                <a:ext cx="5705729" cy="5320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6" descr="Car - Free transport icons">
            <a:extLst>
              <a:ext uri="{FF2B5EF4-FFF2-40B4-BE49-F238E27FC236}">
                <a16:creationId xmlns:a16="http://schemas.microsoft.com/office/drawing/2014/main" id="{4EB00C18-8B2F-46EA-BECC-CB121A829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503" y="2493040"/>
            <a:ext cx="880318" cy="88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A6AF90A7-B734-4DF5-A164-C040CF7B78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6299" y="5052554"/>
            <a:ext cx="1228725" cy="742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2506B3C-93B5-4417-A06D-35208ED9F258}"/>
                  </a:ext>
                </a:extLst>
              </p:cNvPr>
              <p:cNvSpPr txBox="1"/>
              <p:nvPr/>
            </p:nvSpPr>
            <p:spPr>
              <a:xfrm>
                <a:off x="2132672" y="3324305"/>
                <a:ext cx="1774835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A2506B3C-93B5-4417-A06D-35208ED9F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672" y="3324305"/>
                <a:ext cx="1774835" cy="246221"/>
              </a:xfrm>
              <a:prstGeom prst="rect">
                <a:avLst/>
              </a:prstGeom>
              <a:blipFill>
                <a:blip r:embed="rId11"/>
                <a:stretch>
                  <a:fillRect l="-5155" b="-317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92C16884-F7C5-4BDB-8742-B6E675237B0C}"/>
                  </a:ext>
                </a:extLst>
              </p:cNvPr>
              <p:cNvSpPr txBox="1"/>
              <p:nvPr/>
            </p:nvSpPr>
            <p:spPr>
              <a:xfrm>
                <a:off x="1456797" y="3667713"/>
                <a:ext cx="2947730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latin typeface="Cambria Math" panose="02040503050406030204" pitchFamily="18" charset="0"/>
                        </a:rPr>
                        <m:t>𝑇h𝑟𝑜𝑢𝑔h𝑝𝑢𝑡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92C16884-F7C5-4BDB-8742-B6E675237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797" y="3667713"/>
                <a:ext cx="2947730" cy="246221"/>
              </a:xfrm>
              <a:prstGeom prst="rect">
                <a:avLst/>
              </a:prstGeom>
              <a:blipFill>
                <a:blip r:embed="rId12"/>
                <a:stretch>
                  <a:fillRect l="-1860" t="-160000" r="-12603" b="-25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3F8CD40D-15F6-4E86-A9FD-AEBCA4F074CA}"/>
                  </a:ext>
                </a:extLst>
              </p:cNvPr>
              <p:cNvSpPr txBox="1"/>
              <p:nvPr/>
            </p:nvSpPr>
            <p:spPr>
              <a:xfrm>
                <a:off x="2043243" y="5946480"/>
                <a:ext cx="1774835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𝐿𝑎𝑡𝑒𝑛𝑐𝑦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3F8CD40D-15F6-4E86-A9FD-AEBCA4F0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243" y="5946480"/>
                <a:ext cx="1774835" cy="246221"/>
              </a:xfrm>
              <a:prstGeom prst="rect">
                <a:avLst/>
              </a:prstGeom>
              <a:blipFill>
                <a:blip r:embed="rId13"/>
                <a:stretch>
                  <a:fillRect l="-5155" b="-317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109B04FC-D5D9-44A8-8CB3-71691A8FDAE9}"/>
                  </a:ext>
                </a:extLst>
              </p:cNvPr>
              <p:cNvSpPr txBox="1"/>
              <p:nvPr/>
            </p:nvSpPr>
            <p:spPr>
              <a:xfrm>
                <a:off x="1546225" y="6301312"/>
                <a:ext cx="2947730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i="1" smtClean="0">
                          <a:latin typeface="Cambria Math" panose="02040503050406030204" pitchFamily="18" charset="0"/>
                        </a:rPr>
                        <m:t>𝑇h𝑟𝑜𝑢𝑔h𝑝𝑢𝑡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𝑝𝑎𝑠𝑎𝑗𝑒𝑟𝑜𝑠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h𝑟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109B04FC-D5D9-44A8-8CB3-71691A8FD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225" y="6301312"/>
                <a:ext cx="2947730" cy="246221"/>
              </a:xfrm>
              <a:prstGeom prst="rect">
                <a:avLst/>
              </a:prstGeom>
              <a:blipFill>
                <a:blip r:embed="rId14"/>
                <a:stretch>
                  <a:fillRect l="-1863" t="-160000" r="-12836" b="-25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68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rendimiento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dirty="0"/>
              <a:t>En términos de almacenamiento (curso de sistemas operativos) tenemos:</a:t>
            </a:r>
          </a:p>
          <a:p>
            <a:pPr marL="342900" indent="-342900"/>
            <a:endParaRPr lang="es-MX" sz="2200" dirty="0"/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50" y="1262743"/>
            <a:ext cx="11017452" cy="5499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Tiempo de acceso (Access Time)</a:t>
            </a:r>
            <a:r>
              <a:rPr lang="es-MX" sz="2000" dirty="0"/>
              <a:t>: El tiempo de acceso es el intervalo total necesario para acceder a los datos en el almacenamiento secundario. Depende del tipo de dispositivo de almacenamiento.</a:t>
            </a:r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r>
              <a:rPr lang="es-MX" sz="2000" b="1" dirty="0"/>
              <a:t>Throughput (Transfer </a:t>
            </a:r>
            <a:r>
              <a:rPr lang="es-MX" sz="2000" b="1" dirty="0" err="1"/>
              <a:t>Rate</a:t>
            </a:r>
            <a:r>
              <a:rPr lang="es-MX" sz="2000" b="1" dirty="0"/>
              <a:t>)</a:t>
            </a:r>
            <a:r>
              <a:rPr lang="es-MX" sz="2000" dirty="0"/>
              <a:t>: Mide la velocidad a la cual se pueden mover grandes volúmenes de datos durante determinada cantidad de tiempo.</a:t>
            </a:r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r>
              <a:rPr lang="en-US" sz="2000" b="1" dirty="0"/>
              <a:t>IOPS (Input/Output Operations Per Second)</a:t>
            </a:r>
            <a:r>
              <a:rPr lang="en-US" sz="2000" dirty="0"/>
              <a:t>: Número de operaciones de I/O completadas por segundo.</a:t>
            </a:r>
            <a:endParaRPr lang="es-MX" sz="2000" dirty="0"/>
          </a:p>
          <a:p>
            <a:pPr marL="342900" indent="-342900"/>
            <a:endParaRPr lang="es-MX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3A5DF41-FC78-4EE2-B1FF-E2370EAB7CC6}"/>
                  </a:ext>
                </a:extLst>
              </p:cNvPr>
              <p:cNvSpPr txBox="1"/>
              <p:nvPr/>
            </p:nvSpPr>
            <p:spPr>
              <a:xfrm>
                <a:off x="5068650" y="2482256"/>
                <a:ext cx="2554354" cy="2950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𝐿𝑎𝑡𝑒𝑛𝑐𝑦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𝑎𝑐𝑐𝑒𝑠𝑠</m:t>
                        </m:r>
                      </m:sub>
                    </m:sSub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f>
                          <m:fPr>
                            <m:type m:val="lin"/>
                            <m:ctrlPr>
                              <a:rPr lang="es-MX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r>
                              <a:rPr lang="es-MX" sz="18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den>
                        </m:f>
                      </m:sub>
                    </m:sSub>
                  </m:oMath>
                </a14:m>
                <a:r>
                  <a:rPr lang="es-CO" sz="1800" dirty="0"/>
                  <a:t> 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3A5DF41-FC78-4EE2-B1FF-E2370EAB7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650" y="2482256"/>
                <a:ext cx="2554354" cy="295081"/>
              </a:xfrm>
              <a:prstGeom prst="rect">
                <a:avLst/>
              </a:prstGeom>
              <a:blipFill>
                <a:blip r:embed="rId3"/>
                <a:stretch>
                  <a:fillRect l="-4057" t="-77551" r="-13604" b="-1816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AA9DA33-B347-40CB-9BB7-4F837FCFD7AF}"/>
                  </a:ext>
                </a:extLst>
              </p:cNvPr>
              <p:cNvSpPr txBox="1"/>
              <p:nvPr/>
            </p:nvSpPr>
            <p:spPr>
              <a:xfrm>
                <a:off x="4141882" y="4012352"/>
                <a:ext cx="4145523" cy="61144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>
                          <a:latin typeface="Cambria Math" panose="02040503050406030204" pitchFamily="18" charset="0"/>
                        </a:rPr>
                        <m:t>𝑇h𝑟𝑜𝑢𝑔h𝑝𝑢𝑡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AA9DA33-B347-40CB-9BB7-4F837FCFD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882" y="4012352"/>
                <a:ext cx="4145523" cy="611449"/>
              </a:xfrm>
              <a:prstGeom prst="rect">
                <a:avLst/>
              </a:prstGeom>
              <a:blipFill>
                <a:blip r:embed="rId4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666B001-EE81-4AEA-BD9B-087FEAF84341}"/>
                  </a:ext>
                </a:extLst>
              </p:cNvPr>
              <p:cNvSpPr txBox="1"/>
              <p:nvPr/>
            </p:nvSpPr>
            <p:spPr>
              <a:xfrm>
                <a:off x="5702734" y="5807543"/>
                <a:ext cx="1286186" cy="59433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𝐼𝑂𝑃𝑆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f>
                                <m:fPr>
                                  <m:type m:val="lin"/>
                                  <m:ctrlP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num>
                                <m:den>
                                  <m:r>
                                    <a:rPr lang="es-MX" sz="18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den>
                              </m:f>
                            </m:sub>
                          </m:sSub>
                        </m:den>
                      </m:f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666B001-EE81-4AEA-BD9B-087FEAF84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2734" y="5807543"/>
                <a:ext cx="1286186" cy="594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5036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Métricas de rendimiento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879221"/>
            <a:ext cx="11017452" cy="81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000" dirty="0"/>
              <a:t>Las </a:t>
            </a:r>
            <a:r>
              <a:rPr lang="es-MX" sz="2000" b="1" dirty="0"/>
              <a:t>métricas de rendimiento</a:t>
            </a:r>
            <a:r>
              <a:rPr lang="es-MX" sz="2000" dirty="0"/>
              <a:t> dependen del tipo de hardware empleado. La siguiente tabla muestra algunos casos:</a:t>
            </a:r>
          </a:p>
          <a:p>
            <a:pPr marL="342900" indent="-342900"/>
            <a:endParaRPr lang="es-MX" sz="2000" dirty="0"/>
          </a:p>
        </p:txBody>
      </p:sp>
      <p:pic>
        <p:nvPicPr>
          <p:cNvPr id="5126" name="Picture 6" descr="Hard drive - Free computer icons">
            <a:extLst>
              <a:ext uri="{FF2B5EF4-FFF2-40B4-BE49-F238E27FC236}">
                <a16:creationId xmlns:a16="http://schemas.microsoft.com/office/drawing/2014/main" id="{52A4753D-EE5F-4B01-8382-0F0C57B20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692" y="5039375"/>
            <a:ext cx="1528615" cy="152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Ssd - Iconos gratis de computadora">
            <a:extLst>
              <a:ext uri="{FF2B5EF4-FFF2-40B4-BE49-F238E27FC236}">
                <a16:creationId xmlns:a16="http://schemas.microsoft.com/office/drawing/2014/main" id="{833A2704-97EA-4099-BFDA-87023E188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899" y="5063963"/>
            <a:ext cx="1528615" cy="152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F38DBC9-0E7F-4951-BD2C-9093987E7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56493"/>
              </p:ext>
            </p:extLst>
          </p:nvPr>
        </p:nvGraphicFramePr>
        <p:xfrm>
          <a:off x="1541319" y="1826587"/>
          <a:ext cx="9768114" cy="3108960"/>
        </p:xfrm>
        <a:graphic>
          <a:graphicData uri="http://schemas.openxmlformats.org/drawingml/2006/table">
            <a:tbl>
              <a:tblPr/>
              <a:tblGrid>
                <a:gridCol w="3018971">
                  <a:extLst>
                    <a:ext uri="{9D8B030D-6E8A-4147-A177-3AD203B41FA5}">
                      <a16:colId xmlns:a16="http://schemas.microsoft.com/office/drawing/2014/main" val="278547960"/>
                    </a:ext>
                  </a:extLst>
                </a:gridCol>
                <a:gridCol w="3164114">
                  <a:extLst>
                    <a:ext uri="{9D8B030D-6E8A-4147-A177-3AD203B41FA5}">
                      <a16:colId xmlns:a16="http://schemas.microsoft.com/office/drawing/2014/main" val="1393830965"/>
                    </a:ext>
                  </a:extLst>
                </a:gridCol>
                <a:gridCol w="3585029">
                  <a:extLst>
                    <a:ext uri="{9D8B030D-6E8A-4147-A177-3AD203B41FA5}">
                      <a16:colId xmlns:a16="http://schemas.microsoft.com/office/drawing/2014/main" val="2132832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Métrica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HDD (Disco Mecánico)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SSD (Estado Sólido)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281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Latencia promedio</a:t>
                      </a: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 – 15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20 – 200 µs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8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IOPS (4 KB aleatorio)</a:t>
                      </a:r>
                      <a:endParaRPr lang="es-CO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 – 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50,000 – 1,000,000+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311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Throughput secuencial</a:t>
                      </a: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 – 200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 MB/s (SATA) 2 – 7 GB/s (NVMe)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24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Acceso aleatorio</a:t>
                      </a: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Muy costoso (movimiento mecánico)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Muy eficiente (sin partes móviles)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92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Componente dominante</a:t>
                      </a: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Seek + rotación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Controlador + memoria NAND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950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Variabilidad</a:t>
                      </a:r>
                      <a:endParaRPr lang="es-CO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Baja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462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32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Tipos de acceso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9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dirty="0"/>
              <a:t>La forma como se accede a los datos puede ser de dos tipos:</a:t>
            </a:r>
          </a:p>
          <a:p>
            <a:pPr marL="342900" indent="-342900"/>
            <a:endParaRPr lang="es-MX" sz="2200" dirty="0"/>
          </a:p>
        </p:txBody>
      </p:sp>
      <p:sp>
        <p:nvSpPr>
          <p:cNvPr id="16" name="Google Shape;310;p34">
            <a:extLst>
              <a:ext uri="{FF2B5EF4-FFF2-40B4-BE49-F238E27FC236}">
                <a16:creationId xmlns:a16="http://schemas.microsoft.com/office/drawing/2014/main" id="{7138685F-3216-4DF5-8B03-5699F9EAF755}"/>
              </a:ext>
            </a:extLst>
          </p:cNvPr>
          <p:cNvSpPr txBox="1">
            <a:spLocks/>
          </p:cNvSpPr>
          <p:nvPr/>
        </p:nvSpPr>
        <p:spPr>
          <a:xfrm>
            <a:off x="916650" y="1349829"/>
            <a:ext cx="10665750" cy="201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Acceso Secuencial</a:t>
            </a:r>
            <a:r>
              <a:rPr lang="es-MX" sz="2200" dirty="0"/>
              <a:t>: Los bloques de datos se leen/escriben en posiciones contiguas del disco.</a:t>
            </a:r>
          </a:p>
          <a:p>
            <a:pPr marL="800100" lvl="1" indent="-342900"/>
            <a:r>
              <a:rPr lang="es-MX" sz="1800" dirty="0"/>
              <a:t>Leer un archivo grande de principio a fin.</a:t>
            </a:r>
          </a:p>
          <a:p>
            <a:pPr marL="800100" lvl="1" indent="-342900"/>
            <a:r>
              <a:rPr lang="es-MX" sz="1800" dirty="0"/>
              <a:t>Copiar un video.</a:t>
            </a:r>
          </a:p>
          <a:p>
            <a:pPr marL="800100" lvl="1" indent="-342900"/>
            <a:r>
              <a:rPr lang="es-MX" sz="1800" dirty="0"/>
              <a:t>Backup completo.</a:t>
            </a:r>
          </a:p>
          <a:p>
            <a:pPr marL="342900" indent="-342900"/>
            <a:endParaRPr lang="es-MX" sz="2200" dirty="0"/>
          </a:p>
        </p:txBody>
      </p:sp>
      <p:sp>
        <p:nvSpPr>
          <p:cNvPr id="19" name="Google Shape;310;p34">
            <a:extLst>
              <a:ext uri="{FF2B5EF4-FFF2-40B4-BE49-F238E27FC236}">
                <a16:creationId xmlns:a16="http://schemas.microsoft.com/office/drawing/2014/main" id="{F0CF8349-792B-4939-A646-99D07D504431}"/>
              </a:ext>
            </a:extLst>
          </p:cNvPr>
          <p:cNvSpPr txBox="1">
            <a:spLocks/>
          </p:cNvSpPr>
          <p:nvPr/>
        </p:nvSpPr>
        <p:spPr>
          <a:xfrm>
            <a:off x="916650" y="3664350"/>
            <a:ext cx="11017452" cy="201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Acceso Aleatorio</a:t>
            </a:r>
            <a:r>
              <a:rPr lang="es-MX" sz="2200" dirty="0"/>
              <a:t>: Cada bloque solicitado está en una posición distinta del disco.</a:t>
            </a:r>
          </a:p>
          <a:p>
            <a:pPr marL="800100" lvl="1" indent="-342900"/>
            <a:r>
              <a:rPr lang="es-MX" sz="1800" dirty="0"/>
              <a:t>Consultas a una base de datos sin índice clustered.</a:t>
            </a:r>
          </a:p>
          <a:p>
            <a:pPr marL="800100" lvl="1" indent="-342900"/>
            <a:r>
              <a:rPr lang="es-MX" sz="1800" dirty="0"/>
              <a:t>Acceso a múltiples archivos pequeños.</a:t>
            </a:r>
          </a:p>
          <a:p>
            <a:pPr marL="800100" lvl="1" indent="-342900"/>
            <a:r>
              <a:rPr lang="es-MX" sz="1800" dirty="0"/>
              <a:t>Carga de sistema operativo.</a:t>
            </a:r>
          </a:p>
        </p:txBody>
      </p:sp>
      <p:graphicFrame>
        <p:nvGraphicFramePr>
          <p:cNvPr id="18" name="Tabla 19">
            <a:extLst>
              <a:ext uri="{FF2B5EF4-FFF2-40B4-BE49-F238E27FC236}">
                <a16:creationId xmlns:a16="http://schemas.microsoft.com/office/drawing/2014/main" id="{C2A2F284-45A7-41EC-8B54-B3ED2B9B8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11621"/>
              </p:ext>
            </p:extLst>
          </p:nvPr>
        </p:nvGraphicFramePr>
        <p:xfrm>
          <a:off x="6634708" y="2863234"/>
          <a:ext cx="4323580" cy="370840"/>
        </p:xfrm>
        <a:graphic>
          <a:graphicData uri="http://schemas.openxmlformats.org/drawingml/2006/table">
            <a:tbl>
              <a:tblPr firstRow="1" bandRow="1">
                <a:tableStyleId>{AD6A3598-7CB8-4345-8D95-17CE05F158A0}</a:tableStyleId>
              </a:tblPr>
              <a:tblGrid>
                <a:gridCol w="432358">
                  <a:extLst>
                    <a:ext uri="{9D8B030D-6E8A-4147-A177-3AD203B41FA5}">
                      <a16:colId xmlns:a16="http://schemas.microsoft.com/office/drawing/2014/main" val="135954507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052919185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019509294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1261493378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775218149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158170702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2630144012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4166133076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2060233723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180876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b="1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126605"/>
                  </a:ext>
                </a:extLst>
              </a:tr>
            </a:tbl>
          </a:graphicData>
        </a:graphic>
      </p:graphicFrame>
      <p:graphicFrame>
        <p:nvGraphicFramePr>
          <p:cNvPr id="24" name="Tabla 19">
            <a:extLst>
              <a:ext uri="{FF2B5EF4-FFF2-40B4-BE49-F238E27FC236}">
                <a16:creationId xmlns:a16="http://schemas.microsoft.com/office/drawing/2014/main" id="{AFA05ABD-299F-48A4-AE46-7F987B94D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64619"/>
              </p:ext>
            </p:extLst>
          </p:nvPr>
        </p:nvGraphicFramePr>
        <p:xfrm>
          <a:off x="6634708" y="5793451"/>
          <a:ext cx="4323580" cy="370840"/>
        </p:xfrm>
        <a:graphic>
          <a:graphicData uri="http://schemas.openxmlformats.org/drawingml/2006/table">
            <a:tbl>
              <a:tblPr firstRow="1" bandRow="1">
                <a:tableStyleId>{AD6A3598-7CB8-4345-8D95-17CE05F158A0}</a:tableStyleId>
              </a:tblPr>
              <a:tblGrid>
                <a:gridCol w="432358">
                  <a:extLst>
                    <a:ext uri="{9D8B030D-6E8A-4147-A177-3AD203B41FA5}">
                      <a16:colId xmlns:a16="http://schemas.microsoft.com/office/drawing/2014/main" val="135954507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052919185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019509294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1261493378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775218149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3158170702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2630144012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4166133076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2060233723"/>
                    </a:ext>
                  </a:extLst>
                </a:gridCol>
                <a:gridCol w="432358">
                  <a:extLst>
                    <a:ext uri="{9D8B030D-6E8A-4147-A177-3AD203B41FA5}">
                      <a16:colId xmlns:a16="http://schemas.microsoft.com/office/drawing/2014/main" val="180876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126605"/>
                  </a:ext>
                </a:extLst>
              </a:tr>
            </a:tbl>
          </a:graphicData>
        </a:graphic>
      </p:graphicFrame>
      <p:sp>
        <p:nvSpPr>
          <p:cNvPr id="26" name="Arco 25">
            <a:extLst>
              <a:ext uri="{FF2B5EF4-FFF2-40B4-BE49-F238E27FC236}">
                <a16:creationId xmlns:a16="http://schemas.microsoft.com/office/drawing/2014/main" id="{97BF7D18-7089-4914-8E38-992AAEE80001}"/>
              </a:ext>
            </a:extLst>
          </p:cNvPr>
          <p:cNvSpPr/>
          <p:nvPr/>
        </p:nvSpPr>
        <p:spPr>
          <a:xfrm>
            <a:off x="8047528" y="2534703"/>
            <a:ext cx="420913" cy="657064"/>
          </a:xfrm>
          <a:prstGeom prst="arc">
            <a:avLst>
              <a:gd name="adj1" fmla="val 10979212"/>
              <a:gd name="adj2" fmla="val 0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Arco 30">
            <a:extLst>
              <a:ext uri="{FF2B5EF4-FFF2-40B4-BE49-F238E27FC236}">
                <a16:creationId xmlns:a16="http://schemas.microsoft.com/office/drawing/2014/main" id="{30B2C4B0-E7CB-4EC7-876A-9EA5EBDC254E}"/>
              </a:ext>
            </a:extLst>
          </p:cNvPr>
          <p:cNvSpPr/>
          <p:nvPr/>
        </p:nvSpPr>
        <p:spPr>
          <a:xfrm>
            <a:off x="8520739" y="2539892"/>
            <a:ext cx="420913" cy="653924"/>
          </a:xfrm>
          <a:prstGeom prst="arc">
            <a:avLst>
              <a:gd name="adj1" fmla="val 11164977"/>
              <a:gd name="adj2" fmla="val 0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Arco 31">
            <a:extLst>
              <a:ext uri="{FF2B5EF4-FFF2-40B4-BE49-F238E27FC236}">
                <a16:creationId xmlns:a16="http://schemas.microsoft.com/office/drawing/2014/main" id="{03DAACE2-A987-4FC5-902B-F06BAF8EC208}"/>
              </a:ext>
            </a:extLst>
          </p:cNvPr>
          <p:cNvSpPr/>
          <p:nvPr/>
        </p:nvSpPr>
        <p:spPr>
          <a:xfrm>
            <a:off x="9006470" y="2550327"/>
            <a:ext cx="420913" cy="653924"/>
          </a:xfrm>
          <a:prstGeom prst="arc">
            <a:avLst>
              <a:gd name="adj1" fmla="val 11164977"/>
              <a:gd name="adj2" fmla="val 0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Arco 32">
            <a:extLst>
              <a:ext uri="{FF2B5EF4-FFF2-40B4-BE49-F238E27FC236}">
                <a16:creationId xmlns:a16="http://schemas.microsoft.com/office/drawing/2014/main" id="{C817F969-2F12-494F-A463-4455BA270DA0}"/>
              </a:ext>
            </a:extLst>
          </p:cNvPr>
          <p:cNvSpPr/>
          <p:nvPr/>
        </p:nvSpPr>
        <p:spPr>
          <a:xfrm>
            <a:off x="9482720" y="2540802"/>
            <a:ext cx="420913" cy="653924"/>
          </a:xfrm>
          <a:prstGeom prst="arc">
            <a:avLst>
              <a:gd name="adj1" fmla="val 11164977"/>
              <a:gd name="adj2" fmla="val 0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Arco 33">
            <a:extLst>
              <a:ext uri="{FF2B5EF4-FFF2-40B4-BE49-F238E27FC236}">
                <a16:creationId xmlns:a16="http://schemas.microsoft.com/office/drawing/2014/main" id="{E9C2B207-619E-40F9-85D8-5EEE866AFBDD}"/>
              </a:ext>
            </a:extLst>
          </p:cNvPr>
          <p:cNvSpPr/>
          <p:nvPr/>
        </p:nvSpPr>
        <p:spPr>
          <a:xfrm>
            <a:off x="7233849" y="5238750"/>
            <a:ext cx="3087197" cy="1094558"/>
          </a:xfrm>
          <a:prstGeom prst="arc">
            <a:avLst>
              <a:gd name="adj1" fmla="val 10804821"/>
              <a:gd name="adj2" fmla="val 21345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Arco 34">
            <a:extLst>
              <a:ext uri="{FF2B5EF4-FFF2-40B4-BE49-F238E27FC236}">
                <a16:creationId xmlns:a16="http://schemas.microsoft.com/office/drawing/2014/main" id="{BEF43398-F3C9-4F15-B3C3-1DD06E749350}"/>
              </a:ext>
            </a:extLst>
          </p:cNvPr>
          <p:cNvSpPr/>
          <p:nvPr/>
        </p:nvSpPr>
        <p:spPr>
          <a:xfrm flipH="1">
            <a:off x="8941651" y="5400675"/>
            <a:ext cx="1359822" cy="763616"/>
          </a:xfrm>
          <a:prstGeom prst="arc">
            <a:avLst>
              <a:gd name="adj1" fmla="val 10804821"/>
              <a:gd name="adj2" fmla="val 21345"/>
            </a:avLst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333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310;p34">
                <a:extLst>
                  <a:ext uri="{FF2B5EF4-FFF2-40B4-BE49-F238E27FC236}">
                    <a16:creationId xmlns:a16="http://schemas.microsoft.com/office/drawing/2014/main" id="{3F68C05D-CA2E-4B92-9378-193EE45D5F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650" y="753292"/>
                <a:ext cx="11017452" cy="2280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0" indent="0">
                  <a:buNone/>
                </a:pPr>
                <a:r>
                  <a:rPr lang="es-MX" sz="2200" b="1" dirty="0"/>
                  <a:t>Sobre el disco duro</a:t>
                </a:r>
              </a:p>
              <a:p>
                <a:pPr marL="342900" indent="-342900"/>
                <a:r>
                  <a:rPr lang="es-MX" sz="2000" dirty="0"/>
                  <a:t>Principal sistema de almacenamiento de datos persistentes</a:t>
                </a:r>
              </a:p>
              <a:p>
                <a:pPr marL="342900" indent="-342900"/>
                <a:r>
                  <a:rPr lang="es-MX" sz="2000" dirty="0"/>
                  <a:t>Consiste de un gran número de </a:t>
                </a:r>
                <a:r>
                  <a:rPr lang="es-MX" sz="2000" b="1" dirty="0"/>
                  <a:t>sectores</a:t>
                </a:r>
                <a:r>
                  <a:rPr lang="es-MX" sz="2000" dirty="0"/>
                  <a:t> (bloques de 512 bytes).</a:t>
                </a:r>
              </a:p>
              <a:p>
                <a:pPr marL="342900" indent="-342900"/>
                <a:r>
                  <a:rPr lang="es-MX" sz="2000" dirty="0"/>
                  <a:t>Espacio de direccionamiento:</a:t>
                </a:r>
              </a:p>
              <a:p>
                <a:pPr marL="800100" lvl="1" indent="-342900"/>
                <a:r>
                  <a:rPr lang="es-MX" sz="1800" dirty="0"/>
                  <a:t>Disco vista lógica: arreglo de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MX" sz="1800" dirty="0"/>
                  <a:t> sectores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(0,1,…,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s-MX" sz="2200" dirty="0"/>
              </a:p>
              <a:p>
                <a:pPr marL="342900" indent="-342900"/>
                <a:endParaRPr lang="es-MX" sz="2200" dirty="0"/>
              </a:p>
            </p:txBody>
          </p:sp>
        </mc:Choice>
        <mc:Fallback xmlns="">
          <p:sp>
            <p:nvSpPr>
              <p:cNvPr id="118" name="Google Shape;310;p34">
                <a:extLst>
                  <a:ext uri="{FF2B5EF4-FFF2-40B4-BE49-F238E27FC236}">
                    <a16:creationId xmlns:a16="http://schemas.microsoft.com/office/drawing/2014/main" id="{3F68C05D-CA2E-4B92-9378-193EE45D5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50" y="753292"/>
                <a:ext cx="11017452" cy="2280853"/>
              </a:xfrm>
              <a:prstGeom prst="rect">
                <a:avLst/>
              </a:prstGeom>
              <a:blipFill>
                <a:blip r:embed="rId3"/>
                <a:stretch>
                  <a:fillRect l="-7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66;p13">
            <a:extLst>
              <a:ext uri="{FF2B5EF4-FFF2-40B4-BE49-F238E27FC236}">
                <a16:creationId xmlns:a16="http://schemas.microsoft.com/office/drawing/2014/main" id="{B1F1FF8C-D07A-4DA8-A577-A3D50B7EC08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0650" y="3429000"/>
            <a:ext cx="2286000" cy="22947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1D1D90EE-C357-4023-9FEF-824B265C1F2B}"/>
              </a:ext>
            </a:extLst>
          </p:cNvPr>
          <p:cNvGrpSpPr/>
          <p:nvPr/>
        </p:nvGrpSpPr>
        <p:grpSpPr>
          <a:xfrm>
            <a:off x="1646577" y="3323490"/>
            <a:ext cx="6844146" cy="1981200"/>
            <a:chOff x="1759527" y="3585754"/>
            <a:chExt cx="6844146" cy="1981200"/>
          </a:xfrm>
        </p:grpSpPr>
        <p:sp>
          <p:nvSpPr>
            <p:cNvPr id="3" name="Cilindro 2">
              <a:extLst>
                <a:ext uri="{FF2B5EF4-FFF2-40B4-BE49-F238E27FC236}">
                  <a16:creationId xmlns:a16="http://schemas.microsoft.com/office/drawing/2014/main" id="{B34E7F59-4DDC-4B4C-A5AF-32407FC3C8CC}"/>
                </a:ext>
              </a:extLst>
            </p:cNvPr>
            <p:cNvSpPr/>
            <p:nvPr/>
          </p:nvSpPr>
          <p:spPr>
            <a:xfrm>
              <a:off x="1759527" y="3585754"/>
              <a:ext cx="6844146" cy="1981200"/>
            </a:xfrm>
            <a:prstGeom prst="ca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97ECB967-5708-47B6-96CD-CC3041AFAA5D}"/>
                </a:ext>
              </a:extLst>
            </p:cNvPr>
            <p:cNvGrpSpPr/>
            <p:nvPr/>
          </p:nvGrpSpPr>
          <p:grpSpPr>
            <a:xfrm>
              <a:off x="2194631" y="4447382"/>
              <a:ext cx="5973937" cy="682414"/>
              <a:chOff x="2216727" y="5723708"/>
              <a:chExt cx="5973937" cy="682414"/>
            </a:xfrm>
          </p:grpSpPr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CA6B91B-C4B1-4EB2-9660-6A8320D0FFB7}"/>
                  </a:ext>
                </a:extLst>
              </p:cNvPr>
              <p:cNvSpPr/>
              <p:nvPr/>
            </p:nvSpPr>
            <p:spPr>
              <a:xfrm>
                <a:off x="2216727" y="5723708"/>
                <a:ext cx="5929746" cy="3948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CFBC7D6C-375C-4039-A100-796428EE292F}"/>
                  </a:ext>
                </a:extLst>
              </p:cNvPr>
              <p:cNvSpPr/>
              <p:nvPr/>
            </p:nvSpPr>
            <p:spPr>
              <a:xfrm>
                <a:off x="2216727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7617F5-2E2F-4D64-87D0-ED6A7F7B9E14}"/>
                  </a:ext>
                </a:extLst>
              </p:cNvPr>
              <p:cNvSpPr/>
              <p:nvPr/>
            </p:nvSpPr>
            <p:spPr>
              <a:xfrm>
                <a:off x="2727267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3FE10A7F-78EC-4024-99E5-8D637FA22EC9}"/>
                  </a:ext>
                </a:extLst>
              </p:cNvPr>
              <p:cNvSpPr/>
              <p:nvPr/>
            </p:nvSpPr>
            <p:spPr>
              <a:xfrm>
                <a:off x="3241495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486313D4-1718-4E6A-B0A4-1C58123672A0}"/>
                  </a:ext>
                </a:extLst>
              </p:cNvPr>
              <p:cNvSpPr/>
              <p:nvPr/>
            </p:nvSpPr>
            <p:spPr>
              <a:xfrm>
                <a:off x="5207456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id="{4355C6AC-AC99-43CC-8482-C15EB9912BCD}"/>
                  </a:ext>
                </a:extLst>
              </p:cNvPr>
              <p:cNvSpPr/>
              <p:nvPr/>
            </p:nvSpPr>
            <p:spPr>
              <a:xfrm>
                <a:off x="7634894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A80C7465-3BDB-4979-92E8-8A87AD1AC507}"/>
                      </a:ext>
                    </a:extLst>
                  </p:cNvPr>
                  <p:cNvSpPr txBox="1"/>
                  <p:nvPr/>
                </p:nvSpPr>
                <p:spPr>
                  <a:xfrm>
                    <a:off x="4255917" y="5767246"/>
                    <a:ext cx="38824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A80C7465-3BDB-4979-92E8-8A87AD1AC5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5917" y="5767246"/>
                    <a:ext cx="388248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9F033204-73D2-4F04-994B-A6B2C0DEE009}"/>
                      </a:ext>
                    </a:extLst>
                  </p:cNvPr>
                  <p:cNvSpPr txBox="1"/>
                  <p:nvPr/>
                </p:nvSpPr>
                <p:spPr>
                  <a:xfrm>
                    <a:off x="6436613" y="5764767"/>
                    <a:ext cx="38824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9F033204-73D2-4F04-994B-A6B2C0DEE0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6613" y="5764767"/>
                    <a:ext cx="388248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E68E798A-3D1D-44AD-B589-0ADD7D9D566E}"/>
                      </a:ext>
                    </a:extLst>
                  </p:cNvPr>
                  <p:cNvSpPr txBox="1"/>
                  <p:nvPr/>
                </p:nvSpPr>
                <p:spPr>
                  <a:xfrm>
                    <a:off x="2321500" y="6144512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E68E798A-3D1D-44AD-B589-0ADD7D9D566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1500" y="6144512"/>
                    <a:ext cx="301686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774664EF-DF93-4D68-A022-5DF99829848C}"/>
                      </a:ext>
                    </a:extLst>
                  </p:cNvPr>
                  <p:cNvSpPr txBox="1"/>
                  <p:nvPr/>
                </p:nvSpPr>
                <p:spPr>
                  <a:xfrm>
                    <a:off x="2832040" y="6144512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774664EF-DF93-4D68-A022-5DF9982984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2040" y="6144512"/>
                    <a:ext cx="301686" cy="2616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2F4ACCB3-47F9-4B44-83B8-7D14F8A5797E}"/>
                      </a:ext>
                    </a:extLst>
                  </p:cNvPr>
                  <p:cNvSpPr txBox="1"/>
                  <p:nvPr/>
                </p:nvSpPr>
                <p:spPr>
                  <a:xfrm>
                    <a:off x="3352846" y="6144512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2F4ACCB3-47F9-4B44-83B8-7D14F8A579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52846" y="6144512"/>
                    <a:ext cx="301686" cy="2616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8878478D-D207-423E-B138-7CCAC1FE71C2}"/>
                      </a:ext>
                    </a:extLst>
                  </p:cNvPr>
                  <p:cNvSpPr txBox="1"/>
                  <p:nvPr/>
                </p:nvSpPr>
                <p:spPr>
                  <a:xfrm>
                    <a:off x="5312229" y="6144512"/>
                    <a:ext cx="2691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8878478D-D207-423E-B138-7CCAC1FE71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2229" y="6144512"/>
                    <a:ext cx="269113" cy="25391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F5981EC2-9FCB-4AA6-B078-9D1336180469}"/>
                      </a:ext>
                    </a:extLst>
                  </p:cNvPr>
                  <p:cNvSpPr txBox="1"/>
                  <p:nvPr/>
                </p:nvSpPr>
                <p:spPr>
                  <a:xfrm>
                    <a:off x="7641539" y="6118563"/>
                    <a:ext cx="549125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F5981EC2-9FCB-4AA6-B078-9D13361804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41539" y="6118563"/>
                    <a:ext cx="549125" cy="2539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4804A3C-9716-48BC-B575-3519ED032BF5}"/>
                  </a:ext>
                </a:extLst>
              </p:cNvPr>
              <p:cNvSpPr/>
              <p:nvPr/>
            </p:nvSpPr>
            <p:spPr>
              <a:xfrm>
                <a:off x="3069852" y="5751251"/>
                <a:ext cx="466878" cy="39913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𝟓𝟏𝟐</m:t>
                      </m:r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s-CO" sz="9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4804A3C-9716-48BC-B575-3519ED032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852" y="5751251"/>
                <a:ext cx="466878" cy="3991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23A2CF7B-068A-40BA-892F-976A1FB143A0}"/>
              </a:ext>
            </a:extLst>
          </p:cNvPr>
          <p:cNvSpPr txBox="1"/>
          <p:nvPr/>
        </p:nvSpPr>
        <p:spPr>
          <a:xfrm>
            <a:off x="2324135" y="5796931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Bloque</a:t>
            </a:r>
          </a:p>
        </p:txBody>
      </p:sp>
    </p:spTree>
    <p:extLst>
      <p:ext uri="{BB962C8B-B14F-4D97-AF65-F5344CB8AC3E}">
        <p14:creationId xmlns:p14="http://schemas.microsoft.com/office/powerpoint/2010/main" val="1569283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867592"/>
            <a:ext cx="10989600" cy="589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Interfaz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s-MX" sz="2000" b="1" dirty="0">
                <a:solidFill>
                  <a:schemeClr val="tx1"/>
                </a:solidFill>
              </a:rPr>
              <a:t>Garantía</a:t>
            </a:r>
            <a:r>
              <a:rPr lang="es-MX" sz="2000" dirty="0">
                <a:solidFill>
                  <a:schemeClr val="tx1"/>
                </a:solidFill>
              </a:rPr>
              <a:t>: escritura </a:t>
            </a:r>
            <a:r>
              <a:rPr lang="es-MX" sz="2000" u="sng" dirty="0">
                <a:solidFill>
                  <a:schemeClr val="tx1"/>
                </a:solidFill>
              </a:rPr>
              <a:t>atómica</a:t>
            </a:r>
            <a:r>
              <a:rPr lang="es-MX" sz="2000" dirty="0">
                <a:solidFill>
                  <a:schemeClr val="tx1"/>
                </a:solidFill>
              </a:rPr>
              <a:t> de un sector (512 bytes).</a:t>
            </a: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s-MX" sz="2000" b="1" dirty="0">
                <a:solidFill>
                  <a:schemeClr val="tx1"/>
                </a:solidFill>
              </a:rPr>
              <a:t>Escritura multi-sector</a:t>
            </a:r>
            <a:r>
              <a:rPr lang="es-MX" sz="2000" dirty="0">
                <a:solidFill>
                  <a:schemeClr val="tx1"/>
                </a:solidFill>
              </a:rPr>
              <a:t>:</a:t>
            </a:r>
          </a:p>
          <a:p>
            <a:pPr lvl="1" indent="-3810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s-MX" sz="2000" dirty="0">
                <a:solidFill>
                  <a:schemeClr val="tx1"/>
                </a:solidFill>
              </a:rPr>
              <a:t>Muchos sistemas de archivos leen y escriben 4KB a la vez.</a:t>
            </a:r>
          </a:p>
          <a:p>
            <a:pPr lvl="2" indent="-3810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s-MX" b="1" dirty="0">
                <a:solidFill>
                  <a:schemeClr val="tx1"/>
                </a:solidFill>
              </a:rPr>
              <a:t>Torn write</a:t>
            </a:r>
            <a:r>
              <a:rPr lang="es-MX" dirty="0">
                <a:solidFill>
                  <a:schemeClr val="tx1"/>
                </a:solidFill>
              </a:rPr>
              <a:t>: Solo una porción del bloque puede quedar escrita (corte de energía).</a:t>
            </a: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990600" lvl="2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2400"/>
              <a:buNone/>
            </a:pPr>
            <a:endParaRPr lang="es-MX" dirty="0">
              <a:solidFill>
                <a:schemeClr val="tx1"/>
              </a:solidFill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endParaRPr lang="es-MX" sz="2000" dirty="0">
              <a:solidFill>
                <a:schemeClr val="tx1"/>
              </a:solidFill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s-MX" sz="2000" dirty="0">
                <a:solidFill>
                  <a:schemeClr val="tx1"/>
                </a:solidFill>
              </a:rPr>
              <a:t>Acceso a bloques contiguos es </a:t>
            </a:r>
            <a:r>
              <a:rPr lang="es-MX" sz="2000" u="sng" dirty="0">
                <a:solidFill>
                  <a:schemeClr val="tx1"/>
                </a:solidFill>
              </a:rPr>
              <a:t>rápido</a:t>
            </a:r>
          </a:p>
          <a:p>
            <a:pPr lvl="1" indent="-381000">
              <a:lnSpc>
                <a:spcPct val="100000"/>
              </a:lnSpc>
              <a:spcBef>
                <a:spcPts val="600"/>
              </a:spcBef>
              <a:buSzPts val="2400"/>
              <a:buChar char="●"/>
            </a:pPr>
            <a:r>
              <a:rPr lang="es-MX" sz="1800" dirty="0">
                <a:solidFill>
                  <a:schemeClr val="tx1"/>
                </a:solidFill>
              </a:rPr>
              <a:t>Lectura o escritura secuencial.</a:t>
            </a:r>
          </a:p>
          <a:p>
            <a:pPr marL="342900" indent="-342900"/>
            <a:endParaRPr lang="es-MX"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28C5139-FD00-4450-8FF0-ABE781795C7F}"/>
              </a:ext>
            </a:extLst>
          </p:cNvPr>
          <p:cNvSpPr txBox="1"/>
          <p:nvPr/>
        </p:nvSpPr>
        <p:spPr>
          <a:xfrm>
            <a:off x="1543050" y="3143250"/>
            <a:ext cx="948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Ejemplo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: Que pasa si se va la luz en la mitad del proceso de escritura de un bloque de 4 KB.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19E98E7-5A9D-46AC-BA58-F9B5AA86C47A}"/>
              </a:ext>
            </a:extLst>
          </p:cNvPr>
          <p:cNvGrpSpPr/>
          <p:nvPr/>
        </p:nvGrpSpPr>
        <p:grpSpPr>
          <a:xfrm>
            <a:off x="3850692" y="3833348"/>
            <a:ext cx="8055558" cy="697050"/>
            <a:chOff x="1750094" y="3814777"/>
            <a:chExt cx="8055558" cy="69705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27E2B523-C349-4D6F-A7B5-D7DF8729BB65}"/>
                </a:ext>
              </a:extLst>
            </p:cNvPr>
            <p:cNvGrpSpPr/>
            <p:nvPr/>
          </p:nvGrpSpPr>
          <p:grpSpPr>
            <a:xfrm>
              <a:off x="3853331" y="3814777"/>
              <a:ext cx="5952321" cy="697050"/>
              <a:chOff x="3853331" y="3814777"/>
              <a:chExt cx="5952321" cy="697050"/>
            </a:xfrm>
          </p:grpSpPr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1815CA09-095A-40C1-AF48-234FCFF78F14}"/>
                  </a:ext>
                </a:extLst>
              </p:cNvPr>
              <p:cNvSpPr/>
              <p:nvPr/>
            </p:nvSpPr>
            <p:spPr>
              <a:xfrm>
                <a:off x="3853331" y="3814777"/>
                <a:ext cx="5929746" cy="3948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C15C28F7-15A3-4838-832C-71ED3586F0DE}"/>
                  </a:ext>
                </a:extLst>
              </p:cNvPr>
              <p:cNvSpPr/>
              <p:nvPr/>
            </p:nvSpPr>
            <p:spPr>
              <a:xfrm>
                <a:off x="3853331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1" name="Rectángulo 30">
                <a:extLst>
                  <a:ext uri="{FF2B5EF4-FFF2-40B4-BE49-F238E27FC236}">
                    <a16:creationId xmlns:a16="http://schemas.microsoft.com/office/drawing/2014/main" id="{FB3C4B7A-4309-4BC9-ABA1-C646DF9D9171}"/>
                  </a:ext>
                </a:extLst>
              </p:cNvPr>
              <p:cNvSpPr/>
              <p:nvPr/>
            </p:nvSpPr>
            <p:spPr>
              <a:xfrm>
                <a:off x="4363871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2" name="Rectángulo 31">
                <a:extLst>
                  <a:ext uri="{FF2B5EF4-FFF2-40B4-BE49-F238E27FC236}">
                    <a16:creationId xmlns:a16="http://schemas.microsoft.com/office/drawing/2014/main" id="{3622ABF3-E3F3-4E04-9584-879C5D3C93CB}"/>
                  </a:ext>
                </a:extLst>
              </p:cNvPr>
              <p:cNvSpPr/>
              <p:nvPr/>
            </p:nvSpPr>
            <p:spPr>
              <a:xfrm>
                <a:off x="4870956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BFDFC75-746E-4518-AAB2-136A52000840}"/>
                      </a:ext>
                    </a:extLst>
                  </p:cNvPr>
                  <p:cNvSpPr txBox="1"/>
                  <p:nvPr/>
                </p:nvSpPr>
                <p:spPr>
                  <a:xfrm>
                    <a:off x="3958104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BFDFC75-746E-4518-AAB2-136A520008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8104" y="4250217"/>
                    <a:ext cx="301686" cy="26161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7DE7FCBF-AB31-44F9-B6CB-6E7E50CA7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468644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7DE7FCBF-AB31-44F9-B6CB-6E7E50CA76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8644" y="4250217"/>
                    <a:ext cx="301686" cy="2616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2A731BC4-8D7B-4900-B12E-BF95413E0DF9}"/>
                      </a:ext>
                    </a:extLst>
                  </p:cNvPr>
                  <p:cNvSpPr txBox="1"/>
                  <p:nvPr/>
                </p:nvSpPr>
                <p:spPr>
                  <a:xfrm>
                    <a:off x="4989450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2A731BC4-8D7B-4900-B12E-BF95413E0D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9450" y="4250217"/>
                    <a:ext cx="301686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B239420C-A4F4-4BD0-9E58-29B24EB09ED5}"/>
                  </a:ext>
                </a:extLst>
              </p:cNvPr>
              <p:cNvSpPr/>
              <p:nvPr/>
            </p:nvSpPr>
            <p:spPr>
              <a:xfrm>
                <a:off x="5382131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1ECECB28-1AF3-4034-B7D3-550DEE890977}"/>
                  </a:ext>
                </a:extLst>
              </p:cNvPr>
              <p:cNvSpPr/>
              <p:nvPr/>
            </p:nvSpPr>
            <p:spPr>
              <a:xfrm>
                <a:off x="5893269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BAA9B455-DF05-47F6-A8F1-70656B9C7213}"/>
                  </a:ext>
                </a:extLst>
              </p:cNvPr>
              <p:cNvSpPr/>
              <p:nvPr/>
            </p:nvSpPr>
            <p:spPr>
              <a:xfrm>
                <a:off x="6396665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650EA45-CDF2-40C2-8DFB-49FE0B7FE57D}"/>
                  </a:ext>
                </a:extLst>
              </p:cNvPr>
              <p:cNvSpPr/>
              <p:nvPr/>
            </p:nvSpPr>
            <p:spPr>
              <a:xfrm>
                <a:off x="6905654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0" name="Rectángulo 39">
                <a:extLst>
                  <a:ext uri="{FF2B5EF4-FFF2-40B4-BE49-F238E27FC236}">
                    <a16:creationId xmlns:a16="http://schemas.microsoft.com/office/drawing/2014/main" id="{D7B28DBF-C390-4E42-A7B3-D2BFB3D75EBB}"/>
                  </a:ext>
                </a:extLst>
              </p:cNvPr>
              <p:cNvSpPr/>
              <p:nvPr/>
            </p:nvSpPr>
            <p:spPr>
              <a:xfrm>
                <a:off x="7423973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024CF0F9-E851-4AEF-8093-9FA2C8E02C9E}"/>
                  </a:ext>
                </a:extLst>
              </p:cNvPr>
              <p:cNvSpPr/>
              <p:nvPr/>
            </p:nvSpPr>
            <p:spPr>
              <a:xfrm>
                <a:off x="9275474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CuadroTexto 41">
                    <a:extLst>
                      <a:ext uri="{FF2B5EF4-FFF2-40B4-BE49-F238E27FC236}">
                        <a16:creationId xmlns:a16="http://schemas.microsoft.com/office/drawing/2014/main" id="{C0F3E989-4CD0-4477-BDBB-ABB824B40CE3}"/>
                      </a:ext>
                    </a:extLst>
                  </p:cNvPr>
                  <p:cNvSpPr txBox="1"/>
                  <p:nvPr/>
                </p:nvSpPr>
                <p:spPr>
                  <a:xfrm>
                    <a:off x="5510256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2" name="CuadroTexto 41">
                    <a:extLst>
                      <a:ext uri="{FF2B5EF4-FFF2-40B4-BE49-F238E27FC236}">
                        <a16:creationId xmlns:a16="http://schemas.microsoft.com/office/drawing/2014/main" id="{C0F3E989-4CD0-4477-BDBB-ABB824B40C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0256" y="4250217"/>
                    <a:ext cx="301686" cy="2616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EAF65EF6-027B-4F93-836F-0266AE1FA74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2745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EAF65EF6-027B-4F93-836F-0266AE1FA7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2745" y="4245973"/>
                    <a:ext cx="301686" cy="2616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CuadroTexto 43">
                    <a:extLst>
                      <a:ext uri="{FF2B5EF4-FFF2-40B4-BE49-F238E27FC236}">
                        <a16:creationId xmlns:a16="http://schemas.microsoft.com/office/drawing/2014/main" id="{63424BD9-8571-4CAE-BA09-BE7538185253}"/>
                      </a:ext>
                    </a:extLst>
                  </p:cNvPr>
                  <p:cNvSpPr txBox="1"/>
                  <p:nvPr/>
                </p:nvSpPr>
                <p:spPr>
                  <a:xfrm>
                    <a:off x="6516518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4" name="CuadroTexto 43">
                    <a:extLst>
                      <a:ext uri="{FF2B5EF4-FFF2-40B4-BE49-F238E27FC236}">
                        <a16:creationId xmlns:a16="http://schemas.microsoft.com/office/drawing/2014/main" id="{63424BD9-8571-4CAE-BA09-BE75381852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6518" y="4245973"/>
                    <a:ext cx="301686" cy="2616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947BBBE5-EF37-4DE2-8400-AC23E9BF83A5}"/>
                      </a:ext>
                    </a:extLst>
                  </p:cNvPr>
                  <p:cNvSpPr txBox="1"/>
                  <p:nvPr/>
                </p:nvSpPr>
                <p:spPr>
                  <a:xfrm>
                    <a:off x="7027572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947BBBE5-EF37-4DE2-8400-AC23E9BF83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7572" y="4245973"/>
                    <a:ext cx="301686" cy="2616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92F5A9D4-9C51-488F-A094-7BE465CA3DA6}"/>
                      </a:ext>
                    </a:extLst>
                  </p:cNvPr>
                  <p:cNvSpPr txBox="1"/>
                  <p:nvPr/>
                </p:nvSpPr>
                <p:spPr>
                  <a:xfrm>
                    <a:off x="7554897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6" name="CuadroTexto 45">
                    <a:extLst>
                      <a:ext uri="{FF2B5EF4-FFF2-40B4-BE49-F238E27FC236}">
                        <a16:creationId xmlns:a16="http://schemas.microsoft.com/office/drawing/2014/main" id="{92F5A9D4-9C51-488F-A094-7BE465CA3D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897" y="4245973"/>
                    <a:ext cx="301686" cy="2616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4716A07A-C2B2-4CA6-8E39-41076EB0C561}"/>
                      </a:ext>
                    </a:extLst>
                  </p:cNvPr>
                  <p:cNvSpPr txBox="1"/>
                  <p:nvPr/>
                </p:nvSpPr>
                <p:spPr>
                  <a:xfrm>
                    <a:off x="8422606" y="3858315"/>
                    <a:ext cx="38824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4716A07A-C2B2-4CA6-8E39-41076EB0C5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2606" y="3858315"/>
                    <a:ext cx="388248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CuadroTexto 47">
                    <a:extLst>
                      <a:ext uri="{FF2B5EF4-FFF2-40B4-BE49-F238E27FC236}">
                        <a16:creationId xmlns:a16="http://schemas.microsoft.com/office/drawing/2014/main" id="{DCDE7669-991A-4002-95AE-20916D28CCF8}"/>
                      </a:ext>
                    </a:extLst>
                  </p:cNvPr>
                  <p:cNvSpPr txBox="1"/>
                  <p:nvPr/>
                </p:nvSpPr>
                <p:spPr>
                  <a:xfrm>
                    <a:off x="9256527" y="4203275"/>
                    <a:ext cx="549125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48" name="CuadroTexto 47">
                    <a:extLst>
                      <a:ext uri="{FF2B5EF4-FFF2-40B4-BE49-F238E27FC236}">
                        <a16:creationId xmlns:a16="http://schemas.microsoft.com/office/drawing/2014/main" id="{DCDE7669-991A-4002-95AE-20916D28CC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6527" y="4203275"/>
                    <a:ext cx="549125" cy="25391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E2FAD47C-00CE-4725-87F3-EC9491AF05F3}"/>
                </a:ext>
              </a:extLst>
            </p:cNvPr>
            <p:cNvSpPr txBox="1"/>
            <p:nvPr/>
          </p:nvSpPr>
          <p:spPr>
            <a:xfrm>
              <a:off x="1750094" y="3881398"/>
              <a:ext cx="210502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sz="1100" dirty="0">
                  <a:latin typeface="Roboto" panose="02000000000000000000" pitchFamily="2" charset="0"/>
                  <a:ea typeface="Roboto" panose="02000000000000000000" pitchFamily="2" charset="0"/>
                </a:rPr>
                <a:t>Estado antes de escribir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C5AEA70-2133-41A9-8ABC-AB2A3D410072}"/>
              </a:ext>
            </a:extLst>
          </p:cNvPr>
          <p:cNvGrpSpPr/>
          <p:nvPr/>
        </p:nvGrpSpPr>
        <p:grpSpPr>
          <a:xfrm>
            <a:off x="4082271" y="5090835"/>
            <a:ext cx="7850729" cy="697405"/>
            <a:chOff x="2585025" y="5090835"/>
            <a:chExt cx="7850729" cy="697405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FCBB90D9-165D-449C-9629-49B82C517D7A}"/>
                </a:ext>
              </a:extLst>
            </p:cNvPr>
            <p:cNvGrpSpPr/>
            <p:nvPr/>
          </p:nvGrpSpPr>
          <p:grpSpPr>
            <a:xfrm>
              <a:off x="4483433" y="5091190"/>
              <a:ext cx="5952321" cy="697050"/>
              <a:chOff x="3853331" y="3814777"/>
              <a:chExt cx="5952321" cy="697050"/>
            </a:xfrm>
          </p:grpSpPr>
          <p:sp>
            <p:nvSpPr>
              <p:cNvPr id="50" name="Rectángulo 49">
                <a:extLst>
                  <a:ext uri="{FF2B5EF4-FFF2-40B4-BE49-F238E27FC236}">
                    <a16:creationId xmlns:a16="http://schemas.microsoft.com/office/drawing/2014/main" id="{AB653E38-BD5D-4D0E-9B09-EF94A5D034D3}"/>
                  </a:ext>
                </a:extLst>
              </p:cNvPr>
              <p:cNvSpPr/>
              <p:nvPr/>
            </p:nvSpPr>
            <p:spPr>
              <a:xfrm>
                <a:off x="3853331" y="3814777"/>
                <a:ext cx="5929746" cy="3948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3629B13E-E611-49AD-93E3-6C71AC9A4382}"/>
                  </a:ext>
                </a:extLst>
              </p:cNvPr>
              <p:cNvSpPr/>
              <p:nvPr/>
            </p:nvSpPr>
            <p:spPr>
              <a:xfrm>
                <a:off x="3853331" y="3814777"/>
                <a:ext cx="511233" cy="3948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" name="Rectángulo 51">
                <a:extLst>
                  <a:ext uri="{FF2B5EF4-FFF2-40B4-BE49-F238E27FC236}">
                    <a16:creationId xmlns:a16="http://schemas.microsoft.com/office/drawing/2014/main" id="{DCC56017-1D00-4C2B-BB3A-628E531F85C2}"/>
                  </a:ext>
                </a:extLst>
              </p:cNvPr>
              <p:cNvSpPr/>
              <p:nvPr/>
            </p:nvSpPr>
            <p:spPr>
              <a:xfrm>
                <a:off x="4363871" y="3814777"/>
                <a:ext cx="511233" cy="3948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4C0BD25B-C7C6-42DA-BDB6-EFB65FAC2B62}"/>
                  </a:ext>
                </a:extLst>
              </p:cNvPr>
              <p:cNvSpPr/>
              <p:nvPr/>
            </p:nvSpPr>
            <p:spPr>
              <a:xfrm>
                <a:off x="4870956" y="3814777"/>
                <a:ext cx="511233" cy="3948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CuadroTexto 53">
                    <a:extLst>
                      <a:ext uri="{FF2B5EF4-FFF2-40B4-BE49-F238E27FC236}">
                        <a16:creationId xmlns:a16="http://schemas.microsoft.com/office/drawing/2014/main" id="{2E64521A-489D-43E1-BBA5-7C57C837111D}"/>
                      </a:ext>
                    </a:extLst>
                  </p:cNvPr>
                  <p:cNvSpPr txBox="1"/>
                  <p:nvPr/>
                </p:nvSpPr>
                <p:spPr>
                  <a:xfrm>
                    <a:off x="3958104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54" name="CuadroTexto 53">
                    <a:extLst>
                      <a:ext uri="{FF2B5EF4-FFF2-40B4-BE49-F238E27FC236}">
                        <a16:creationId xmlns:a16="http://schemas.microsoft.com/office/drawing/2014/main" id="{2E64521A-489D-43E1-BBA5-7C57C83711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8104" y="4250217"/>
                    <a:ext cx="301686" cy="2616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30098E39-072B-43B6-8D75-9489AF26B9EA}"/>
                      </a:ext>
                    </a:extLst>
                  </p:cNvPr>
                  <p:cNvSpPr txBox="1"/>
                  <p:nvPr/>
                </p:nvSpPr>
                <p:spPr>
                  <a:xfrm>
                    <a:off x="4468644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30098E39-072B-43B6-8D75-9489AF26B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8644" y="4250217"/>
                    <a:ext cx="301686" cy="2616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05568B15-3944-47BD-AFE3-132632CF0381}"/>
                      </a:ext>
                    </a:extLst>
                  </p:cNvPr>
                  <p:cNvSpPr txBox="1"/>
                  <p:nvPr/>
                </p:nvSpPr>
                <p:spPr>
                  <a:xfrm>
                    <a:off x="4989450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05568B15-3944-47BD-AFE3-132632CF038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9450" y="4250217"/>
                    <a:ext cx="301686" cy="2616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Rectángulo 56">
                <a:extLst>
                  <a:ext uri="{FF2B5EF4-FFF2-40B4-BE49-F238E27FC236}">
                    <a16:creationId xmlns:a16="http://schemas.microsoft.com/office/drawing/2014/main" id="{64093935-3B7C-4423-A0E3-A57A302A4883}"/>
                  </a:ext>
                </a:extLst>
              </p:cNvPr>
              <p:cNvSpPr/>
              <p:nvPr/>
            </p:nvSpPr>
            <p:spPr>
              <a:xfrm>
                <a:off x="5382131" y="3814777"/>
                <a:ext cx="511233" cy="3948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8" name="Rectángulo 57">
                <a:extLst>
                  <a:ext uri="{FF2B5EF4-FFF2-40B4-BE49-F238E27FC236}">
                    <a16:creationId xmlns:a16="http://schemas.microsoft.com/office/drawing/2014/main" id="{2D4C34CB-E4AF-4894-B6F4-F5B93964DC6F}"/>
                  </a:ext>
                </a:extLst>
              </p:cNvPr>
              <p:cNvSpPr/>
              <p:nvPr/>
            </p:nvSpPr>
            <p:spPr>
              <a:xfrm>
                <a:off x="5893269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9614B738-29C1-4A91-8B2E-24C3E35DBF43}"/>
                  </a:ext>
                </a:extLst>
              </p:cNvPr>
              <p:cNvSpPr/>
              <p:nvPr/>
            </p:nvSpPr>
            <p:spPr>
              <a:xfrm>
                <a:off x="6396665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64A68943-CBB1-4F6E-A5A6-7B42F6F9C061}"/>
                  </a:ext>
                </a:extLst>
              </p:cNvPr>
              <p:cNvSpPr/>
              <p:nvPr/>
            </p:nvSpPr>
            <p:spPr>
              <a:xfrm>
                <a:off x="6905654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1" name="Rectángulo 60">
                <a:extLst>
                  <a:ext uri="{FF2B5EF4-FFF2-40B4-BE49-F238E27FC236}">
                    <a16:creationId xmlns:a16="http://schemas.microsoft.com/office/drawing/2014/main" id="{BCA64BB1-3941-4A3A-8806-B214D5558E60}"/>
                  </a:ext>
                </a:extLst>
              </p:cNvPr>
              <p:cNvSpPr/>
              <p:nvPr/>
            </p:nvSpPr>
            <p:spPr>
              <a:xfrm>
                <a:off x="7423973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2D7B4DA7-F4DA-480D-9E31-08549C04774F}"/>
                  </a:ext>
                </a:extLst>
              </p:cNvPr>
              <p:cNvSpPr/>
              <p:nvPr/>
            </p:nvSpPr>
            <p:spPr>
              <a:xfrm>
                <a:off x="9275474" y="3814777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CuadroTexto 62">
                    <a:extLst>
                      <a:ext uri="{FF2B5EF4-FFF2-40B4-BE49-F238E27FC236}">
                        <a16:creationId xmlns:a16="http://schemas.microsoft.com/office/drawing/2014/main" id="{3864AF22-F645-4B47-925A-FB8A9B5165AC}"/>
                      </a:ext>
                    </a:extLst>
                  </p:cNvPr>
                  <p:cNvSpPr txBox="1"/>
                  <p:nvPr/>
                </p:nvSpPr>
                <p:spPr>
                  <a:xfrm>
                    <a:off x="5510256" y="4250217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3" name="CuadroTexto 62">
                    <a:extLst>
                      <a:ext uri="{FF2B5EF4-FFF2-40B4-BE49-F238E27FC236}">
                        <a16:creationId xmlns:a16="http://schemas.microsoft.com/office/drawing/2014/main" id="{3864AF22-F645-4B47-925A-FB8A9B5165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0256" y="4250217"/>
                    <a:ext cx="301686" cy="2616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CuadroTexto 63">
                    <a:extLst>
                      <a:ext uri="{FF2B5EF4-FFF2-40B4-BE49-F238E27FC236}">
                        <a16:creationId xmlns:a16="http://schemas.microsoft.com/office/drawing/2014/main" id="{34C653C8-178D-4CF6-B33E-BC05DC75D126}"/>
                      </a:ext>
                    </a:extLst>
                  </p:cNvPr>
                  <p:cNvSpPr txBox="1"/>
                  <p:nvPr/>
                </p:nvSpPr>
                <p:spPr>
                  <a:xfrm>
                    <a:off x="6002745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4" name="CuadroTexto 63">
                    <a:extLst>
                      <a:ext uri="{FF2B5EF4-FFF2-40B4-BE49-F238E27FC236}">
                        <a16:creationId xmlns:a16="http://schemas.microsoft.com/office/drawing/2014/main" id="{34C653C8-178D-4CF6-B33E-BC05DC75D1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2745" y="4245973"/>
                    <a:ext cx="301686" cy="2616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CuadroTexto 64">
                    <a:extLst>
                      <a:ext uri="{FF2B5EF4-FFF2-40B4-BE49-F238E27FC236}">
                        <a16:creationId xmlns:a16="http://schemas.microsoft.com/office/drawing/2014/main" id="{F0A9DE20-AE6F-4D4B-9159-7F9578EA2C09}"/>
                      </a:ext>
                    </a:extLst>
                  </p:cNvPr>
                  <p:cNvSpPr txBox="1"/>
                  <p:nvPr/>
                </p:nvSpPr>
                <p:spPr>
                  <a:xfrm>
                    <a:off x="6516518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5" name="CuadroTexto 64">
                    <a:extLst>
                      <a:ext uri="{FF2B5EF4-FFF2-40B4-BE49-F238E27FC236}">
                        <a16:creationId xmlns:a16="http://schemas.microsoft.com/office/drawing/2014/main" id="{F0A9DE20-AE6F-4D4B-9159-7F9578EA2C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6518" y="4245973"/>
                    <a:ext cx="301686" cy="2616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CuadroTexto 65">
                    <a:extLst>
                      <a:ext uri="{FF2B5EF4-FFF2-40B4-BE49-F238E27FC236}">
                        <a16:creationId xmlns:a16="http://schemas.microsoft.com/office/drawing/2014/main" id="{9C400D88-0B59-4098-9FC3-24607007671E}"/>
                      </a:ext>
                    </a:extLst>
                  </p:cNvPr>
                  <p:cNvSpPr txBox="1"/>
                  <p:nvPr/>
                </p:nvSpPr>
                <p:spPr>
                  <a:xfrm>
                    <a:off x="7027572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6" name="CuadroTexto 65">
                    <a:extLst>
                      <a:ext uri="{FF2B5EF4-FFF2-40B4-BE49-F238E27FC236}">
                        <a16:creationId xmlns:a16="http://schemas.microsoft.com/office/drawing/2014/main" id="{9C400D88-0B59-4098-9FC3-2460700767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7572" y="4245973"/>
                    <a:ext cx="301686" cy="26161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CuadroTexto 66">
                    <a:extLst>
                      <a:ext uri="{FF2B5EF4-FFF2-40B4-BE49-F238E27FC236}">
                        <a16:creationId xmlns:a16="http://schemas.microsoft.com/office/drawing/2014/main" id="{D18A7C88-A326-45B1-8102-07C022E75E23}"/>
                      </a:ext>
                    </a:extLst>
                  </p:cNvPr>
                  <p:cNvSpPr txBox="1"/>
                  <p:nvPr/>
                </p:nvSpPr>
                <p:spPr>
                  <a:xfrm>
                    <a:off x="7554897" y="4245973"/>
                    <a:ext cx="3016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𝟕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7" name="CuadroTexto 66">
                    <a:extLst>
                      <a:ext uri="{FF2B5EF4-FFF2-40B4-BE49-F238E27FC236}">
                        <a16:creationId xmlns:a16="http://schemas.microsoft.com/office/drawing/2014/main" id="{D18A7C88-A326-45B1-8102-07C022E75E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4897" y="4245973"/>
                    <a:ext cx="301686" cy="2616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18225F88-81AB-428F-B988-8478E3C70D24}"/>
                      </a:ext>
                    </a:extLst>
                  </p:cNvPr>
                  <p:cNvSpPr txBox="1"/>
                  <p:nvPr/>
                </p:nvSpPr>
                <p:spPr>
                  <a:xfrm>
                    <a:off x="8422606" y="3858315"/>
                    <a:ext cx="38824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18225F88-81AB-428F-B988-8478E3C70D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2606" y="3858315"/>
                    <a:ext cx="388248" cy="30777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CuadroTexto 68">
                    <a:extLst>
                      <a:ext uri="{FF2B5EF4-FFF2-40B4-BE49-F238E27FC236}">
                        <a16:creationId xmlns:a16="http://schemas.microsoft.com/office/drawing/2014/main" id="{91034D22-468E-46DD-9481-73A657B4A9AB}"/>
                      </a:ext>
                    </a:extLst>
                  </p:cNvPr>
                  <p:cNvSpPr txBox="1"/>
                  <p:nvPr/>
                </p:nvSpPr>
                <p:spPr>
                  <a:xfrm>
                    <a:off x="9256527" y="4203275"/>
                    <a:ext cx="549125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MX" sz="105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050" b="1" dirty="0"/>
                  </a:p>
                </p:txBody>
              </p:sp>
            </mc:Choice>
            <mc:Fallback xmlns="">
              <p:sp>
                <p:nvSpPr>
                  <p:cNvPr id="69" name="CuadroTexto 68">
                    <a:extLst>
                      <a:ext uri="{FF2B5EF4-FFF2-40B4-BE49-F238E27FC236}">
                        <a16:creationId xmlns:a16="http://schemas.microsoft.com/office/drawing/2014/main" id="{91034D22-468E-46DD-9481-73A657B4A9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6527" y="4203275"/>
                    <a:ext cx="549125" cy="253916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1CDAA146-19DA-48DA-9488-D8540F2E6FA8}"/>
                </a:ext>
              </a:extLst>
            </p:cNvPr>
            <p:cNvSpPr txBox="1"/>
            <p:nvPr/>
          </p:nvSpPr>
          <p:spPr>
            <a:xfrm>
              <a:off x="2585025" y="5090835"/>
              <a:ext cx="188325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s-CO" sz="1100" dirty="0">
                  <a:latin typeface="Roboto" panose="02000000000000000000" pitchFamily="2" charset="0"/>
                  <a:ea typeface="Roboto" panose="02000000000000000000" pitchFamily="2" charset="0"/>
                </a:rPr>
                <a:t>Durante la escritura (corte de energía)</a:t>
              </a:r>
            </a:p>
          </p:txBody>
        </p:sp>
      </p:grp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BD5AE5C7-1483-4789-9E23-04288B937CD4}"/>
              </a:ext>
            </a:extLst>
          </p:cNvPr>
          <p:cNvSpPr/>
          <p:nvPr/>
        </p:nvSpPr>
        <p:spPr>
          <a:xfrm>
            <a:off x="8743564" y="4558994"/>
            <a:ext cx="201988" cy="440763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ayo 13">
            <a:extLst>
              <a:ext uri="{FF2B5EF4-FFF2-40B4-BE49-F238E27FC236}">
                <a16:creationId xmlns:a16="http://schemas.microsoft.com/office/drawing/2014/main" id="{4E4C6B37-9484-4A0A-B568-92824E4316DD}"/>
              </a:ext>
            </a:extLst>
          </p:cNvPr>
          <p:cNvSpPr/>
          <p:nvPr/>
        </p:nvSpPr>
        <p:spPr>
          <a:xfrm>
            <a:off x="7736121" y="4738147"/>
            <a:ext cx="257746" cy="261610"/>
          </a:xfrm>
          <a:prstGeom prst="lightningBol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E67B4C83-ED50-4567-93C2-AE866355C8AC}"/>
                  </a:ext>
                </a:extLst>
              </p:cNvPr>
              <p:cNvSpPr/>
              <p:nvPr/>
            </p:nvSpPr>
            <p:spPr>
              <a:xfrm>
                <a:off x="2117455" y="3714994"/>
                <a:ext cx="1758333" cy="19956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9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𝑲𝑩</m:t>
                      </m:r>
                    </m:oMath>
                  </m:oMathPara>
                </a14:m>
                <a:endParaRPr lang="es-CO" sz="9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Rectángulo 72">
                <a:extLst>
                  <a:ext uri="{FF2B5EF4-FFF2-40B4-BE49-F238E27FC236}">
                    <a16:creationId xmlns:a16="http://schemas.microsoft.com/office/drawing/2014/main" id="{E67B4C83-ED50-4567-93C2-AE866355C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455" y="3714994"/>
                <a:ext cx="1758333" cy="19956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058B2306-DDE5-47A6-B6F0-B3C04302E0FE}"/>
              </a:ext>
            </a:extLst>
          </p:cNvPr>
          <p:cNvSpPr txBox="1"/>
          <p:nvPr/>
        </p:nvSpPr>
        <p:spPr>
          <a:xfrm>
            <a:off x="1341144" y="3679457"/>
            <a:ext cx="7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Bloque</a:t>
            </a: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E40B0EB4-635D-47C2-A685-3B85F3B5E0D4}"/>
              </a:ext>
            </a:extLst>
          </p:cNvPr>
          <p:cNvGrpSpPr/>
          <p:nvPr/>
        </p:nvGrpSpPr>
        <p:grpSpPr>
          <a:xfrm>
            <a:off x="2298057" y="4721314"/>
            <a:ext cx="1439523" cy="861173"/>
            <a:chOff x="1759527" y="3585754"/>
            <a:chExt cx="6844146" cy="1981200"/>
          </a:xfrm>
        </p:grpSpPr>
        <p:sp>
          <p:nvSpPr>
            <p:cNvPr id="76" name="Cilindro 75">
              <a:extLst>
                <a:ext uri="{FF2B5EF4-FFF2-40B4-BE49-F238E27FC236}">
                  <a16:creationId xmlns:a16="http://schemas.microsoft.com/office/drawing/2014/main" id="{5FB8A1FF-EEF0-42E4-8CA3-ACB6B8B0E359}"/>
                </a:ext>
              </a:extLst>
            </p:cNvPr>
            <p:cNvSpPr/>
            <p:nvPr/>
          </p:nvSpPr>
          <p:spPr>
            <a:xfrm>
              <a:off x="1759527" y="3585754"/>
              <a:ext cx="6844146" cy="1981200"/>
            </a:xfrm>
            <a:prstGeom prst="ca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77" name="Grupo 76">
              <a:extLst>
                <a:ext uri="{FF2B5EF4-FFF2-40B4-BE49-F238E27FC236}">
                  <a16:creationId xmlns:a16="http://schemas.microsoft.com/office/drawing/2014/main" id="{7656CF0B-0137-4ED2-AD00-9B808220BC1E}"/>
                </a:ext>
              </a:extLst>
            </p:cNvPr>
            <p:cNvGrpSpPr/>
            <p:nvPr/>
          </p:nvGrpSpPr>
          <p:grpSpPr>
            <a:xfrm>
              <a:off x="2194631" y="4260070"/>
              <a:ext cx="5929746" cy="716392"/>
              <a:chOff x="2216727" y="5536396"/>
              <a:chExt cx="5929746" cy="716392"/>
            </a:xfrm>
          </p:grpSpPr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C4A41EF3-92F2-4658-B102-43CD8F5A97F9}"/>
                  </a:ext>
                </a:extLst>
              </p:cNvPr>
              <p:cNvSpPr/>
              <p:nvPr/>
            </p:nvSpPr>
            <p:spPr>
              <a:xfrm>
                <a:off x="2216727" y="5723708"/>
                <a:ext cx="5929746" cy="39485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C26D79FC-28DE-47FB-8F8A-FAABB21DC9AA}"/>
                  </a:ext>
                </a:extLst>
              </p:cNvPr>
              <p:cNvSpPr/>
              <p:nvPr/>
            </p:nvSpPr>
            <p:spPr>
              <a:xfrm>
                <a:off x="2216727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0" name="Rectángulo 79">
                <a:extLst>
                  <a:ext uri="{FF2B5EF4-FFF2-40B4-BE49-F238E27FC236}">
                    <a16:creationId xmlns:a16="http://schemas.microsoft.com/office/drawing/2014/main" id="{AE829C54-9D66-464C-9F44-F0F95F86C0F1}"/>
                  </a:ext>
                </a:extLst>
              </p:cNvPr>
              <p:cNvSpPr/>
              <p:nvPr/>
            </p:nvSpPr>
            <p:spPr>
              <a:xfrm>
                <a:off x="2727267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1" name="Rectángulo 80">
                <a:extLst>
                  <a:ext uri="{FF2B5EF4-FFF2-40B4-BE49-F238E27FC236}">
                    <a16:creationId xmlns:a16="http://schemas.microsoft.com/office/drawing/2014/main" id="{DED2E533-DC94-4C19-90C3-C0B4385679ED}"/>
                  </a:ext>
                </a:extLst>
              </p:cNvPr>
              <p:cNvSpPr/>
              <p:nvPr/>
            </p:nvSpPr>
            <p:spPr>
              <a:xfrm>
                <a:off x="3241495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1DA5C918-EF6E-43C1-9246-5EE7769FA578}"/>
                  </a:ext>
                </a:extLst>
              </p:cNvPr>
              <p:cNvSpPr/>
              <p:nvPr/>
            </p:nvSpPr>
            <p:spPr>
              <a:xfrm>
                <a:off x="5207456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63D39665-D8FC-4B6F-9CD4-D3D75AFB5460}"/>
                  </a:ext>
                </a:extLst>
              </p:cNvPr>
              <p:cNvSpPr/>
              <p:nvPr/>
            </p:nvSpPr>
            <p:spPr>
              <a:xfrm>
                <a:off x="7634894" y="5723708"/>
                <a:ext cx="511233" cy="3948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CuadroTexto 83">
                    <a:extLst>
                      <a:ext uri="{FF2B5EF4-FFF2-40B4-BE49-F238E27FC236}">
                        <a16:creationId xmlns:a16="http://schemas.microsoft.com/office/drawing/2014/main" id="{B9ECD0E6-BCF5-4373-AB6A-1E749D3A3FC9}"/>
                      </a:ext>
                    </a:extLst>
                  </p:cNvPr>
                  <p:cNvSpPr txBox="1"/>
                  <p:nvPr/>
                </p:nvSpPr>
                <p:spPr>
                  <a:xfrm>
                    <a:off x="3680752" y="5536396"/>
                    <a:ext cx="1388648" cy="7080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84" name="CuadroTexto 83">
                    <a:extLst>
                      <a:ext uri="{FF2B5EF4-FFF2-40B4-BE49-F238E27FC236}">
                        <a16:creationId xmlns:a16="http://schemas.microsoft.com/office/drawing/2014/main" id="{B9ECD0E6-BCF5-4373-AB6A-1E749D3A3F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80752" y="5536396"/>
                    <a:ext cx="1388648" cy="708064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7CA2CD2D-FC03-4D6C-8714-7567145730E6}"/>
                      </a:ext>
                    </a:extLst>
                  </p:cNvPr>
                  <p:cNvSpPr txBox="1"/>
                  <p:nvPr/>
                </p:nvSpPr>
                <p:spPr>
                  <a:xfrm>
                    <a:off x="5930931" y="5544722"/>
                    <a:ext cx="1324329" cy="7080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s-CO" dirty="0"/>
                  </a:p>
                </p:txBody>
              </p:sp>
            </mc:Choice>
            <mc:Fallback xmlns="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7CA2CD2D-FC03-4D6C-8714-7567145730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0931" y="5544722"/>
                    <a:ext cx="1324329" cy="708066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91" name="Flecha: hacia abajo 90">
            <a:extLst>
              <a:ext uri="{FF2B5EF4-FFF2-40B4-BE49-F238E27FC236}">
                <a16:creationId xmlns:a16="http://schemas.microsoft.com/office/drawing/2014/main" id="{A940BB39-DDA9-4DD0-A710-9AE56E629A56}"/>
              </a:ext>
            </a:extLst>
          </p:cNvPr>
          <p:cNvSpPr/>
          <p:nvPr/>
        </p:nvSpPr>
        <p:spPr>
          <a:xfrm>
            <a:off x="2888578" y="4128422"/>
            <a:ext cx="201988" cy="440763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135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2793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Anatomía de un disco</a:t>
            </a:r>
          </a:p>
          <a:p>
            <a:pPr marL="0" indent="0">
              <a:buNone/>
            </a:pPr>
            <a:r>
              <a:rPr lang="es-MX" sz="2000" dirty="0"/>
              <a:t>Un disco duro magnético esta compuesto de los siguientes elementos:</a:t>
            </a:r>
          </a:p>
          <a:p>
            <a:pPr marL="342900" indent="-342900"/>
            <a:r>
              <a:rPr lang="es-MX" sz="2000" dirty="0"/>
              <a:t>Plato (Plate)</a:t>
            </a:r>
          </a:p>
          <a:p>
            <a:pPr marL="342900" indent="-342900"/>
            <a:r>
              <a:rPr lang="es-MX" sz="2000" dirty="0"/>
              <a:t>Eje (Spindle)</a:t>
            </a:r>
          </a:p>
          <a:p>
            <a:pPr marL="342900" indent="-342900"/>
            <a:r>
              <a:rPr lang="es-MX" sz="2000" dirty="0"/>
              <a:t>Track (Track)</a:t>
            </a:r>
          </a:p>
          <a:p>
            <a:pPr marL="342900" indent="-342900"/>
            <a:r>
              <a:rPr lang="es-MX" sz="2000" dirty="0"/>
              <a:t>Sector (Sector)</a:t>
            </a:r>
          </a:p>
          <a:p>
            <a:pPr marL="342900" indent="-342900"/>
            <a:r>
              <a:rPr lang="es-MX" sz="2000" dirty="0"/>
              <a:t>Cabezal (Head)</a:t>
            </a:r>
          </a:p>
          <a:p>
            <a:pPr marL="342900" indent="-342900"/>
            <a:endParaRPr lang="es-MX" sz="2200" dirty="0"/>
          </a:p>
          <a:p>
            <a:pPr marL="342900" indent="-342900"/>
            <a:endParaRPr lang="es-MX" sz="2200" dirty="0"/>
          </a:p>
        </p:txBody>
      </p:sp>
      <p:pic>
        <p:nvPicPr>
          <p:cNvPr id="15" name="Google Shape;84;p16">
            <a:extLst>
              <a:ext uri="{FF2B5EF4-FFF2-40B4-BE49-F238E27FC236}">
                <a16:creationId xmlns:a16="http://schemas.microsoft.com/office/drawing/2014/main" id="{7BAE5F95-72FB-4253-8FF3-0A94C293ED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8908" y="2879424"/>
            <a:ext cx="3585194" cy="2025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p16">
            <a:extLst>
              <a:ext uri="{FF2B5EF4-FFF2-40B4-BE49-F238E27FC236}">
                <a16:creationId xmlns:a16="http://schemas.microsoft.com/office/drawing/2014/main" id="{430F5BDD-7F1A-461E-83B2-23B4D034569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817" y="1702792"/>
            <a:ext cx="5067510" cy="44251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6;p16">
            <a:extLst>
              <a:ext uri="{FF2B5EF4-FFF2-40B4-BE49-F238E27FC236}">
                <a16:creationId xmlns:a16="http://schemas.microsoft.com/office/drawing/2014/main" id="{4B9274CD-CEB0-46F7-B9DF-221CA7E48483}"/>
              </a:ext>
            </a:extLst>
          </p:cNvPr>
          <p:cNvSpPr txBox="1"/>
          <p:nvPr/>
        </p:nvSpPr>
        <p:spPr>
          <a:xfrm>
            <a:off x="9398720" y="5272817"/>
            <a:ext cx="253538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Inside of Hard Drive</a:t>
            </a:r>
            <a:r>
              <a:rPr lang="en"/>
              <a:t> (</a:t>
            </a:r>
            <a:r>
              <a:rPr lang="en" u="sng">
                <a:solidFill>
                  <a:schemeClr val="hlink"/>
                </a:solidFill>
                <a:hlinkClick r:id="rId5"/>
              </a:rPr>
              <a:t>link</a:t>
            </a:r>
            <a:r>
              <a:rPr lang="en"/>
              <a:t>) </a:t>
            </a:r>
            <a:endParaRPr/>
          </a:p>
        </p:txBody>
      </p:sp>
      <p:pic>
        <p:nvPicPr>
          <p:cNvPr id="9" name="Google Shape;87;p16">
            <a:extLst>
              <a:ext uri="{FF2B5EF4-FFF2-40B4-BE49-F238E27FC236}">
                <a16:creationId xmlns:a16="http://schemas.microsoft.com/office/drawing/2014/main" id="{99FB231B-6A93-4C99-A923-7277A55B0E6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01959" y="5326668"/>
            <a:ext cx="422150" cy="2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43575D2-0238-4AA3-8D47-BED4408BC9FD}"/>
              </a:ext>
            </a:extLst>
          </p:cNvPr>
          <p:cNvSpPr txBox="1"/>
          <p:nvPr/>
        </p:nvSpPr>
        <p:spPr>
          <a:xfrm>
            <a:off x="3635327" y="6127966"/>
            <a:ext cx="3400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effectLst/>
                <a:latin typeface="Roboto" panose="02000000000000000000" pitchFamily="2" charset="0"/>
              </a:rPr>
              <a:t>¿Qué hay dentro de un disco duro? </a:t>
            </a:r>
            <a:r>
              <a:rPr lang="es-MX" dirty="0">
                <a:effectLst/>
                <a:latin typeface="Roboto" panose="02000000000000000000" pitchFamily="2" charset="0"/>
              </a:rPr>
              <a:t>(</a:t>
            </a:r>
            <a:r>
              <a:rPr lang="es-MX" dirty="0">
                <a:effectLst/>
                <a:latin typeface="Roboto" panose="02000000000000000000" pitchFamily="2" charset="0"/>
                <a:hlinkClick r:id="rId7"/>
              </a:rPr>
              <a:t>link</a:t>
            </a:r>
            <a:r>
              <a:rPr lang="es-MX" dirty="0">
                <a:effectLst/>
                <a:latin typeface="Roboto" panose="02000000000000000000" pitchFamily="2" charset="0"/>
              </a:rPr>
              <a:t>)</a:t>
            </a:r>
          </a:p>
        </p:txBody>
      </p:sp>
      <p:pic>
        <p:nvPicPr>
          <p:cNvPr id="12" name="Google Shape;87;p16">
            <a:extLst>
              <a:ext uri="{FF2B5EF4-FFF2-40B4-BE49-F238E27FC236}">
                <a16:creationId xmlns:a16="http://schemas.microsoft.com/office/drawing/2014/main" id="{F16EB1DF-3A9C-4003-B0D1-C847086AD1F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2997" y="6143368"/>
            <a:ext cx="422150" cy="29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2849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61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Componentes I</a:t>
            </a:r>
          </a:p>
          <a:p>
            <a:pPr marL="342900" indent="-342900"/>
            <a:endParaRPr lang="es-MX" sz="2200" dirty="0"/>
          </a:p>
          <a:p>
            <a:pPr marL="342900" indent="-342900"/>
            <a:endParaRPr lang="es-MX"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3EB8B6-A8CF-46BE-9874-ACF3BD6FD55F}"/>
              </a:ext>
            </a:extLst>
          </p:cNvPr>
          <p:cNvSpPr txBox="1"/>
          <p:nvPr/>
        </p:nvSpPr>
        <p:spPr>
          <a:xfrm>
            <a:off x="916650" y="1371600"/>
            <a:ext cx="48329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Plato (Platter):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Superficie circular de aluminio recubierto de material magnético.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Los datos son almacenados de manera persistente al inducir un campo magnético en el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Cada plato puede ser escrito en ambas caras (superficies).</a:t>
            </a:r>
          </a:p>
        </p:txBody>
      </p:sp>
      <p:pic>
        <p:nvPicPr>
          <p:cNvPr id="10" name="Google Shape;94;p17">
            <a:extLst>
              <a:ext uri="{FF2B5EF4-FFF2-40B4-BE49-F238E27FC236}">
                <a16:creationId xmlns:a16="http://schemas.microsoft.com/office/drawing/2014/main" id="{D96C56F4-FF1F-42FA-8CF4-63490D24BD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558" y="4368708"/>
            <a:ext cx="1853824" cy="185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5;p17">
            <a:extLst>
              <a:ext uri="{FF2B5EF4-FFF2-40B4-BE49-F238E27FC236}">
                <a16:creationId xmlns:a16="http://schemas.microsoft.com/office/drawing/2014/main" id="{6303B85F-0303-4CC3-82EC-B1950587BE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2949" y="4005986"/>
            <a:ext cx="1931501" cy="237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F3309DB-FBB0-4C4F-A18F-15AF07897FBB}"/>
              </a:ext>
            </a:extLst>
          </p:cNvPr>
          <p:cNvSpPr txBox="1"/>
          <p:nvPr/>
        </p:nvSpPr>
        <p:spPr>
          <a:xfrm>
            <a:off x="6096000" y="1447181"/>
            <a:ext cx="48329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Eje (spindle)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Conectado a un motor que hace girar los platos (Rotations Per Minute).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Valores modernos: 7200 a 15000 RPM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Varios platos se colocan sobre un eje.</a:t>
            </a:r>
          </a:p>
        </p:txBody>
      </p:sp>
      <p:pic>
        <p:nvPicPr>
          <p:cNvPr id="13" name="Google Shape;102;p18">
            <a:extLst>
              <a:ext uri="{FF2B5EF4-FFF2-40B4-BE49-F238E27FC236}">
                <a16:creationId xmlns:a16="http://schemas.microsoft.com/office/drawing/2014/main" id="{B9267A08-0DC8-48EF-801C-AB97AC199FD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376" y="4163356"/>
            <a:ext cx="2059176" cy="205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3;p18">
            <a:extLst>
              <a:ext uri="{FF2B5EF4-FFF2-40B4-BE49-F238E27FC236}">
                <a16:creationId xmlns:a16="http://schemas.microsoft.com/office/drawing/2014/main" id="{1D151579-085E-421F-8F24-C24A209C54D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97040" y="4124658"/>
            <a:ext cx="2181090" cy="1980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8145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61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Componentes II</a:t>
            </a:r>
          </a:p>
          <a:p>
            <a:pPr marL="342900" indent="-342900"/>
            <a:endParaRPr lang="es-MX" sz="2200" dirty="0"/>
          </a:p>
          <a:p>
            <a:pPr marL="342900" indent="-342900"/>
            <a:endParaRPr lang="es-MX"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3EB8B6-A8CF-46BE-9874-ACF3BD6FD55F}"/>
              </a:ext>
            </a:extLst>
          </p:cNvPr>
          <p:cNvSpPr txBox="1"/>
          <p:nvPr/>
        </p:nvSpPr>
        <p:spPr>
          <a:xfrm>
            <a:off x="916650" y="1371600"/>
            <a:ext cx="51793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Track (pista):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Círculo concéntrico de sectores.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Cada superficie puede tener miles de tracks.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Una pila de pistas a través de los platos se conoce como cylinder (cilindro)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3309DB-FBB0-4C4F-A18F-15AF07897FBB}"/>
              </a:ext>
            </a:extLst>
          </p:cNvPr>
          <p:cNvSpPr txBox="1"/>
          <p:nvPr/>
        </p:nvSpPr>
        <p:spPr>
          <a:xfrm>
            <a:off x="6598558" y="1402097"/>
            <a:ext cx="4832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Sector (sector)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Una pista (track) está dividida en sectores numerados.</a:t>
            </a:r>
          </a:p>
        </p:txBody>
      </p:sp>
      <p:pic>
        <p:nvPicPr>
          <p:cNvPr id="15" name="Google Shape;110;p19">
            <a:extLst>
              <a:ext uri="{FF2B5EF4-FFF2-40B4-BE49-F238E27FC236}">
                <a16:creationId xmlns:a16="http://schemas.microsoft.com/office/drawing/2014/main" id="{5877AEE9-C602-44F6-9F6F-E6D501BE46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180" y="3537471"/>
            <a:ext cx="2491925" cy="24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7;p20">
            <a:extLst>
              <a:ext uri="{FF2B5EF4-FFF2-40B4-BE49-F238E27FC236}">
                <a16:creationId xmlns:a16="http://schemas.microsoft.com/office/drawing/2014/main" id="{7D0153C7-FD32-48B6-91B0-0206351256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4688" y="3429000"/>
            <a:ext cx="2491923" cy="2491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2052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61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Componentes III</a:t>
            </a:r>
          </a:p>
          <a:p>
            <a:pPr marL="342900" indent="-342900"/>
            <a:endParaRPr lang="es-MX" sz="2200" dirty="0"/>
          </a:p>
          <a:p>
            <a:pPr marL="342900" indent="-342900"/>
            <a:endParaRPr lang="es-MX"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3EB8B6-A8CF-46BE-9874-ACF3BD6FD55F}"/>
              </a:ext>
            </a:extLst>
          </p:cNvPr>
          <p:cNvSpPr txBox="1"/>
          <p:nvPr/>
        </p:nvSpPr>
        <p:spPr>
          <a:xfrm>
            <a:off x="916649" y="1371600"/>
            <a:ext cx="10111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Cabeza del disco (head, una por superficie)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Realiza el proceso de lectura y escritura.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Unida a un brazo que se mueve a través de la superficie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49EAD1-BA3E-4BD6-BD6A-80E84A358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60" y="2473121"/>
            <a:ext cx="3986657" cy="3300526"/>
          </a:xfrm>
          <a:prstGeom prst="rect">
            <a:avLst/>
          </a:prstGeom>
        </p:spPr>
      </p:pic>
      <p:pic>
        <p:nvPicPr>
          <p:cNvPr id="10" name="Google Shape;124;p21">
            <a:extLst>
              <a:ext uri="{FF2B5EF4-FFF2-40B4-BE49-F238E27FC236}">
                <a16:creationId xmlns:a16="http://schemas.microsoft.com/office/drawing/2014/main" id="{3346D92C-EA1C-4AB4-A36A-96704981C8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7248" y="3564241"/>
            <a:ext cx="2160051" cy="215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5;p21">
            <a:extLst>
              <a:ext uri="{FF2B5EF4-FFF2-40B4-BE49-F238E27FC236}">
                <a16:creationId xmlns:a16="http://schemas.microsoft.com/office/drawing/2014/main" id="{1533EB8D-505D-4B7F-B7C9-21A132062FA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3345" y="3153796"/>
            <a:ext cx="2160051" cy="2619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57526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</a:t>
            </a:r>
          </a:p>
          <a:p>
            <a:pPr marL="342900" indent="-342900"/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6AD4D5-4DC7-4A0E-B85A-1C4F0A948E9D}"/>
                  </a:ext>
                </a:extLst>
              </p:cNvPr>
              <p:cNvSpPr txBox="1"/>
              <p:nvPr/>
            </p:nvSpPr>
            <p:spPr>
              <a:xfrm>
                <a:off x="2187482" y="4871132"/>
                <a:ext cx="4180247" cy="3323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6AD4D5-4DC7-4A0E-B85A-1C4F0A94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82" y="4871132"/>
                <a:ext cx="4180247" cy="332399"/>
              </a:xfrm>
              <a:prstGeom prst="rect">
                <a:avLst/>
              </a:prstGeom>
              <a:blipFill>
                <a:blip r:embed="rId3"/>
                <a:stretch>
                  <a:fillRect l="-875" r="-437" b="-2545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48" y="1190681"/>
            <a:ext cx="11275352" cy="3078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Tiempo de acceso (Access Time)</a:t>
            </a:r>
            <a:r>
              <a:rPr lang="es-MX" sz="2000" dirty="0"/>
              <a:t>: En un </a:t>
            </a:r>
            <a:r>
              <a:rPr lang="es-MX" sz="2000" b="1" dirty="0"/>
              <a:t>HDD</a:t>
            </a:r>
            <a:r>
              <a:rPr lang="es-MX" sz="2000" dirty="0"/>
              <a:t>, este se compone de tres factores fundamentales:</a:t>
            </a:r>
          </a:p>
          <a:p>
            <a:pPr marL="800100" lvl="1" indent="-342900"/>
            <a:r>
              <a:rPr lang="es-MX" sz="1800" b="1" dirty="0"/>
              <a:t>Tiempo de búsqueda (Seek Time)</a:t>
            </a:r>
            <a:r>
              <a:rPr lang="es-MX" sz="1800" dirty="0"/>
              <a:t>: </a:t>
            </a:r>
            <a:r>
              <a:rPr lang="es-MX" sz="1800" dirty="0">
                <a:solidFill>
                  <a:schemeClr val="dk1"/>
                </a:solidFill>
              </a:rPr>
              <a:t>Tiempo que toma mover el brazo del disco a la pista correcta.</a:t>
            </a:r>
          </a:p>
          <a:p>
            <a:pPr marL="800100" lvl="1" indent="-342900"/>
            <a:r>
              <a:rPr lang="es-MX" sz="1800" b="1" dirty="0"/>
              <a:t>Latencia rotacional (Transfer Time)</a:t>
            </a:r>
            <a:r>
              <a:rPr lang="es-MX" sz="1800" dirty="0"/>
              <a:t>: </a:t>
            </a:r>
            <a:r>
              <a:rPr lang="es-MX" sz="1800" dirty="0">
                <a:solidFill>
                  <a:schemeClr val="dk1"/>
                </a:solidFill>
              </a:rPr>
              <a:t>Tiempo que toma posicionar el sector debajo del cabeza. Y esta dada por:</a:t>
            </a:r>
          </a:p>
          <a:p>
            <a:pPr marL="800100" lvl="1" indent="-342900"/>
            <a:endParaRPr lang="es-MX" sz="1800" b="1" dirty="0"/>
          </a:p>
          <a:p>
            <a:pPr marL="800100" lvl="1" indent="-342900"/>
            <a:endParaRPr lang="es-MX" sz="1800" b="1" dirty="0"/>
          </a:p>
          <a:p>
            <a:pPr marL="800100" lvl="1" indent="-342900"/>
            <a:r>
              <a:rPr lang="es-MX" sz="1800" b="1" dirty="0"/>
              <a:t>Tiempo de transferencia (Transfer Rate)</a:t>
            </a:r>
            <a:r>
              <a:rPr lang="es-MX" sz="1800" dirty="0"/>
              <a:t>: Tiempo que toma </a:t>
            </a:r>
            <a:r>
              <a:rPr lang="es-MX" sz="1800" dirty="0">
                <a:solidFill>
                  <a:schemeClr val="dk1"/>
                </a:solidFill>
              </a:rPr>
              <a:t>transferir datos desde la superficie del disco su controlador y enviarlos de regreso al host.</a:t>
            </a:r>
          </a:p>
          <a:p>
            <a:pPr marL="800100" lvl="1" indent="-342900"/>
            <a:endParaRPr lang="es-MX" sz="1800" dirty="0"/>
          </a:p>
        </p:txBody>
      </p:sp>
      <p:pic>
        <p:nvPicPr>
          <p:cNvPr id="11" name="Google Shape;220;p32">
            <a:extLst>
              <a:ext uri="{FF2B5EF4-FFF2-40B4-BE49-F238E27FC236}">
                <a16:creationId xmlns:a16="http://schemas.microsoft.com/office/drawing/2014/main" id="{68BD52A8-FA95-4896-B7BC-6C541DA46DF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345" y="3929556"/>
            <a:ext cx="3369787" cy="283240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D37EFE-7589-4DB7-9642-27355AAAF711}"/>
                  </a:ext>
                </a:extLst>
              </p:cNvPr>
              <p:cNvSpPr txBox="1"/>
              <p:nvPr/>
            </p:nvSpPr>
            <p:spPr>
              <a:xfrm>
                <a:off x="4213694" y="2729684"/>
                <a:ext cx="4308071" cy="5058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𝑟𝑒𝑣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600" b="0" i="1" strike="sngStrik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𝑠𝑒𝑔</m:t>
                          </m:r>
                        </m:den>
                      </m:f>
                      <m:r>
                        <a:rPr lang="es-MX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sz="1600" b="0" i="1" strike="sngStrike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𝑠𝑒𝑔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𝑅𝑃𝑀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D37EFE-7589-4DB7-9642-27355AAAF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694" y="2729684"/>
                <a:ext cx="4308071" cy="5058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843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</a:t>
            </a:r>
          </a:p>
          <a:p>
            <a:pPr marL="342900" indent="-342900"/>
            <a:endParaRPr lang="es-MX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6AD4D5-4DC7-4A0E-B85A-1C4F0A948E9D}"/>
                  </a:ext>
                </a:extLst>
              </p:cNvPr>
              <p:cNvSpPr txBox="1"/>
              <p:nvPr/>
            </p:nvSpPr>
            <p:spPr>
              <a:xfrm>
                <a:off x="2137426" y="3515391"/>
                <a:ext cx="2168478" cy="67255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𝑠𝑖𝑧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𝑡𝑟𝑎𝑛𝑠𝑓𝑒𝑟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B6AD4D5-4DC7-4A0E-B85A-1C4F0A94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26" y="3515391"/>
                <a:ext cx="2168478" cy="672556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48" y="1190682"/>
            <a:ext cx="11017452" cy="72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Tasa de transferencia I/O (Throughput)</a:t>
            </a:r>
            <a:r>
              <a:rPr lang="es-MX" sz="2000" dirty="0"/>
              <a:t>: esta métrica mide la velocidad a la cual los datos se mueven físicamente entre un dispositivo periférico y la memoria principal o el procesador</a:t>
            </a:r>
            <a:endParaRPr lang="es-MX" sz="1800" dirty="0"/>
          </a:p>
        </p:txBody>
      </p:sp>
      <p:pic>
        <p:nvPicPr>
          <p:cNvPr id="8194" name="Picture 2" descr="Illustration of a hard disk with a single platter. The disk rotates at a fixed rate and has a head which hovers over the tracks. λ is the arrival rate of memory requests.">
            <a:extLst>
              <a:ext uri="{FF2B5EF4-FFF2-40B4-BE49-F238E27FC236}">
                <a16:creationId xmlns:a16="http://schemas.microsoft.com/office/drawing/2014/main" id="{596CD2AF-85F1-4B96-9701-66264505A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137" y="2150691"/>
            <a:ext cx="57150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845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 (ejemplo)</a:t>
            </a:r>
          </a:p>
          <a:p>
            <a:pPr marL="342900" indent="-342900"/>
            <a:endParaRPr lang="es-MX" sz="2200" dirty="0"/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48" y="1190681"/>
            <a:ext cx="11122952" cy="537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dirty="0"/>
              <a:t>Suponga se desea comparar el desempeño de dos discos duros (Cheetah 15K.5 y Barracuda) cuyas características de muestran en la siguiente tabla: </a:t>
            </a:r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endParaRPr lang="es-MX" sz="2000" dirty="0"/>
          </a:p>
          <a:p>
            <a:pPr marL="342900" indent="-342900"/>
            <a:r>
              <a:rPr lang="es-MX" sz="2000" dirty="0"/>
              <a:t>La transferencia ejecuta dos cargas de trabajo diferentes:</a:t>
            </a:r>
          </a:p>
          <a:p>
            <a:pPr marL="800100" lvl="1" indent="-342900"/>
            <a:r>
              <a:rPr lang="es-MX" sz="1600" b="1" dirty="0"/>
              <a:t>Carga de trabajo aleatoria</a:t>
            </a:r>
            <a:r>
              <a:rPr lang="es-MX" sz="1600" dirty="0"/>
              <a:t>: Acceso a lecturas de bloques de 4KB en posiciones aleatorias.</a:t>
            </a:r>
          </a:p>
          <a:p>
            <a:pPr marL="800100" lvl="1" indent="-342900"/>
            <a:r>
              <a:rPr lang="es-MX" sz="1600" b="1" dirty="0"/>
              <a:t>Carga de trabajo secuencial</a:t>
            </a:r>
            <a:r>
              <a:rPr lang="es-MX" sz="1600" dirty="0"/>
              <a:t>: Lectura de 100MB consecutivos en el disco.</a:t>
            </a:r>
          </a:p>
          <a:p>
            <a:pPr marL="342900" indent="-342900"/>
            <a:r>
              <a:rPr lang="es-MX" sz="2000" dirty="0"/>
              <a:t>Obtenga las métricas para cada caso y realice las comparaciones pertinentes.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990D74-6E4E-460A-9608-E95EBC6B2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80100"/>
              </p:ext>
            </p:extLst>
          </p:nvPr>
        </p:nvGraphicFramePr>
        <p:xfrm>
          <a:off x="2158970" y="2231882"/>
          <a:ext cx="8790708" cy="2682240"/>
        </p:xfrm>
        <a:graphic>
          <a:graphicData uri="http://schemas.openxmlformats.org/drawingml/2006/table">
            <a:tbl>
              <a:tblPr/>
              <a:tblGrid>
                <a:gridCol w="2930236">
                  <a:extLst>
                    <a:ext uri="{9D8B030D-6E8A-4147-A177-3AD203B41FA5}">
                      <a16:colId xmlns:a16="http://schemas.microsoft.com/office/drawing/2014/main" val="2686136467"/>
                    </a:ext>
                  </a:extLst>
                </a:gridCol>
                <a:gridCol w="2930236">
                  <a:extLst>
                    <a:ext uri="{9D8B030D-6E8A-4147-A177-3AD203B41FA5}">
                      <a16:colId xmlns:a16="http://schemas.microsoft.com/office/drawing/2014/main" val="2728742984"/>
                    </a:ext>
                  </a:extLst>
                </a:gridCol>
                <a:gridCol w="2930236">
                  <a:extLst>
                    <a:ext uri="{9D8B030D-6E8A-4147-A177-3AD203B41FA5}">
                      <a16:colId xmlns:a16="http://schemas.microsoft.com/office/drawing/2014/main" val="355408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Cheetah 15K.5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Barracuda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45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Capacity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300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 TB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931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RPM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7,200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09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Avg. Seek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 ms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325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Max Transfer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105 MB/s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71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Platters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01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Cache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 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16/32 MB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422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Interface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SCSI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SATA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02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590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 (ejemplo)</a:t>
            </a:r>
          </a:p>
          <a:p>
            <a:pPr marL="342900" indent="-342900"/>
            <a:endParaRPr lang="es-MX" sz="2200" dirty="0"/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48" y="2912508"/>
            <a:ext cx="11275352" cy="46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Carga de trabajo aleatoria</a:t>
            </a:r>
            <a:r>
              <a:rPr lang="es-MX" sz="2000" dirty="0"/>
              <a:t>: Acceso a lecturas de bloques de 4KB en posiciones aleatorias.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990D74-6E4E-460A-9608-E95EBC6B2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84588"/>
              </p:ext>
            </p:extLst>
          </p:nvPr>
        </p:nvGraphicFramePr>
        <p:xfrm>
          <a:off x="1092171" y="1505915"/>
          <a:ext cx="5003829" cy="1341120"/>
        </p:xfrm>
        <a:graphic>
          <a:graphicData uri="http://schemas.openxmlformats.org/drawingml/2006/table">
            <a:tbl>
              <a:tblPr/>
              <a:tblGrid>
                <a:gridCol w="1667943">
                  <a:extLst>
                    <a:ext uri="{9D8B030D-6E8A-4147-A177-3AD203B41FA5}">
                      <a16:colId xmlns:a16="http://schemas.microsoft.com/office/drawing/2014/main" val="2686136467"/>
                    </a:ext>
                  </a:extLst>
                </a:gridCol>
                <a:gridCol w="1667943">
                  <a:extLst>
                    <a:ext uri="{9D8B030D-6E8A-4147-A177-3AD203B41FA5}">
                      <a16:colId xmlns:a16="http://schemas.microsoft.com/office/drawing/2014/main" val="2728742984"/>
                    </a:ext>
                  </a:extLst>
                </a:gridCol>
                <a:gridCol w="1667943">
                  <a:extLst>
                    <a:ext uri="{9D8B030D-6E8A-4147-A177-3AD203B41FA5}">
                      <a16:colId xmlns:a16="http://schemas.microsoft.com/office/drawing/2014/main" val="355408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Cheetah 15K.5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Barracuda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45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RPM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7,200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09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Avg. Seek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 ms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325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Max Transfer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105 MB/s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710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15C6859-360F-45D3-B078-6E8E165DC94B}"/>
                  </a:ext>
                </a:extLst>
              </p:cNvPr>
              <p:cNvSpPr txBox="1"/>
              <p:nvPr/>
            </p:nvSpPr>
            <p:spPr>
              <a:xfrm>
                <a:off x="6919582" y="1449562"/>
                <a:ext cx="4180247" cy="3323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15C6859-360F-45D3-B078-6E8E165D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582" y="1449562"/>
                <a:ext cx="4180247" cy="332399"/>
              </a:xfrm>
              <a:prstGeom prst="rect">
                <a:avLst/>
              </a:prstGeom>
              <a:blipFill>
                <a:blip r:embed="rId3"/>
                <a:stretch>
                  <a:fillRect l="-729" r="-437" b="-2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E110679-A9C7-416B-A759-4C124F612283}"/>
                  </a:ext>
                </a:extLst>
              </p:cNvPr>
              <p:cNvSpPr txBox="1"/>
              <p:nvPr/>
            </p:nvSpPr>
            <p:spPr>
              <a:xfrm>
                <a:off x="916648" y="3502255"/>
                <a:ext cx="2171364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s-CO" sz="1600" b="1" dirty="0"/>
                  <a:t>Cheeta 15K.5</a:t>
                </a:r>
                <a:r>
                  <a:rPr lang="es-CO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𝑅𝑃𝑀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=15000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𝑠𝑒𝑒𝑘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=125</m:t>
                    </m:r>
                    <m:f>
                      <m:fPr>
                        <m:type m:val="lin"/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CO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E110679-A9C7-416B-A759-4C124F612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8" y="3502255"/>
                <a:ext cx="2171364" cy="1077218"/>
              </a:xfrm>
              <a:prstGeom prst="rect">
                <a:avLst/>
              </a:prstGeom>
              <a:blipFill>
                <a:blip r:embed="rId4"/>
                <a:stretch>
                  <a:fillRect l="-1114" t="-1124" r="-18942" b="-511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A32B771-99C1-49D5-A78C-476A316EA155}"/>
                  </a:ext>
                </a:extLst>
              </p:cNvPr>
              <p:cNvSpPr txBox="1"/>
              <p:nvPr/>
            </p:nvSpPr>
            <p:spPr>
              <a:xfrm>
                <a:off x="916648" y="5195596"/>
                <a:ext cx="2171364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s-CO" sz="1600" b="1" dirty="0"/>
                  <a:t>Barracuda</a:t>
                </a:r>
                <a:r>
                  <a:rPr lang="es-CO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𝑅𝑃𝑀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=7200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𝑠𝑒𝑒𝑘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=105</m:t>
                    </m:r>
                    <m:f>
                      <m:fPr>
                        <m:type m:val="lin"/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CO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A32B771-99C1-49D5-A78C-476A316EA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8" y="5195596"/>
                <a:ext cx="2171364" cy="1077218"/>
              </a:xfrm>
              <a:prstGeom prst="rect">
                <a:avLst/>
              </a:prstGeom>
              <a:blipFill>
                <a:blip r:embed="rId5"/>
                <a:stretch>
                  <a:fillRect l="-1114" t="-1117" r="-18942" b="-50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4E0DC7-0796-4A6B-B01D-EE36CAFDA377}"/>
                  </a:ext>
                </a:extLst>
              </p:cNvPr>
              <p:cNvSpPr txBox="1"/>
              <p:nvPr/>
            </p:nvSpPr>
            <p:spPr>
              <a:xfrm>
                <a:off x="3279193" y="3740792"/>
                <a:ext cx="4754058" cy="404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15000 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den>
                      </m:f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=2×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4E0DC7-0796-4A6B-B01D-EE36CAFDA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193" y="3740792"/>
                <a:ext cx="4754058" cy="404791"/>
              </a:xfrm>
              <a:prstGeom prst="rect">
                <a:avLst/>
              </a:prstGeom>
              <a:blipFill>
                <a:blip r:embed="rId6"/>
                <a:stretch>
                  <a:fillRect l="-256" t="-3030"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CB5AB46-4E74-41AE-A8EB-07F866B2B9C0}"/>
                  </a:ext>
                </a:extLst>
              </p:cNvPr>
              <p:cNvSpPr txBox="1"/>
              <p:nvPr/>
            </p:nvSpPr>
            <p:spPr>
              <a:xfrm>
                <a:off x="3279193" y="3494967"/>
                <a:ext cx="10443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CB5AB46-4E74-41AE-A8EB-07F866B2B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193" y="3494967"/>
                <a:ext cx="1044388" cy="215444"/>
              </a:xfrm>
              <a:prstGeom prst="rect">
                <a:avLst/>
              </a:prstGeom>
              <a:blipFill>
                <a:blip r:embed="rId7"/>
                <a:stretch>
                  <a:fillRect l="-2924" r="-585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193D2B-69AF-4383-A918-1D86C35D48F2}"/>
                  </a:ext>
                </a:extLst>
              </p:cNvPr>
              <p:cNvSpPr txBox="1"/>
              <p:nvPr/>
            </p:nvSpPr>
            <p:spPr>
              <a:xfrm>
                <a:off x="3249185" y="4244001"/>
                <a:ext cx="4866973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𝐾𝐵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𝐾𝐵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𝐾𝐵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125 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=0.032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193D2B-69AF-4383-A918-1D86C35D4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185" y="4244001"/>
                <a:ext cx="4866973" cy="404726"/>
              </a:xfrm>
              <a:prstGeom prst="rect">
                <a:avLst/>
              </a:prstGeom>
              <a:blipFill>
                <a:blip r:embed="rId8"/>
                <a:stretch>
                  <a:fillRect l="-251" b="-134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34F1FAD-D413-454F-9C92-FCB6B4EBCC33}"/>
                  </a:ext>
                </a:extLst>
              </p:cNvPr>
              <p:cNvSpPr txBox="1"/>
              <p:nvPr/>
            </p:nvSpPr>
            <p:spPr>
              <a:xfrm>
                <a:off x="3594085" y="4791761"/>
                <a:ext cx="4141070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+0.032 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=6.032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34F1FAD-D413-454F-9C92-FCB6B4EBC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085" y="4791761"/>
                <a:ext cx="4141070" cy="246221"/>
              </a:xfrm>
              <a:prstGeom prst="rect">
                <a:avLst/>
              </a:prstGeom>
              <a:blipFill>
                <a:blip r:embed="rId9"/>
                <a:stretch>
                  <a:fillRect l="-589" b="-1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E3BCCDF-5190-4E75-8E55-00C1A0DF5C77}"/>
                  </a:ext>
                </a:extLst>
              </p:cNvPr>
              <p:cNvSpPr txBox="1"/>
              <p:nvPr/>
            </p:nvSpPr>
            <p:spPr>
              <a:xfrm>
                <a:off x="3293233" y="5453013"/>
                <a:ext cx="5125955" cy="404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7200 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den>
                      </m:f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=4.17×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=4.17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E3BCCDF-5190-4E75-8E55-00C1A0DF5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233" y="5453013"/>
                <a:ext cx="5125955" cy="404791"/>
              </a:xfrm>
              <a:prstGeom prst="rect">
                <a:avLst/>
              </a:prstGeom>
              <a:blipFill>
                <a:blip r:embed="rId10"/>
                <a:stretch>
                  <a:fillRect l="-238" t="-3030"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3C2449-9E5C-4309-A9CE-1C4A3C96971A}"/>
                  </a:ext>
                </a:extLst>
              </p:cNvPr>
              <p:cNvSpPr txBox="1"/>
              <p:nvPr/>
            </p:nvSpPr>
            <p:spPr>
              <a:xfrm>
                <a:off x="3295055" y="5220843"/>
                <a:ext cx="10443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3C2449-9E5C-4309-A9CE-1C4A3C96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55" y="5220843"/>
                <a:ext cx="1044388" cy="215444"/>
              </a:xfrm>
              <a:prstGeom prst="rect">
                <a:avLst/>
              </a:prstGeom>
              <a:blipFill>
                <a:blip r:embed="rId11"/>
                <a:stretch>
                  <a:fillRect l="-2924" r="-585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6B438A3-3930-45E8-B9AE-69CDB6FCA239}"/>
                  </a:ext>
                </a:extLst>
              </p:cNvPr>
              <p:cNvSpPr txBox="1"/>
              <p:nvPr/>
            </p:nvSpPr>
            <p:spPr>
              <a:xfrm>
                <a:off x="3219177" y="5883077"/>
                <a:ext cx="4866973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𝐾𝐵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𝐾𝐵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𝐾𝐵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105 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=0.038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6B438A3-3930-45E8-B9AE-69CDB6FCA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177" y="5883077"/>
                <a:ext cx="4866973" cy="404726"/>
              </a:xfrm>
              <a:prstGeom prst="rect">
                <a:avLst/>
              </a:prstGeom>
              <a:blipFill>
                <a:blip r:embed="rId12"/>
                <a:stretch>
                  <a:fillRect l="-251" b="-151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0DBF35C-B399-48FE-BEA9-52C6083AA212}"/>
                  </a:ext>
                </a:extLst>
              </p:cNvPr>
              <p:cNvSpPr txBox="1"/>
              <p:nvPr/>
            </p:nvSpPr>
            <p:spPr>
              <a:xfrm>
                <a:off x="3594085" y="6407304"/>
                <a:ext cx="4524187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+4.17 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+0.038 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=13.208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0DBF35C-B399-48FE-BEA9-52C6083A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085" y="6407304"/>
                <a:ext cx="4524187" cy="246221"/>
              </a:xfrm>
              <a:prstGeom prst="rect">
                <a:avLst/>
              </a:prstGeom>
              <a:blipFill>
                <a:blip r:embed="rId13"/>
                <a:stretch>
                  <a:fillRect l="-539" b="-1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EBA6A9E-A099-43D0-A843-C8DAEBC0AF1F}"/>
                  </a:ext>
                </a:extLst>
              </p:cNvPr>
              <p:cNvSpPr txBox="1"/>
              <p:nvPr/>
            </p:nvSpPr>
            <p:spPr>
              <a:xfrm>
                <a:off x="8033251" y="2043056"/>
                <a:ext cx="2168478" cy="67255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𝑠𝑖𝑧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𝑡𝑟𝑎𝑛𝑠𝑓𝑒𝑟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EBA6A9E-A099-43D0-A843-C8DAEBC0A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251" y="2043056"/>
                <a:ext cx="2168478" cy="672556"/>
              </a:xfrm>
              <a:prstGeom prst="rect">
                <a:avLst/>
              </a:prstGeom>
              <a:blipFill>
                <a:blip r:embed="rId14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9A54084-732C-4767-9025-84FCE074ACB4}"/>
                  </a:ext>
                </a:extLst>
              </p:cNvPr>
              <p:cNvSpPr txBox="1"/>
              <p:nvPr/>
            </p:nvSpPr>
            <p:spPr>
              <a:xfrm>
                <a:off x="8655414" y="4066917"/>
                <a:ext cx="3340209" cy="4626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0.4 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6.03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2×</m:t>
                          </m:r>
                          <m:sSup>
                            <m:sSup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≈0.663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9A54084-732C-4767-9025-84FCE074A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5414" y="4066917"/>
                <a:ext cx="3340209" cy="46269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5BCC995-6354-41FF-82ED-08643BEF0FBE}"/>
                  </a:ext>
                </a:extLst>
              </p:cNvPr>
              <p:cNvSpPr txBox="1"/>
              <p:nvPr/>
            </p:nvSpPr>
            <p:spPr>
              <a:xfrm>
                <a:off x="8685293" y="5729058"/>
                <a:ext cx="3310330" cy="4617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4 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𝐾𝐵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13.208×</m:t>
                          </m:r>
                          <m:sSup>
                            <m:sSupPr>
                              <m:ctrlPr>
                                <a:rPr lang="es-MX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MX" sz="16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≈0.303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5BCC995-6354-41FF-82ED-08643BEF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293" y="5729058"/>
                <a:ext cx="3310330" cy="4617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07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 (ejemplo)</a:t>
            </a:r>
          </a:p>
          <a:p>
            <a:pPr marL="342900" indent="-342900"/>
            <a:endParaRPr lang="es-MX" sz="2200" dirty="0"/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48" y="2912508"/>
            <a:ext cx="11275352" cy="46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342900" indent="-342900"/>
            <a:r>
              <a:rPr lang="es-MX" sz="2000" b="1" dirty="0"/>
              <a:t>Carga de trabajo secuencial</a:t>
            </a:r>
            <a:r>
              <a:rPr lang="es-MX" sz="2000" dirty="0"/>
              <a:t>: Lectura de 100MB consecutivos en el disco.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5990D74-6E4E-460A-9608-E95EBC6B2328}"/>
              </a:ext>
            </a:extLst>
          </p:cNvPr>
          <p:cNvGraphicFramePr>
            <a:graphicFrameLocks noGrp="1"/>
          </p:cNvGraphicFramePr>
          <p:nvPr/>
        </p:nvGraphicFramePr>
        <p:xfrm>
          <a:off x="1092171" y="1505915"/>
          <a:ext cx="5003829" cy="1341120"/>
        </p:xfrm>
        <a:graphic>
          <a:graphicData uri="http://schemas.openxmlformats.org/drawingml/2006/table">
            <a:tbl>
              <a:tblPr/>
              <a:tblGrid>
                <a:gridCol w="1667943">
                  <a:extLst>
                    <a:ext uri="{9D8B030D-6E8A-4147-A177-3AD203B41FA5}">
                      <a16:colId xmlns:a16="http://schemas.microsoft.com/office/drawing/2014/main" val="2686136467"/>
                    </a:ext>
                  </a:extLst>
                </a:gridCol>
                <a:gridCol w="1667943">
                  <a:extLst>
                    <a:ext uri="{9D8B030D-6E8A-4147-A177-3AD203B41FA5}">
                      <a16:colId xmlns:a16="http://schemas.microsoft.com/office/drawing/2014/main" val="2728742984"/>
                    </a:ext>
                  </a:extLst>
                </a:gridCol>
                <a:gridCol w="1667943">
                  <a:extLst>
                    <a:ext uri="{9D8B030D-6E8A-4147-A177-3AD203B41FA5}">
                      <a16:colId xmlns:a16="http://schemas.microsoft.com/office/drawing/2014/main" val="3554081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Cheetah 15K.5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Barracuda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45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RPM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7,200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09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Avg. Seek</a:t>
                      </a:r>
                      <a:endParaRPr lang="es-CO" sz="16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 ms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325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6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Max Transfer</a:t>
                      </a:r>
                      <a:endParaRPr lang="es-CO" sz="16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125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105 MB/s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57102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15C6859-360F-45D3-B078-6E8E165DC94B}"/>
                  </a:ext>
                </a:extLst>
              </p:cNvPr>
              <p:cNvSpPr txBox="1"/>
              <p:nvPr/>
            </p:nvSpPr>
            <p:spPr>
              <a:xfrm>
                <a:off x="6919582" y="1449562"/>
                <a:ext cx="4180247" cy="3323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15C6859-360F-45D3-B078-6E8E165D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582" y="1449562"/>
                <a:ext cx="4180247" cy="332399"/>
              </a:xfrm>
              <a:prstGeom prst="rect">
                <a:avLst/>
              </a:prstGeom>
              <a:blipFill>
                <a:blip r:embed="rId3"/>
                <a:stretch>
                  <a:fillRect l="-729" r="-437" b="-2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E110679-A9C7-416B-A759-4C124F612283}"/>
                  </a:ext>
                </a:extLst>
              </p:cNvPr>
              <p:cNvSpPr txBox="1"/>
              <p:nvPr/>
            </p:nvSpPr>
            <p:spPr>
              <a:xfrm>
                <a:off x="916648" y="3511665"/>
                <a:ext cx="2171364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s-CO" sz="1600" b="1" dirty="0"/>
                  <a:t>Cheeta 15K.5</a:t>
                </a:r>
                <a:r>
                  <a:rPr lang="es-CO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𝑅𝑃𝑀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=15000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𝑠𝑒𝑒𝑘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=125</m:t>
                    </m:r>
                    <m:f>
                      <m:fPr>
                        <m:type m:val="lin"/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CO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E110679-A9C7-416B-A759-4C124F612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8" y="3511665"/>
                <a:ext cx="2171364" cy="1077218"/>
              </a:xfrm>
              <a:prstGeom prst="rect">
                <a:avLst/>
              </a:prstGeom>
              <a:blipFill>
                <a:blip r:embed="rId4"/>
                <a:stretch>
                  <a:fillRect l="-1114" t="-1117" r="-18942" b="-50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A32B771-99C1-49D5-A78C-476A316EA155}"/>
                  </a:ext>
                </a:extLst>
              </p:cNvPr>
              <p:cNvSpPr txBox="1"/>
              <p:nvPr/>
            </p:nvSpPr>
            <p:spPr>
              <a:xfrm>
                <a:off x="916648" y="5017679"/>
                <a:ext cx="2171364" cy="10772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s-CO" sz="1600" b="1" dirty="0"/>
                  <a:t>Barracuda</a:t>
                </a:r>
                <a:r>
                  <a:rPr lang="es-CO" sz="16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𝑅𝑃𝑀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=7200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𝑠𝑒𝑒𝑘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=9 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endParaRPr lang="es-MX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=105</m:t>
                    </m:r>
                    <m:f>
                      <m:fPr>
                        <m:type m:val="lin"/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𝑀𝐵</m:t>
                        </m:r>
                      </m:num>
                      <m:den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s-CO" sz="16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6A32B771-99C1-49D5-A78C-476A316EA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8" y="5017679"/>
                <a:ext cx="2171364" cy="1077218"/>
              </a:xfrm>
              <a:prstGeom prst="rect">
                <a:avLst/>
              </a:prstGeom>
              <a:blipFill>
                <a:blip r:embed="rId5"/>
                <a:stretch>
                  <a:fillRect l="-1114" t="-1117" r="-18942" b="-502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4E0DC7-0796-4A6B-B01D-EE36CAFDA377}"/>
                  </a:ext>
                </a:extLst>
              </p:cNvPr>
              <p:cNvSpPr txBox="1"/>
              <p:nvPr/>
            </p:nvSpPr>
            <p:spPr>
              <a:xfrm>
                <a:off x="3179175" y="3739917"/>
                <a:ext cx="4754058" cy="404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15000 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den>
                      </m:f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=2×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84E0DC7-0796-4A6B-B01D-EE36CAFDA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175" y="3739917"/>
                <a:ext cx="4754058" cy="404791"/>
              </a:xfrm>
              <a:prstGeom prst="rect">
                <a:avLst/>
              </a:prstGeom>
              <a:blipFill>
                <a:blip r:embed="rId6"/>
                <a:stretch>
                  <a:fillRect l="-257" t="-3030"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CB5AB46-4E74-41AE-A8EB-07F866B2B9C0}"/>
                  </a:ext>
                </a:extLst>
              </p:cNvPr>
              <p:cNvSpPr txBox="1"/>
              <p:nvPr/>
            </p:nvSpPr>
            <p:spPr>
              <a:xfrm>
                <a:off x="3179175" y="3478827"/>
                <a:ext cx="10443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CB5AB46-4E74-41AE-A8EB-07F866B2B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175" y="3478827"/>
                <a:ext cx="1044388" cy="215444"/>
              </a:xfrm>
              <a:prstGeom prst="rect">
                <a:avLst/>
              </a:prstGeom>
              <a:blipFill>
                <a:blip r:embed="rId7"/>
                <a:stretch>
                  <a:fillRect l="-2924" r="-585" b="-171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193D2B-69AF-4383-A918-1D86C35D48F2}"/>
                  </a:ext>
                </a:extLst>
              </p:cNvPr>
              <p:cNvSpPr txBox="1"/>
              <p:nvPr/>
            </p:nvSpPr>
            <p:spPr>
              <a:xfrm>
                <a:off x="3179175" y="4184157"/>
                <a:ext cx="4378443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𝑀𝐵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125 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A1193D2B-69AF-4383-A918-1D86C35D4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175" y="4184157"/>
                <a:ext cx="4378443" cy="404726"/>
              </a:xfrm>
              <a:prstGeom prst="rect">
                <a:avLst/>
              </a:prstGeom>
              <a:blipFill>
                <a:blip r:embed="rId8"/>
                <a:stretch>
                  <a:fillRect l="-696" b="-134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34F1FAD-D413-454F-9C92-FCB6B4EBCC33}"/>
                  </a:ext>
                </a:extLst>
              </p:cNvPr>
              <p:cNvSpPr txBox="1"/>
              <p:nvPr/>
            </p:nvSpPr>
            <p:spPr>
              <a:xfrm>
                <a:off x="3624093" y="4686266"/>
                <a:ext cx="3830087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+800 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=806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34F1FAD-D413-454F-9C92-FCB6B4EBC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093" y="4686266"/>
                <a:ext cx="3830087" cy="246221"/>
              </a:xfrm>
              <a:prstGeom prst="rect">
                <a:avLst/>
              </a:prstGeom>
              <a:blipFill>
                <a:blip r:embed="rId9"/>
                <a:stretch>
                  <a:fillRect l="-637" b="-1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E3BCCDF-5190-4E75-8E55-00C1A0DF5C77}"/>
                  </a:ext>
                </a:extLst>
              </p:cNvPr>
              <p:cNvSpPr txBox="1"/>
              <p:nvPr/>
            </p:nvSpPr>
            <p:spPr>
              <a:xfrm>
                <a:off x="3274842" y="5288270"/>
                <a:ext cx="5125955" cy="404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7200 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den>
                      </m:f>
                      <m:r>
                        <a:rPr lang="es-MX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60 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=4.17×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=4.17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E3BCCDF-5190-4E75-8E55-00C1A0DF5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842" y="5288270"/>
                <a:ext cx="5125955" cy="404791"/>
              </a:xfrm>
              <a:prstGeom prst="rect">
                <a:avLst/>
              </a:prstGeom>
              <a:blipFill>
                <a:blip r:embed="rId10"/>
                <a:stretch>
                  <a:fillRect l="-238" t="-1493" b="-134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3C2449-9E5C-4309-A9CE-1C4A3C96971A}"/>
                  </a:ext>
                </a:extLst>
              </p:cNvPr>
              <p:cNvSpPr txBox="1"/>
              <p:nvPr/>
            </p:nvSpPr>
            <p:spPr>
              <a:xfrm>
                <a:off x="3295055" y="5034431"/>
                <a:ext cx="104438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𝑠𝑒𝑒𝑘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33C2449-9E5C-4309-A9CE-1C4A3C969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55" y="5034431"/>
                <a:ext cx="1044388" cy="215444"/>
              </a:xfrm>
              <a:prstGeom prst="rect">
                <a:avLst/>
              </a:prstGeom>
              <a:blipFill>
                <a:blip r:embed="rId11"/>
                <a:stretch>
                  <a:fillRect l="-2924" r="-585" b="-1714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6B438A3-3930-45E8-B9AE-69CDB6FCA239}"/>
                  </a:ext>
                </a:extLst>
              </p:cNvPr>
              <p:cNvSpPr txBox="1"/>
              <p:nvPr/>
            </p:nvSpPr>
            <p:spPr>
              <a:xfrm>
                <a:off x="3295055" y="5731456"/>
                <a:ext cx="4681410" cy="4047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=100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e>
                      </m:d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100 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𝑀𝐵</m:t>
                      </m:r>
                      <m:r>
                        <a:rPr lang="es-MX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105 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den>
                      </m:f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=952.38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A6B438A3-3930-45E8-B9AE-69CDB6FCA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55" y="5731456"/>
                <a:ext cx="4681410" cy="404726"/>
              </a:xfrm>
              <a:prstGeom prst="rect">
                <a:avLst/>
              </a:prstGeom>
              <a:blipFill>
                <a:blip r:embed="rId12"/>
                <a:stretch>
                  <a:fillRect l="-261" b="-134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0DBF35C-B399-48FE-BEA9-52C6083AA212}"/>
                  </a:ext>
                </a:extLst>
              </p:cNvPr>
              <p:cNvSpPr txBox="1"/>
              <p:nvPr/>
            </p:nvSpPr>
            <p:spPr>
              <a:xfrm>
                <a:off x="3450915" y="6287742"/>
                <a:ext cx="4593117" cy="2462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𝑎𝑐𝑐𝑒𝑠𝑠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=9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+4.17 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+952.38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=965.55 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0DBF35C-B399-48FE-BEA9-52C6083A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0915" y="6287742"/>
                <a:ext cx="4593117" cy="246221"/>
              </a:xfrm>
              <a:prstGeom prst="rect">
                <a:avLst/>
              </a:prstGeom>
              <a:blipFill>
                <a:blip r:embed="rId13"/>
                <a:stretch>
                  <a:fillRect l="-398" b="-1219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EBA6A9E-A099-43D0-A843-C8DAEBC0AF1F}"/>
                  </a:ext>
                </a:extLst>
              </p:cNvPr>
              <p:cNvSpPr txBox="1"/>
              <p:nvPr/>
            </p:nvSpPr>
            <p:spPr>
              <a:xfrm>
                <a:off x="7925466" y="2008086"/>
                <a:ext cx="2168478" cy="67255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𝑠𝑖𝑧</m:t>
                          </m:r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𝑡𝑟𝑎𝑛𝑠𝑓𝑒𝑟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FEBA6A9E-A099-43D0-A843-C8DAEBC0A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466" y="2008086"/>
                <a:ext cx="2168478" cy="6725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9A54084-732C-4767-9025-84FCE074ACB4}"/>
                  </a:ext>
                </a:extLst>
              </p:cNvPr>
              <p:cNvSpPr txBox="1"/>
              <p:nvPr/>
            </p:nvSpPr>
            <p:spPr>
              <a:xfrm>
                <a:off x="8339370" y="4203155"/>
                <a:ext cx="2956770" cy="4626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0.806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≈124.07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69A54084-732C-4767-9025-84FCE074A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370" y="4203155"/>
                <a:ext cx="2956770" cy="46269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5BCC995-6354-41FF-82ED-08643BEF0FBE}"/>
                  </a:ext>
                </a:extLst>
              </p:cNvPr>
              <p:cNvSpPr txBox="1"/>
              <p:nvPr/>
            </p:nvSpPr>
            <p:spPr>
              <a:xfrm>
                <a:off x="8339370" y="5726309"/>
                <a:ext cx="3047052" cy="4626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965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55 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≈103. 56</m:t>
                      </m:r>
                      <m:f>
                        <m:fPr>
                          <m:type m:val="lin"/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D5BCC995-6354-41FF-82ED-08643BEF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370" y="5726309"/>
                <a:ext cx="3047052" cy="4626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15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Disco duro magnético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53292"/>
            <a:ext cx="11017452" cy="50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2200" b="1" dirty="0"/>
              <a:t>Métricas de desempeño</a:t>
            </a:r>
          </a:p>
          <a:p>
            <a:pPr marL="342900" indent="-342900"/>
            <a:endParaRPr lang="es-MX" sz="2200" dirty="0"/>
          </a:p>
        </p:txBody>
      </p:sp>
      <p:sp>
        <p:nvSpPr>
          <p:cNvPr id="13" name="Google Shape;310;p34">
            <a:extLst>
              <a:ext uri="{FF2B5EF4-FFF2-40B4-BE49-F238E27FC236}">
                <a16:creationId xmlns:a16="http://schemas.microsoft.com/office/drawing/2014/main" id="{F514F0E1-78D5-43B9-ADEF-D39A775F9652}"/>
              </a:ext>
            </a:extLst>
          </p:cNvPr>
          <p:cNvSpPr txBox="1">
            <a:spLocks/>
          </p:cNvSpPr>
          <p:nvPr/>
        </p:nvSpPr>
        <p:spPr>
          <a:xfrm>
            <a:off x="916650" y="1262742"/>
            <a:ext cx="4929968" cy="232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1800" b="1" dirty="0"/>
              <a:t>En acceso aleatorio (4 KB)</a:t>
            </a:r>
          </a:p>
          <a:p>
            <a:pPr marL="342900" indent="-342900"/>
            <a:r>
              <a:rPr lang="es-MX" sz="1600" dirty="0"/>
              <a:t>El rendimiento está dominado por:</a:t>
            </a:r>
          </a:p>
          <a:p>
            <a:pPr marL="800100" lvl="1"/>
            <a:r>
              <a:rPr lang="es-MX" sz="1600" dirty="0"/>
              <a:t>Seek</a:t>
            </a:r>
          </a:p>
          <a:p>
            <a:pPr marL="800100" lvl="1"/>
            <a:r>
              <a:rPr lang="es-MX" sz="1600" dirty="0"/>
              <a:t>Latencia rotacional</a:t>
            </a:r>
          </a:p>
          <a:p>
            <a:pPr marL="342900"/>
            <a:r>
              <a:rPr lang="es-MX" sz="1600" dirty="0"/>
              <a:t>El Cheetah casi duplica el throughput.</a:t>
            </a:r>
          </a:p>
          <a:p>
            <a:pPr marL="342900"/>
            <a:r>
              <a:rPr lang="es-MX" sz="1600" dirty="0"/>
              <a:t>La diferencia proviene principalmente del menor seek y mayor RPM.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3B44469-1F3C-4894-A182-BEFFF0E2F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68051"/>
                  </p:ext>
                </p:extLst>
              </p:nvPr>
            </p:nvGraphicFramePr>
            <p:xfrm>
              <a:off x="5902038" y="1909754"/>
              <a:ext cx="6118370" cy="2438400"/>
            </p:xfrm>
            <a:graphic>
              <a:graphicData uri="http://schemas.openxmlformats.org/drawingml/2006/table">
                <a:tbl>
                  <a:tblPr/>
                  <a:tblGrid>
                    <a:gridCol w="2945678">
                      <a:extLst>
                        <a:ext uri="{9D8B030D-6E8A-4147-A177-3AD203B41FA5}">
                          <a16:colId xmlns:a16="http://schemas.microsoft.com/office/drawing/2014/main" val="2501783845"/>
                        </a:ext>
                      </a:extLst>
                    </a:gridCol>
                    <a:gridCol w="1586346">
                      <a:extLst>
                        <a:ext uri="{9D8B030D-6E8A-4147-A177-3AD203B41FA5}">
                          <a16:colId xmlns:a16="http://schemas.microsoft.com/office/drawing/2014/main" val="1972836363"/>
                        </a:ext>
                      </a:extLst>
                    </a:gridCol>
                    <a:gridCol w="1586346">
                      <a:extLst>
                        <a:ext uri="{9D8B030D-6E8A-4147-A177-3AD203B41FA5}">
                          <a16:colId xmlns:a16="http://schemas.microsoft.com/office/drawing/2014/main" val="151169035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Métrica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Cheetah 15K.5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Barracuda 7200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2179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RPM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15000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7200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44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Avg Seek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 ms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9 ms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69148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 rotacional (promedio)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 ms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4.17 ms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646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𝒂𝒄𝒄𝒆𝒔𝒔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(Random 4KB)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6.03 ms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13.21 ms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43663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b="1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𝑻𝒉𝒓𝒐𝒖𝒈𝒉𝒑𝒖𝒕</m:t>
                              </m:r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Random (4KB)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0.663 MB/s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0.303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21648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𝒂𝒄𝒄𝒆𝒔𝒔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(Secuencial 100MB)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0.806 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0.966 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15266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s-CO" b="1" i="1" dirty="0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𝑻𝒉𝒓𝒐𝒖𝒈𝒉𝒑𝒖𝒕</m:t>
                              </m:r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Secuencial (100MB)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124.1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103.6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83663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3B44469-1F3C-4894-A182-BEFFF0E2F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68051"/>
                  </p:ext>
                </p:extLst>
              </p:nvPr>
            </p:nvGraphicFramePr>
            <p:xfrm>
              <a:off x="5902038" y="1909754"/>
              <a:ext cx="6118370" cy="2438400"/>
            </p:xfrm>
            <a:graphic>
              <a:graphicData uri="http://schemas.openxmlformats.org/drawingml/2006/table">
                <a:tbl>
                  <a:tblPr/>
                  <a:tblGrid>
                    <a:gridCol w="2945678">
                      <a:extLst>
                        <a:ext uri="{9D8B030D-6E8A-4147-A177-3AD203B41FA5}">
                          <a16:colId xmlns:a16="http://schemas.microsoft.com/office/drawing/2014/main" val="2501783845"/>
                        </a:ext>
                      </a:extLst>
                    </a:gridCol>
                    <a:gridCol w="1586346">
                      <a:extLst>
                        <a:ext uri="{9D8B030D-6E8A-4147-A177-3AD203B41FA5}">
                          <a16:colId xmlns:a16="http://schemas.microsoft.com/office/drawing/2014/main" val="1972836363"/>
                        </a:ext>
                      </a:extLst>
                    </a:gridCol>
                    <a:gridCol w="1586346">
                      <a:extLst>
                        <a:ext uri="{9D8B030D-6E8A-4147-A177-3AD203B41FA5}">
                          <a16:colId xmlns:a16="http://schemas.microsoft.com/office/drawing/2014/main" val="151169035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Métrica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Cheetah 15K.5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Barracuda 7200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82179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RPM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15000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7200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447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Avg Seek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 ms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9 ms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691484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 rotacional (promedio)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 ms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4.17 ms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99646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04000" r="-108075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6.03 ms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13.21 ms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8436639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4000" r="-108075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0.663 MB/s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0.303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216483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604000" r="-108075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0.806 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0.966 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15266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704000" r="-108075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124.1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103.6 MB/s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83663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80B5E7D5-C8E0-4182-9E3E-E174FBD042EA}"/>
              </a:ext>
            </a:extLst>
          </p:cNvPr>
          <p:cNvSpPr txBox="1"/>
          <p:nvPr/>
        </p:nvSpPr>
        <p:spPr>
          <a:xfrm>
            <a:off x="7403022" y="1523272"/>
            <a:ext cx="3537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Cheetah 15K.5 vs Barracuda 7200</a:t>
            </a:r>
          </a:p>
        </p:txBody>
      </p:sp>
      <p:sp>
        <p:nvSpPr>
          <p:cNvPr id="11" name="Google Shape;310;p34">
            <a:extLst>
              <a:ext uri="{FF2B5EF4-FFF2-40B4-BE49-F238E27FC236}">
                <a16:creationId xmlns:a16="http://schemas.microsoft.com/office/drawing/2014/main" id="{E74AA4FB-9FB1-4AB5-A178-AEF9DFECAFA1}"/>
              </a:ext>
            </a:extLst>
          </p:cNvPr>
          <p:cNvSpPr txBox="1">
            <a:spLocks/>
          </p:cNvSpPr>
          <p:nvPr/>
        </p:nvSpPr>
        <p:spPr>
          <a:xfrm>
            <a:off x="916650" y="4270983"/>
            <a:ext cx="4929968" cy="178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s-MX" sz="1800" b="1" dirty="0"/>
              <a:t>En acceso secuencial (100 MB)</a:t>
            </a:r>
          </a:p>
          <a:p>
            <a:pPr marL="342900" indent="-342900"/>
            <a:r>
              <a:rPr lang="es-MX" sz="1600" dirty="0"/>
              <a:t>La diferencia se reduce.</a:t>
            </a:r>
          </a:p>
          <a:p>
            <a:pPr marL="342900" indent="-342900"/>
            <a:r>
              <a:rPr lang="es-MX" sz="1600" dirty="0"/>
              <a:t>Ambos discos se aproximan a su tasa máxima de transferencia.</a:t>
            </a:r>
          </a:p>
          <a:p>
            <a:pPr marL="342900" indent="-342900"/>
            <a:r>
              <a:rPr lang="es-MX" sz="1600" dirty="0"/>
              <a:t>El costo de seek y rotación se amortiza.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B441D0F-1391-41A8-A7B8-29359E3A303B}"/>
              </a:ext>
            </a:extLst>
          </p:cNvPr>
          <p:cNvSpPr txBox="1"/>
          <p:nvPr/>
        </p:nvSpPr>
        <p:spPr>
          <a:xfrm>
            <a:off x="916650" y="3686208"/>
            <a:ext cx="470829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En workloads aleatorios, la latencia mecánica domina el rendimiento.</a:t>
            </a:r>
            <a:endParaRPr lang="es-CO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45606B-52EA-4613-AD15-33B1F5342948}"/>
              </a:ext>
            </a:extLst>
          </p:cNvPr>
          <p:cNvSpPr txBox="1"/>
          <p:nvPr/>
        </p:nvSpPr>
        <p:spPr>
          <a:xfrm>
            <a:off x="916649" y="6103387"/>
            <a:ext cx="470829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En acceso secuencial largo, domina el throughput sostenido.</a:t>
            </a:r>
            <a:endParaRPr lang="es-CO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4CFCB9A-4103-47A5-BE22-401EB066CB74}"/>
              </a:ext>
            </a:extLst>
          </p:cNvPr>
          <p:cNvSpPr txBox="1"/>
          <p:nvPr/>
        </p:nvSpPr>
        <p:spPr>
          <a:xfrm>
            <a:off x="6096000" y="4948246"/>
            <a:ext cx="5838102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Conclusión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Más RPM → menor latencia rotacional.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Menor seek → mayor rendimiento en acceso aleatorio.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En HDD, el patrón de acceso determina el desempeño.</a:t>
            </a:r>
          </a:p>
        </p:txBody>
      </p:sp>
    </p:spTree>
    <p:extLst>
      <p:ext uri="{BB962C8B-B14F-4D97-AF65-F5344CB8AC3E}">
        <p14:creationId xmlns:p14="http://schemas.microsoft.com/office/powerpoint/2010/main" val="26188635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Tecnologías de almacenamiento</a:t>
            </a:r>
            <a:endParaRPr dirty="0"/>
          </a:p>
        </p:txBody>
      </p:sp>
      <p:sp>
        <p:nvSpPr>
          <p:cNvPr id="118" name="Google Shape;310;p34">
            <a:extLst>
              <a:ext uri="{FF2B5EF4-FFF2-40B4-BE49-F238E27FC236}">
                <a16:creationId xmlns:a16="http://schemas.microsoft.com/office/drawing/2014/main" id="{3F68C05D-CA2E-4B92-9378-193EE45D5F69}"/>
              </a:ext>
            </a:extLst>
          </p:cNvPr>
          <p:cNvSpPr txBox="1">
            <a:spLocks/>
          </p:cNvSpPr>
          <p:nvPr/>
        </p:nvSpPr>
        <p:spPr>
          <a:xfrm>
            <a:off x="916650" y="738778"/>
            <a:ext cx="11017452" cy="4634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285750" indent="-285750"/>
            <a:r>
              <a:rPr lang="es-MX" sz="2000" dirty="0"/>
              <a:t>Para el almacenamiento se pueden emplear diferentes tecnologías cuya elección depende de las necesidades del sistema.</a:t>
            </a:r>
          </a:p>
          <a:p>
            <a:pPr marL="285750" indent="-285750"/>
            <a:r>
              <a:rPr lang="es-MX" sz="1800" dirty="0"/>
              <a:t>Métricas importantes:</a:t>
            </a:r>
          </a:p>
          <a:p>
            <a:pPr marL="742950" lvl="1" indent="-285750"/>
            <a:r>
              <a:rPr lang="es-MX" sz="1400" dirty="0"/>
              <a:t>Latencia</a:t>
            </a:r>
          </a:p>
          <a:p>
            <a:pPr marL="742950" lvl="1" indent="-285750"/>
            <a:r>
              <a:rPr lang="es-MX" sz="1400" dirty="0"/>
              <a:t>Throughput</a:t>
            </a:r>
          </a:p>
          <a:p>
            <a:pPr marL="742950" lvl="1" indent="-285750"/>
            <a:r>
              <a:rPr lang="es-MX" sz="1400" dirty="0"/>
              <a:t>Costo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8B2700-DCAE-4882-8C7E-45EE0A3F0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743004"/>
              </p:ext>
            </p:extLst>
          </p:nvPr>
        </p:nvGraphicFramePr>
        <p:xfrm>
          <a:off x="5486398" y="1890969"/>
          <a:ext cx="6259282" cy="3261360"/>
        </p:xfrm>
        <a:graphic>
          <a:graphicData uri="http://schemas.openxmlformats.org/drawingml/2006/table">
            <a:tbl>
              <a:tblPr/>
              <a:tblGrid>
                <a:gridCol w="1604492">
                  <a:extLst>
                    <a:ext uri="{9D8B030D-6E8A-4147-A177-3AD203B41FA5}">
                      <a16:colId xmlns:a16="http://schemas.microsoft.com/office/drawing/2014/main" val="1634990710"/>
                    </a:ext>
                  </a:extLst>
                </a:gridCol>
                <a:gridCol w="1604492">
                  <a:extLst>
                    <a:ext uri="{9D8B030D-6E8A-4147-A177-3AD203B41FA5}">
                      <a16:colId xmlns:a16="http://schemas.microsoft.com/office/drawing/2014/main" val="3875431411"/>
                    </a:ext>
                  </a:extLst>
                </a:gridCol>
                <a:gridCol w="1604492">
                  <a:extLst>
                    <a:ext uri="{9D8B030D-6E8A-4147-A177-3AD203B41FA5}">
                      <a16:colId xmlns:a16="http://schemas.microsoft.com/office/drawing/2014/main" val="1726962509"/>
                    </a:ext>
                  </a:extLst>
                </a:gridCol>
                <a:gridCol w="1445806">
                  <a:extLst>
                    <a:ext uri="{9D8B030D-6E8A-4147-A177-3AD203B41FA5}">
                      <a16:colId xmlns:a16="http://schemas.microsoft.com/office/drawing/2014/main" val="3089763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Medio de Almacenamiento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Latencia de Acceso (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secs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Throughput de Escaneo (GB/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Costo / TB (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Ago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'24)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73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RAM (D-RAM)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nanosegundos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~100 - 150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~$3,125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16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SSD de gama alta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microsegundos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~5 - 10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~$100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8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HDD (Disco Duro)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milisegundos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~100 - 200 MB/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~$25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84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Red (Máquinas M1 a M2)</a:t>
                      </a:r>
                      <a:endParaRPr lang="es-MX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 microsegundo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~5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N/A</a:t>
                      </a: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773209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7ADCB4BD-7321-4F1C-B3AF-99D0DB3C53CD}"/>
              </a:ext>
            </a:extLst>
          </p:cNvPr>
          <p:cNvSpPr txBox="1"/>
          <p:nvPr/>
        </p:nvSpPr>
        <p:spPr>
          <a:xfrm>
            <a:off x="5486398" y="5373671"/>
            <a:ext cx="6259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Conceptos Fundamentales</a:t>
            </a:r>
            <a:endParaRPr lang="es-CO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Latencia de Acceso (Access Latency)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: El tiempo necesario para acceder a la ubicación inicial de un bloque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Throughput de Escaneo (Scan Throughput)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: La velocidad combinada de escanear y copiar los datos hacia la memoria RAM.</a:t>
            </a:r>
          </a:p>
        </p:txBody>
      </p:sp>
      <p:pic>
        <p:nvPicPr>
          <p:cNvPr id="16" name="Google Shape;304;p41">
            <a:extLst>
              <a:ext uri="{FF2B5EF4-FFF2-40B4-BE49-F238E27FC236}">
                <a16:creationId xmlns:a16="http://schemas.microsoft.com/office/drawing/2014/main" id="{6B0ADAAE-BEE2-4DAA-9F1E-E263AD009E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626" y="2873536"/>
            <a:ext cx="649292" cy="4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05;p41">
            <a:extLst>
              <a:ext uri="{FF2B5EF4-FFF2-40B4-BE49-F238E27FC236}">
                <a16:creationId xmlns:a16="http://schemas.microsoft.com/office/drawing/2014/main" id="{14B31680-F13A-4762-B53B-B987D92500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822" y="3594543"/>
            <a:ext cx="948977" cy="3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06;p41">
            <a:extLst>
              <a:ext uri="{FF2B5EF4-FFF2-40B4-BE49-F238E27FC236}">
                <a16:creationId xmlns:a16="http://schemas.microsoft.com/office/drawing/2014/main" id="{EE1273F6-71D8-46DF-99BA-BCA60B46B4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7997" y="4033929"/>
            <a:ext cx="516600" cy="43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07;p41">
            <a:extLst>
              <a:ext uri="{FF2B5EF4-FFF2-40B4-BE49-F238E27FC236}">
                <a16:creationId xmlns:a16="http://schemas.microsoft.com/office/drawing/2014/main" id="{7ED165BB-4DDC-4E4C-ACB5-E4061C05069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4998" y="4596632"/>
            <a:ext cx="980500" cy="48106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CA2C1CD-A848-48C5-97BB-EF1E4130A0D0}"/>
              </a:ext>
            </a:extLst>
          </p:cNvPr>
          <p:cNvSpPr txBox="1"/>
          <p:nvPr/>
        </p:nvSpPr>
        <p:spPr>
          <a:xfrm>
            <a:off x="5486398" y="154977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Tabla comparativa técnica de diferentes tecnologías de almacenamiento y red</a:t>
            </a:r>
          </a:p>
        </p:txBody>
      </p:sp>
    </p:spTree>
    <p:extLst>
      <p:ext uri="{BB962C8B-B14F-4D97-AF65-F5344CB8AC3E}">
        <p14:creationId xmlns:p14="http://schemas.microsoft.com/office/powerpoint/2010/main" val="3959629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Costo del modelo I/O</a:t>
            </a:r>
            <a:endParaRPr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8B2700-DCAE-4882-8C7E-45EE0A3F0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683268"/>
              </p:ext>
            </p:extLst>
          </p:nvPr>
        </p:nvGraphicFramePr>
        <p:xfrm>
          <a:off x="5486398" y="1738567"/>
          <a:ext cx="6259282" cy="3261360"/>
        </p:xfrm>
        <a:graphic>
          <a:graphicData uri="http://schemas.openxmlformats.org/drawingml/2006/table">
            <a:tbl>
              <a:tblPr/>
              <a:tblGrid>
                <a:gridCol w="1604492">
                  <a:extLst>
                    <a:ext uri="{9D8B030D-6E8A-4147-A177-3AD203B41FA5}">
                      <a16:colId xmlns:a16="http://schemas.microsoft.com/office/drawing/2014/main" val="1634990710"/>
                    </a:ext>
                  </a:extLst>
                </a:gridCol>
                <a:gridCol w="1604492">
                  <a:extLst>
                    <a:ext uri="{9D8B030D-6E8A-4147-A177-3AD203B41FA5}">
                      <a16:colId xmlns:a16="http://schemas.microsoft.com/office/drawing/2014/main" val="3875431411"/>
                    </a:ext>
                  </a:extLst>
                </a:gridCol>
                <a:gridCol w="1604492">
                  <a:extLst>
                    <a:ext uri="{9D8B030D-6E8A-4147-A177-3AD203B41FA5}">
                      <a16:colId xmlns:a16="http://schemas.microsoft.com/office/drawing/2014/main" val="1726962509"/>
                    </a:ext>
                  </a:extLst>
                </a:gridCol>
                <a:gridCol w="1445806">
                  <a:extLst>
                    <a:ext uri="{9D8B030D-6E8A-4147-A177-3AD203B41FA5}">
                      <a16:colId xmlns:a16="http://schemas.microsoft.com/office/drawing/2014/main" val="3089763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Medio de Almacenamiento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Latencia de Acceso (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secs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Throughput de Escaneo (GB/</a:t>
                      </a:r>
                      <a:r>
                        <a:rPr lang="es-CO" b="1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Tiempo Total (Bloque 64MB)</a:t>
                      </a:r>
                      <a:endParaRPr lang="es-CO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73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RAM (D-RAM)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nanosegundos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163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SSD de gama alta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microsegundos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~5 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s-CO" sz="120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8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HDD (Disco Duro)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milisegundos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MB/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s-CO" sz="120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846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s-MX" sz="1200" b="1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Red (Máquinas M1 a M2)</a:t>
                      </a:r>
                      <a:endParaRPr lang="es-MX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 microsegundo</a:t>
                      </a: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O" sz="1200" dirty="0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~5 GB/</a:t>
                      </a:r>
                      <a:r>
                        <a:rPr lang="es-CO" sz="1200" dirty="0" err="1">
                          <a:solidFill>
                            <a:srgbClr val="1F1F1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seg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R="1143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773209"/>
                  </a:ext>
                </a:extLst>
              </a:tr>
            </a:tbl>
          </a:graphicData>
        </a:graphic>
      </p:graphicFrame>
      <p:pic>
        <p:nvPicPr>
          <p:cNvPr id="16" name="Google Shape;304;p41">
            <a:extLst>
              <a:ext uri="{FF2B5EF4-FFF2-40B4-BE49-F238E27FC236}">
                <a16:creationId xmlns:a16="http://schemas.microsoft.com/office/drawing/2014/main" id="{6B0ADAAE-BEE2-4DAA-9F1E-E263AD009E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626" y="2721134"/>
            <a:ext cx="649292" cy="4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05;p41">
            <a:extLst>
              <a:ext uri="{FF2B5EF4-FFF2-40B4-BE49-F238E27FC236}">
                <a16:creationId xmlns:a16="http://schemas.microsoft.com/office/drawing/2014/main" id="{14B31680-F13A-4762-B53B-B987D92500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1822" y="3442141"/>
            <a:ext cx="948977" cy="3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06;p41">
            <a:extLst>
              <a:ext uri="{FF2B5EF4-FFF2-40B4-BE49-F238E27FC236}">
                <a16:creationId xmlns:a16="http://schemas.microsoft.com/office/drawing/2014/main" id="{EE1273F6-71D8-46DF-99BA-BCA60B46B46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3699" y="3891148"/>
            <a:ext cx="516600" cy="43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07;p41">
            <a:extLst>
              <a:ext uri="{FF2B5EF4-FFF2-40B4-BE49-F238E27FC236}">
                <a16:creationId xmlns:a16="http://schemas.microsoft.com/office/drawing/2014/main" id="{7ED165BB-4DDC-4E4C-ACB5-E4061C05069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4998" y="4444230"/>
            <a:ext cx="980500" cy="48106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CA2C1CD-A848-48C5-97BB-EF1E4130A0D0}"/>
              </a:ext>
            </a:extLst>
          </p:cNvPr>
          <p:cNvSpPr txBox="1"/>
          <p:nvPr/>
        </p:nvSpPr>
        <p:spPr>
          <a:xfrm>
            <a:off x="5486398" y="139737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dirty="0">
                <a:latin typeface="Roboto" panose="02000000000000000000" pitchFamily="2" charset="0"/>
                <a:ea typeface="Roboto" panose="02000000000000000000" pitchFamily="2" charset="0"/>
              </a:rPr>
              <a:t>Tabla comparativa técnica de diferentes tecnologías de almacenamiento y 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20C047-8168-4093-B44B-2361A71F6A83}"/>
                  </a:ext>
                </a:extLst>
              </p:cNvPr>
              <p:cNvSpPr txBox="1"/>
              <p:nvPr/>
            </p:nvSpPr>
            <p:spPr>
              <a:xfrm>
                <a:off x="6829580" y="5156679"/>
                <a:ext cx="4240905" cy="4424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𝑇𝑜𝑡𝑎𝑙𝑇𝑖𝑚𝑒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𝐴𝑐𝑐𝑒𝑠𝑠𝐿𝑎𝑡𝑒𝑛𝑐𝑦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𝐷𝑎𝑡𝑎𝑆𝑖𝑧𝑒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𝑆𝑐𝑎𝑛𝑇h𝑟𝑜𝑢𝑔h𝑝𝑢𝑡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220C047-8168-4093-B44B-2361A71F6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80" y="5156679"/>
                <a:ext cx="4240905" cy="442493"/>
              </a:xfrm>
              <a:prstGeom prst="rect">
                <a:avLst/>
              </a:prstGeom>
              <a:blipFill>
                <a:blip r:embed="rId7"/>
                <a:stretch>
                  <a:fillRect l="-431" t="-2778" r="-718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uadroTexto 12">
            <a:extLst>
              <a:ext uri="{FF2B5EF4-FFF2-40B4-BE49-F238E27FC236}">
                <a16:creationId xmlns:a16="http://schemas.microsoft.com/office/drawing/2014/main" id="{A6309962-1801-4210-B17B-D1E2653DA7B5}"/>
              </a:ext>
            </a:extLst>
          </p:cNvPr>
          <p:cNvSpPr txBox="1"/>
          <p:nvPr/>
        </p:nvSpPr>
        <p:spPr>
          <a:xfrm>
            <a:off x="5674821" y="5746299"/>
            <a:ext cx="6259281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Definición de Variables: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DataSize: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</a:rPr>
              <a:t> Tamaño total de los datos en bytes.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M: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</a:rPr>
              <a:t> Número de bloques </a:t>
            </a: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no contiguos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</a:rPr>
              <a:t> (fragmentación).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AccessLatency: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</a:rPr>
              <a:t> Tiempo necesario para acceder al inicio del bloque.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Roboto" panose="02000000000000000000" pitchFamily="2" charset="0"/>
                <a:ea typeface="Roboto" panose="02000000000000000000" pitchFamily="2" charset="0"/>
              </a:rPr>
              <a:t>ScanThroughput:</a:t>
            </a:r>
            <a:r>
              <a:rPr lang="es-MX" sz="1200" dirty="0">
                <a:latin typeface="Roboto" panose="02000000000000000000" pitchFamily="2" charset="0"/>
                <a:ea typeface="Roboto" panose="02000000000000000000" pitchFamily="2" charset="0"/>
              </a:rPr>
              <a:t> Velocidad a la que se escanean y copian los datos a la RAM.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2194043-F8BF-49D2-BB98-CBAAB9E41864}"/>
                  </a:ext>
                </a:extLst>
              </p:cNvPr>
              <p:cNvSpPr txBox="1"/>
              <p:nvPr/>
            </p:nvSpPr>
            <p:spPr>
              <a:xfrm>
                <a:off x="935675" y="1674375"/>
                <a:ext cx="3458348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¿Cuánto tiempo total tarda leer una cantidad fija de datos (ej. 64 MB) dependiendo del medio de almacenamiento y del patrón de acceso?</a:t>
                </a:r>
              </a:p>
              <a:p>
                <a:endParaRPr lang="es-CO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En este caso </a:t>
                </a:r>
                <a14:m>
                  <m:oMath xmlns:m="http://schemas.openxmlformats.org/officeDocument/2006/math"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MX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O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2194043-F8BF-49D2-BB98-CBAAB9E41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75" y="1674375"/>
                <a:ext cx="3458348" cy="1815882"/>
              </a:xfrm>
              <a:prstGeom prst="rect">
                <a:avLst/>
              </a:prstGeom>
              <a:blipFill>
                <a:blip r:embed="rId8"/>
                <a:stretch>
                  <a:fillRect l="-880" t="-1007" b="-33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318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Costo del modelo I/O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58B2700-DCAE-4882-8C7E-45EE0A3F02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9280483"/>
                  </p:ext>
                </p:extLst>
              </p:nvPr>
            </p:nvGraphicFramePr>
            <p:xfrm>
              <a:off x="2232915" y="1260030"/>
              <a:ext cx="9597135" cy="5465064"/>
            </p:xfrm>
            <a:graphic>
              <a:graphicData uri="http://schemas.openxmlformats.org/drawingml/2006/table">
                <a:tbl>
                  <a:tblPr/>
                  <a:tblGrid>
                    <a:gridCol w="2050151">
                      <a:extLst>
                        <a:ext uri="{9D8B030D-6E8A-4147-A177-3AD203B41FA5}">
                          <a16:colId xmlns:a16="http://schemas.microsoft.com/office/drawing/2014/main" val="1634990710"/>
                        </a:ext>
                      </a:extLst>
                    </a:gridCol>
                    <a:gridCol w="1748336">
                      <a:extLst>
                        <a:ext uri="{9D8B030D-6E8A-4147-A177-3AD203B41FA5}">
                          <a16:colId xmlns:a16="http://schemas.microsoft.com/office/drawing/2014/main" val="3875431411"/>
                        </a:ext>
                      </a:extLst>
                    </a:gridCol>
                    <a:gridCol w="1573503">
                      <a:extLst>
                        <a:ext uri="{9D8B030D-6E8A-4147-A177-3AD203B41FA5}">
                          <a16:colId xmlns:a16="http://schemas.microsoft.com/office/drawing/2014/main" val="1726962509"/>
                        </a:ext>
                      </a:extLst>
                    </a:gridCol>
                    <a:gridCol w="4225145">
                      <a:extLst>
                        <a:ext uri="{9D8B030D-6E8A-4147-A177-3AD203B41FA5}">
                          <a16:colId xmlns:a16="http://schemas.microsoft.com/office/drawing/2014/main" val="308976352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Medio de Almacenamiento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 de Acceso (</a:t>
                          </a:r>
                          <a:r>
                            <a:rPr lang="es-CO" b="1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secs</a:t>
                          </a:r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Throughput de Escaneo (GB/</a:t>
                          </a:r>
                          <a:r>
                            <a:rPr lang="es-CO" b="1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sec</a:t>
                          </a:r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Tiempo Total (Bloque 64MB)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7374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RAM (D-RAM)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nanosegundos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𝑛𝑠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×1+</m:t>
                                </m:r>
                                <m:f>
                                  <m:f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64 </m:t>
                                    </m:r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𝑀𝐵</m:t>
                                    </m:r>
                                  </m:num>
                                  <m:den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150 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𝐺𝐵</m:t>
                                        </m:r>
                                      </m:num>
                                      <m:den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𝑛𝑠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+640000 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𝑛𝑠</m:t>
                                </m:r>
                              </m:oMath>
                            </m:oMathPara>
                          </a14:m>
                          <a:endParaRPr lang="es-CO" sz="1200" dirty="0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1630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SSD de gama alta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microsegundos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~5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𝑛𝑠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×1+</m:t>
                                </m:r>
                                <m:f>
                                  <m:f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𝑀𝐵</m:t>
                                    </m:r>
                                  </m:num>
                                  <m:den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𝐺𝐵</m:t>
                                        </m:r>
                                      </m:num>
                                      <m:den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+1280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s-CO" sz="1200" dirty="0"/>
                        </a:p>
                        <a:p>
                          <a:pPr algn="l" rtl="0"/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891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HDD (Disco Duro)</a:t>
                          </a:r>
                          <a:endParaRPr lang="es-CO" sz="120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milisegundos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MB/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𝑚𝑠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×1+</m:t>
                                </m:r>
                                <m:f>
                                  <m:f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64 </m:t>
                                    </m:r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𝑀𝐵</m:t>
                                    </m:r>
                                  </m:num>
                                  <m:den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𝑀𝐵</m:t>
                                        </m:r>
                                      </m:num>
                                      <m:den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+640 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s-CO" sz="1200" dirty="0"/>
                        </a:p>
                        <a:p>
                          <a:pPr algn="l" rtl="0"/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98463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MX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Red (Máquinas M1 a M2)</a:t>
                          </a:r>
                          <a:endParaRPr lang="es-MX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 microsegundo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~5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×1+</m:t>
                                </m:r>
                                <m:f>
                                  <m:fPr>
                                    <m:ctrlP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64 </m:t>
                                    </m:r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𝑀𝐵</m:t>
                                    </m:r>
                                  </m:num>
                                  <m:den>
                                    <m:r>
                                      <a:rPr lang="es-MX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num>
                                      <m:den>
                                        <m:r>
                                          <a:rPr lang="es-MX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den>
                                    </m:f>
                                  </m:den>
                                </m:f>
                              </m:oMath>
                            </m:oMathPara>
                          </a14:m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s-MX" sz="1200" b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𝑇𝑜𝑡𝑎𝑙𝑇𝑖𝑚𝑒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12800 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es-CO" sz="1200" dirty="0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7732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58B2700-DCAE-4882-8C7E-45EE0A3F02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9280483"/>
                  </p:ext>
                </p:extLst>
              </p:nvPr>
            </p:nvGraphicFramePr>
            <p:xfrm>
              <a:off x="2232915" y="1260030"/>
              <a:ext cx="9597135" cy="5465064"/>
            </p:xfrm>
            <a:graphic>
              <a:graphicData uri="http://schemas.openxmlformats.org/drawingml/2006/table">
                <a:tbl>
                  <a:tblPr/>
                  <a:tblGrid>
                    <a:gridCol w="2050151">
                      <a:extLst>
                        <a:ext uri="{9D8B030D-6E8A-4147-A177-3AD203B41FA5}">
                          <a16:colId xmlns:a16="http://schemas.microsoft.com/office/drawing/2014/main" val="1634990710"/>
                        </a:ext>
                      </a:extLst>
                    </a:gridCol>
                    <a:gridCol w="1748336">
                      <a:extLst>
                        <a:ext uri="{9D8B030D-6E8A-4147-A177-3AD203B41FA5}">
                          <a16:colId xmlns:a16="http://schemas.microsoft.com/office/drawing/2014/main" val="3875431411"/>
                        </a:ext>
                      </a:extLst>
                    </a:gridCol>
                    <a:gridCol w="1573503">
                      <a:extLst>
                        <a:ext uri="{9D8B030D-6E8A-4147-A177-3AD203B41FA5}">
                          <a16:colId xmlns:a16="http://schemas.microsoft.com/office/drawing/2014/main" val="1726962509"/>
                        </a:ext>
                      </a:extLst>
                    </a:gridCol>
                    <a:gridCol w="4225145">
                      <a:extLst>
                        <a:ext uri="{9D8B030D-6E8A-4147-A177-3AD203B41FA5}">
                          <a16:colId xmlns:a16="http://schemas.microsoft.com/office/drawing/2014/main" val="3089763525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Medio de Almacenamiento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Latencia de Acceso (</a:t>
                          </a:r>
                          <a:r>
                            <a:rPr lang="es-CO" b="1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secs</a:t>
                          </a:r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Throughput de Escaneo (GB/</a:t>
                          </a:r>
                          <a:r>
                            <a:rPr lang="es-CO" b="1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sec</a:t>
                          </a:r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Tiempo Total (Bloque 64MB)</a:t>
                          </a:r>
                          <a:endParaRPr lang="es-CO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737478"/>
                      </a:ext>
                    </a:extLst>
                  </a:tr>
                  <a:tr h="1038606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RAM (D-RAM)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nanosegundos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417" t="-91228" r="-289" b="-335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163088"/>
                      </a:ext>
                    </a:extLst>
                  </a:tr>
                  <a:tr h="1221486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SSD de gama alta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microsegundos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~5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417" t="-162687" r="-289" b="-1855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89121"/>
                      </a:ext>
                    </a:extLst>
                  </a:tr>
                  <a:tr h="1221486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CO" sz="1200" b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HDD (Disco Duro)</a:t>
                          </a:r>
                          <a:endParaRPr lang="es-CO" sz="120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milisegundos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MB/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417" t="-264000" r="-289" b="-86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9846333"/>
                      </a:ext>
                    </a:extLst>
                  </a:tr>
                  <a:tr h="1038606">
                    <a:tc>
                      <a:txBody>
                        <a:bodyPr/>
                        <a:lstStyle/>
                        <a:p>
                          <a:pPr rtl="0"/>
                          <a:r>
                            <a:rPr lang="es-MX" sz="1200" b="1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Red (Máquinas M1 a M2)</a:t>
                          </a:r>
                          <a:endParaRPr lang="es-MX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 microsegundo</a:t>
                          </a: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s-CO" sz="1200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~5 GB/</a:t>
                          </a:r>
                          <a:r>
                            <a:rPr lang="es-CO" sz="1200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sz="1200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marR="114300"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marT="152400" marB="1524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417" t="-425731" r="-289" b="-1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77320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Google Shape;304;p41">
            <a:extLst>
              <a:ext uri="{FF2B5EF4-FFF2-40B4-BE49-F238E27FC236}">
                <a16:creationId xmlns:a16="http://schemas.microsoft.com/office/drawing/2014/main" id="{6B0ADAAE-BEE2-4DAA-9F1E-E263AD009E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997" y="2498384"/>
            <a:ext cx="649292" cy="4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05;p41">
            <a:extLst>
              <a:ext uri="{FF2B5EF4-FFF2-40B4-BE49-F238E27FC236}">
                <a16:creationId xmlns:a16="http://schemas.microsoft.com/office/drawing/2014/main" id="{14B31680-F13A-4762-B53B-B987D925005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712" y="3780416"/>
            <a:ext cx="948977" cy="3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06;p41">
            <a:extLst>
              <a:ext uri="{FF2B5EF4-FFF2-40B4-BE49-F238E27FC236}">
                <a16:creationId xmlns:a16="http://schemas.microsoft.com/office/drawing/2014/main" id="{EE1273F6-71D8-46DF-99BA-BCA60B46B46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3343" y="4963537"/>
            <a:ext cx="516600" cy="43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307;p41">
            <a:extLst>
              <a:ext uri="{FF2B5EF4-FFF2-40B4-BE49-F238E27FC236}">
                <a16:creationId xmlns:a16="http://schemas.microsoft.com/office/drawing/2014/main" id="{7ED165BB-4DDC-4E4C-ACB5-E4061C05069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7712" y="6036149"/>
            <a:ext cx="980500" cy="481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9311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Costo del modelo I/O – Tamaño de los datos</a:t>
            </a:r>
            <a:endParaRPr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2194043-F8BF-49D2-BB98-CBAAB9E41864}"/>
              </a:ext>
            </a:extLst>
          </p:cNvPr>
          <p:cNvSpPr txBox="1"/>
          <p:nvPr/>
        </p:nvSpPr>
        <p:spPr>
          <a:xfrm>
            <a:off x="974867" y="3247335"/>
            <a:ext cx="502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Q1: ¿Cuál es el tamaño de cada fila (registro)?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030E232-27B2-4B3E-9ED7-C93F00EC2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149569"/>
              </p:ext>
            </p:extLst>
          </p:nvPr>
        </p:nvGraphicFramePr>
        <p:xfrm>
          <a:off x="3716942" y="1288250"/>
          <a:ext cx="5029200" cy="1676400"/>
        </p:xfrm>
        <a:graphic>
          <a:graphicData uri="http://schemas.openxmlformats.org/drawingml/2006/table">
            <a:tbl>
              <a:tblPr/>
              <a:tblGrid>
                <a:gridCol w="665018">
                  <a:extLst>
                    <a:ext uri="{9D8B030D-6E8A-4147-A177-3AD203B41FA5}">
                      <a16:colId xmlns:a16="http://schemas.microsoft.com/office/drawing/2014/main" val="3131567103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1074895545"/>
                    </a:ext>
                  </a:extLst>
                </a:gridCol>
                <a:gridCol w="1344687">
                  <a:extLst>
                    <a:ext uri="{9D8B030D-6E8A-4147-A177-3AD203B41FA5}">
                      <a16:colId xmlns:a16="http://schemas.microsoft.com/office/drawing/2014/main" val="2929965088"/>
                    </a:ext>
                  </a:extLst>
                </a:gridCol>
                <a:gridCol w="2285204">
                  <a:extLst>
                    <a:ext uri="{9D8B030D-6E8A-4147-A177-3AD203B41FA5}">
                      <a16:colId xmlns:a16="http://schemas.microsoft.com/office/drawing/2014/main" val="2747916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SID</a:t>
                      </a:r>
                      <a:endParaRPr lang="es-CO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Name</a:t>
                      </a:r>
                      <a:endParaRPr lang="es-CO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Address</a:t>
                      </a:r>
                      <a:endParaRPr lang="es-CO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Bio</a:t>
                      </a:r>
                      <a:endParaRPr lang="es-CO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378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Mickey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43 Toontown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Mickey is a Sophomore in CS...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82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Daffy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147 Main 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Daffy is part of the Orchestra...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144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Donald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312 Escondido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Donald is a 1st year MS in EE...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1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50004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Minnie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451 Gates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27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10008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Pluto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2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97 Packard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75175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81C62D05-2637-4747-BF02-926FD5732109}"/>
              </a:ext>
            </a:extLst>
          </p:cNvPr>
          <p:cNvSpPr txBox="1"/>
          <p:nvPr/>
        </p:nvSpPr>
        <p:spPr>
          <a:xfrm>
            <a:off x="974867" y="3679069"/>
            <a:ext cx="102858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>
                <a:latin typeface="Consolas" panose="020B0609020204030204" pitchFamily="49" charset="0"/>
                <a:ea typeface="Roboto" panose="02000000000000000000" pitchFamily="2" charset="0"/>
              </a:rPr>
              <a:t>SID:      </a:t>
            </a:r>
            <a:r>
              <a:rPr lang="es-CO" sz="160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int32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</a:rPr>
              <a:t> 4 bytes.</a:t>
            </a:r>
          </a:p>
          <a:p>
            <a:r>
              <a:rPr lang="es-CO" sz="1600" dirty="0">
                <a:latin typeface="Consolas" panose="020B0609020204030204" pitchFamily="49" charset="0"/>
                <a:ea typeface="Roboto" panose="02000000000000000000" pitchFamily="2" charset="0"/>
              </a:rPr>
              <a:t>Name:     </a:t>
            </a:r>
            <a:r>
              <a:rPr lang="es-CO" sz="1600" dirty="0" err="1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char</a:t>
            </a:r>
            <a:r>
              <a:rPr lang="es-CO" sz="160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[100]</a:t>
            </a:r>
            <a:r>
              <a:rPr lang="es-CO" sz="16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</a:rPr>
              <a:t> 100 bytes.</a:t>
            </a:r>
          </a:p>
          <a:p>
            <a:r>
              <a:rPr lang="es-CO" sz="1600" dirty="0">
                <a:latin typeface="Consolas" panose="020B0609020204030204" pitchFamily="49" charset="0"/>
                <a:ea typeface="Roboto" panose="02000000000000000000" pitchFamily="2" charset="0"/>
              </a:rPr>
              <a:t>Address:  </a:t>
            </a:r>
            <a:r>
              <a:rPr lang="es-CO" sz="1600" dirty="0" err="1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char</a:t>
            </a:r>
            <a:r>
              <a:rPr lang="es-CO" sz="160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[200]</a:t>
            </a:r>
            <a:r>
              <a:rPr lang="es-CO" sz="16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</a:rPr>
              <a:t> 200 bytes.</a:t>
            </a:r>
          </a:p>
          <a:p>
            <a:r>
              <a:rPr lang="es-CO" sz="1600" dirty="0">
                <a:latin typeface="Consolas" panose="020B0609020204030204" pitchFamily="49" charset="0"/>
                <a:ea typeface="Roboto" panose="02000000000000000000" pitchFamily="2" charset="0"/>
              </a:rPr>
              <a:t>Bio:      </a:t>
            </a:r>
            <a:r>
              <a:rPr lang="es-CO" sz="1600" dirty="0" err="1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char</a:t>
            </a:r>
            <a:r>
              <a:rPr lang="es-CO" sz="1600" dirty="0">
                <a:solidFill>
                  <a:schemeClr val="accent5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[720]</a:t>
            </a:r>
            <a:r>
              <a:rPr lang="es-CO" sz="16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</a:t>
            </a:r>
            <a:r>
              <a:rPr lang="es-CO" sz="1600" dirty="0">
                <a:latin typeface="Roboto" panose="02000000000000000000" pitchFamily="2" charset="0"/>
                <a:ea typeface="Roboto" panose="02000000000000000000" pitchFamily="2" charset="0"/>
              </a:rPr>
              <a:t> 720 bytes.            ### </a:t>
            </a: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Se está escogiendo que el tamaño de fila sea 1024 bytes.</a:t>
            </a:r>
            <a:endParaRPr lang="es-CO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ABF0DC-A85D-46CD-981F-85840DD657B2}"/>
              </a:ext>
            </a:extLst>
          </p:cNvPr>
          <p:cNvSpPr txBox="1"/>
          <p:nvPr/>
        </p:nvSpPr>
        <p:spPr>
          <a:xfrm>
            <a:off x="5427978" y="898344"/>
            <a:ext cx="1607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latin typeface="Roboto" panose="02000000000000000000" pitchFamily="2" charset="0"/>
                <a:ea typeface="Roboto" panose="02000000000000000000" pitchFamily="2" charset="0"/>
              </a:rPr>
              <a:t>Students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AA3FDB7-AE82-4D8A-98EB-7C06F0C6426B}"/>
                  </a:ext>
                </a:extLst>
              </p:cNvPr>
              <p:cNvSpPr txBox="1"/>
              <p:nvPr/>
            </p:nvSpPr>
            <p:spPr>
              <a:xfrm>
                <a:off x="4234073" y="4866071"/>
                <a:ext cx="45120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𝑠𝑖𝑧𝑒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𝑟𝑜𝑤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=4+100+200+720=1024 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AA3FDB7-AE82-4D8A-98EB-7C06F0C64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073" y="4866071"/>
                <a:ext cx="4512069" cy="276999"/>
              </a:xfrm>
              <a:prstGeom prst="rect">
                <a:avLst/>
              </a:prstGeom>
              <a:blipFill>
                <a:blip r:embed="rId3"/>
                <a:stretch>
                  <a:fillRect l="-676" r="-541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19060821-E660-4462-969B-EF7FE52FF6EE}"/>
              </a:ext>
            </a:extLst>
          </p:cNvPr>
          <p:cNvSpPr txBox="1"/>
          <p:nvPr/>
        </p:nvSpPr>
        <p:spPr>
          <a:xfrm>
            <a:off x="974867" y="5326097"/>
            <a:ext cx="9737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Q2: ¿Cuál es el tamaño de la tabla?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75FB633-59D1-4F95-9CC9-870DA7EA89EE}"/>
                  </a:ext>
                </a:extLst>
              </p:cNvPr>
              <p:cNvSpPr txBox="1"/>
              <p:nvPr/>
            </p:nvSpPr>
            <p:spPr>
              <a:xfrm>
                <a:off x="1220221" y="5712880"/>
                <a:ext cx="9246785" cy="921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a) Con 1000 estudiantes:</a:t>
                </a:r>
                <a14:m>
                  <m:oMath xmlns:m="http://schemas.openxmlformats.org/officeDocument/2006/math">
                    <m:r>
                      <a:rPr lang="es-MX" sz="1600" b="0" i="0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1000×1024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𝑏𝑦𝑡𝑒𝑠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=1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𝑀𝐵</m:t>
                    </m:r>
                  </m:oMath>
                </a14:m>
                <a:endParaRPr lang="es-MX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b) Con 1M estudiantes: </a:t>
                </a:r>
                <a14:m>
                  <m:oMath xmlns:m="http://schemas.openxmlformats.org/officeDocument/2006/math"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×1024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𝑏𝑦𝑡𝑒𝑠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=1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𝐺𝐵</m:t>
                    </m:r>
                  </m:oMath>
                </a14:m>
                <a:endParaRPr lang="es-MX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c) Con 1B estudiantes: </a:t>
                </a:r>
                <a14:m>
                  <m:oMath xmlns:m="http://schemas.openxmlformats.org/officeDocument/2006/math"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×1024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𝑏𝑦𝑡𝑒𝑠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=1 </m:t>
                    </m:r>
                    <m:r>
                      <a:rPr lang="es-CO" sz="16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𝑇𝐵</m:t>
                    </m:r>
                  </m:oMath>
                </a14:m>
                <a:endParaRPr lang="es-CO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75FB633-59D1-4F95-9CC9-870DA7EA8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221" y="5712880"/>
                <a:ext cx="9246785" cy="921214"/>
              </a:xfrm>
              <a:prstGeom prst="rect">
                <a:avLst/>
              </a:prstGeom>
              <a:blipFill>
                <a:blip r:embed="rId4"/>
                <a:stretch>
                  <a:fillRect l="-330" b="-72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690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Costo del modelo I/O – Transferencia de datos</a:t>
            </a:r>
            <a:endParaRPr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2194043-F8BF-49D2-BB98-CBAAB9E41864}"/>
              </a:ext>
            </a:extLst>
          </p:cNvPr>
          <p:cNvSpPr txBox="1"/>
          <p:nvPr/>
        </p:nvSpPr>
        <p:spPr>
          <a:xfrm>
            <a:off x="974867" y="1182983"/>
            <a:ext cx="103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Q3: </a:t>
            </a:r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Para una tabla de 1 billón de estudiantes con un tamaño de 1 TB (almacenada con M = 1)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E80DFAE-6A69-4CE0-9495-8D722591B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00574"/>
              </p:ext>
            </p:extLst>
          </p:nvPr>
        </p:nvGraphicFramePr>
        <p:xfrm>
          <a:off x="3695057" y="1830349"/>
          <a:ext cx="8304000" cy="3771392"/>
        </p:xfrm>
        <a:graphic>
          <a:graphicData uri="http://schemas.openxmlformats.org/drawingml/2006/table">
            <a:tbl>
              <a:tblPr/>
              <a:tblGrid>
                <a:gridCol w="2400943">
                  <a:extLst>
                    <a:ext uri="{9D8B030D-6E8A-4147-A177-3AD203B41FA5}">
                      <a16:colId xmlns:a16="http://schemas.microsoft.com/office/drawing/2014/main" val="3045987994"/>
                    </a:ext>
                  </a:extLst>
                </a:gridCol>
                <a:gridCol w="3131127">
                  <a:extLst>
                    <a:ext uri="{9D8B030D-6E8A-4147-A177-3AD203B41FA5}">
                      <a16:colId xmlns:a16="http://schemas.microsoft.com/office/drawing/2014/main" val="4024846563"/>
                    </a:ext>
                  </a:extLst>
                </a:gridCol>
                <a:gridCol w="2771930">
                  <a:extLst>
                    <a:ext uri="{9D8B030D-6E8A-4147-A177-3AD203B41FA5}">
                      <a16:colId xmlns:a16="http://schemas.microsoft.com/office/drawing/2014/main" val="9789127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Tecnología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Access Latency for 1 Block (secs)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Scan Time for 1 TB (sec)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453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RAM (D-RAM)</a:t>
                      </a:r>
                      <a:endParaRPr lang="es-CO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~100 nanosec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1TB / 100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GBps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~10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83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High-end SSD</a:t>
                      </a:r>
                      <a:endParaRPr lang="es-CO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microsec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1TB / 5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GBps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~200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5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HDD</a:t>
                      </a:r>
                      <a:endParaRPr lang="es-CO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~10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millisec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1TB / 100 MBps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~10,000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094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Copy to RAM on Machine Z1 from RAM on Machine Z2</a:t>
                      </a:r>
                      <a:endParaRPr lang="en-US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(Network) 1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microsec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(RAM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on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Z1) 100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nsec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(RAM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on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Z2) 100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nsec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1.2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microsec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accent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[</a:t>
                      </a:r>
                      <a:r>
                        <a:rPr lang="en-US" sz="1400" dirty="0">
                          <a:solidFill>
                            <a:schemeClr val="accent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10,000x faster vs reading from Z1’s HDD</a:t>
                      </a: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solidFill>
                          <a:schemeClr val="accent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Or 10x faster vs reading from Z1’s SSD]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(Network) 1TB / 5GBps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(RAM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on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Z1) 1TB / 100GBps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+ (RAM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on</a:t>
                      </a:r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Z2) 1TB / 100GBps </a:t>
                      </a:r>
                    </a:p>
                    <a:p>
                      <a:r>
                        <a:rPr lang="es-CO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≈ 220 </a:t>
                      </a:r>
                      <a:r>
                        <a:rPr lang="es-CO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sec</a:t>
                      </a:r>
                      <a:endParaRPr lang="es-CO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endParaRPr lang="es-CO" dirty="0">
                        <a:solidFill>
                          <a:schemeClr val="accent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[50x faster vs reading from Z1’s HDD (~10,000 secs)</a:t>
                      </a: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400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Or 10% slower vs reading from Z1’s SSD]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42134"/>
                  </a:ext>
                </a:extLst>
              </a:tr>
            </a:tbl>
          </a:graphicData>
        </a:graphic>
      </p:graphicFrame>
      <p:pic>
        <p:nvPicPr>
          <p:cNvPr id="11" name="Google Shape;304;p41">
            <a:extLst>
              <a:ext uri="{FF2B5EF4-FFF2-40B4-BE49-F238E27FC236}">
                <a16:creationId xmlns:a16="http://schemas.microsoft.com/office/drawing/2014/main" id="{F18D504F-DDC0-4215-A37F-8673C3FDA3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304" y="2149304"/>
            <a:ext cx="649292" cy="4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05;p41">
            <a:extLst>
              <a:ext uri="{FF2B5EF4-FFF2-40B4-BE49-F238E27FC236}">
                <a16:creationId xmlns:a16="http://schemas.microsoft.com/office/drawing/2014/main" id="{21D82CE3-5E27-4178-8F5A-785C73C700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072" y="2743414"/>
            <a:ext cx="948977" cy="3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06;p41">
            <a:extLst>
              <a:ext uri="{FF2B5EF4-FFF2-40B4-BE49-F238E27FC236}">
                <a16:creationId xmlns:a16="http://schemas.microsoft.com/office/drawing/2014/main" id="{CB64592B-55AF-41BD-966E-87D5DF564FA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6826" y="3270945"/>
            <a:ext cx="516600" cy="43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07;p41">
            <a:extLst>
              <a:ext uri="{FF2B5EF4-FFF2-40B4-BE49-F238E27FC236}">
                <a16:creationId xmlns:a16="http://schemas.microsoft.com/office/drawing/2014/main" id="{1514E373-CEEC-45F5-A589-FF83903654E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2549" y="4371968"/>
            <a:ext cx="980500" cy="4810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99C1D19A-69A1-437E-94CA-B5F4D33F45B7}"/>
                  </a:ext>
                </a:extLst>
              </p:cNvPr>
              <p:cNvSpPr txBox="1"/>
              <p:nvPr/>
            </p:nvSpPr>
            <p:spPr>
              <a:xfrm>
                <a:off x="5726604" y="5879775"/>
                <a:ext cx="4240905" cy="4424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𝑇𝑜𝑡𝑎𝑙𝑇𝑖𝑚𝑒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𝐴𝑐𝑐𝑒𝑠𝑠𝐿𝑎𝑡𝑒𝑛𝑐𝑦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𝐷𝑎𝑡𝑎𝑆𝑖𝑧𝑒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𝑆𝑐𝑎𝑛𝑇h𝑟𝑜𝑢𝑔h𝑝𝑢𝑡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99C1D19A-69A1-437E-94CA-B5F4D33F4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604" y="5879775"/>
                <a:ext cx="4240905" cy="442493"/>
              </a:xfrm>
              <a:prstGeom prst="rect">
                <a:avLst/>
              </a:prstGeom>
              <a:blipFill>
                <a:blip r:embed="rId7"/>
                <a:stretch>
                  <a:fillRect l="-431" t="-2778" r="-718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942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Costo del modelo I/O – Transferencia de datos</a:t>
            </a:r>
            <a:endParaRPr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2194043-F8BF-49D2-BB98-CBAAB9E41864}"/>
              </a:ext>
            </a:extLst>
          </p:cNvPr>
          <p:cNvSpPr txBox="1"/>
          <p:nvPr/>
        </p:nvSpPr>
        <p:spPr>
          <a:xfrm>
            <a:off x="974867" y="1182983"/>
            <a:ext cx="10316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Q4: </a:t>
            </a:r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Que ocurre cuando se tienen 100 maquinas en paralelo? (100× RAM, 100× discos)</a:t>
            </a:r>
            <a:endParaRPr lang="es-CO" sz="1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Google Shape;304;p41">
            <a:extLst>
              <a:ext uri="{FF2B5EF4-FFF2-40B4-BE49-F238E27FC236}">
                <a16:creationId xmlns:a16="http://schemas.microsoft.com/office/drawing/2014/main" id="{F18D504F-DDC0-4215-A37F-8673C3FDA3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431" y="3014062"/>
            <a:ext cx="384710" cy="274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05;p41">
            <a:extLst>
              <a:ext uri="{FF2B5EF4-FFF2-40B4-BE49-F238E27FC236}">
                <a16:creationId xmlns:a16="http://schemas.microsoft.com/office/drawing/2014/main" id="{21D82CE3-5E27-4178-8F5A-785C73C700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812" y="3410885"/>
            <a:ext cx="697673" cy="152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06;p41">
            <a:extLst>
              <a:ext uri="{FF2B5EF4-FFF2-40B4-BE49-F238E27FC236}">
                <a16:creationId xmlns:a16="http://schemas.microsoft.com/office/drawing/2014/main" id="{CB64592B-55AF-41BD-966E-87D5DF564FA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4147" y="3684992"/>
            <a:ext cx="257278" cy="208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07;p41">
            <a:extLst>
              <a:ext uri="{FF2B5EF4-FFF2-40B4-BE49-F238E27FC236}">
                <a16:creationId xmlns:a16="http://schemas.microsoft.com/office/drawing/2014/main" id="{1514E373-CEEC-45F5-A589-FF83903654E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2883" y="4015048"/>
            <a:ext cx="980500" cy="4810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2AB7032-D5D2-4336-AB6A-71C99D1911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314051"/>
                  </p:ext>
                </p:extLst>
              </p:nvPr>
            </p:nvGraphicFramePr>
            <p:xfrm>
              <a:off x="2784764" y="1837899"/>
              <a:ext cx="7772400" cy="2804160"/>
            </p:xfrm>
            <a:graphic>
              <a:graphicData uri="http://schemas.openxmlformats.org/drawingml/2006/table">
                <a:tbl>
                  <a:tblPr/>
                  <a:tblGrid>
                    <a:gridCol w="2590800">
                      <a:extLst>
                        <a:ext uri="{9D8B030D-6E8A-4147-A177-3AD203B41FA5}">
                          <a16:colId xmlns:a16="http://schemas.microsoft.com/office/drawing/2014/main" val="2036628858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495165285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3506816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CO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Tecnología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Latencia de acceso para 1 bloque (</a:t>
                          </a:r>
                          <a:r>
                            <a:rPr lang="es-MX" sz="1400" b="1" i="0" u="none" strike="noStrike" cap="none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seg</a:t>
                          </a: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) </a:t>
                          </a: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endParaRPr lang="es-MX" sz="1400" b="0" i="0" u="none" strike="noStrike" cap="none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  <a:cs typeface="+mn-cs"/>
                            <a:sym typeface="Arial"/>
                          </a:endParaRP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0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(igual que en Q3)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Tiempo de escaneo para 1 TB (</a:t>
                          </a:r>
                          <a:r>
                            <a:rPr lang="es-MX" sz="1400" b="1" i="0" u="none" strike="noStrike" cap="none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seg</a:t>
                          </a: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) </a:t>
                          </a: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endParaRPr lang="es-MX" sz="1400" b="1" i="0" u="none" strike="noStrike" cap="none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  <a:cs typeface="+mn-cs"/>
                            <a:sym typeface="Arial"/>
                          </a:endParaRP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0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(100× más capacidad, dividido por 100)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7463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RAM (D-RAM)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nanosegundos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06523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SSD de alto rendimiento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microsegundos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200 seg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32195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HDD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milisegundos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~10,000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63674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Copia a RAM en máquinas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𝟏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..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𝟏𝟎𝟎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desde RAM en</a:t>
                          </a:r>
                          <a:r>
                            <a:rPr lang="es-CO" b="1" baseline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maquinas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𝒁</m:t>
                                  </m:r>
                                </m:e>
                                <m:sub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𝟏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𝟎𝟏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..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𝟐</m:t>
                                  </m:r>
                                  <m:r>
                                    <a:rPr lang="es-MX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𝟎𝟎</m:t>
                                  </m:r>
                                </m:sub>
                              </m:sSub>
                            </m:oMath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≈ 1.2 microsegundos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≈ 220 / 100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34395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72AB7032-D5D2-4336-AB6A-71C99D1911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314051"/>
                  </p:ext>
                </p:extLst>
              </p:nvPr>
            </p:nvGraphicFramePr>
            <p:xfrm>
              <a:off x="2784764" y="1837899"/>
              <a:ext cx="7772400" cy="2804160"/>
            </p:xfrm>
            <a:graphic>
              <a:graphicData uri="http://schemas.openxmlformats.org/drawingml/2006/table">
                <a:tbl>
                  <a:tblPr/>
                  <a:tblGrid>
                    <a:gridCol w="2590800">
                      <a:extLst>
                        <a:ext uri="{9D8B030D-6E8A-4147-A177-3AD203B41FA5}">
                          <a16:colId xmlns:a16="http://schemas.microsoft.com/office/drawing/2014/main" val="2036628858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495165285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350681602"/>
                        </a:ext>
                      </a:extLst>
                    </a:gridCol>
                  </a:tblGrid>
                  <a:tr h="1158240"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CO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Tecnología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Latencia de acceso para 1 bloque (</a:t>
                          </a:r>
                          <a:r>
                            <a:rPr lang="es-MX" sz="1400" b="1" i="0" u="none" strike="noStrike" cap="none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seg</a:t>
                          </a: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) </a:t>
                          </a: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endParaRPr lang="es-MX" sz="1400" b="0" i="0" u="none" strike="noStrike" cap="none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  <a:cs typeface="+mn-cs"/>
                            <a:sym typeface="Arial"/>
                          </a:endParaRP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0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(igual que en Q3)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Tiempo de escaneo para 1 TB (</a:t>
                          </a:r>
                          <a:r>
                            <a:rPr lang="es-MX" sz="1400" b="1" i="0" u="none" strike="noStrike" cap="none" dirty="0" err="1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seg</a:t>
                          </a:r>
                          <a:r>
                            <a:rPr lang="es-MX" sz="1400" b="1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) </a:t>
                          </a: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endParaRPr lang="es-MX" sz="1400" b="1" i="0" u="none" strike="noStrike" cap="none" dirty="0">
                            <a:solidFill>
                              <a:srgbClr val="1F1F1F"/>
                            </a:solidFill>
                            <a:effectLst/>
                            <a:latin typeface="Roboto" panose="02000000000000000000" pitchFamily="2" charset="0"/>
                            <a:ea typeface="Roboto" panose="02000000000000000000" pitchFamily="2" charset="0"/>
                            <a:cs typeface="+mn-cs"/>
                            <a:sym typeface="Arial"/>
                          </a:endParaRPr>
                        </a:p>
                        <a:p>
                          <a:pPr marR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s-MX" sz="1400" b="0" i="0" u="none" strike="noStrike" cap="none" dirty="0">
                              <a:solidFill>
                                <a:srgbClr val="1F1F1F"/>
                              </a:solidFill>
                              <a:effectLst/>
                              <a:latin typeface="Roboto" panose="02000000000000000000" pitchFamily="2" charset="0"/>
                              <a:ea typeface="Roboto" panose="02000000000000000000" pitchFamily="2" charset="0"/>
                              <a:cs typeface="+mn-cs"/>
                              <a:sym typeface="Arial"/>
                            </a:rPr>
                            <a:t>(100× más capacidad, dividido por 100)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74638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RAM (D-RAM)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~100 nanosegundos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065233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SSD de alto rendimiento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microsegundos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200 seg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321952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HDD</a:t>
                          </a:r>
                          <a:endParaRPr lang="es-CO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 milisegundos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~10,000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/ 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26367485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5" t="-285000" r="-200706" b="-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≈ 1.2 microsegundos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≈ 220 / 100 </a:t>
                          </a:r>
                          <a:r>
                            <a:rPr lang="es-CO" dirty="0" err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seg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734395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6AA86E35-F43A-4FF1-9D56-B6C6BC31BCC2}"/>
              </a:ext>
            </a:extLst>
          </p:cNvPr>
          <p:cNvSpPr txBox="1"/>
          <p:nvPr/>
        </p:nvSpPr>
        <p:spPr>
          <a:xfrm>
            <a:off x="974867" y="5059464"/>
            <a:ext cx="1046018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latin typeface="Roboto" panose="02000000000000000000" pitchFamily="2" charset="0"/>
                <a:ea typeface="Roboto" panose="02000000000000000000" pitchFamily="2" charset="0"/>
              </a:rPr>
              <a:t>Observaciones</a:t>
            </a:r>
            <a:r>
              <a:rPr lang="es-CO" sz="2000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La latencia de acceso no cambia (es inherente al medio).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El tiempo de escaneo se divide entre el número de máquinas, ya que los datos están distribuidos.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El throughput efectivo del sistema aumenta proporcionalmente al paralelismo.</a:t>
            </a:r>
          </a:p>
        </p:txBody>
      </p:sp>
    </p:spTree>
    <p:extLst>
      <p:ext uri="{BB962C8B-B14F-4D97-AF65-F5344CB8AC3E}">
        <p14:creationId xmlns:p14="http://schemas.microsoft.com/office/powerpoint/2010/main" val="4099179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/>
          <p:nvPr/>
        </p:nvSpPr>
        <p:spPr>
          <a:xfrm>
            <a:off x="11347918" y="6390907"/>
            <a:ext cx="178335" cy="178335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11042181" y="6386352"/>
            <a:ext cx="178335" cy="178335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10736444" y="6390907"/>
            <a:ext cx="178335" cy="178335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3"/>
          <p:cNvSpPr txBox="1">
            <a:spLocks noGrp="1"/>
          </p:cNvSpPr>
          <p:nvPr>
            <p:ph type="body" idx="1"/>
          </p:nvPr>
        </p:nvSpPr>
        <p:spPr>
          <a:xfrm>
            <a:off x="838200" y="1318000"/>
            <a:ext cx="10565400" cy="485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81000">
              <a:lnSpc>
                <a:spcPct val="100000"/>
              </a:lnSpc>
              <a:spcBef>
                <a:spcPts val="600"/>
              </a:spcBef>
              <a:buSzPts val="2400"/>
            </a:pPr>
            <a:r>
              <a:rPr lang="en-US" sz="2800" dirty="0" err="1"/>
              <a:t>Silberschatz</a:t>
            </a:r>
            <a:r>
              <a:rPr lang="en-US" sz="2800" dirty="0"/>
              <a:t>, A., </a:t>
            </a:r>
            <a:r>
              <a:rPr lang="en-US" sz="2800" dirty="0" err="1"/>
              <a:t>Korth</a:t>
            </a:r>
            <a:r>
              <a:rPr lang="en-US" sz="2800" dirty="0"/>
              <a:t>, H. F., &amp; Sudarshan, S. (2019). </a:t>
            </a:r>
            <a:r>
              <a:rPr lang="en-US" sz="2800" b="1" dirty="0"/>
              <a:t>Database System Concepts (7th Edition)</a:t>
            </a:r>
            <a:r>
              <a:rPr lang="en-US" sz="2800" dirty="0"/>
              <a:t>. McGraw-Hill – </a:t>
            </a:r>
            <a:r>
              <a:rPr lang="en-US" sz="2800" dirty="0" err="1"/>
              <a:t>Capitulo</a:t>
            </a:r>
            <a:r>
              <a:rPr lang="en-US" sz="2800" dirty="0"/>
              <a:t> 12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800" dirty="0">
                <a:hlinkClick r:id="rId3"/>
              </a:rPr>
              <a:t>https://cs145-fa20.github.io/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MX" sz="2800" dirty="0">
                <a:hlinkClick r:id="rId3"/>
              </a:rPr>
              <a:t>https://courses.cs.washington.edu/courses/cse444/</a:t>
            </a:r>
            <a:endParaRPr lang="es-MX" sz="28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800" dirty="0">
                <a:hlinkClick r:id="rId4"/>
              </a:rPr>
              <a:t>https://15445.courses.cs.cmu.edu/spring2026/</a:t>
            </a:r>
            <a:endParaRPr lang="es-CO" sz="2800" dirty="0"/>
          </a:p>
          <a:p>
            <a:pPr marL="45720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CO" sz="2800" dirty="0">
                <a:hlinkClick r:id="rId5"/>
              </a:rPr>
              <a:t>https://cs186berkeley.net/notes/note17/</a:t>
            </a:r>
            <a:endParaRPr lang="es-MX" sz="2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4" name="Google Shape;304;p3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354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7"/>
          <p:cNvSpPr txBox="1">
            <a:spLocks noGrp="1"/>
          </p:cNvSpPr>
          <p:nvPr>
            <p:ph type="subTitle" idx="1"/>
          </p:nvPr>
        </p:nvSpPr>
        <p:spPr>
          <a:xfrm>
            <a:off x="1524000" y="4872871"/>
            <a:ext cx="9144000" cy="110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Curso de Matemáticas Discretas 1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Clase 3 – </a:t>
            </a:r>
            <a:r>
              <a:rPr lang="es-MX" dirty="0"/>
              <a:t>Almacenamiento de datos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17063</TotalTime>
  <Words>4091</Words>
  <Application>Microsoft Office PowerPoint</Application>
  <PresentationFormat>Panorámica</PresentationFormat>
  <Paragraphs>777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6" baseType="lpstr">
      <vt:lpstr>Arial</vt:lpstr>
      <vt:lpstr>Calibri</vt:lpstr>
      <vt:lpstr>Roboto</vt:lpstr>
      <vt:lpstr>Times New Roman</vt:lpstr>
      <vt:lpstr>Cambria Math</vt:lpstr>
      <vt:lpstr>Roboto Slab</vt:lpstr>
      <vt:lpstr>Consolas</vt:lpstr>
      <vt:lpstr>Tema de Office</vt:lpstr>
      <vt:lpstr>Curso Estructuras de datos</vt:lpstr>
      <vt:lpstr>Bases de datos</vt:lpstr>
      <vt:lpstr>Jerarquía de memoria</vt:lpstr>
      <vt:lpstr>Jerarquía de memoria</vt:lpstr>
      <vt:lpstr>Jerarquía de memoria</vt:lpstr>
      <vt:lpstr>Arquitectura del Sistema</vt:lpstr>
      <vt:lpstr>El Viaje del Dato: De la Memoria al Disco</vt:lpstr>
      <vt:lpstr>Tiempos de acceso</vt:lpstr>
      <vt:lpstr>Tiempos de acceso</vt:lpstr>
      <vt:lpstr>I/O Block (page)</vt:lpstr>
      <vt:lpstr>I/O Block (page)</vt:lpstr>
      <vt:lpstr>Read/Write I/O Blocks</vt:lpstr>
      <vt:lpstr>Read/Write I/O Blocks</vt:lpstr>
      <vt:lpstr>Métricas de rendimiento</vt:lpstr>
      <vt:lpstr>Métricas de rendimiento</vt:lpstr>
      <vt:lpstr>Métricas de rendimiento</vt:lpstr>
      <vt:lpstr>Métricas de rendimiento</vt:lpstr>
      <vt:lpstr>Tipos de acceso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Disco duro magnético</vt:lpstr>
      <vt:lpstr>Tecnologías de almacenamiento</vt:lpstr>
      <vt:lpstr>Costo del modelo I/O</vt:lpstr>
      <vt:lpstr>Costo del modelo I/O</vt:lpstr>
      <vt:lpstr>Costo del modelo I/O – Tamaño de los datos</vt:lpstr>
      <vt:lpstr>Costo del modelo I/O – Transferencia de datos</vt:lpstr>
      <vt:lpstr>Costo del modelo I/O – Transferencia de datos</vt:lpstr>
      <vt:lpstr>Referencias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Arcila</cp:lastModifiedBy>
  <cp:revision>76</cp:revision>
  <dcterms:modified xsi:type="dcterms:W3CDTF">2026-02-25T06:20:38Z</dcterms:modified>
</cp:coreProperties>
</file>