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81"/>
  </p:notesMasterIdLst>
  <p:sldIdLst>
    <p:sldId id="256" r:id="rId2"/>
    <p:sldId id="521" r:id="rId3"/>
    <p:sldId id="520" r:id="rId4"/>
    <p:sldId id="473" r:id="rId5"/>
    <p:sldId id="522" r:id="rId6"/>
    <p:sldId id="523" r:id="rId7"/>
    <p:sldId id="524" r:id="rId8"/>
    <p:sldId id="515" r:id="rId9"/>
    <p:sldId id="517" r:id="rId10"/>
    <p:sldId id="518" r:id="rId11"/>
    <p:sldId id="273" r:id="rId12"/>
    <p:sldId id="525" r:id="rId13"/>
    <p:sldId id="526" r:id="rId14"/>
    <p:sldId id="527" r:id="rId15"/>
    <p:sldId id="427" r:id="rId16"/>
    <p:sldId id="528" r:id="rId17"/>
    <p:sldId id="488" r:id="rId18"/>
    <p:sldId id="531" r:id="rId19"/>
    <p:sldId id="530" r:id="rId20"/>
    <p:sldId id="553" r:id="rId21"/>
    <p:sldId id="562" r:id="rId22"/>
    <p:sldId id="502" r:id="rId23"/>
    <p:sldId id="532" r:id="rId24"/>
    <p:sldId id="549" r:id="rId25"/>
    <p:sldId id="546" r:id="rId26"/>
    <p:sldId id="533" r:id="rId27"/>
    <p:sldId id="547" r:id="rId28"/>
    <p:sldId id="550" r:id="rId29"/>
    <p:sldId id="535" r:id="rId30"/>
    <p:sldId id="534" r:id="rId31"/>
    <p:sldId id="536" r:id="rId32"/>
    <p:sldId id="537" r:id="rId33"/>
    <p:sldId id="554" r:id="rId34"/>
    <p:sldId id="555" r:id="rId35"/>
    <p:sldId id="556" r:id="rId36"/>
    <p:sldId id="560" r:id="rId37"/>
    <p:sldId id="551" r:id="rId38"/>
    <p:sldId id="557" r:id="rId39"/>
    <p:sldId id="558" r:id="rId40"/>
    <p:sldId id="559" r:id="rId41"/>
    <p:sldId id="563" r:id="rId42"/>
    <p:sldId id="561" r:id="rId43"/>
    <p:sldId id="552" r:id="rId44"/>
    <p:sldId id="539" r:id="rId45"/>
    <p:sldId id="436" r:id="rId46"/>
    <p:sldId id="540" r:id="rId47"/>
    <p:sldId id="538" r:id="rId48"/>
    <p:sldId id="541" r:id="rId49"/>
    <p:sldId id="514" r:id="rId50"/>
    <p:sldId id="582" r:id="rId51"/>
    <p:sldId id="564" r:id="rId52"/>
    <p:sldId id="573" r:id="rId53"/>
    <p:sldId id="565" r:id="rId54"/>
    <p:sldId id="566" r:id="rId55"/>
    <p:sldId id="567" r:id="rId56"/>
    <p:sldId id="574" r:id="rId57"/>
    <p:sldId id="568" r:id="rId58"/>
    <p:sldId id="569" r:id="rId59"/>
    <p:sldId id="570" r:id="rId60"/>
    <p:sldId id="571" r:id="rId61"/>
    <p:sldId id="572" r:id="rId62"/>
    <p:sldId id="575" r:id="rId63"/>
    <p:sldId id="543" r:id="rId64"/>
    <p:sldId id="544" r:id="rId65"/>
    <p:sldId id="576" r:id="rId66"/>
    <p:sldId id="577" r:id="rId67"/>
    <p:sldId id="578" r:id="rId68"/>
    <p:sldId id="579" r:id="rId69"/>
    <p:sldId id="580" r:id="rId70"/>
    <p:sldId id="581" r:id="rId71"/>
    <p:sldId id="583" r:id="rId72"/>
    <p:sldId id="585" r:id="rId73"/>
    <p:sldId id="586" r:id="rId74"/>
    <p:sldId id="584" r:id="rId75"/>
    <p:sldId id="587" r:id="rId76"/>
    <p:sldId id="588" r:id="rId77"/>
    <p:sldId id="545" r:id="rId78"/>
    <p:sldId id="305" r:id="rId79"/>
    <p:sldId id="306" r:id="rId80"/>
  </p:sldIdLst>
  <p:sldSz cx="12192000" cy="6858000"/>
  <p:notesSz cx="6858000" cy="9144000"/>
  <p:embeddedFontLst>
    <p:embeddedFont>
      <p:font typeface="Calibri" panose="020F0502020204030204" pitchFamily="34" charset="0"/>
      <p:regular r:id="rId82"/>
      <p:bold r:id="rId83"/>
      <p:italic r:id="rId84"/>
      <p:boldItalic r:id="rId85"/>
    </p:embeddedFont>
    <p:embeddedFont>
      <p:font typeface="Cambria Math" panose="02040503050406030204" pitchFamily="18" charset="0"/>
      <p:regular r:id="rId86"/>
    </p:embeddedFont>
    <p:embeddedFont>
      <p:font typeface="Consolas" panose="020B0609020204030204" pitchFamily="49" charset="0"/>
      <p:regular r:id="rId87"/>
      <p:bold r:id="rId88"/>
      <p:italic r:id="rId89"/>
      <p:boldItalic r:id="rId90"/>
    </p:embeddedFont>
    <p:embeddedFont>
      <p:font typeface="Roboto" panose="02000000000000000000" pitchFamily="2" charset="0"/>
      <p:regular r:id="rId91"/>
      <p:bold r:id="rId92"/>
      <p:italic r:id="rId93"/>
      <p:boldItalic r:id="rId94"/>
    </p:embeddedFont>
    <p:embeddedFont>
      <p:font typeface="Roboto Slab" panose="020B0604020202020204" charset="0"/>
      <p:regular r:id="rId95"/>
      <p:bold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nry Arcila" initials="HA" lastIdx="1" clrIdx="0">
    <p:extLst>
      <p:ext uri="{19B8F6BF-5375-455C-9EA6-DF929625EA0E}">
        <p15:presenceInfo xmlns:p15="http://schemas.microsoft.com/office/powerpoint/2012/main" userId="fa81e750b1be2331" providerId="Windows Live"/>
      </p:ext>
    </p:extLst>
  </p:cmAuthor>
  <p:cmAuthor id="2" name="HENRY ALBERTO ARCILA RAMIREZ" initials="HAAR" lastIdx="2" clrIdx="1">
    <p:extLst>
      <p:ext uri="{19B8F6BF-5375-455C-9EA6-DF929625EA0E}">
        <p15:presenceInfo xmlns:p15="http://schemas.microsoft.com/office/powerpoint/2012/main" userId="HENRY ALBERTO ARCILA RAMIR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291" autoAdjust="0"/>
  </p:normalViewPr>
  <p:slideViewPr>
    <p:cSldViewPr snapToGrid="0">
      <p:cViewPr varScale="1">
        <p:scale>
          <a:sx n="65" d="100"/>
          <a:sy n="65" d="100"/>
        </p:scale>
        <p:origin x="768" y="60"/>
      </p:cViewPr>
      <p:guideLst/>
    </p:cSldViewPr>
  </p:slideViewPr>
  <p:notesTextViewPr>
    <p:cViewPr>
      <p:scale>
        <a:sx n="100" d="100"/>
        <a:sy n="100" d="100"/>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4.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830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04212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87179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03397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246641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41099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365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8272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881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520665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004043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81187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80368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21238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522577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927272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13184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684062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31787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961070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820536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35305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579758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9592122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62813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09243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64370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327639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8205389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07059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804536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065768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051397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836800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8517788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203835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8967115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460294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804161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988572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6676131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23512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681898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04328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9995589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1881103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413327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564473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683584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9363899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955862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452366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071947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4892750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922621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23746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2652710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9312086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8147569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243459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054417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786613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5208483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770114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9365414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738877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4927346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968092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3587553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9152086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8170776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9882964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4097192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43248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372510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91542c71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91542c71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78358aba08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78358aba08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deA-Nueva 1">
  <p:cSld name="OBJECT_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29" name="Google Shape;29;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31" name="Google Shape;31;p3"/>
          <p:cNvSpPr/>
          <p:nvPr/>
        </p:nvSpPr>
        <p:spPr>
          <a:xfrm rot="5400000">
            <a:off x="-3061973" y="3062100"/>
            <a:ext cx="6858000" cy="7338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32" name="Google Shape;32;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3"/>
          <p:cNvSpPr/>
          <p:nvPr/>
        </p:nvSpPr>
        <p:spPr>
          <a:xfrm>
            <a:off x="11347918"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3"/>
          <p:cNvSpPr/>
          <p:nvPr/>
        </p:nvSpPr>
        <p:spPr>
          <a:xfrm>
            <a:off x="11042181" y="6386352"/>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 name="Google Shape;35;p3"/>
          <p:cNvSpPr/>
          <p:nvPr/>
        </p:nvSpPr>
        <p:spPr>
          <a:xfrm>
            <a:off x="10736444"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UdeA-Nueva 1 1">
  <p:cSld name="OBJECT_1_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42" name="Google Shape;42;p4"/>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43" name="Google Shape;43;p4"/>
          <p:cNvSpPr/>
          <p:nvPr/>
        </p:nvSpPr>
        <p:spPr>
          <a:xfrm rot="5400000">
            <a:off x="-3061973" y="3062100"/>
            <a:ext cx="6858000" cy="7338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44" name="Google Shape;44;p4"/>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4"/>
          <p:cNvSpPr/>
          <p:nvPr/>
        </p:nvSpPr>
        <p:spPr>
          <a:xfrm>
            <a:off x="11347918" y="6390907"/>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11042181" y="6386352"/>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4"/>
          <p:cNvSpPr/>
          <p:nvPr/>
        </p:nvSpPr>
        <p:spPr>
          <a:xfrm>
            <a:off x="10736444" y="6390907"/>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UdeA-Nueva 1 1 1">
  <p:cSld name="OBJECT_1_1_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54" name="Google Shape;54;p5"/>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55" name="Google Shape;55;p5"/>
          <p:cNvSpPr/>
          <p:nvPr/>
        </p:nvSpPr>
        <p:spPr>
          <a:xfrm rot="5400000">
            <a:off x="-3061973" y="3062100"/>
            <a:ext cx="6858000" cy="7338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56" name="Google Shape;56;p5"/>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5"/>
          <p:cNvSpPr/>
          <p:nvPr/>
        </p:nvSpPr>
        <p:spPr>
          <a:xfrm>
            <a:off x="11347918"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 name="Google Shape;58;p5"/>
          <p:cNvSpPr/>
          <p:nvPr/>
        </p:nvSpPr>
        <p:spPr>
          <a:xfrm>
            <a:off x="11042181" y="6386352"/>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5"/>
          <p:cNvSpPr/>
          <p:nvPr/>
        </p:nvSpPr>
        <p:spPr>
          <a:xfrm>
            <a:off x="10736444"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60"/>
        <p:cNvGrpSpPr/>
        <p:nvPr/>
      </p:nvGrpSpPr>
      <p:grpSpPr>
        <a:xfrm>
          <a:off x="0" y="0"/>
          <a:ext cx="0" cy="0"/>
          <a:chOff x="0" y="0"/>
          <a:chExt cx="0" cy="0"/>
        </a:xfrm>
      </p:grpSpPr>
      <p:sp>
        <p:nvSpPr>
          <p:cNvPr id="61" name="Google Shape;61;p6"/>
          <p:cNvSpPr/>
          <p:nvPr/>
        </p:nvSpPr>
        <p:spPr>
          <a:xfrm>
            <a:off x="-1" y="0"/>
            <a:ext cx="12203100" cy="68580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2" name="Google Shape;62;p6"/>
          <p:cNvSpPr/>
          <p:nvPr/>
        </p:nvSpPr>
        <p:spPr>
          <a:xfrm>
            <a:off x="-3" y="2362201"/>
            <a:ext cx="12203100" cy="21336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 name="Google Shape;63;p6"/>
          <p:cNvSpPr txBox="1">
            <a:spLocks noGrp="1"/>
          </p:cNvSpPr>
          <p:nvPr>
            <p:ph type="ctrTitle"/>
          </p:nvPr>
        </p:nvSpPr>
        <p:spPr>
          <a:xfrm>
            <a:off x="502025" y="2952025"/>
            <a:ext cx="7227600" cy="939600"/>
          </a:xfrm>
          <a:prstGeom prst="rect">
            <a:avLst/>
          </a:prstGeom>
          <a:noFill/>
          <a:ln>
            <a:noFill/>
          </a:ln>
        </p:spPr>
        <p:txBody>
          <a:bodyPr spcFirstLastPara="1" wrap="square" lIns="91425" tIns="45700" rIns="91425" bIns="45700" anchor="b" anchorCtr="0">
            <a:noAutofit/>
          </a:bodyPr>
          <a:lstStyle>
            <a:lvl1pPr lvl="0">
              <a:lnSpc>
                <a:spcPct val="90000"/>
              </a:lnSpc>
              <a:spcBef>
                <a:spcPts val="0"/>
              </a:spcBef>
              <a:spcAft>
                <a:spcPts val="0"/>
              </a:spcAft>
              <a:buClr>
                <a:schemeClr val="lt1"/>
              </a:buClr>
              <a:buSzPts val="32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6"/>
          <p:cNvSpPr txBox="1">
            <a:spLocks noGrp="1"/>
          </p:cNvSpPr>
          <p:nvPr>
            <p:ph type="subTitle" idx="1"/>
          </p:nvPr>
        </p:nvSpPr>
        <p:spPr>
          <a:xfrm>
            <a:off x="1524000" y="4872871"/>
            <a:ext cx="9144000" cy="1106400"/>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400"/>
              <a:buFont typeface="Roboto"/>
              <a:buNone/>
              <a:defRPr sz="2400">
                <a:solidFill>
                  <a:schemeClr val="lt1"/>
                </a:solidFill>
                <a:latin typeface="Roboto"/>
                <a:ea typeface="Roboto"/>
                <a:cs typeface="Roboto"/>
                <a:sym typeface="Robo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5" name="Google Shape;65;p6"/>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cxnSp>
        <p:nvCxnSpPr>
          <p:cNvPr id="68" name="Google Shape;68;p6"/>
          <p:cNvCxnSpPr/>
          <p:nvPr/>
        </p:nvCxnSpPr>
        <p:spPr>
          <a:xfrm>
            <a:off x="2239617" y="3190047"/>
            <a:ext cx="4731000" cy="0"/>
          </a:xfrm>
          <a:prstGeom prst="straightConnector1">
            <a:avLst/>
          </a:prstGeom>
          <a:noFill/>
          <a:ln w="38100" cap="flat" cmpd="sng">
            <a:solidFill>
              <a:schemeClr val="lt1"/>
            </a:solidFill>
            <a:prstDash val="solid"/>
            <a:miter lim="800000"/>
            <a:headEnd type="none" w="sm" len="sm"/>
            <a:tailEnd type="none" w="sm" len="sm"/>
          </a:ln>
        </p:spPr>
      </p:cxnSp>
      <p:pic>
        <p:nvPicPr>
          <p:cNvPr id="69" name="Google Shape;69;p6"/>
          <p:cNvPicPr preferRelativeResize="0"/>
          <p:nvPr/>
        </p:nvPicPr>
        <p:blipFill rotWithShape="1">
          <a:blip r:embed="rId2">
            <a:alphaModFix/>
          </a:blip>
          <a:srcRect/>
          <a:stretch/>
        </p:blipFill>
        <p:spPr>
          <a:xfrm>
            <a:off x="7993479" y="2875817"/>
            <a:ext cx="3522904" cy="110636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Final">
  <p:cSld name="TITLE_1">
    <p:spTree>
      <p:nvGrpSpPr>
        <p:cNvPr id="1" name="Shape 70"/>
        <p:cNvGrpSpPr/>
        <p:nvPr/>
      </p:nvGrpSpPr>
      <p:grpSpPr>
        <a:xfrm>
          <a:off x="0" y="0"/>
          <a:ext cx="0" cy="0"/>
          <a:chOff x="0" y="0"/>
          <a:chExt cx="0" cy="0"/>
        </a:xfrm>
      </p:grpSpPr>
      <p:sp>
        <p:nvSpPr>
          <p:cNvPr id="71" name="Google Shape;71;p7"/>
          <p:cNvSpPr/>
          <p:nvPr/>
        </p:nvSpPr>
        <p:spPr>
          <a:xfrm>
            <a:off x="-1" y="0"/>
            <a:ext cx="12203100" cy="68580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2" name="Google Shape;72;p7"/>
          <p:cNvSpPr/>
          <p:nvPr/>
        </p:nvSpPr>
        <p:spPr>
          <a:xfrm>
            <a:off x="-3" y="2362201"/>
            <a:ext cx="12203100" cy="21336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3" name="Google Shape;73;p7"/>
          <p:cNvSpPr txBox="1">
            <a:spLocks noGrp="1"/>
          </p:cNvSpPr>
          <p:nvPr>
            <p:ph type="subTitle" idx="1"/>
          </p:nvPr>
        </p:nvSpPr>
        <p:spPr>
          <a:xfrm>
            <a:off x="1524000" y="4872871"/>
            <a:ext cx="9144000" cy="11064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lt1"/>
              </a:buClr>
              <a:buSzPts val="2400"/>
              <a:buFont typeface="Roboto"/>
              <a:buNone/>
              <a:defRPr sz="2400">
                <a:solidFill>
                  <a:schemeClr val="lt1"/>
                </a:solidFill>
                <a:latin typeface="Roboto"/>
                <a:ea typeface="Roboto"/>
                <a:cs typeface="Roboto"/>
                <a:sym typeface="Roboto"/>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4" name="Google Shape;74;p7"/>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7"/>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7"/>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77" name="Google Shape;77;p7"/>
          <p:cNvPicPr preferRelativeResize="0"/>
          <p:nvPr/>
        </p:nvPicPr>
        <p:blipFill rotWithShape="1">
          <a:blip r:embed="rId2">
            <a:alphaModFix/>
          </a:blip>
          <a:srcRect/>
          <a:stretch/>
        </p:blipFill>
        <p:spPr>
          <a:xfrm>
            <a:off x="3953153" y="2757784"/>
            <a:ext cx="4274582" cy="134243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78"/>
        <p:cNvGrpSpPr/>
        <p:nvPr/>
      </p:nvGrpSpPr>
      <p:grpSpPr>
        <a:xfrm>
          <a:off x="0" y="0"/>
          <a:ext cx="0" cy="0"/>
          <a:chOff x="0" y="0"/>
          <a:chExt cx="0" cy="0"/>
        </a:xfrm>
      </p:grpSpPr>
      <p:sp>
        <p:nvSpPr>
          <p:cNvPr id="79" name="Google Shape;79;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1" name="Google Shape;81;p8"/>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84"/>
        <p:cNvGrpSpPr/>
        <p:nvPr/>
      </p:nvGrpSpPr>
      <p:grpSpPr>
        <a:xfrm>
          <a:off x="0" y="0"/>
          <a:ext cx="0" cy="0"/>
          <a:chOff x="0" y="0"/>
          <a:chExt cx="0" cy="0"/>
        </a:xfrm>
      </p:grpSpPr>
      <p:sp>
        <p:nvSpPr>
          <p:cNvPr id="85" name="Google Shape;8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9"/>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9"/>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9"/>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91"/>
        <p:cNvGrpSpPr/>
        <p:nvPr/>
      </p:nvGrpSpPr>
      <p:grpSpPr>
        <a:xfrm>
          <a:off x="0" y="0"/>
          <a:ext cx="0" cy="0"/>
          <a:chOff x="0" y="0"/>
          <a:chExt cx="0" cy="0"/>
        </a:xfrm>
      </p:grpSpPr>
      <p:sp>
        <p:nvSpPr>
          <p:cNvPr id="92" name="Google Shape;92;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6" name="Google Shape;96;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10"/>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0"/>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00"/>
        <p:cNvGrpSpPr/>
        <p:nvPr/>
      </p:nvGrpSpPr>
      <p:grpSpPr>
        <a:xfrm>
          <a:off x="0" y="0"/>
          <a:ext cx="0" cy="0"/>
          <a:chOff x="0" y="0"/>
          <a:chExt cx="0" cy="0"/>
        </a:xfrm>
      </p:grpSpPr>
      <p:sp>
        <p:nvSpPr>
          <p:cNvPr id="101" name="Google Shape;10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1"/>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1"/>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1"/>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05"/>
        <p:cNvGrpSpPr/>
        <p:nvPr/>
      </p:nvGrpSpPr>
      <p:grpSpPr>
        <a:xfrm>
          <a:off x="0" y="0"/>
          <a:ext cx="0" cy="0"/>
          <a:chOff x="0" y="0"/>
          <a:chExt cx="0" cy="0"/>
        </a:xfrm>
      </p:grpSpPr>
      <p:sp>
        <p:nvSpPr>
          <p:cNvPr id="106" name="Google Shape;106;p12"/>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2"/>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2"/>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09"/>
        <p:cNvGrpSpPr/>
        <p:nvPr/>
      </p:nvGrpSpPr>
      <p:grpSpPr>
        <a:xfrm>
          <a:off x="0" y="0"/>
          <a:ext cx="0" cy="0"/>
          <a:chOff x="0" y="0"/>
          <a:chExt cx="0" cy="0"/>
        </a:xfrm>
      </p:grpSpPr>
      <p:sp>
        <p:nvSpPr>
          <p:cNvPr id="110" name="Google Shape;110;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2" name="Google Shape;112;p1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3" name="Google Shape;113;p13"/>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3"/>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3"/>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16"/>
        <p:cNvGrpSpPr/>
        <p:nvPr/>
      </p:nvGrpSpPr>
      <p:grpSpPr>
        <a:xfrm>
          <a:off x="0" y="0"/>
          <a:ext cx="0" cy="0"/>
          <a:chOff x="0" y="0"/>
          <a:chExt cx="0" cy="0"/>
        </a:xfrm>
      </p:grpSpPr>
      <p:sp>
        <p:nvSpPr>
          <p:cNvPr id="117" name="Google Shape;117;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19" name="Google Shape;119;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0" name="Google Shape;120;p14"/>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4"/>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4"/>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3"/>
        <p:cNvGrpSpPr/>
        <p:nvPr/>
      </p:nvGrpSpPr>
      <p:grpSpPr>
        <a:xfrm>
          <a:off x="0" y="0"/>
          <a:ext cx="0" cy="0"/>
          <a:chOff x="0" y="0"/>
          <a:chExt cx="0" cy="0"/>
        </a:xfrm>
      </p:grpSpPr>
      <p:sp>
        <p:nvSpPr>
          <p:cNvPr id="124" name="Google Shape;12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1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15"/>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5"/>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5"/>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29"/>
        <p:cNvGrpSpPr/>
        <p:nvPr/>
      </p:nvGrpSpPr>
      <p:grpSpPr>
        <a:xfrm>
          <a:off x="0" y="0"/>
          <a:ext cx="0" cy="0"/>
          <a:chOff x="0" y="0"/>
          <a:chExt cx="0" cy="0"/>
        </a:xfrm>
      </p:grpSpPr>
      <p:sp>
        <p:nvSpPr>
          <p:cNvPr id="130" name="Google Shape;130;p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1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16"/>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6"/>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6"/>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200"/>
              <a:buFont typeface="Roboto Slab"/>
              <a:buNone/>
              <a:defRPr sz="3200" i="0" u="none" strike="noStrike" cap="none">
                <a:solidFill>
                  <a:schemeClr val="dk1"/>
                </a:solidFill>
                <a:latin typeface="Roboto Slab"/>
                <a:ea typeface="Roboto Slab"/>
                <a:cs typeface="Roboto Slab"/>
                <a:sym typeface="Roboto Sla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393700" algn="l" rtl="0">
              <a:lnSpc>
                <a:spcPct val="90000"/>
              </a:lnSpc>
              <a:spcBef>
                <a:spcPts val="1000"/>
              </a:spcBef>
              <a:spcAft>
                <a:spcPts val="0"/>
              </a:spcAft>
              <a:buClr>
                <a:schemeClr val="dk1"/>
              </a:buClr>
              <a:buSzPts val="2600"/>
              <a:buChar char="●"/>
              <a:defRPr sz="2600" i="0" u="none" strike="noStrike" cap="none">
                <a:solidFill>
                  <a:schemeClr val="dk1"/>
                </a:solidFill>
              </a:defRPr>
            </a:lvl1pPr>
            <a:lvl2pPr marL="914400" marR="0" lvl="1" indent="-368300" algn="l" rtl="0">
              <a:lnSpc>
                <a:spcPct val="90000"/>
              </a:lnSpc>
              <a:spcBef>
                <a:spcPts val="500"/>
              </a:spcBef>
              <a:spcAft>
                <a:spcPts val="0"/>
              </a:spcAft>
              <a:buClr>
                <a:schemeClr val="dk1"/>
              </a:buClr>
              <a:buSzPts val="2200"/>
              <a:buChar char="○"/>
              <a:defRPr sz="2200" i="0" u="none" strike="noStrike" cap="none">
                <a:solidFill>
                  <a:schemeClr val="dk1"/>
                </a:solidFill>
              </a:defRPr>
            </a:lvl2pPr>
            <a:lvl3pPr marL="1371600" marR="0" lvl="2" indent="-342900" algn="l" rtl="0">
              <a:lnSpc>
                <a:spcPct val="90000"/>
              </a:lnSpc>
              <a:spcBef>
                <a:spcPts val="500"/>
              </a:spcBef>
              <a:spcAft>
                <a:spcPts val="0"/>
              </a:spcAft>
              <a:buClr>
                <a:schemeClr val="dk1"/>
              </a:buClr>
              <a:buSzPts val="1800"/>
              <a:buChar char="■"/>
              <a:defRPr sz="1800" i="0" u="none" strike="noStrike" cap="none">
                <a:solidFill>
                  <a:schemeClr val="dk1"/>
                </a:solidFill>
              </a:defRPr>
            </a:lvl3pPr>
            <a:lvl4pPr marL="1828800" marR="0" lvl="3" indent="-330200" algn="l" rtl="0">
              <a:lnSpc>
                <a:spcPct val="90000"/>
              </a:lnSpc>
              <a:spcBef>
                <a:spcPts val="500"/>
              </a:spcBef>
              <a:spcAft>
                <a:spcPts val="0"/>
              </a:spcAft>
              <a:buClr>
                <a:schemeClr val="dk1"/>
              </a:buClr>
              <a:buSzPts val="1600"/>
              <a:buChar char="●"/>
              <a:defRPr sz="1600" i="0" u="none" strike="noStrike" cap="none">
                <a:solidFill>
                  <a:schemeClr val="dk1"/>
                </a:solidFill>
              </a:defRPr>
            </a:lvl4pPr>
            <a:lvl5pPr marL="2286000" marR="0" lvl="4" indent="-330200" algn="l" rtl="0">
              <a:lnSpc>
                <a:spcPct val="90000"/>
              </a:lnSpc>
              <a:spcBef>
                <a:spcPts val="500"/>
              </a:spcBef>
              <a:spcAft>
                <a:spcPts val="0"/>
              </a:spcAft>
              <a:buClr>
                <a:schemeClr val="dk1"/>
              </a:buClr>
              <a:buSzPts val="1600"/>
              <a:buChar char="○"/>
              <a:defRPr sz="1600" i="0" u="none" strike="noStrike" cap="none">
                <a:solidFill>
                  <a:schemeClr val="dk1"/>
                </a:solidFill>
              </a:defRPr>
            </a:lvl5pPr>
            <a:lvl6pPr marL="2743200" marR="0" lvl="5" indent="-330200" algn="l" rtl="0">
              <a:lnSpc>
                <a:spcPct val="90000"/>
              </a:lnSpc>
              <a:spcBef>
                <a:spcPts val="500"/>
              </a:spcBef>
              <a:spcAft>
                <a:spcPts val="0"/>
              </a:spcAft>
              <a:buClr>
                <a:schemeClr val="dk1"/>
              </a:buClr>
              <a:buSzPts val="1600"/>
              <a:buChar char="■"/>
              <a:defRPr sz="1600" i="0" u="none" strike="noStrike" cap="none">
                <a:solidFill>
                  <a:schemeClr val="dk1"/>
                </a:solidFill>
              </a:defRPr>
            </a:lvl6pPr>
            <a:lvl7pPr marL="3200400" marR="0" lvl="6" indent="-330200" algn="l" rtl="0">
              <a:lnSpc>
                <a:spcPct val="90000"/>
              </a:lnSpc>
              <a:spcBef>
                <a:spcPts val="500"/>
              </a:spcBef>
              <a:spcAft>
                <a:spcPts val="0"/>
              </a:spcAft>
              <a:buClr>
                <a:schemeClr val="dk1"/>
              </a:buClr>
              <a:buSzPts val="1600"/>
              <a:buChar char="●"/>
              <a:defRPr sz="1600" i="0" u="none" strike="noStrike" cap="none">
                <a:solidFill>
                  <a:schemeClr val="dk1"/>
                </a:solidFill>
              </a:defRPr>
            </a:lvl7pPr>
            <a:lvl8pPr marL="3657600" marR="0" lvl="7" indent="-330200" algn="l" rtl="0">
              <a:lnSpc>
                <a:spcPct val="90000"/>
              </a:lnSpc>
              <a:spcBef>
                <a:spcPts val="500"/>
              </a:spcBef>
              <a:spcAft>
                <a:spcPts val="0"/>
              </a:spcAft>
              <a:buClr>
                <a:schemeClr val="dk1"/>
              </a:buClr>
              <a:buSzPts val="1600"/>
              <a:buChar char="○"/>
              <a:defRPr sz="1600" i="0" u="none" strike="noStrike" cap="none">
                <a:solidFill>
                  <a:schemeClr val="dk1"/>
                </a:solidFill>
              </a:defRPr>
            </a:lvl8pPr>
            <a:lvl9pPr marL="4114800" marR="0" lvl="8" indent="-330200" algn="l" rtl="0">
              <a:lnSpc>
                <a:spcPct val="90000"/>
              </a:lnSpc>
              <a:spcBef>
                <a:spcPts val="500"/>
              </a:spcBef>
              <a:spcAft>
                <a:spcPts val="0"/>
              </a:spcAft>
              <a:buClr>
                <a:schemeClr val="dk1"/>
              </a:buClr>
              <a:buSzPts val="1600"/>
              <a:buChar char="■"/>
              <a:defRPr sz="1600" i="0" u="none" strike="noStrike" cap="none">
                <a:solidFill>
                  <a:schemeClr val="dk1"/>
                </a:solidFill>
              </a:defRPr>
            </a:lvl9pPr>
          </a:lstStyle>
          <a:p>
            <a:endParaRPr/>
          </a:p>
        </p:txBody>
      </p:sp>
      <p:sp>
        <p:nvSpPr>
          <p:cNvPr id="8" name="Google Shape;8;p1"/>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Font typeface="Roboto"/>
              <a:buNone/>
              <a:defRPr sz="1200" i="0" u="none" strike="noStrike" cap="none">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Font typeface="Roboto"/>
              <a:buNone/>
              <a:defRPr sz="1200" i="0" u="none" strike="noStrike" cap="none">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888888"/>
                </a:solidFill>
                <a:latin typeface="Roboto"/>
                <a:ea typeface="Roboto"/>
                <a:cs typeface="Roboto"/>
                <a:sym typeface="Roboto"/>
              </a:defRPr>
            </a:lvl1pPr>
            <a:lvl2pPr marL="0" marR="0" lvl="1" indent="0" algn="r" rtl="0">
              <a:spcBef>
                <a:spcPts val="0"/>
              </a:spcBef>
              <a:buNone/>
              <a:defRPr sz="1200" i="0" u="none" strike="noStrike" cap="none">
                <a:solidFill>
                  <a:srgbClr val="888888"/>
                </a:solidFill>
                <a:latin typeface="Roboto"/>
                <a:ea typeface="Roboto"/>
                <a:cs typeface="Roboto"/>
                <a:sym typeface="Roboto"/>
              </a:defRPr>
            </a:lvl2pPr>
            <a:lvl3pPr marL="0" marR="0" lvl="2" indent="0" algn="r" rtl="0">
              <a:spcBef>
                <a:spcPts val="0"/>
              </a:spcBef>
              <a:buNone/>
              <a:defRPr sz="1200" i="0" u="none" strike="noStrike" cap="none">
                <a:solidFill>
                  <a:srgbClr val="888888"/>
                </a:solidFill>
                <a:latin typeface="Roboto"/>
                <a:ea typeface="Roboto"/>
                <a:cs typeface="Roboto"/>
                <a:sym typeface="Roboto"/>
              </a:defRPr>
            </a:lvl3pPr>
            <a:lvl4pPr marL="0" marR="0" lvl="3" indent="0" algn="r" rtl="0">
              <a:spcBef>
                <a:spcPts val="0"/>
              </a:spcBef>
              <a:buNone/>
              <a:defRPr sz="1200" i="0" u="none" strike="noStrike" cap="none">
                <a:solidFill>
                  <a:srgbClr val="888888"/>
                </a:solidFill>
                <a:latin typeface="Roboto"/>
                <a:ea typeface="Roboto"/>
                <a:cs typeface="Roboto"/>
                <a:sym typeface="Roboto"/>
              </a:defRPr>
            </a:lvl4pPr>
            <a:lvl5pPr marL="0" marR="0" lvl="4" indent="0" algn="r" rtl="0">
              <a:spcBef>
                <a:spcPts val="0"/>
              </a:spcBef>
              <a:buNone/>
              <a:defRPr sz="1200" i="0" u="none" strike="noStrike" cap="none">
                <a:solidFill>
                  <a:srgbClr val="888888"/>
                </a:solidFill>
                <a:latin typeface="Roboto"/>
                <a:ea typeface="Roboto"/>
                <a:cs typeface="Roboto"/>
                <a:sym typeface="Roboto"/>
              </a:defRPr>
            </a:lvl5pPr>
            <a:lvl6pPr marL="0" marR="0" lvl="5" indent="0" algn="r" rtl="0">
              <a:spcBef>
                <a:spcPts val="0"/>
              </a:spcBef>
              <a:buNone/>
              <a:defRPr sz="1200" i="0" u="none" strike="noStrike" cap="none">
                <a:solidFill>
                  <a:srgbClr val="888888"/>
                </a:solidFill>
                <a:latin typeface="Roboto"/>
                <a:ea typeface="Roboto"/>
                <a:cs typeface="Roboto"/>
                <a:sym typeface="Roboto"/>
              </a:defRPr>
            </a:lvl6pPr>
            <a:lvl7pPr marL="0" marR="0" lvl="6" indent="0" algn="r" rtl="0">
              <a:spcBef>
                <a:spcPts val="0"/>
              </a:spcBef>
              <a:buNone/>
              <a:defRPr sz="1200" i="0" u="none" strike="noStrike" cap="none">
                <a:solidFill>
                  <a:srgbClr val="888888"/>
                </a:solidFill>
                <a:latin typeface="Roboto"/>
                <a:ea typeface="Roboto"/>
                <a:cs typeface="Roboto"/>
                <a:sym typeface="Roboto"/>
              </a:defRPr>
            </a:lvl7pPr>
            <a:lvl8pPr marL="0" marR="0" lvl="7" indent="0" algn="r" rtl="0">
              <a:spcBef>
                <a:spcPts val="0"/>
              </a:spcBef>
              <a:buNone/>
              <a:defRPr sz="1200" i="0" u="none" strike="noStrike" cap="none">
                <a:solidFill>
                  <a:srgbClr val="888888"/>
                </a:solidFill>
                <a:latin typeface="Roboto"/>
                <a:ea typeface="Roboto"/>
                <a:cs typeface="Roboto"/>
                <a:sym typeface="Roboto"/>
              </a:defRPr>
            </a:lvl8pPr>
            <a:lvl9pPr marL="0" marR="0" lvl="8" indent="0" algn="r" rtl="0">
              <a:spcBef>
                <a:spcPts val="0"/>
              </a:spcBef>
              <a:buNone/>
              <a:defRPr sz="1200" i="0" u="none" strike="noStrike" cap="none">
                <a:solidFill>
                  <a:srgbClr val="888888"/>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21.svg"/></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9.emf"/></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80.png"/></Relationships>
</file>

<file path=ppt/slides/_rels/slide4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9.emf"/></Relationships>
</file>

<file path=ppt/slides/_rels/slide4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8" Type="http://schemas.openxmlformats.org/officeDocument/2006/relationships/hyperlink" Target="https://michalpitr.substack.com/p/how-does-sqlite-store-data" TargetMode="External"/><Relationship Id="rId13" Type="http://schemas.openxmlformats.org/officeDocument/2006/relationships/hyperlink" Target="https://tinydb.readthedocs.io/en/latest/" TargetMode="External"/><Relationship Id="rId3" Type="http://schemas.openxmlformats.org/officeDocument/2006/relationships/hyperlink" Target="https://www.mongodb.com/resources/basics/databases/nosql-explained" TargetMode="External"/><Relationship Id="rId7" Type="http://schemas.openxmlformats.org/officeDocument/2006/relationships/hyperlink" Target="https://medium.com/@pablo.lopez.santori/what-do-postgres-tables-actually-look-like-426028eabc1a" TargetMode="External"/><Relationship Id="rId12" Type="http://schemas.openxmlformats.org/officeDocument/2006/relationships/hyperlink" Target="https://github.com/quazi-irfan/pySimpleDB" TargetMode="External"/><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hyperlink" Target="https://levelup.gitconnected.com/postgresql-deep-dive-the-anatomy-of-disk-file-and-page-layout-part-2-9b6fb7ede383" TargetMode="External"/><Relationship Id="rId11" Type="http://schemas.openxmlformats.org/officeDocument/2006/relationships/hyperlink" Target="https://simpledb-java.netlify.app/#/" TargetMode="External"/><Relationship Id="rId5" Type="http://schemas.openxmlformats.org/officeDocument/2006/relationships/hyperlink" Target="https://cs186berkeley.net/notes/note17/" TargetMode="External"/><Relationship Id="rId10" Type="http://schemas.openxmlformats.org/officeDocument/2006/relationships/hyperlink" Target="https://github.com/MIT-DB-Class/simple-db-hw" TargetMode="External"/><Relationship Id="rId4" Type="http://schemas.openxmlformats.org/officeDocument/2006/relationships/hyperlink" Target="https://blog.bytebytego.com/p/sql-vs-nosql-choosing-the-right-database" TargetMode="External"/><Relationship Id="rId9" Type="http://schemas.openxmlformats.org/officeDocument/2006/relationships/hyperlink" Target="https://cs186berkeley.net/notes/note3/" TargetMode="Externa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5" y="2964875"/>
            <a:ext cx="7356900" cy="9222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2800"/>
              <a:buFont typeface="Roboto Slab"/>
              <a:buNone/>
            </a:pPr>
            <a:r>
              <a:rPr lang="es-ES" sz="3200" b="1" dirty="0"/>
              <a:t>Curso</a:t>
            </a:r>
            <a:endParaRPr sz="3200" dirty="0">
              <a:solidFill>
                <a:schemeClr val="dk1"/>
              </a:solidFill>
              <a:latin typeface="Arial"/>
              <a:ea typeface="Arial"/>
              <a:cs typeface="Arial"/>
              <a:sym typeface="Arial"/>
            </a:endParaRPr>
          </a:p>
          <a:p>
            <a:pPr marL="0" lvl="0" indent="0" algn="l" rtl="0">
              <a:spcBef>
                <a:spcPts val="0"/>
              </a:spcBef>
              <a:spcAft>
                <a:spcPts val="0"/>
              </a:spcAft>
              <a:buClr>
                <a:schemeClr val="lt1"/>
              </a:buClr>
              <a:buSzPts val="2800"/>
              <a:buFont typeface="Roboto Slab"/>
              <a:buNone/>
            </a:pPr>
            <a:r>
              <a:rPr lang="es-ES" b="1" dirty="0"/>
              <a:t>Estructuras de datos</a:t>
            </a:r>
            <a:endParaRPr sz="3200" dirty="0"/>
          </a:p>
        </p:txBody>
      </p:sp>
      <p:sp>
        <p:nvSpPr>
          <p:cNvPr id="140" name="Google Shape;140;p17"/>
          <p:cNvSpPr txBox="1">
            <a:spLocks noGrp="1"/>
          </p:cNvSpPr>
          <p:nvPr>
            <p:ph type="subTitle" idx="1"/>
          </p:nvPr>
        </p:nvSpPr>
        <p:spPr>
          <a:xfrm>
            <a:off x="1524000" y="4872871"/>
            <a:ext cx="9144000" cy="110640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dirty="0"/>
              <a:t>Clase</a:t>
            </a:r>
            <a:r>
              <a:rPr lang="es-ES" dirty="0">
                <a:latin typeface="Roboto"/>
                <a:ea typeface="Roboto"/>
                <a:cs typeface="Roboto"/>
                <a:sym typeface="Roboto"/>
              </a:rPr>
              <a:t> </a:t>
            </a:r>
            <a:r>
              <a:rPr lang="es-ES" dirty="0"/>
              <a:t>6 –</a:t>
            </a:r>
            <a:r>
              <a:rPr lang="es-ES" dirty="0">
                <a:latin typeface="Roboto"/>
                <a:ea typeface="Roboto"/>
                <a:cs typeface="Roboto"/>
                <a:sym typeface="Roboto"/>
              </a:rPr>
              <a:t> </a:t>
            </a:r>
            <a:r>
              <a:rPr lang="es-ES" dirty="0"/>
              <a:t>Indexación</a:t>
            </a:r>
            <a:endParaRPr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Contextualización</a:t>
            </a:r>
          </a:p>
        </p:txBody>
      </p:sp>
      <p:sp>
        <p:nvSpPr>
          <p:cNvPr id="6" name="Google Shape;310;p34">
            <a:extLst>
              <a:ext uri="{FF2B5EF4-FFF2-40B4-BE49-F238E27FC236}">
                <a16:creationId xmlns:a16="http://schemas.microsoft.com/office/drawing/2014/main" id="{CF851078-B9A5-498B-8A59-BAB678895DC4}"/>
              </a:ext>
            </a:extLst>
          </p:cNvPr>
          <p:cNvSpPr txBox="1">
            <a:spLocks noGrp="1"/>
          </p:cNvSpPr>
          <p:nvPr>
            <p:ph type="body" idx="1"/>
          </p:nvPr>
        </p:nvSpPr>
        <p:spPr>
          <a:xfrm>
            <a:off x="916650" y="791188"/>
            <a:ext cx="10711470" cy="26378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dirty="0"/>
              <a:t>El </a:t>
            </a:r>
            <a:r>
              <a:rPr lang="es-MX" sz="2200" b="1" dirty="0"/>
              <a:t>DBMS</a:t>
            </a:r>
            <a:r>
              <a:rPr lang="es-MX" sz="2200" dirty="0"/>
              <a:t> se organiza en capas funcionales, desde el almacenamiento físico (</a:t>
            </a:r>
            <a:r>
              <a:rPr lang="es-MX" sz="2200" b="1" dirty="0"/>
              <a:t>Disk Manager</a:t>
            </a:r>
            <a:r>
              <a:rPr lang="es-MX" sz="2200" dirty="0"/>
              <a:t>) hasta la planificación de consultas (</a:t>
            </a:r>
            <a:r>
              <a:rPr lang="es-MX" sz="2200" b="1" dirty="0" err="1"/>
              <a:t>Query</a:t>
            </a:r>
            <a:r>
              <a:rPr lang="es-MX" sz="2200" b="1" dirty="0"/>
              <a:t> Planning</a:t>
            </a:r>
            <a:r>
              <a:rPr lang="es-MX" sz="2200" dirty="0"/>
              <a:t>)</a:t>
            </a:r>
          </a:p>
          <a:p>
            <a:pPr marL="342900" indent="-342900"/>
            <a:r>
              <a:rPr lang="es-MX" sz="2000" dirty="0"/>
              <a:t>El </a:t>
            </a:r>
            <a:r>
              <a:rPr lang="es-MX" sz="2000" b="1" dirty="0"/>
              <a:t>Disk Manager</a:t>
            </a:r>
            <a:r>
              <a:rPr lang="es-MX" sz="2000" dirty="0"/>
              <a:t> — capa ya estudiada previamente — es responsable de gestionar el </a:t>
            </a:r>
            <a:r>
              <a:rPr lang="es-MX" sz="2000" b="1" dirty="0"/>
              <a:t>almacenamiento físico</a:t>
            </a:r>
            <a:r>
              <a:rPr lang="es-MX" sz="2000" dirty="0"/>
              <a:t> de los datos en disco, administrando la lectura y escritura de bloques. Se relaciona directamente con el </a:t>
            </a:r>
            <a:r>
              <a:rPr lang="es-MX" sz="2000" b="1" dirty="0"/>
              <a:t>Buffer Pool Manager</a:t>
            </a:r>
            <a:r>
              <a:rPr lang="es-MX" sz="2000" dirty="0"/>
              <a:t>, quien actúa como intermediario trayendo esos bloques del disco a la memoria principal, manteniéndolos en caché para reducir los costosos accesos a disco y entregarlos eficientemente a las capas superiores.</a:t>
            </a:r>
            <a:endParaRPr lang="es-MX" sz="2800" dirty="0"/>
          </a:p>
        </p:txBody>
      </p:sp>
      <p:pic>
        <p:nvPicPr>
          <p:cNvPr id="4" name="Imagen 3">
            <a:extLst>
              <a:ext uri="{FF2B5EF4-FFF2-40B4-BE49-F238E27FC236}">
                <a16:creationId xmlns:a16="http://schemas.microsoft.com/office/drawing/2014/main" id="{E3A033D6-CE8E-43FD-94F9-7A25E107859F}"/>
              </a:ext>
            </a:extLst>
          </p:cNvPr>
          <p:cNvPicPr>
            <a:picLocks noChangeAspect="1"/>
          </p:cNvPicPr>
          <p:nvPr/>
        </p:nvPicPr>
        <p:blipFill>
          <a:blip r:embed="rId3"/>
          <a:stretch>
            <a:fillRect/>
          </a:stretch>
        </p:blipFill>
        <p:spPr>
          <a:xfrm>
            <a:off x="3227379" y="3311072"/>
            <a:ext cx="5391150" cy="3314700"/>
          </a:xfrm>
          <a:prstGeom prst="rect">
            <a:avLst/>
          </a:prstGeom>
        </p:spPr>
      </p:pic>
    </p:spTree>
    <p:extLst>
      <p:ext uri="{BB962C8B-B14F-4D97-AF65-F5344CB8AC3E}">
        <p14:creationId xmlns:p14="http://schemas.microsoft.com/office/powerpoint/2010/main" val="723041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Jerarquia de almacenamiento</a:t>
            </a:r>
            <a:endParaRPr dirty="0">
              <a:highlight>
                <a:srgbClr val="FFFF00"/>
              </a:highlight>
            </a:endParaRPr>
          </a:p>
        </p:txBody>
      </p:sp>
      <p:sp>
        <p:nvSpPr>
          <p:cNvPr id="4" name="Marcador de texto 3">
            <a:extLst>
              <a:ext uri="{FF2B5EF4-FFF2-40B4-BE49-F238E27FC236}">
                <a16:creationId xmlns:a16="http://schemas.microsoft.com/office/drawing/2014/main" id="{1FE2779E-D349-4796-B2A1-CAA481D527E7}"/>
              </a:ext>
            </a:extLst>
          </p:cNvPr>
          <p:cNvSpPr txBox="1">
            <a:spLocks/>
          </p:cNvSpPr>
          <p:nvPr/>
        </p:nvSpPr>
        <p:spPr>
          <a:xfrm>
            <a:off x="1087133" y="902095"/>
            <a:ext cx="6322722" cy="30431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Roboto"/>
              <a:buChar char="●"/>
              <a:defRPr sz="2600" b="0" i="0" u="none" strike="noStrike" cap="none">
                <a:solidFill>
                  <a:schemeClr val="dk1"/>
                </a:solidFill>
                <a:latin typeface="Roboto"/>
                <a:ea typeface="Roboto"/>
                <a:cs typeface="Roboto"/>
                <a:sym typeface="Roboto"/>
              </a:defRPr>
            </a:lvl1pPr>
            <a:lvl2pPr marL="914400" marR="0" lvl="1" indent="-342900" algn="l" rtl="0">
              <a:lnSpc>
                <a:spcPct val="90000"/>
              </a:lnSpc>
              <a:spcBef>
                <a:spcPts val="500"/>
              </a:spcBef>
              <a:spcAft>
                <a:spcPts val="0"/>
              </a:spcAft>
              <a:buClr>
                <a:schemeClr val="dk1"/>
              </a:buClr>
              <a:buSzPts val="18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t>Archivo</a:t>
            </a:r>
            <a:r>
              <a:rPr lang="es-MX" sz="2000" dirty="0"/>
              <a:t> (File DB)</a:t>
            </a:r>
          </a:p>
          <a:p>
            <a:pPr marL="457200" lvl="1" indent="0">
              <a:buNone/>
            </a:pPr>
            <a:endParaRPr lang="es-MX" sz="2000" dirty="0"/>
          </a:p>
          <a:p>
            <a:pPr marL="914400" lvl="2" indent="0">
              <a:buNone/>
            </a:pPr>
            <a:r>
              <a:rPr lang="es-MX" sz="2000" b="1" dirty="0"/>
              <a:t>Pagina</a:t>
            </a:r>
            <a:r>
              <a:rPr lang="es-MX" sz="2000" dirty="0"/>
              <a:t> (Page)</a:t>
            </a:r>
          </a:p>
          <a:p>
            <a:pPr marL="914400" lvl="2" indent="0">
              <a:buNone/>
            </a:pPr>
            <a:endParaRPr lang="es-MX" sz="2000" dirty="0"/>
          </a:p>
          <a:p>
            <a:pPr marL="1828800" lvl="4" indent="0">
              <a:buNone/>
            </a:pPr>
            <a:r>
              <a:rPr lang="es-MX" sz="2000" b="1" dirty="0"/>
              <a:t>Registro</a:t>
            </a:r>
            <a:r>
              <a:rPr lang="es-MX" sz="2000" dirty="0"/>
              <a:t> (Record)</a:t>
            </a:r>
          </a:p>
          <a:p>
            <a:pPr marL="1371600" lvl="3" indent="0">
              <a:buNone/>
            </a:pPr>
            <a:endParaRPr lang="es-MX" sz="2000" dirty="0"/>
          </a:p>
          <a:p>
            <a:pPr marL="2743200" lvl="6" indent="0">
              <a:buNone/>
            </a:pPr>
            <a:r>
              <a:rPr lang="es-MX" sz="2000" b="1" dirty="0"/>
              <a:t>Campo</a:t>
            </a:r>
            <a:r>
              <a:rPr lang="es-MX" sz="2000" dirty="0"/>
              <a:t> (Field)</a:t>
            </a:r>
          </a:p>
          <a:p>
            <a:endParaRPr lang="es-CO" dirty="0"/>
          </a:p>
        </p:txBody>
      </p:sp>
      <p:graphicFrame>
        <p:nvGraphicFramePr>
          <p:cNvPr id="5" name="Tabla 4">
            <a:extLst>
              <a:ext uri="{FF2B5EF4-FFF2-40B4-BE49-F238E27FC236}">
                <a16:creationId xmlns:a16="http://schemas.microsoft.com/office/drawing/2014/main" id="{10367BFD-F3F3-4FF0-9524-7D723EB1740E}"/>
              </a:ext>
            </a:extLst>
          </p:cNvPr>
          <p:cNvGraphicFramePr>
            <a:graphicFrameLocks noGrp="1"/>
          </p:cNvGraphicFramePr>
          <p:nvPr>
            <p:extLst>
              <p:ext uri="{D42A27DB-BD31-4B8C-83A1-F6EECF244321}">
                <p14:modId xmlns:p14="http://schemas.microsoft.com/office/powerpoint/2010/main" val="3774999486"/>
              </p:ext>
            </p:extLst>
          </p:nvPr>
        </p:nvGraphicFramePr>
        <p:xfrm>
          <a:off x="7715336" y="1323289"/>
          <a:ext cx="3632007" cy="1371600"/>
        </p:xfrm>
        <a:graphic>
          <a:graphicData uri="http://schemas.openxmlformats.org/drawingml/2006/table">
            <a:tbl>
              <a:tblPr/>
              <a:tblGrid>
                <a:gridCol w="503615">
                  <a:extLst>
                    <a:ext uri="{9D8B030D-6E8A-4147-A177-3AD203B41FA5}">
                      <a16:colId xmlns:a16="http://schemas.microsoft.com/office/drawing/2014/main" val="4171863402"/>
                    </a:ext>
                  </a:extLst>
                </a:gridCol>
                <a:gridCol w="967083">
                  <a:extLst>
                    <a:ext uri="{9D8B030D-6E8A-4147-A177-3AD203B41FA5}">
                      <a16:colId xmlns:a16="http://schemas.microsoft.com/office/drawing/2014/main" val="1178716260"/>
                    </a:ext>
                  </a:extLst>
                </a:gridCol>
                <a:gridCol w="997527">
                  <a:extLst>
                    <a:ext uri="{9D8B030D-6E8A-4147-A177-3AD203B41FA5}">
                      <a16:colId xmlns:a16="http://schemas.microsoft.com/office/drawing/2014/main" val="2360111845"/>
                    </a:ext>
                  </a:extLst>
                </a:gridCol>
                <a:gridCol w="488603">
                  <a:extLst>
                    <a:ext uri="{9D8B030D-6E8A-4147-A177-3AD203B41FA5}">
                      <a16:colId xmlns:a16="http://schemas.microsoft.com/office/drawing/2014/main" val="2492268695"/>
                    </a:ext>
                  </a:extLst>
                </a:gridCol>
                <a:gridCol w="675179">
                  <a:extLst>
                    <a:ext uri="{9D8B030D-6E8A-4147-A177-3AD203B41FA5}">
                      <a16:colId xmlns:a16="http://schemas.microsoft.com/office/drawing/2014/main" val="3250207032"/>
                    </a:ext>
                  </a:extLst>
                </a:gridCol>
              </a:tblGrid>
              <a:tr h="185651">
                <a:tc>
                  <a:txBody>
                    <a:bodyPr/>
                    <a:lstStyle/>
                    <a:p>
                      <a:r>
                        <a:rPr lang="es-CO" sz="12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85651">
                <a:tc>
                  <a:txBody>
                    <a:bodyPr/>
                    <a:lstStyle/>
                    <a:p>
                      <a:r>
                        <a:rPr lang="es-CO" sz="12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85651">
                <a:tc>
                  <a:txBody>
                    <a:bodyPr/>
                    <a:lstStyle/>
                    <a:p>
                      <a:r>
                        <a:rPr lang="es-CO" sz="12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57633836"/>
                  </a:ext>
                </a:extLst>
              </a:tr>
              <a:tr h="185651">
                <a:tc>
                  <a:txBody>
                    <a:bodyPr/>
                    <a:lstStyle/>
                    <a:p>
                      <a:r>
                        <a:rPr lang="es-CO" sz="12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0">
                <a:tc>
                  <a:txBody>
                    <a:bodyPr/>
                    <a:lstStyle/>
                    <a:p>
                      <a:r>
                        <a:rPr lang="es-CO" sz="12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sp>
        <p:nvSpPr>
          <p:cNvPr id="6" name="CuadroTexto 5">
            <a:extLst>
              <a:ext uri="{FF2B5EF4-FFF2-40B4-BE49-F238E27FC236}">
                <a16:creationId xmlns:a16="http://schemas.microsoft.com/office/drawing/2014/main" id="{5752923B-674C-479F-9305-685AC8F9734F}"/>
              </a:ext>
            </a:extLst>
          </p:cNvPr>
          <p:cNvSpPr txBox="1"/>
          <p:nvPr/>
        </p:nvSpPr>
        <p:spPr>
          <a:xfrm>
            <a:off x="7626436" y="961660"/>
            <a:ext cx="2745361" cy="338554"/>
          </a:xfrm>
          <a:prstGeom prst="rect">
            <a:avLst/>
          </a:prstGeom>
          <a:noFill/>
        </p:spPr>
        <p:txBody>
          <a:bodyPr wrap="square" rtlCol="0">
            <a:spAutoFit/>
          </a:bodyPr>
          <a:lstStyle/>
          <a:p>
            <a:r>
              <a:rPr lang="es-CO" sz="1600" b="1" dirty="0">
                <a:solidFill>
                  <a:schemeClr val="accent5"/>
                </a:solidFill>
                <a:latin typeface="Roboto" panose="02000000000000000000" pitchFamily="2" charset="0"/>
                <a:ea typeface="Roboto" panose="02000000000000000000" pitchFamily="2" charset="0"/>
              </a:rPr>
              <a:t>Relation (table)</a:t>
            </a:r>
          </a:p>
        </p:txBody>
      </p:sp>
      <p:grpSp>
        <p:nvGrpSpPr>
          <p:cNvPr id="7" name="Group 12" descr="Bob, Harmon, M, 32, 400" title="Record">
            <a:extLst>
              <a:ext uri="{FF2B5EF4-FFF2-40B4-BE49-F238E27FC236}">
                <a16:creationId xmlns:a16="http://schemas.microsoft.com/office/drawing/2014/main" id="{F8E84C08-5986-4B83-B55C-73DF588D0A6B}"/>
              </a:ext>
            </a:extLst>
          </p:cNvPr>
          <p:cNvGrpSpPr/>
          <p:nvPr/>
        </p:nvGrpSpPr>
        <p:grpSpPr>
          <a:xfrm>
            <a:off x="1029713" y="4053552"/>
            <a:ext cx="3145111" cy="858620"/>
            <a:chOff x="109404" y="1070849"/>
            <a:chExt cx="3145111" cy="858620"/>
          </a:xfrm>
        </p:grpSpPr>
        <p:sp>
          <p:nvSpPr>
            <p:cNvPr id="8" name="TextBox 43">
              <a:extLst>
                <a:ext uri="{FF2B5EF4-FFF2-40B4-BE49-F238E27FC236}">
                  <a16:creationId xmlns:a16="http://schemas.microsoft.com/office/drawing/2014/main" id="{510BAFDD-3FFE-4F55-BD78-2BEBC674B5B9}"/>
                </a:ext>
              </a:extLst>
            </p:cNvPr>
            <p:cNvSpPr txBox="1">
              <a:spLocks noChangeArrowheads="1"/>
            </p:cNvSpPr>
            <p:nvPr/>
          </p:nvSpPr>
          <p:spPr bwMode="auto">
            <a:xfrm>
              <a:off x="109404" y="1070849"/>
              <a:ext cx="31451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Record</a:t>
              </a:r>
              <a:endParaRPr lang="en-US" altLang="en-US" sz="1050" b="1" kern="0" dirty="0">
                <a:solidFill>
                  <a:srgbClr val="000000"/>
                </a:solidFill>
                <a:latin typeface="Roboto" panose="02000000000000000000" pitchFamily="2" charset="0"/>
                <a:ea typeface="Roboto" panose="02000000000000000000" pitchFamily="2" charset="0"/>
                <a:cs typeface="Helvetica Neue" charset="0"/>
              </a:endParaRPr>
            </a:p>
          </p:txBody>
        </p:sp>
        <p:grpSp>
          <p:nvGrpSpPr>
            <p:cNvPr id="9" name="Group 44">
              <a:extLst>
                <a:ext uri="{FF2B5EF4-FFF2-40B4-BE49-F238E27FC236}">
                  <a16:creationId xmlns:a16="http://schemas.microsoft.com/office/drawing/2014/main" id="{BEC1EC29-85EE-49BB-9534-991570C50CC7}"/>
                </a:ext>
              </a:extLst>
            </p:cNvPr>
            <p:cNvGrpSpPr>
              <a:grpSpLocks/>
            </p:cNvGrpSpPr>
            <p:nvPr/>
          </p:nvGrpSpPr>
          <p:grpSpPr bwMode="auto">
            <a:xfrm>
              <a:off x="109404" y="1375916"/>
              <a:ext cx="3145111" cy="332767"/>
              <a:chOff x="4555518" y="4778432"/>
              <a:chExt cx="4286576" cy="503582"/>
            </a:xfrm>
          </p:grpSpPr>
          <p:sp>
            <p:nvSpPr>
              <p:cNvPr id="15" name="Rectangle 139">
                <a:extLst>
                  <a:ext uri="{FF2B5EF4-FFF2-40B4-BE49-F238E27FC236}">
                    <a16:creationId xmlns:a16="http://schemas.microsoft.com/office/drawing/2014/main" id="{DDDA4E47-9B90-40AF-91DA-395FB5835CAA}"/>
                  </a:ext>
                </a:extLst>
              </p:cNvPr>
              <p:cNvSpPr/>
              <p:nvPr/>
            </p:nvSpPr>
            <p:spPr bwMode="auto">
              <a:xfrm>
                <a:off x="4556035" y="4778366"/>
                <a:ext cx="751132" cy="504429"/>
              </a:xfrm>
              <a:prstGeom prst="rect">
                <a:avLst/>
              </a:prstGeom>
              <a:no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Bob</a:t>
                </a:r>
              </a:p>
            </p:txBody>
          </p:sp>
          <p:sp>
            <p:nvSpPr>
              <p:cNvPr id="16" name="Rectangle 140">
                <a:extLst>
                  <a:ext uri="{FF2B5EF4-FFF2-40B4-BE49-F238E27FC236}">
                    <a16:creationId xmlns:a16="http://schemas.microsoft.com/office/drawing/2014/main" id="{BB402F02-A15A-4AED-9A14-673D7BD70CD3}"/>
                  </a:ext>
                </a:extLst>
              </p:cNvPr>
              <p:cNvSpPr/>
              <p:nvPr/>
            </p:nvSpPr>
            <p:spPr bwMode="auto">
              <a:xfrm>
                <a:off x="6469596" y="4778366"/>
                <a:ext cx="624091"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M</a:t>
                </a:r>
              </a:p>
            </p:txBody>
          </p:sp>
          <p:sp>
            <p:nvSpPr>
              <p:cNvPr id="17" name="Rectangle 141">
                <a:extLst>
                  <a:ext uri="{FF2B5EF4-FFF2-40B4-BE49-F238E27FC236}">
                    <a16:creationId xmlns:a16="http://schemas.microsoft.com/office/drawing/2014/main" id="{16A650C5-A573-4576-9D67-F759BAA23A81}"/>
                  </a:ext>
                </a:extLst>
              </p:cNvPr>
              <p:cNvSpPr/>
              <p:nvPr/>
            </p:nvSpPr>
            <p:spPr bwMode="auto">
              <a:xfrm>
                <a:off x="7093687" y="4778366"/>
                <a:ext cx="622503"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32</a:t>
                </a:r>
              </a:p>
            </p:txBody>
          </p:sp>
          <p:sp>
            <p:nvSpPr>
              <p:cNvPr id="18" name="Rectangle 142">
                <a:extLst>
                  <a:ext uri="{FF2B5EF4-FFF2-40B4-BE49-F238E27FC236}">
                    <a16:creationId xmlns:a16="http://schemas.microsoft.com/office/drawing/2014/main" id="{608E6C1F-68E8-4230-913C-0964D2C1A3A5}"/>
                  </a:ext>
                </a:extLst>
              </p:cNvPr>
              <p:cNvSpPr/>
              <p:nvPr/>
            </p:nvSpPr>
            <p:spPr bwMode="auto">
              <a:xfrm>
                <a:off x="7716190" y="4778366"/>
                <a:ext cx="1125904"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94703</a:t>
                </a:r>
              </a:p>
            </p:txBody>
          </p:sp>
          <p:sp>
            <p:nvSpPr>
              <p:cNvPr id="19" name="Rectangle 143">
                <a:extLst>
                  <a:ext uri="{FF2B5EF4-FFF2-40B4-BE49-F238E27FC236}">
                    <a16:creationId xmlns:a16="http://schemas.microsoft.com/office/drawing/2014/main" id="{FEC86EF4-BA0E-467E-89C1-5E465FEBE041}"/>
                  </a:ext>
                </a:extLst>
              </p:cNvPr>
              <p:cNvSpPr/>
              <p:nvPr/>
            </p:nvSpPr>
            <p:spPr bwMode="auto">
              <a:xfrm>
                <a:off x="5307167" y="4778366"/>
                <a:ext cx="1162429" cy="504429"/>
              </a:xfrm>
              <a:prstGeom prst="rect">
                <a:avLst/>
              </a:prstGeom>
              <a:no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Harmon</a:t>
                </a:r>
              </a:p>
            </p:txBody>
          </p:sp>
        </p:grpSp>
        <p:sp>
          <p:nvSpPr>
            <p:cNvPr id="10" name="TextBox 134">
              <a:extLst>
                <a:ext uri="{FF2B5EF4-FFF2-40B4-BE49-F238E27FC236}">
                  <a16:creationId xmlns:a16="http://schemas.microsoft.com/office/drawing/2014/main" id="{A420F83B-ACC9-4F8D-AA4E-AA21BDDB832D}"/>
                </a:ext>
              </a:extLst>
            </p:cNvPr>
            <p:cNvSpPr txBox="1"/>
            <p:nvPr/>
          </p:nvSpPr>
          <p:spPr bwMode="auto">
            <a:xfrm>
              <a:off x="109404" y="1698385"/>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11" name="TextBox 135">
              <a:extLst>
                <a:ext uri="{FF2B5EF4-FFF2-40B4-BE49-F238E27FC236}">
                  <a16:creationId xmlns:a16="http://schemas.microsoft.com/office/drawing/2014/main" id="{0C644035-F023-47E0-BC32-9020B4A3C23F}"/>
                </a:ext>
              </a:extLst>
            </p:cNvPr>
            <p:cNvSpPr txBox="1"/>
            <p:nvPr/>
          </p:nvSpPr>
          <p:spPr bwMode="auto">
            <a:xfrm>
              <a:off x="796458" y="1698637"/>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12" name="TextBox 136">
              <a:extLst>
                <a:ext uri="{FF2B5EF4-FFF2-40B4-BE49-F238E27FC236}">
                  <a16:creationId xmlns:a16="http://schemas.microsoft.com/office/drawing/2014/main" id="{2515B9DD-580B-44E6-BDD3-C2FE9B60A5BD}"/>
                </a:ext>
              </a:extLst>
            </p:cNvPr>
            <p:cNvSpPr txBox="1"/>
            <p:nvPr/>
          </p:nvSpPr>
          <p:spPr bwMode="auto">
            <a:xfrm>
              <a:off x="1550257" y="1692428"/>
              <a:ext cx="44114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c</a:t>
              </a:r>
              <a:r>
                <a:rPr lang="en-US" sz="900" kern="0" dirty="0">
                  <a:solidFill>
                    <a:schemeClr val="accent5"/>
                  </a:solidFill>
                  <a:latin typeface="Consolas" panose="020B0609020204030204" pitchFamily="49" charset="0"/>
                  <a:ea typeface="Roboto" panose="02000000000000000000" pitchFamily="2" charset="0"/>
                  <a:cs typeface="Helvetica Neue" charset="0"/>
                </a:rPr>
                <a:t>har</a:t>
              </a:r>
            </a:p>
          </p:txBody>
        </p:sp>
        <p:sp>
          <p:nvSpPr>
            <p:cNvPr id="13" name="TextBox 137">
              <a:extLst>
                <a:ext uri="{FF2B5EF4-FFF2-40B4-BE49-F238E27FC236}">
                  <a16:creationId xmlns:a16="http://schemas.microsoft.com/office/drawing/2014/main" id="{A4C6E6E2-7716-489A-A6ED-412A729F7CB4}"/>
                </a:ext>
              </a:extLst>
            </p:cNvPr>
            <p:cNvSpPr txBox="1"/>
            <p:nvPr/>
          </p:nvSpPr>
          <p:spPr bwMode="auto">
            <a:xfrm>
              <a:off x="2040432" y="1692429"/>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sp>
          <p:nvSpPr>
            <p:cNvPr id="14" name="TextBox 138">
              <a:extLst>
                <a:ext uri="{FF2B5EF4-FFF2-40B4-BE49-F238E27FC236}">
                  <a16:creationId xmlns:a16="http://schemas.microsoft.com/office/drawing/2014/main" id="{D9AA2261-4BFE-452F-B67E-10C70B9F6418}"/>
                </a:ext>
              </a:extLst>
            </p:cNvPr>
            <p:cNvSpPr txBox="1"/>
            <p:nvPr/>
          </p:nvSpPr>
          <p:spPr bwMode="auto">
            <a:xfrm>
              <a:off x="2682428" y="1694525"/>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grpSp>
      <p:grpSp>
        <p:nvGrpSpPr>
          <p:cNvPr id="20" name="Grupo 19">
            <a:extLst>
              <a:ext uri="{FF2B5EF4-FFF2-40B4-BE49-F238E27FC236}">
                <a16:creationId xmlns:a16="http://schemas.microsoft.com/office/drawing/2014/main" id="{6CF192F1-9F78-4463-8C9A-C6345AF7EBA2}"/>
              </a:ext>
            </a:extLst>
          </p:cNvPr>
          <p:cNvGrpSpPr/>
          <p:nvPr/>
        </p:nvGrpSpPr>
        <p:grpSpPr>
          <a:xfrm>
            <a:off x="1379936" y="5889414"/>
            <a:ext cx="2489595" cy="406007"/>
            <a:chOff x="2620956" y="2980062"/>
            <a:chExt cx="2489595" cy="406007"/>
          </a:xfrm>
        </p:grpSpPr>
        <p:grpSp>
          <p:nvGrpSpPr>
            <p:cNvPr id="21" name="Group 61">
              <a:extLst>
                <a:ext uri="{FF2B5EF4-FFF2-40B4-BE49-F238E27FC236}">
                  <a16:creationId xmlns:a16="http://schemas.microsoft.com/office/drawing/2014/main" id="{EE11418A-DDCD-4720-A0BC-CA718D9C026B}"/>
                </a:ext>
              </a:extLst>
            </p:cNvPr>
            <p:cNvGrpSpPr>
              <a:grpSpLocks/>
            </p:cNvGrpSpPr>
            <p:nvPr/>
          </p:nvGrpSpPr>
          <p:grpSpPr bwMode="auto">
            <a:xfrm>
              <a:off x="2620956" y="2980064"/>
              <a:ext cx="2489595" cy="406005"/>
              <a:chOff x="4737655" y="2904117"/>
              <a:chExt cx="3318816" cy="541482"/>
            </a:xfrm>
            <a:effectLst/>
          </p:grpSpPr>
          <p:sp>
            <p:nvSpPr>
              <p:cNvPr id="23" name="Rectangle 151">
                <a:extLst>
                  <a:ext uri="{FF2B5EF4-FFF2-40B4-BE49-F238E27FC236}">
                    <a16:creationId xmlns:a16="http://schemas.microsoft.com/office/drawing/2014/main" id="{96A3A010-1EA1-45FB-99E8-E5AF5863DD1E}"/>
                  </a:ext>
                </a:extLst>
              </p:cNvPr>
              <p:cNvSpPr/>
              <p:nvPr/>
            </p:nvSpPr>
            <p:spPr bwMode="auto">
              <a:xfrm>
                <a:off x="4737655" y="2904119"/>
                <a:ext cx="1439584" cy="503370"/>
              </a:xfrm>
              <a:prstGeom prst="rect">
                <a:avLst/>
              </a:prstGeom>
              <a:solidFill>
                <a:srgbClr val="2980B9"/>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200" kern="0" dirty="0">
                    <a:latin typeface="Roboto" panose="02000000000000000000" pitchFamily="2" charset="0"/>
                    <a:ea typeface="Roboto" panose="02000000000000000000" pitchFamily="2" charset="0"/>
                    <a:cs typeface="Helvetica Neue" charset="0"/>
                  </a:rPr>
                  <a:t>Header</a:t>
                </a:r>
              </a:p>
            </p:txBody>
          </p:sp>
          <p:sp>
            <p:nvSpPr>
              <p:cNvPr id="24" name="Rectangle 152">
                <a:extLst>
                  <a:ext uri="{FF2B5EF4-FFF2-40B4-BE49-F238E27FC236}">
                    <a16:creationId xmlns:a16="http://schemas.microsoft.com/office/drawing/2014/main" id="{BD152288-49E0-48F9-88D5-F75F4291D6E6}"/>
                  </a:ext>
                </a:extLst>
              </p:cNvPr>
              <p:cNvSpPr/>
              <p:nvPr/>
            </p:nvSpPr>
            <p:spPr bwMode="auto">
              <a:xfrm>
                <a:off x="5682032"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Roboto" panose="02000000000000000000" pitchFamily="2" charset="0"/>
                  <a:ea typeface="Roboto" panose="02000000000000000000" pitchFamily="2" charset="0"/>
                  <a:cs typeface="Helvetica Neue" charset="0"/>
                </a:endParaRPr>
              </a:p>
            </p:txBody>
          </p:sp>
          <p:sp>
            <p:nvSpPr>
              <p:cNvPr id="25" name="Rectangle 153">
                <a:extLst>
                  <a:ext uri="{FF2B5EF4-FFF2-40B4-BE49-F238E27FC236}">
                    <a16:creationId xmlns:a16="http://schemas.microsoft.com/office/drawing/2014/main" id="{B23268EA-9339-43FA-86CB-4D16EE612612}"/>
                  </a:ext>
                </a:extLst>
              </p:cNvPr>
              <p:cNvSpPr/>
              <p:nvPr/>
            </p:nvSpPr>
            <p:spPr bwMode="auto">
              <a:xfrm>
                <a:off x="5929634"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Roboto" panose="02000000000000000000" pitchFamily="2" charset="0"/>
                  <a:ea typeface="Roboto" panose="02000000000000000000" pitchFamily="2" charset="0"/>
                  <a:cs typeface="Helvetica Neue" charset="0"/>
                </a:endParaRPr>
              </a:p>
            </p:txBody>
          </p:sp>
          <p:sp>
            <p:nvSpPr>
              <p:cNvPr id="26" name="Rectangle 154">
                <a:extLst>
                  <a:ext uri="{FF2B5EF4-FFF2-40B4-BE49-F238E27FC236}">
                    <a16:creationId xmlns:a16="http://schemas.microsoft.com/office/drawing/2014/main" id="{C2F739B2-D73D-4B15-96BF-E815D806BC25}"/>
                  </a:ext>
                </a:extLst>
              </p:cNvPr>
              <p:cNvSpPr/>
              <p:nvPr/>
            </p:nvSpPr>
            <p:spPr bwMode="auto">
              <a:xfrm>
                <a:off x="6170887" y="2904119"/>
                <a:ext cx="206335" cy="503370"/>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Roboto" panose="02000000000000000000" pitchFamily="2" charset="0"/>
                    <a:ea typeface="Roboto" panose="02000000000000000000" pitchFamily="2" charset="0"/>
                    <a:cs typeface="Helvetica Neue" charset="0"/>
                  </a:rPr>
                  <a:t>M</a:t>
                </a:r>
              </a:p>
            </p:txBody>
          </p:sp>
          <p:sp>
            <p:nvSpPr>
              <p:cNvPr id="27" name="Rectangle 156">
                <a:extLst>
                  <a:ext uri="{FF2B5EF4-FFF2-40B4-BE49-F238E27FC236}">
                    <a16:creationId xmlns:a16="http://schemas.microsoft.com/office/drawing/2014/main" id="{D47C7328-6E0D-461C-87D5-9E1A672AC024}"/>
                  </a:ext>
                </a:extLst>
              </p:cNvPr>
              <p:cNvSpPr/>
              <p:nvPr/>
            </p:nvSpPr>
            <p:spPr bwMode="auto">
              <a:xfrm rot="16200000">
                <a:off x="6377903" y="3070097"/>
                <a:ext cx="503370" cy="171417"/>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Roboto" panose="02000000000000000000" pitchFamily="2" charset="0"/>
                    <a:ea typeface="Roboto" panose="02000000000000000000" pitchFamily="2" charset="0"/>
                    <a:cs typeface="Helvetica Neue" charset="0"/>
                  </a:rPr>
                  <a:t>94703</a:t>
                </a:r>
              </a:p>
            </p:txBody>
          </p:sp>
          <p:sp>
            <p:nvSpPr>
              <p:cNvPr id="28" name="Rectangle 157">
                <a:extLst>
                  <a:ext uri="{FF2B5EF4-FFF2-40B4-BE49-F238E27FC236}">
                    <a16:creationId xmlns:a16="http://schemas.microsoft.com/office/drawing/2014/main" id="{F47176A9-D7B6-4131-8F2A-74D6CDF669B4}"/>
                  </a:ext>
                </a:extLst>
              </p:cNvPr>
              <p:cNvSpPr/>
              <p:nvPr/>
            </p:nvSpPr>
            <p:spPr bwMode="auto">
              <a:xfrm>
                <a:off x="6715297" y="2904118"/>
                <a:ext cx="525359"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700" kern="0" dirty="0">
                    <a:solidFill>
                      <a:schemeClr val="bg1"/>
                    </a:solidFill>
                    <a:latin typeface="Roboto" panose="02000000000000000000" pitchFamily="2" charset="0"/>
                    <a:ea typeface="Roboto" panose="02000000000000000000" pitchFamily="2" charset="0"/>
                    <a:cs typeface="Helvetica Neue" charset="0"/>
                  </a:rPr>
                  <a:t>Bob</a:t>
                </a:r>
              </a:p>
            </p:txBody>
          </p:sp>
          <p:sp>
            <p:nvSpPr>
              <p:cNvPr id="29" name="Rectangle 158">
                <a:extLst>
                  <a:ext uri="{FF2B5EF4-FFF2-40B4-BE49-F238E27FC236}">
                    <a16:creationId xmlns:a16="http://schemas.microsoft.com/office/drawing/2014/main" id="{84A3FE10-6CE6-42E7-9513-42374279E90B}"/>
                  </a:ext>
                </a:extLst>
              </p:cNvPr>
              <p:cNvSpPr/>
              <p:nvPr/>
            </p:nvSpPr>
            <p:spPr bwMode="auto">
              <a:xfrm>
                <a:off x="7240655" y="2904117"/>
                <a:ext cx="780898"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Roboto" panose="02000000000000000000" pitchFamily="2" charset="0"/>
                    <a:ea typeface="Roboto" panose="02000000000000000000" pitchFamily="2" charset="0"/>
                    <a:cs typeface="Helvetica Neue" charset="0"/>
                  </a:rPr>
                  <a:t>Harmon</a:t>
                </a:r>
              </a:p>
            </p:txBody>
          </p:sp>
          <p:cxnSp>
            <p:nvCxnSpPr>
              <p:cNvPr id="30" name="Elbow Connector 37">
                <a:extLst>
                  <a:ext uri="{FF2B5EF4-FFF2-40B4-BE49-F238E27FC236}">
                    <a16:creationId xmlns:a16="http://schemas.microsoft.com/office/drawing/2014/main" id="{926CC81E-BA23-4383-A3D7-98B7603243D1}"/>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Elbow Connector 42">
                <a:extLst>
                  <a:ext uri="{FF2B5EF4-FFF2-40B4-BE49-F238E27FC236}">
                    <a16:creationId xmlns:a16="http://schemas.microsoft.com/office/drawing/2014/main" id="{A58B5450-37C3-4455-A017-10094D7EF80B}"/>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Oval 161">
                <a:extLst>
                  <a:ext uri="{FF2B5EF4-FFF2-40B4-BE49-F238E27FC236}">
                    <a16:creationId xmlns:a16="http://schemas.microsoft.com/office/drawing/2014/main" id="{570939AF-6EF3-4341-BD5C-90C00E4A63D9}"/>
                  </a:ext>
                </a:extLst>
              </p:cNvPr>
              <p:cNvSpPr/>
              <p:nvPr/>
            </p:nvSpPr>
            <p:spPr bwMode="auto">
              <a:xfrm>
                <a:off x="5756629"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Roboto" panose="02000000000000000000" pitchFamily="2" charset="0"/>
                  <a:ea typeface="Roboto" panose="02000000000000000000" pitchFamily="2" charset="0"/>
                  <a:cs typeface="Helvetica Neue" charset="0"/>
                </a:endParaRPr>
              </a:p>
            </p:txBody>
          </p:sp>
          <p:sp>
            <p:nvSpPr>
              <p:cNvPr id="33" name="Oval 162">
                <a:extLst>
                  <a:ext uri="{FF2B5EF4-FFF2-40B4-BE49-F238E27FC236}">
                    <a16:creationId xmlns:a16="http://schemas.microsoft.com/office/drawing/2014/main" id="{A0BC9D53-AFFC-4AA6-A835-39D969A3183E}"/>
                  </a:ext>
                </a:extLst>
              </p:cNvPr>
              <p:cNvSpPr/>
              <p:nvPr/>
            </p:nvSpPr>
            <p:spPr bwMode="auto">
              <a:xfrm>
                <a:off x="5993121"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Roboto" panose="02000000000000000000" pitchFamily="2" charset="0"/>
                  <a:ea typeface="Roboto" panose="02000000000000000000" pitchFamily="2" charset="0"/>
                  <a:cs typeface="Helvetica Neue" charset="0"/>
                </a:endParaRPr>
              </a:p>
            </p:txBody>
          </p:sp>
          <p:sp>
            <p:nvSpPr>
              <p:cNvPr id="34" name="Oval 163">
                <a:extLst>
                  <a:ext uri="{FF2B5EF4-FFF2-40B4-BE49-F238E27FC236}">
                    <a16:creationId xmlns:a16="http://schemas.microsoft.com/office/drawing/2014/main" id="{2D9F518B-1592-46E0-9A3C-A1EB08F70120}"/>
                  </a:ext>
                </a:extLst>
              </p:cNvPr>
              <p:cNvSpPr/>
              <p:nvPr/>
            </p:nvSpPr>
            <p:spPr bwMode="auto">
              <a:xfrm>
                <a:off x="7204148"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Roboto" panose="02000000000000000000" pitchFamily="2" charset="0"/>
                  <a:ea typeface="Roboto" panose="02000000000000000000" pitchFamily="2" charset="0"/>
                  <a:cs typeface="Helvetica Neue" charset="0"/>
                </a:endParaRPr>
              </a:p>
            </p:txBody>
          </p:sp>
          <p:sp>
            <p:nvSpPr>
              <p:cNvPr id="35" name="Oval 164">
                <a:extLst>
                  <a:ext uri="{FF2B5EF4-FFF2-40B4-BE49-F238E27FC236}">
                    <a16:creationId xmlns:a16="http://schemas.microsoft.com/office/drawing/2014/main" id="{F39C3534-17C6-46C7-A288-E18C2A1A1638}"/>
                  </a:ext>
                </a:extLst>
              </p:cNvPr>
              <p:cNvSpPr/>
              <p:nvPr/>
            </p:nvSpPr>
            <p:spPr bwMode="auto">
              <a:xfrm>
                <a:off x="7983460"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Roboto" panose="02000000000000000000" pitchFamily="2" charset="0"/>
                  <a:ea typeface="Roboto" panose="02000000000000000000" pitchFamily="2" charset="0"/>
                  <a:cs typeface="Helvetica Neue" charset="0"/>
                </a:endParaRPr>
              </a:p>
            </p:txBody>
          </p:sp>
        </p:grpSp>
        <p:sp>
          <p:nvSpPr>
            <p:cNvPr id="22" name="Rectangle 119">
              <a:extLst>
                <a:ext uri="{FF2B5EF4-FFF2-40B4-BE49-F238E27FC236}">
                  <a16:creationId xmlns:a16="http://schemas.microsoft.com/office/drawing/2014/main" id="{D346FF41-1459-4040-B279-869CA225336C}"/>
                </a:ext>
              </a:extLst>
            </p:cNvPr>
            <p:cNvSpPr/>
            <p:nvPr/>
          </p:nvSpPr>
          <p:spPr bwMode="auto">
            <a:xfrm rot="16200000">
              <a:off x="3726564" y="3104483"/>
              <a:ext cx="377429" cy="128588"/>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Roboto" panose="02000000000000000000" pitchFamily="2" charset="0"/>
                  <a:ea typeface="Roboto" panose="02000000000000000000" pitchFamily="2" charset="0"/>
                  <a:cs typeface="Helvetica Neue" charset="0"/>
                </a:rPr>
                <a:t>32</a:t>
              </a:r>
            </a:p>
          </p:txBody>
        </p:sp>
      </p:grpSp>
      <p:sp>
        <p:nvSpPr>
          <p:cNvPr id="36" name="TextBox 20">
            <a:extLst>
              <a:ext uri="{FF2B5EF4-FFF2-40B4-BE49-F238E27FC236}">
                <a16:creationId xmlns:a16="http://schemas.microsoft.com/office/drawing/2014/main" id="{36198B56-D6F7-4455-9E80-20EC5BE7E48A}"/>
              </a:ext>
            </a:extLst>
          </p:cNvPr>
          <p:cNvSpPr txBox="1">
            <a:spLocks noChangeArrowheads="1"/>
          </p:cNvSpPr>
          <p:nvPr/>
        </p:nvSpPr>
        <p:spPr bwMode="auto">
          <a:xfrm>
            <a:off x="1379934" y="5556040"/>
            <a:ext cx="24621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Byte Representation of Record</a:t>
            </a:r>
          </a:p>
        </p:txBody>
      </p:sp>
      <p:sp>
        <p:nvSpPr>
          <p:cNvPr id="37" name="Down Arrow 131">
            <a:extLst>
              <a:ext uri="{FF2B5EF4-FFF2-40B4-BE49-F238E27FC236}">
                <a16:creationId xmlns:a16="http://schemas.microsoft.com/office/drawing/2014/main" id="{F414302F-5C6C-4732-ACCD-3DDA36445785}"/>
              </a:ext>
            </a:extLst>
          </p:cNvPr>
          <p:cNvSpPr/>
          <p:nvPr/>
        </p:nvSpPr>
        <p:spPr>
          <a:xfrm>
            <a:off x="2485758" y="5003599"/>
            <a:ext cx="226460" cy="424699"/>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139">
            <a:extLst>
              <a:ext uri="{FF2B5EF4-FFF2-40B4-BE49-F238E27FC236}">
                <a16:creationId xmlns:a16="http://schemas.microsoft.com/office/drawing/2014/main" id="{F2851829-0A2F-4CDD-ADD2-BB00730E9F95}"/>
              </a:ext>
            </a:extLst>
          </p:cNvPr>
          <p:cNvSpPr txBox="1">
            <a:spLocks noChangeArrowheads="1"/>
          </p:cNvSpPr>
          <p:nvPr/>
        </p:nvSpPr>
        <p:spPr bwMode="auto">
          <a:xfrm>
            <a:off x="4903589" y="4152334"/>
            <a:ext cx="2506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latin typeface="Roboto" panose="02000000000000000000" pitchFamily="2" charset="0"/>
                <a:ea typeface="Roboto" panose="02000000000000000000" pitchFamily="2" charset="0"/>
                <a:cs typeface="Helvetica Neue" charset="0"/>
              </a:rPr>
              <a:t>Slotted Page</a:t>
            </a:r>
          </a:p>
        </p:txBody>
      </p:sp>
      <p:sp>
        <p:nvSpPr>
          <p:cNvPr id="39" name="Folded Corner 166">
            <a:extLst>
              <a:ext uri="{FF2B5EF4-FFF2-40B4-BE49-F238E27FC236}">
                <a16:creationId xmlns:a16="http://schemas.microsoft.com/office/drawing/2014/main" id="{DA104E81-A3C3-4FF0-8A36-3D0E2325A1E3}"/>
              </a:ext>
            </a:extLst>
          </p:cNvPr>
          <p:cNvSpPr/>
          <p:nvPr/>
        </p:nvSpPr>
        <p:spPr bwMode="auto">
          <a:xfrm>
            <a:off x="4812351" y="4442043"/>
            <a:ext cx="2567297" cy="1547813"/>
          </a:xfrm>
          <a:prstGeom prst="foldedCorner">
            <a:avLst>
              <a:gd name="adj" fmla="val 1051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40" name="Rectangle 168">
            <a:extLst>
              <a:ext uri="{FF2B5EF4-FFF2-40B4-BE49-F238E27FC236}">
                <a16:creationId xmlns:a16="http://schemas.microsoft.com/office/drawing/2014/main" id="{F1D8D56E-1C6D-493E-B385-DD803757229A}"/>
              </a:ext>
            </a:extLst>
          </p:cNvPr>
          <p:cNvSpPr/>
          <p:nvPr/>
        </p:nvSpPr>
        <p:spPr bwMode="auto">
          <a:xfrm>
            <a:off x="4903589" y="4506605"/>
            <a:ext cx="1744266" cy="378619"/>
          </a:xfrm>
          <a:prstGeom prst="rect">
            <a:avLst/>
          </a:prstGeom>
          <a:solidFill>
            <a:srgbClr val="2980B9"/>
          </a:solidFill>
          <a:ln w="25400"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900" kern="0" dirty="0">
                <a:solidFill>
                  <a:srgbClr val="000000"/>
                </a:solidFill>
                <a:latin typeface="Roboto" panose="02000000000000000000" pitchFamily="2" charset="0"/>
                <a:ea typeface="Roboto" panose="02000000000000000000" pitchFamily="2" charset="0"/>
                <a:cs typeface="Helvetica Neue" charset="0"/>
              </a:rPr>
              <a:t>Page</a:t>
            </a:r>
            <a:br>
              <a:rPr lang="en-US" sz="900" kern="0" dirty="0">
                <a:solidFill>
                  <a:srgbClr val="000000"/>
                </a:solidFill>
                <a:latin typeface="Roboto" panose="02000000000000000000" pitchFamily="2" charset="0"/>
                <a:ea typeface="Roboto" panose="02000000000000000000" pitchFamily="2" charset="0"/>
                <a:cs typeface="Helvetica Neue" charset="0"/>
              </a:rPr>
            </a:br>
            <a:r>
              <a:rPr lang="en-US" sz="900" kern="0" dirty="0">
                <a:solidFill>
                  <a:srgbClr val="000000"/>
                </a:solidFill>
                <a:latin typeface="Roboto" panose="02000000000000000000" pitchFamily="2" charset="0"/>
                <a:ea typeface="Roboto" panose="02000000000000000000" pitchFamily="2" charset="0"/>
                <a:cs typeface="Helvetica Neue" charset="0"/>
              </a:rPr>
              <a:t>Header</a:t>
            </a:r>
          </a:p>
        </p:txBody>
      </p:sp>
      <p:grpSp>
        <p:nvGrpSpPr>
          <p:cNvPr id="41" name="Group 169">
            <a:extLst>
              <a:ext uri="{FF2B5EF4-FFF2-40B4-BE49-F238E27FC236}">
                <a16:creationId xmlns:a16="http://schemas.microsoft.com/office/drawing/2014/main" id="{77FFC2BC-F3D9-461D-A622-0B0DF531FEC4}"/>
              </a:ext>
            </a:extLst>
          </p:cNvPr>
          <p:cNvGrpSpPr>
            <a:grpSpLocks/>
          </p:cNvGrpSpPr>
          <p:nvPr/>
        </p:nvGrpSpPr>
        <p:grpSpPr bwMode="auto">
          <a:xfrm>
            <a:off x="5547147" y="4561673"/>
            <a:ext cx="1016227" cy="274390"/>
            <a:chOff x="1247675" y="4823303"/>
            <a:chExt cx="1355362" cy="365970"/>
          </a:xfrm>
        </p:grpSpPr>
        <p:grpSp>
          <p:nvGrpSpPr>
            <p:cNvPr id="42" name="Group 6">
              <a:extLst>
                <a:ext uri="{FF2B5EF4-FFF2-40B4-BE49-F238E27FC236}">
                  <a16:creationId xmlns:a16="http://schemas.microsoft.com/office/drawing/2014/main" id="{D332E914-D7E4-41AD-81D6-7D28D92709CF}"/>
                </a:ext>
              </a:extLst>
            </p:cNvPr>
            <p:cNvGrpSpPr>
              <a:grpSpLocks/>
            </p:cNvGrpSpPr>
            <p:nvPr/>
          </p:nvGrpSpPr>
          <p:grpSpPr bwMode="auto">
            <a:xfrm>
              <a:off x="1247675" y="4823303"/>
              <a:ext cx="211059" cy="365970"/>
              <a:chOff x="5790463" y="2643797"/>
              <a:chExt cx="211059" cy="365970"/>
            </a:xfrm>
          </p:grpSpPr>
          <p:sp>
            <p:nvSpPr>
              <p:cNvPr id="55" name="Rectangle 234">
                <a:extLst>
                  <a:ext uri="{FF2B5EF4-FFF2-40B4-BE49-F238E27FC236}">
                    <a16:creationId xmlns:a16="http://schemas.microsoft.com/office/drawing/2014/main" id="{47093D31-B785-49D2-9C6B-DDE7B1D460CF}"/>
                  </a:ext>
                </a:extLst>
              </p:cNvPr>
              <p:cNvSpPr/>
              <p:nvPr/>
            </p:nvSpPr>
            <p:spPr bwMode="auto">
              <a:xfrm>
                <a:off x="5791223" y="2643399"/>
                <a:ext cx="222314"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56" name="Oval 235">
                <a:extLst>
                  <a:ext uri="{FF2B5EF4-FFF2-40B4-BE49-F238E27FC236}">
                    <a16:creationId xmlns:a16="http://schemas.microsoft.com/office/drawing/2014/main" id="{9D324187-B7B1-4305-8209-2AD1DE869F71}"/>
                  </a:ext>
                </a:extLst>
              </p:cNvPr>
              <p:cNvSpPr/>
              <p:nvPr/>
            </p:nvSpPr>
            <p:spPr bwMode="auto">
              <a:xfrm>
                <a:off x="5870621" y="2787907"/>
                <a:ext cx="74634"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nvGrpSpPr>
            <p:cNvPr id="43" name="Group 149">
              <a:extLst>
                <a:ext uri="{FF2B5EF4-FFF2-40B4-BE49-F238E27FC236}">
                  <a16:creationId xmlns:a16="http://schemas.microsoft.com/office/drawing/2014/main" id="{FB403BD9-D5B0-4A4B-B4C5-51633C167952}"/>
                </a:ext>
              </a:extLst>
            </p:cNvPr>
            <p:cNvGrpSpPr>
              <a:grpSpLocks/>
            </p:cNvGrpSpPr>
            <p:nvPr/>
          </p:nvGrpSpPr>
          <p:grpSpPr bwMode="auto">
            <a:xfrm>
              <a:off x="1533751" y="4823303"/>
              <a:ext cx="211059" cy="365970"/>
              <a:chOff x="5790463" y="2643797"/>
              <a:chExt cx="211059" cy="365970"/>
            </a:xfrm>
          </p:grpSpPr>
          <p:sp>
            <p:nvSpPr>
              <p:cNvPr id="53" name="Rectangle 232">
                <a:extLst>
                  <a:ext uri="{FF2B5EF4-FFF2-40B4-BE49-F238E27FC236}">
                    <a16:creationId xmlns:a16="http://schemas.microsoft.com/office/drawing/2014/main" id="{20B6AD4A-F1B3-4B9D-9533-9618C88B4070}"/>
                  </a:ext>
                </a:extLst>
              </p:cNvPr>
              <p:cNvSpPr/>
              <p:nvPr/>
            </p:nvSpPr>
            <p:spPr bwMode="auto">
              <a:xfrm>
                <a:off x="5790980"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54" name="Oval 233">
                <a:extLst>
                  <a:ext uri="{FF2B5EF4-FFF2-40B4-BE49-F238E27FC236}">
                    <a16:creationId xmlns:a16="http://schemas.microsoft.com/office/drawing/2014/main" id="{06CE0EA1-D7B8-4E4C-BA53-52DE6526DC2F}"/>
                  </a:ext>
                </a:extLst>
              </p:cNvPr>
              <p:cNvSpPr/>
              <p:nvPr/>
            </p:nvSpPr>
            <p:spPr bwMode="auto">
              <a:xfrm>
                <a:off x="5859262"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nvGrpSpPr>
            <p:cNvPr id="44" name="Group 165">
              <a:extLst>
                <a:ext uri="{FF2B5EF4-FFF2-40B4-BE49-F238E27FC236}">
                  <a16:creationId xmlns:a16="http://schemas.microsoft.com/office/drawing/2014/main" id="{5E7BB020-3AE6-46D2-84BB-F30A1B092750}"/>
                </a:ext>
              </a:extLst>
            </p:cNvPr>
            <p:cNvGrpSpPr>
              <a:grpSpLocks/>
            </p:cNvGrpSpPr>
            <p:nvPr/>
          </p:nvGrpSpPr>
          <p:grpSpPr bwMode="auto">
            <a:xfrm>
              <a:off x="1819827" y="4823303"/>
              <a:ext cx="211059" cy="365970"/>
              <a:chOff x="5790463" y="2643797"/>
              <a:chExt cx="211059" cy="365970"/>
            </a:xfrm>
          </p:grpSpPr>
          <p:sp>
            <p:nvSpPr>
              <p:cNvPr id="51" name="Rectangle 230">
                <a:extLst>
                  <a:ext uri="{FF2B5EF4-FFF2-40B4-BE49-F238E27FC236}">
                    <a16:creationId xmlns:a16="http://schemas.microsoft.com/office/drawing/2014/main" id="{A6544805-7B41-40BB-8C06-7985011B6DCA}"/>
                  </a:ext>
                </a:extLst>
              </p:cNvPr>
              <p:cNvSpPr/>
              <p:nvPr/>
            </p:nvSpPr>
            <p:spPr bwMode="auto">
              <a:xfrm>
                <a:off x="5790737"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52" name="Oval 231">
                <a:extLst>
                  <a:ext uri="{FF2B5EF4-FFF2-40B4-BE49-F238E27FC236}">
                    <a16:creationId xmlns:a16="http://schemas.microsoft.com/office/drawing/2014/main" id="{AEFD9DD0-9E04-4880-8657-A02A72BF89CB}"/>
                  </a:ext>
                </a:extLst>
              </p:cNvPr>
              <p:cNvSpPr/>
              <p:nvPr/>
            </p:nvSpPr>
            <p:spPr bwMode="auto">
              <a:xfrm>
                <a:off x="5859019"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nvGrpSpPr>
            <p:cNvPr id="45" name="Group 172">
              <a:extLst>
                <a:ext uri="{FF2B5EF4-FFF2-40B4-BE49-F238E27FC236}">
                  <a16:creationId xmlns:a16="http://schemas.microsoft.com/office/drawing/2014/main" id="{8408F515-6685-4E52-A17E-5483DE87761F}"/>
                </a:ext>
              </a:extLst>
            </p:cNvPr>
            <p:cNvGrpSpPr>
              <a:grpSpLocks/>
            </p:cNvGrpSpPr>
            <p:nvPr/>
          </p:nvGrpSpPr>
          <p:grpSpPr bwMode="auto">
            <a:xfrm>
              <a:off x="2105903" y="4823303"/>
              <a:ext cx="211059" cy="365970"/>
              <a:chOff x="5790463" y="2643797"/>
              <a:chExt cx="211059" cy="365970"/>
            </a:xfrm>
          </p:grpSpPr>
          <p:sp>
            <p:nvSpPr>
              <p:cNvPr id="49" name="Rectangle 228">
                <a:extLst>
                  <a:ext uri="{FF2B5EF4-FFF2-40B4-BE49-F238E27FC236}">
                    <a16:creationId xmlns:a16="http://schemas.microsoft.com/office/drawing/2014/main" id="{3FF3F624-1415-4B8A-8854-8F42E48992B0}"/>
                  </a:ext>
                </a:extLst>
              </p:cNvPr>
              <p:cNvSpPr/>
              <p:nvPr/>
            </p:nvSpPr>
            <p:spPr bwMode="auto">
              <a:xfrm>
                <a:off x="5790494"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50" name="Oval 229">
                <a:extLst>
                  <a:ext uri="{FF2B5EF4-FFF2-40B4-BE49-F238E27FC236}">
                    <a16:creationId xmlns:a16="http://schemas.microsoft.com/office/drawing/2014/main" id="{C54A643F-CF8C-4946-811B-90E923F2A186}"/>
                  </a:ext>
                </a:extLst>
              </p:cNvPr>
              <p:cNvSpPr/>
              <p:nvPr/>
            </p:nvSpPr>
            <p:spPr bwMode="auto">
              <a:xfrm>
                <a:off x="5858776"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nvGrpSpPr>
            <p:cNvPr id="46" name="Group 190">
              <a:extLst>
                <a:ext uri="{FF2B5EF4-FFF2-40B4-BE49-F238E27FC236}">
                  <a16:creationId xmlns:a16="http://schemas.microsoft.com/office/drawing/2014/main" id="{70914F1E-9000-4022-A9EC-686AE62ADCB9}"/>
                </a:ext>
              </a:extLst>
            </p:cNvPr>
            <p:cNvGrpSpPr>
              <a:grpSpLocks/>
            </p:cNvGrpSpPr>
            <p:nvPr/>
          </p:nvGrpSpPr>
          <p:grpSpPr bwMode="auto">
            <a:xfrm>
              <a:off x="2391978" y="4823303"/>
              <a:ext cx="211059" cy="365970"/>
              <a:chOff x="5790463" y="2643797"/>
              <a:chExt cx="211059" cy="365970"/>
            </a:xfrm>
          </p:grpSpPr>
          <p:sp>
            <p:nvSpPr>
              <p:cNvPr id="47" name="Rectangle 226">
                <a:extLst>
                  <a:ext uri="{FF2B5EF4-FFF2-40B4-BE49-F238E27FC236}">
                    <a16:creationId xmlns:a16="http://schemas.microsoft.com/office/drawing/2014/main" id="{8EF64B49-D179-4BAA-B8C8-35E9879029A4}"/>
                  </a:ext>
                </a:extLst>
              </p:cNvPr>
              <p:cNvSpPr/>
              <p:nvPr/>
            </p:nvSpPr>
            <p:spPr bwMode="auto">
              <a:xfrm>
                <a:off x="5790252"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48" name="Oval 227">
                <a:extLst>
                  <a:ext uri="{FF2B5EF4-FFF2-40B4-BE49-F238E27FC236}">
                    <a16:creationId xmlns:a16="http://schemas.microsoft.com/office/drawing/2014/main" id="{C19B0E29-9EAB-4B71-9ECB-1331F5D800E8}"/>
                  </a:ext>
                </a:extLst>
              </p:cNvPr>
              <p:cNvSpPr/>
              <p:nvPr/>
            </p:nvSpPr>
            <p:spPr bwMode="auto">
              <a:xfrm>
                <a:off x="5858534"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grpSp>
        <p:nvGrpSpPr>
          <p:cNvPr id="57" name="Group 225">
            <a:extLst>
              <a:ext uri="{FF2B5EF4-FFF2-40B4-BE49-F238E27FC236}">
                <a16:creationId xmlns:a16="http://schemas.microsoft.com/office/drawing/2014/main" id="{6412A19A-5E22-4AE8-A7B9-F1FB60737B8D}"/>
              </a:ext>
            </a:extLst>
          </p:cNvPr>
          <p:cNvGrpSpPr>
            <a:grpSpLocks/>
          </p:cNvGrpSpPr>
          <p:nvPr/>
        </p:nvGrpSpPr>
        <p:grpSpPr bwMode="auto">
          <a:xfrm>
            <a:off x="5992536" y="5154814"/>
            <a:ext cx="1323839" cy="192769"/>
            <a:chOff x="5388934" y="2903927"/>
            <a:chExt cx="3337100" cy="541672"/>
          </a:xfrm>
        </p:grpSpPr>
        <p:sp>
          <p:nvSpPr>
            <p:cNvPr id="58" name="Rectangle 207">
              <a:extLst>
                <a:ext uri="{FF2B5EF4-FFF2-40B4-BE49-F238E27FC236}">
                  <a16:creationId xmlns:a16="http://schemas.microsoft.com/office/drawing/2014/main" id="{ACCDE42E-EB84-45E5-A06F-C7D48C809BF5}"/>
                </a:ext>
              </a:extLst>
            </p:cNvPr>
            <p:cNvSpPr/>
            <p:nvPr/>
          </p:nvSpPr>
          <p:spPr bwMode="auto">
            <a:xfrm>
              <a:off x="5390131" y="2902498"/>
              <a:ext cx="789340"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59" name="Rectangle 208">
              <a:extLst>
                <a:ext uri="{FF2B5EF4-FFF2-40B4-BE49-F238E27FC236}">
                  <a16:creationId xmlns:a16="http://schemas.microsoft.com/office/drawing/2014/main" id="{037EBCDD-247D-4BC3-B256-EB2AB8D0F268}"/>
                </a:ext>
              </a:extLst>
            </p:cNvPr>
            <p:cNvSpPr/>
            <p:nvPr/>
          </p:nvSpPr>
          <p:spPr bwMode="auto">
            <a:xfrm>
              <a:off x="5681256"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60" name="Rectangle 209">
              <a:extLst>
                <a:ext uri="{FF2B5EF4-FFF2-40B4-BE49-F238E27FC236}">
                  <a16:creationId xmlns:a16="http://schemas.microsoft.com/office/drawing/2014/main" id="{1C41018E-1683-4CAD-AFE8-FAF07BF5F7EF}"/>
                </a:ext>
              </a:extLst>
            </p:cNvPr>
            <p:cNvSpPr/>
            <p:nvPr/>
          </p:nvSpPr>
          <p:spPr bwMode="auto">
            <a:xfrm>
              <a:off x="593036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61" name="Rectangle 210">
              <a:extLst>
                <a:ext uri="{FF2B5EF4-FFF2-40B4-BE49-F238E27FC236}">
                  <a16:creationId xmlns:a16="http://schemas.microsoft.com/office/drawing/2014/main" id="{37102CC0-7811-4886-BA2C-7B76C721ADB7}"/>
                </a:ext>
              </a:extLst>
            </p:cNvPr>
            <p:cNvSpPr/>
            <p:nvPr/>
          </p:nvSpPr>
          <p:spPr bwMode="auto">
            <a:xfrm>
              <a:off x="6170468" y="2902498"/>
              <a:ext cx="207089"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62" name="Rectangle 211">
              <a:extLst>
                <a:ext uri="{FF2B5EF4-FFF2-40B4-BE49-F238E27FC236}">
                  <a16:creationId xmlns:a16="http://schemas.microsoft.com/office/drawing/2014/main" id="{A89D7C0A-51D1-4F21-9BFA-EC70096F1979}"/>
                </a:ext>
              </a:extLst>
            </p:cNvPr>
            <p:cNvSpPr/>
            <p:nvPr/>
          </p:nvSpPr>
          <p:spPr bwMode="auto">
            <a:xfrm>
              <a:off x="6377556" y="2902498"/>
              <a:ext cx="207090"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63" name="Rectangle 212">
              <a:extLst>
                <a:ext uri="{FF2B5EF4-FFF2-40B4-BE49-F238E27FC236}">
                  <a16:creationId xmlns:a16="http://schemas.microsoft.com/office/drawing/2014/main" id="{50D02D80-9226-4A23-8CEA-CD13D998275D}"/>
                </a:ext>
              </a:extLst>
            </p:cNvPr>
            <p:cNvSpPr/>
            <p:nvPr/>
          </p:nvSpPr>
          <p:spPr bwMode="auto">
            <a:xfrm rot="16200000">
              <a:off x="6408587" y="3069553"/>
              <a:ext cx="505185" cy="171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64" name="Rectangle 213">
              <a:extLst>
                <a:ext uri="{FF2B5EF4-FFF2-40B4-BE49-F238E27FC236}">
                  <a16:creationId xmlns:a16="http://schemas.microsoft.com/office/drawing/2014/main" id="{10414512-DF7F-4C0E-9648-151E47A8D8C9}"/>
                </a:ext>
              </a:extLst>
            </p:cNvPr>
            <p:cNvSpPr/>
            <p:nvPr/>
          </p:nvSpPr>
          <p:spPr bwMode="auto">
            <a:xfrm>
              <a:off x="6740714" y="2902498"/>
              <a:ext cx="501216"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65" name="Rectangle 214">
              <a:extLst>
                <a:ext uri="{FF2B5EF4-FFF2-40B4-BE49-F238E27FC236}">
                  <a16:creationId xmlns:a16="http://schemas.microsoft.com/office/drawing/2014/main" id="{A7DC7763-7393-4BC2-961F-21D5A6A75054}"/>
                </a:ext>
              </a:extLst>
            </p:cNvPr>
            <p:cNvSpPr/>
            <p:nvPr/>
          </p:nvSpPr>
          <p:spPr bwMode="auto">
            <a:xfrm>
              <a:off x="7241930" y="2902498"/>
              <a:ext cx="1449627"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cxnSp>
          <p:nvCxnSpPr>
            <p:cNvPr id="66" name="Elbow Connector 236">
              <a:extLst>
                <a:ext uri="{FF2B5EF4-FFF2-40B4-BE49-F238E27FC236}">
                  <a16:creationId xmlns:a16="http://schemas.microsoft.com/office/drawing/2014/main" id="{E7884647-9CF1-466F-A307-F91D94F6EB62}"/>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 name="Elbow Connector 237">
              <a:extLst>
                <a:ext uri="{FF2B5EF4-FFF2-40B4-BE49-F238E27FC236}">
                  <a16:creationId xmlns:a16="http://schemas.microsoft.com/office/drawing/2014/main" id="{8FB52FAD-060F-44C5-8144-14D98AB2DF2D}"/>
                </a:ext>
              </a:extLst>
            </p:cNvPr>
            <p:cNvCxnSpPr>
              <a:cxnSpLocks noChangeShapeType="1"/>
            </p:cNvCxnSpPr>
            <p:nvPr/>
          </p:nvCxnSpPr>
          <p:spPr bwMode="auto">
            <a:xfrm rot="16200000" flipH="1">
              <a:off x="7234134" y="1990275"/>
              <a:ext cx="251463" cy="2659185"/>
            </a:xfrm>
            <a:prstGeom prst="bentConnector3">
              <a:avLst>
                <a:gd name="adj1" fmla="val 24630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8" name="Oval 217">
              <a:extLst>
                <a:ext uri="{FF2B5EF4-FFF2-40B4-BE49-F238E27FC236}">
                  <a16:creationId xmlns:a16="http://schemas.microsoft.com/office/drawing/2014/main" id="{358CD1B0-9EDF-4ACE-BF35-14C3B69AAD80}"/>
                </a:ext>
              </a:extLst>
            </p:cNvPr>
            <p:cNvSpPr/>
            <p:nvPr/>
          </p:nvSpPr>
          <p:spPr bwMode="auto">
            <a:xfrm>
              <a:off x="5756289" y="3116617"/>
              <a:ext cx="75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69" name="Oval 218">
              <a:extLst>
                <a:ext uri="{FF2B5EF4-FFF2-40B4-BE49-F238E27FC236}">
                  <a16:creationId xmlns:a16="http://schemas.microsoft.com/office/drawing/2014/main" id="{24E4DFC9-A97C-40EB-B51A-993E7B1FE766}"/>
                </a:ext>
              </a:extLst>
            </p:cNvPr>
            <p:cNvSpPr/>
            <p:nvPr/>
          </p:nvSpPr>
          <p:spPr bwMode="auto">
            <a:xfrm>
              <a:off x="5993390" y="3116617"/>
              <a:ext cx="75033"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70" name="Oval 219">
              <a:extLst>
                <a:ext uri="{FF2B5EF4-FFF2-40B4-BE49-F238E27FC236}">
                  <a16:creationId xmlns:a16="http://schemas.microsoft.com/office/drawing/2014/main" id="{E61DE448-80DE-4190-AEA8-EB413AB2CD30}"/>
                </a:ext>
              </a:extLst>
            </p:cNvPr>
            <p:cNvSpPr/>
            <p:nvPr/>
          </p:nvSpPr>
          <p:spPr bwMode="auto">
            <a:xfrm>
              <a:off x="7202914" y="3367536"/>
              <a:ext cx="75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71" name="Oval 220">
              <a:extLst>
                <a:ext uri="{FF2B5EF4-FFF2-40B4-BE49-F238E27FC236}">
                  <a16:creationId xmlns:a16="http://schemas.microsoft.com/office/drawing/2014/main" id="{69309581-D6FC-43D0-80CD-61683692C009}"/>
                </a:ext>
              </a:extLst>
            </p:cNvPr>
            <p:cNvSpPr/>
            <p:nvPr/>
          </p:nvSpPr>
          <p:spPr bwMode="auto">
            <a:xfrm>
              <a:off x="8652540"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grpSp>
        <p:nvGrpSpPr>
          <p:cNvPr id="72" name="Group 205">
            <a:extLst>
              <a:ext uri="{FF2B5EF4-FFF2-40B4-BE49-F238E27FC236}">
                <a16:creationId xmlns:a16="http://schemas.microsoft.com/office/drawing/2014/main" id="{2D7C885E-7B00-46DD-AFB8-3CF989795DB2}"/>
              </a:ext>
            </a:extLst>
          </p:cNvPr>
          <p:cNvGrpSpPr>
            <a:grpSpLocks/>
          </p:cNvGrpSpPr>
          <p:nvPr/>
        </p:nvGrpSpPr>
        <p:grpSpPr bwMode="auto">
          <a:xfrm>
            <a:off x="4948565" y="5154814"/>
            <a:ext cx="1058221" cy="192769"/>
            <a:chOff x="5388934" y="2903927"/>
            <a:chExt cx="2667537" cy="541672"/>
          </a:xfrm>
        </p:grpSpPr>
        <p:sp>
          <p:nvSpPr>
            <p:cNvPr id="73" name="Rectangle 193">
              <a:extLst>
                <a:ext uri="{FF2B5EF4-FFF2-40B4-BE49-F238E27FC236}">
                  <a16:creationId xmlns:a16="http://schemas.microsoft.com/office/drawing/2014/main" id="{D9E620BD-987E-4177-B9DC-964A01054243}"/>
                </a:ext>
              </a:extLst>
            </p:cNvPr>
            <p:cNvSpPr/>
            <p:nvPr/>
          </p:nvSpPr>
          <p:spPr bwMode="auto">
            <a:xfrm>
              <a:off x="5389607" y="2902498"/>
              <a:ext cx="789342"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74" name="Rectangle 194">
              <a:extLst>
                <a:ext uri="{FF2B5EF4-FFF2-40B4-BE49-F238E27FC236}">
                  <a16:creationId xmlns:a16="http://schemas.microsoft.com/office/drawing/2014/main" id="{3BA5D721-7258-41DE-B3D7-984E6898DD21}"/>
                </a:ext>
              </a:extLst>
            </p:cNvPr>
            <p:cNvSpPr/>
            <p:nvPr/>
          </p:nvSpPr>
          <p:spPr bwMode="auto">
            <a:xfrm>
              <a:off x="568373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75" name="Rectangle 195">
              <a:extLst>
                <a:ext uri="{FF2B5EF4-FFF2-40B4-BE49-F238E27FC236}">
                  <a16:creationId xmlns:a16="http://schemas.microsoft.com/office/drawing/2014/main" id="{3C256A44-4BF2-4592-9184-457CF8751B69}"/>
                </a:ext>
              </a:extLst>
            </p:cNvPr>
            <p:cNvSpPr/>
            <p:nvPr/>
          </p:nvSpPr>
          <p:spPr bwMode="auto">
            <a:xfrm>
              <a:off x="5929841"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76" name="Rectangle 196">
              <a:extLst>
                <a:ext uri="{FF2B5EF4-FFF2-40B4-BE49-F238E27FC236}">
                  <a16:creationId xmlns:a16="http://schemas.microsoft.com/office/drawing/2014/main" id="{C4E7ED4C-D583-499F-A57B-A326EF98C2FB}"/>
                </a:ext>
              </a:extLst>
            </p:cNvPr>
            <p:cNvSpPr/>
            <p:nvPr/>
          </p:nvSpPr>
          <p:spPr bwMode="auto">
            <a:xfrm>
              <a:off x="6169945" y="2902498"/>
              <a:ext cx="210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77" name="Rectangle 197">
              <a:extLst>
                <a:ext uri="{FF2B5EF4-FFF2-40B4-BE49-F238E27FC236}">
                  <a16:creationId xmlns:a16="http://schemas.microsoft.com/office/drawing/2014/main" id="{1085BF55-2C4F-4D5C-B1B2-83C85D81C1DF}"/>
                </a:ext>
              </a:extLst>
            </p:cNvPr>
            <p:cNvSpPr/>
            <p:nvPr/>
          </p:nvSpPr>
          <p:spPr bwMode="auto">
            <a:xfrm>
              <a:off x="6380036" y="2902498"/>
              <a:ext cx="207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78" name="Rectangle 198">
              <a:extLst>
                <a:ext uri="{FF2B5EF4-FFF2-40B4-BE49-F238E27FC236}">
                  <a16:creationId xmlns:a16="http://schemas.microsoft.com/office/drawing/2014/main" id="{01BDC979-5A2F-465A-A6CE-0C3982E14C22}"/>
                </a:ext>
              </a:extLst>
            </p:cNvPr>
            <p:cNvSpPr/>
            <p:nvPr/>
          </p:nvSpPr>
          <p:spPr bwMode="auto">
            <a:xfrm rot="16200000">
              <a:off x="6409567" y="3068052"/>
              <a:ext cx="505185"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79" name="Rectangle 199">
              <a:extLst>
                <a:ext uri="{FF2B5EF4-FFF2-40B4-BE49-F238E27FC236}">
                  <a16:creationId xmlns:a16="http://schemas.microsoft.com/office/drawing/2014/main" id="{7AC80902-1920-4CD0-A0BC-3D74383A6408}"/>
                </a:ext>
              </a:extLst>
            </p:cNvPr>
            <p:cNvSpPr/>
            <p:nvPr/>
          </p:nvSpPr>
          <p:spPr bwMode="auto">
            <a:xfrm>
              <a:off x="6740191" y="2902498"/>
              <a:ext cx="50121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80" name="Rectangle 200">
              <a:extLst>
                <a:ext uri="{FF2B5EF4-FFF2-40B4-BE49-F238E27FC236}">
                  <a16:creationId xmlns:a16="http://schemas.microsoft.com/office/drawing/2014/main" id="{C60B6C72-AE35-4A92-91CB-3960EABC94E2}"/>
                </a:ext>
              </a:extLst>
            </p:cNvPr>
            <p:cNvSpPr/>
            <p:nvPr/>
          </p:nvSpPr>
          <p:spPr bwMode="auto">
            <a:xfrm>
              <a:off x="7241409" y="2902498"/>
              <a:ext cx="78333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cxnSp>
          <p:nvCxnSpPr>
            <p:cNvPr id="81" name="Elbow Connector 218">
              <a:extLst>
                <a:ext uri="{FF2B5EF4-FFF2-40B4-BE49-F238E27FC236}">
                  <a16:creationId xmlns:a16="http://schemas.microsoft.com/office/drawing/2014/main" id="{D172D42F-37A2-42BE-9CF4-F6F3F608E2C6}"/>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 name="Elbow Connector 219">
              <a:extLst>
                <a:ext uri="{FF2B5EF4-FFF2-40B4-BE49-F238E27FC236}">
                  <a16:creationId xmlns:a16="http://schemas.microsoft.com/office/drawing/2014/main" id="{EC9C4302-9ECA-4DCF-B3CD-9CDC11E24122}"/>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3" name="Oval 203">
              <a:extLst>
                <a:ext uri="{FF2B5EF4-FFF2-40B4-BE49-F238E27FC236}">
                  <a16:creationId xmlns:a16="http://schemas.microsoft.com/office/drawing/2014/main" id="{57D308C3-AFCE-4950-82F5-11840425C5DB}"/>
                </a:ext>
              </a:extLst>
            </p:cNvPr>
            <p:cNvSpPr/>
            <p:nvPr/>
          </p:nvSpPr>
          <p:spPr bwMode="auto">
            <a:xfrm>
              <a:off x="5758768"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84" name="Oval 204">
              <a:extLst>
                <a:ext uri="{FF2B5EF4-FFF2-40B4-BE49-F238E27FC236}">
                  <a16:creationId xmlns:a16="http://schemas.microsoft.com/office/drawing/2014/main" id="{73A7E464-D6BB-49FF-AA8B-4AC434F3EC47}"/>
                </a:ext>
              </a:extLst>
            </p:cNvPr>
            <p:cNvSpPr/>
            <p:nvPr/>
          </p:nvSpPr>
          <p:spPr bwMode="auto">
            <a:xfrm>
              <a:off x="5995869"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85" name="Oval 205">
              <a:extLst>
                <a:ext uri="{FF2B5EF4-FFF2-40B4-BE49-F238E27FC236}">
                  <a16:creationId xmlns:a16="http://schemas.microsoft.com/office/drawing/2014/main" id="{3B4A8B7F-715D-47E4-A7D9-C096EA384273}"/>
                </a:ext>
              </a:extLst>
            </p:cNvPr>
            <p:cNvSpPr/>
            <p:nvPr/>
          </p:nvSpPr>
          <p:spPr bwMode="auto">
            <a:xfrm>
              <a:off x="7205394"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86" name="Oval 206">
              <a:extLst>
                <a:ext uri="{FF2B5EF4-FFF2-40B4-BE49-F238E27FC236}">
                  <a16:creationId xmlns:a16="http://schemas.microsoft.com/office/drawing/2014/main" id="{2BB332C8-3B87-463C-98D4-0795259630DA}"/>
                </a:ext>
              </a:extLst>
            </p:cNvPr>
            <p:cNvSpPr/>
            <p:nvPr/>
          </p:nvSpPr>
          <p:spPr bwMode="auto">
            <a:xfrm>
              <a:off x="7985731"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sp>
        <p:nvSpPr>
          <p:cNvPr id="87" name="Oval 172">
            <a:extLst>
              <a:ext uri="{FF2B5EF4-FFF2-40B4-BE49-F238E27FC236}">
                <a16:creationId xmlns:a16="http://schemas.microsoft.com/office/drawing/2014/main" id="{CAC1929D-4813-499C-8C15-BAAD97A97FA9}"/>
              </a:ext>
            </a:extLst>
          </p:cNvPr>
          <p:cNvSpPr/>
          <p:nvPr/>
        </p:nvSpPr>
        <p:spPr bwMode="auto">
          <a:xfrm>
            <a:off x="4929782" y="5130493"/>
            <a:ext cx="28575" cy="27384"/>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88" name="Oval 173">
            <a:extLst>
              <a:ext uri="{FF2B5EF4-FFF2-40B4-BE49-F238E27FC236}">
                <a16:creationId xmlns:a16="http://schemas.microsoft.com/office/drawing/2014/main" id="{F76204D1-D4B9-458C-8897-1196A8BD86D7}"/>
              </a:ext>
            </a:extLst>
          </p:cNvPr>
          <p:cNvSpPr/>
          <p:nvPr/>
        </p:nvSpPr>
        <p:spPr bwMode="auto">
          <a:xfrm>
            <a:off x="5983486" y="5131683"/>
            <a:ext cx="29766"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cxnSp>
        <p:nvCxnSpPr>
          <p:cNvPr id="89" name="Elbow Connector 246">
            <a:extLst>
              <a:ext uri="{FF2B5EF4-FFF2-40B4-BE49-F238E27FC236}">
                <a16:creationId xmlns:a16="http://schemas.microsoft.com/office/drawing/2014/main" id="{85094DC4-60BC-4CBD-9C12-A74200FE50AF}"/>
              </a:ext>
            </a:extLst>
          </p:cNvPr>
          <p:cNvCxnSpPr>
            <a:cxnSpLocks noChangeShapeType="1"/>
          </p:cNvCxnSpPr>
          <p:nvPr/>
        </p:nvCxnSpPr>
        <p:spPr bwMode="auto">
          <a:xfrm rot="5400000">
            <a:off x="5083471" y="4587956"/>
            <a:ext cx="403082" cy="682519"/>
          </a:xfrm>
          <a:prstGeom prst="bentConnector3">
            <a:avLst>
              <a:gd name="adj1" fmla="val 70009"/>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 name="Elbow Connector 251">
            <a:extLst>
              <a:ext uri="{FF2B5EF4-FFF2-40B4-BE49-F238E27FC236}">
                <a16:creationId xmlns:a16="http://schemas.microsoft.com/office/drawing/2014/main" id="{FB0A2A2B-8F76-4639-83B9-126D494481EF}"/>
              </a:ext>
            </a:extLst>
          </p:cNvPr>
          <p:cNvCxnSpPr>
            <a:cxnSpLocks noChangeShapeType="1"/>
          </p:cNvCxnSpPr>
          <p:nvPr/>
        </p:nvCxnSpPr>
        <p:spPr bwMode="auto">
          <a:xfrm rot="16200000" flipH="1">
            <a:off x="5717628" y="4850811"/>
            <a:ext cx="403807" cy="157532"/>
          </a:xfrm>
          <a:prstGeom prst="bentConnector3">
            <a:avLst>
              <a:gd name="adj1" fmla="val 50000"/>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91" name="Group 254">
            <a:extLst>
              <a:ext uri="{FF2B5EF4-FFF2-40B4-BE49-F238E27FC236}">
                <a16:creationId xmlns:a16="http://schemas.microsoft.com/office/drawing/2014/main" id="{20CA6969-BE02-4311-B23F-9AB32FA61FBD}"/>
              </a:ext>
            </a:extLst>
          </p:cNvPr>
          <p:cNvGrpSpPr>
            <a:grpSpLocks/>
          </p:cNvGrpSpPr>
          <p:nvPr/>
        </p:nvGrpSpPr>
        <p:grpSpPr bwMode="auto">
          <a:xfrm>
            <a:off x="4954586" y="5572856"/>
            <a:ext cx="1771700" cy="192769"/>
            <a:chOff x="5388934" y="2903927"/>
            <a:chExt cx="4466058" cy="541672"/>
          </a:xfrm>
        </p:grpSpPr>
        <p:sp>
          <p:nvSpPr>
            <p:cNvPr id="92" name="Rectangle 179">
              <a:extLst>
                <a:ext uri="{FF2B5EF4-FFF2-40B4-BE49-F238E27FC236}">
                  <a16:creationId xmlns:a16="http://schemas.microsoft.com/office/drawing/2014/main" id="{58410880-D4DE-4130-9981-FC4FD063C9D9}"/>
                </a:ext>
              </a:extLst>
            </p:cNvPr>
            <p:cNvSpPr/>
            <p:nvPr/>
          </p:nvSpPr>
          <p:spPr bwMode="auto">
            <a:xfrm>
              <a:off x="5389437" y="2905474"/>
              <a:ext cx="789340" cy="501841"/>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93" name="Rectangle 180">
              <a:extLst>
                <a:ext uri="{FF2B5EF4-FFF2-40B4-BE49-F238E27FC236}">
                  <a16:creationId xmlns:a16="http://schemas.microsoft.com/office/drawing/2014/main" id="{941494B3-34BA-4083-A7D0-0BA28DF5D2E3}"/>
                </a:ext>
              </a:extLst>
            </p:cNvPr>
            <p:cNvSpPr/>
            <p:nvPr/>
          </p:nvSpPr>
          <p:spPr bwMode="auto">
            <a:xfrm>
              <a:off x="5683564" y="2972386"/>
              <a:ext cx="210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94" name="Rectangle 181">
              <a:extLst>
                <a:ext uri="{FF2B5EF4-FFF2-40B4-BE49-F238E27FC236}">
                  <a16:creationId xmlns:a16="http://schemas.microsoft.com/office/drawing/2014/main" id="{5A10070E-93FA-4206-814B-2B3356FCBFA4}"/>
                </a:ext>
              </a:extLst>
            </p:cNvPr>
            <p:cNvSpPr/>
            <p:nvPr/>
          </p:nvSpPr>
          <p:spPr bwMode="auto">
            <a:xfrm>
              <a:off x="5929671" y="2972386"/>
              <a:ext cx="213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95" name="Rectangle 182">
              <a:extLst>
                <a:ext uri="{FF2B5EF4-FFF2-40B4-BE49-F238E27FC236}">
                  <a16:creationId xmlns:a16="http://schemas.microsoft.com/office/drawing/2014/main" id="{BC2C44B8-F79E-4490-A57B-AFAE5FBD68AC}"/>
                </a:ext>
              </a:extLst>
            </p:cNvPr>
            <p:cNvSpPr/>
            <p:nvPr/>
          </p:nvSpPr>
          <p:spPr bwMode="auto">
            <a:xfrm>
              <a:off x="6169774" y="2905474"/>
              <a:ext cx="210091"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96" name="Rectangle 183">
              <a:extLst>
                <a:ext uri="{FF2B5EF4-FFF2-40B4-BE49-F238E27FC236}">
                  <a16:creationId xmlns:a16="http://schemas.microsoft.com/office/drawing/2014/main" id="{B4ED7E37-6593-4AF0-9CC2-3B4A1D8754BF}"/>
                </a:ext>
              </a:extLst>
            </p:cNvPr>
            <p:cNvSpPr/>
            <p:nvPr/>
          </p:nvSpPr>
          <p:spPr bwMode="auto">
            <a:xfrm>
              <a:off x="6379865" y="2905474"/>
              <a:ext cx="207089"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97" name="Rectangle 184">
              <a:extLst>
                <a:ext uri="{FF2B5EF4-FFF2-40B4-BE49-F238E27FC236}">
                  <a16:creationId xmlns:a16="http://schemas.microsoft.com/office/drawing/2014/main" id="{89685677-1BC9-4873-8D28-E6078F3F75F7}"/>
                </a:ext>
              </a:extLst>
            </p:cNvPr>
            <p:cNvSpPr/>
            <p:nvPr/>
          </p:nvSpPr>
          <p:spPr bwMode="auto">
            <a:xfrm rot="16200000">
              <a:off x="6411066" y="3069357"/>
              <a:ext cx="501841"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Roboto" panose="02000000000000000000" pitchFamily="2" charset="0"/>
                <a:ea typeface="Roboto" panose="02000000000000000000" pitchFamily="2" charset="0"/>
                <a:cs typeface="Helvetica Neue" charset="0"/>
              </a:endParaRPr>
            </a:p>
          </p:txBody>
        </p:sp>
        <p:sp>
          <p:nvSpPr>
            <p:cNvPr id="98" name="Rectangle 185">
              <a:extLst>
                <a:ext uri="{FF2B5EF4-FFF2-40B4-BE49-F238E27FC236}">
                  <a16:creationId xmlns:a16="http://schemas.microsoft.com/office/drawing/2014/main" id="{2DFCAE23-8777-4A3E-A3BA-23C393CA130B}"/>
                </a:ext>
              </a:extLst>
            </p:cNvPr>
            <p:cNvSpPr/>
            <p:nvPr/>
          </p:nvSpPr>
          <p:spPr bwMode="auto">
            <a:xfrm>
              <a:off x="6740021" y="2905474"/>
              <a:ext cx="2289989"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sp>
          <p:nvSpPr>
            <p:cNvPr id="99" name="Rectangle 186">
              <a:extLst>
                <a:ext uri="{FF2B5EF4-FFF2-40B4-BE49-F238E27FC236}">
                  <a16:creationId xmlns:a16="http://schemas.microsoft.com/office/drawing/2014/main" id="{285BB4E2-2347-46CF-A31E-9E20AA95AAD9}"/>
                </a:ext>
              </a:extLst>
            </p:cNvPr>
            <p:cNvSpPr/>
            <p:nvPr/>
          </p:nvSpPr>
          <p:spPr bwMode="auto">
            <a:xfrm>
              <a:off x="9039015" y="2905474"/>
              <a:ext cx="783338"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Roboto" panose="02000000000000000000" pitchFamily="2" charset="0"/>
                <a:ea typeface="Roboto" panose="02000000000000000000" pitchFamily="2" charset="0"/>
                <a:cs typeface="Helvetica Neue" charset="0"/>
              </a:endParaRPr>
            </a:p>
          </p:txBody>
        </p:sp>
        <p:cxnSp>
          <p:nvCxnSpPr>
            <p:cNvPr id="100" name="Elbow Connector 264">
              <a:extLst>
                <a:ext uri="{FF2B5EF4-FFF2-40B4-BE49-F238E27FC236}">
                  <a16:creationId xmlns:a16="http://schemas.microsoft.com/office/drawing/2014/main" id="{AD15527F-F961-421D-A2FA-7BBFC2600078}"/>
                </a:ext>
              </a:extLst>
            </p:cNvPr>
            <p:cNvCxnSpPr>
              <a:cxnSpLocks noChangeShapeType="1"/>
            </p:cNvCxnSpPr>
            <p:nvPr/>
          </p:nvCxnSpPr>
          <p:spPr bwMode="auto">
            <a:xfrm rot="16200000" flipH="1">
              <a:off x="7282984" y="1704508"/>
              <a:ext cx="251463" cy="3230720"/>
            </a:xfrm>
            <a:prstGeom prst="bentConnector3">
              <a:avLst>
                <a:gd name="adj1" fmla="val 291523"/>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1" name="Elbow Connector 265">
              <a:extLst>
                <a:ext uri="{FF2B5EF4-FFF2-40B4-BE49-F238E27FC236}">
                  <a16:creationId xmlns:a16="http://schemas.microsoft.com/office/drawing/2014/main" id="{595D9EF7-498A-4F62-B7D5-5D8B6CAC40E2}"/>
                </a:ext>
              </a:extLst>
            </p:cNvPr>
            <p:cNvCxnSpPr>
              <a:cxnSpLocks noChangeShapeType="1"/>
            </p:cNvCxnSpPr>
            <p:nvPr/>
          </p:nvCxnSpPr>
          <p:spPr bwMode="auto">
            <a:xfrm rot="16200000" flipH="1">
              <a:off x="7798613" y="1425796"/>
              <a:ext cx="251463" cy="3788143"/>
            </a:xfrm>
            <a:prstGeom prst="bentConnector3">
              <a:avLst>
                <a:gd name="adj1" fmla="val 21179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 name="Oval 189">
              <a:extLst>
                <a:ext uri="{FF2B5EF4-FFF2-40B4-BE49-F238E27FC236}">
                  <a16:creationId xmlns:a16="http://schemas.microsoft.com/office/drawing/2014/main" id="{EC883BA0-6EF7-4E46-849E-E5BE65093451}"/>
                </a:ext>
              </a:extLst>
            </p:cNvPr>
            <p:cNvSpPr/>
            <p:nvPr/>
          </p:nvSpPr>
          <p:spPr bwMode="auto">
            <a:xfrm>
              <a:off x="5758596" y="311624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103" name="Oval 190">
              <a:extLst>
                <a:ext uri="{FF2B5EF4-FFF2-40B4-BE49-F238E27FC236}">
                  <a16:creationId xmlns:a16="http://schemas.microsoft.com/office/drawing/2014/main" id="{5EEC1C07-F1EF-4E57-B5CF-672E7A566C77}"/>
                </a:ext>
              </a:extLst>
            </p:cNvPr>
            <p:cNvSpPr/>
            <p:nvPr/>
          </p:nvSpPr>
          <p:spPr bwMode="auto">
            <a:xfrm>
              <a:off x="5992697" y="3116246"/>
              <a:ext cx="75033"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104" name="Oval 191">
              <a:extLst>
                <a:ext uri="{FF2B5EF4-FFF2-40B4-BE49-F238E27FC236}">
                  <a16:creationId xmlns:a16="http://schemas.microsoft.com/office/drawing/2014/main" id="{7E828DD9-2019-47D5-8B02-1A4F99EE20C1}"/>
                </a:ext>
              </a:extLst>
            </p:cNvPr>
            <p:cNvSpPr/>
            <p:nvPr/>
          </p:nvSpPr>
          <p:spPr bwMode="auto">
            <a:xfrm>
              <a:off x="8987992"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sp>
          <p:nvSpPr>
            <p:cNvPr id="105" name="Oval 192">
              <a:extLst>
                <a:ext uri="{FF2B5EF4-FFF2-40B4-BE49-F238E27FC236}">
                  <a16:creationId xmlns:a16="http://schemas.microsoft.com/office/drawing/2014/main" id="{46EC7C66-B73D-46C1-A87E-B0FE2C2FFCD2}"/>
                </a:ext>
              </a:extLst>
            </p:cNvPr>
            <p:cNvSpPr/>
            <p:nvPr/>
          </p:nvSpPr>
          <p:spPr bwMode="auto">
            <a:xfrm>
              <a:off x="9783337"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grpSp>
      <p:sp>
        <p:nvSpPr>
          <p:cNvPr id="106" name="Oval 177">
            <a:extLst>
              <a:ext uri="{FF2B5EF4-FFF2-40B4-BE49-F238E27FC236}">
                <a16:creationId xmlns:a16="http://schemas.microsoft.com/office/drawing/2014/main" id="{5894709F-D5E6-453D-BE4E-15958A9F18EC}"/>
              </a:ext>
            </a:extLst>
          </p:cNvPr>
          <p:cNvSpPr/>
          <p:nvPr/>
        </p:nvSpPr>
        <p:spPr bwMode="auto">
          <a:xfrm>
            <a:off x="4935736" y="5536496"/>
            <a:ext cx="28575"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Roboto" panose="02000000000000000000" pitchFamily="2" charset="0"/>
              <a:ea typeface="Roboto" panose="02000000000000000000" pitchFamily="2" charset="0"/>
              <a:cs typeface="Helvetica Neue" charset="0"/>
            </a:endParaRPr>
          </a:p>
        </p:txBody>
      </p:sp>
      <p:cxnSp>
        <p:nvCxnSpPr>
          <p:cNvPr id="107" name="Elbow Connector 271">
            <a:extLst>
              <a:ext uri="{FF2B5EF4-FFF2-40B4-BE49-F238E27FC236}">
                <a16:creationId xmlns:a16="http://schemas.microsoft.com/office/drawing/2014/main" id="{CCF429E1-A6C9-41BF-99E7-937476BC3686}"/>
              </a:ext>
            </a:extLst>
          </p:cNvPr>
          <p:cNvCxnSpPr>
            <a:cxnSpLocks noChangeShapeType="1"/>
          </p:cNvCxnSpPr>
          <p:nvPr/>
        </p:nvCxnSpPr>
        <p:spPr bwMode="auto">
          <a:xfrm rot="5400000">
            <a:off x="5298681" y="4364257"/>
            <a:ext cx="822152" cy="1548986"/>
          </a:xfrm>
          <a:prstGeom prst="bentConnector4">
            <a:avLst>
              <a:gd name="adj1" fmla="val 29171"/>
              <a:gd name="adj2" fmla="val 103454"/>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 name="Conector: angular 107">
            <a:extLst>
              <a:ext uri="{FF2B5EF4-FFF2-40B4-BE49-F238E27FC236}">
                <a16:creationId xmlns:a16="http://schemas.microsoft.com/office/drawing/2014/main" id="{B2E91B56-3FC9-416A-BC45-53D99277BC45}"/>
              </a:ext>
            </a:extLst>
          </p:cNvPr>
          <p:cNvCxnSpPr>
            <a:cxnSpLocks/>
            <a:stCxn id="73" idx="1"/>
            <a:endCxn id="29" idx="3"/>
          </p:cNvCxnSpPr>
          <p:nvPr/>
        </p:nvCxnSpPr>
        <p:spPr>
          <a:xfrm rot="10800000" flipV="1">
            <a:off x="3843338" y="5244196"/>
            <a:ext cx="1105495" cy="83393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9" name="Down Arrow 131">
            <a:extLst>
              <a:ext uri="{FF2B5EF4-FFF2-40B4-BE49-F238E27FC236}">
                <a16:creationId xmlns:a16="http://schemas.microsoft.com/office/drawing/2014/main" id="{C96FADAC-CAB7-464A-A39C-73B5E3C6D543}"/>
              </a:ext>
            </a:extLst>
          </p:cNvPr>
          <p:cNvSpPr/>
          <p:nvPr/>
        </p:nvSpPr>
        <p:spPr>
          <a:xfrm>
            <a:off x="9642896" y="2781225"/>
            <a:ext cx="205881" cy="591645"/>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lecha: doblada 109">
            <a:extLst>
              <a:ext uri="{FF2B5EF4-FFF2-40B4-BE49-F238E27FC236}">
                <a16:creationId xmlns:a16="http://schemas.microsoft.com/office/drawing/2014/main" id="{34D50816-560D-4FE4-A2CE-F66EA8DB2678}"/>
              </a:ext>
            </a:extLst>
          </p:cNvPr>
          <p:cNvSpPr/>
          <p:nvPr/>
        </p:nvSpPr>
        <p:spPr>
          <a:xfrm rot="10800000" flipH="1">
            <a:off x="1483940" y="1452476"/>
            <a:ext cx="435174" cy="487680"/>
          </a:xfrm>
          <a:prstGeom prst="ben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11" name="Flecha: doblada 110">
            <a:extLst>
              <a:ext uri="{FF2B5EF4-FFF2-40B4-BE49-F238E27FC236}">
                <a16:creationId xmlns:a16="http://schemas.microsoft.com/office/drawing/2014/main" id="{254BF07C-97AF-4056-8DC8-EE562250C306}"/>
              </a:ext>
            </a:extLst>
          </p:cNvPr>
          <p:cNvSpPr/>
          <p:nvPr/>
        </p:nvSpPr>
        <p:spPr>
          <a:xfrm rot="10800000" flipH="1">
            <a:off x="2410062" y="2148157"/>
            <a:ext cx="435174" cy="487680"/>
          </a:xfrm>
          <a:prstGeom prst="ben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112" name="Flecha: doblada 111">
            <a:extLst>
              <a:ext uri="{FF2B5EF4-FFF2-40B4-BE49-F238E27FC236}">
                <a16:creationId xmlns:a16="http://schemas.microsoft.com/office/drawing/2014/main" id="{431ECA1B-C9C3-46F9-AE67-4FF798966011}"/>
              </a:ext>
            </a:extLst>
          </p:cNvPr>
          <p:cNvSpPr/>
          <p:nvPr/>
        </p:nvSpPr>
        <p:spPr>
          <a:xfrm rot="10800000" flipH="1">
            <a:off x="3379588" y="2844141"/>
            <a:ext cx="435174" cy="487680"/>
          </a:xfrm>
          <a:prstGeom prst="ben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grpSp>
        <p:nvGrpSpPr>
          <p:cNvPr id="113" name="Grupo 112">
            <a:extLst>
              <a:ext uri="{FF2B5EF4-FFF2-40B4-BE49-F238E27FC236}">
                <a16:creationId xmlns:a16="http://schemas.microsoft.com/office/drawing/2014/main" id="{F1518BC5-6EBB-4A61-BEBB-2C2BA67CD8F8}"/>
              </a:ext>
            </a:extLst>
          </p:cNvPr>
          <p:cNvGrpSpPr/>
          <p:nvPr/>
        </p:nvGrpSpPr>
        <p:grpSpPr>
          <a:xfrm>
            <a:off x="8290432" y="3241693"/>
            <a:ext cx="2965516" cy="3053727"/>
            <a:chOff x="8693084" y="1737190"/>
            <a:chExt cx="2965516" cy="3053727"/>
          </a:xfrm>
        </p:grpSpPr>
        <p:sp>
          <p:nvSpPr>
            <p:cNvPr id="114" name="Rectángulo: esquina doblada 113">
              <a:extLst>
                <a:ext uri="{FF2B5EF4-FFF2-40B4-BE49-F238E27FC236}">
                  <a16:creationId xmlns:a16="http://schemas.microsoft.com/office/drawing/2014/main" id="{4F783231-1E5A-472B-89AD-FF5424204AF3}"/>
                </a:ext>
              </a:extLst>
            </p:cNvPr>
            <p:cNvSpPr/>
            <p:nvPr/>
          </p:nvSpPr>
          <p:spPr>
            <a:xfrm flipV="1">
              <a:off x="8788334" y="2067083"/>
              <a:ext cx="2870266" cy="2723834"/>
            </a:xfrm>
            <a:prstGeom prst="foldedCorner">
              <a:avLst>
                <a:gd name="adj" fmla="val 10553"/>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atin typeface="Roboto" panose="02000000000000000000" pitchFamily="2" charset="0"/>
                <a:ea typeface="Roboto" panose="02000000000000000000" pitchFamily="2" charset="0"/>
              </a:endParaRPr>
            </a:p>
          </p:txBody>
        </p:sp>
        <p:sp>
          <p:nvSpPr>
            <p:cNvPr id="115" name="CuadroTexto 114">
              <a:extLst>
                <a:ext uri="{FF2B5EF4-FFF2-40B4-BE49-F238E27FC236}">
                  <a16:creationId xmlns:a16="http://schemas.microsoft.com/office/drawing/2014/main" id="{4CE0631B-00C8-4D9D-8D2D-BA3CF9AB6617}"/>
                </a:ext>
              </a:extLst>
            </p:cNvPr>
            <p:cNvSpPr txBox="1"/>
            <p:nvPr/>
          </p:nvSpPr>
          <p:spPr>
            <a:xfrm>
              <a:off x="8693084" y="1737190"/>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pic>
          <p:nvPicPr>
            <p:cNvPr id="116" name="Imagen 115">
              <a:extLst>
                <a:ext uri="{FF2B5EF4-FFF2-40B4-BE49-F238E27FC236}">
                  <a16:creationId xmlns:a16="http://schemas.microsoft.com/office/drawing/2014/main" id="{940FB2FC-55DF-4C9D-A505-379E9CC50825}"/>
                </a:ext>
              </a:extLst>
            </p:cNvPr>
            <p:cNvPicPr>
              <a:picLocks noChangeAspect="1"/>
            </p:cNvPicPr>
            <p:nvPr/>
          </p:nvPicPr>
          <p:blipFill>
            <a:blip r:embed="rId3"/>
            <a:stretch>
              <a:fillRect/>
            </a:stretch>
          </p:blipFill>
          <p:spPr>
            <a:xfrm>
              <a:off x="9059731" y="2317314"/>
              <a:ext cx="1066800" cy="655320"/>
            </a:xfrm>
            <a:prstGeom prst="rect">
              <a:avLst/>
            </a:prstGeom>
          </p:spPr>
        </p:pic>
        <p:pic>
          <p:nvPicPr>
            <p:cNvPr id="117" name="Imagen 116">
              <a:extLst>
                <a:ext uri="{FF2B5EF4-FFF2-40B4-BE49-F238E27FC236}">
                  <a16:creationId xmlns:a16="http://schemas.microsoft.com/office/drawing/2014/main" id="{E913B3FA-DD98-4809-9DE9-8432B90C061C}"/>
                </a:ext>
              </a:extLst>
            </p:cNvPr>
            <p:cNvPicPr>
              <a:picLocks noChangeAspect="1"/>
            </p:cNvPicPr>
            <p:nvPr/>
          </p:nvPicPr>
          <p:blipFill>
            <a:blip r:embed="rId3"/>
            <a:stretch>
              <a:fillRect/>
            </a:stretch>
          </p:blipFill>
          <p:spPr>
            <a:xfrm>
              <a:off x="10251429" y="2317314"/>
              <a:ext cx="1066800" cy="655320"/>
            </a:xfrm>
            <a:prstGeom prst="rect">
              <a:avLst/>
            </a:prstGeom>
          </p:spPr>
        </p:pic>
        <p:pic>
          <p:nvPicPr>
            <p:cNvPr id="118" name="Imagen 117">
              <a:extLst>
                <a:ext uri="{FF2B5EF4-FFF2-40B4-BE49-F238E27FC236}">
                  <a16:creationId xmlns:a16="http://schemas.microsoft.com/office/drawing/2014/main" id="{AC0BB2A2-A2C3-4BD2-B9A6-70DAA66F36C7}"/>
                </a:ext>
              </a:extLst>
            </p:cNvPr>
            <p:cNvPicPr>
              <a:picLocks noChangeAspect="1"/>
            </p:cNvPicPr>
            <p:nvPr/>
          </p:nvPicPr>
          <p:blipFill>
            <a:blip r:embed="rId3"/>
            <a:stretch>
              <a:fillRect/>
            </a:stretch>
          </p:blipFill>
          <p:spPr>
            <a:xfrm>
              <a:off x="9059731" y="3171350"/>
              <a:ext cx="1066800" cy="655320"/>
            </a:xfrm>
            <a:prstGeom prst="rect">
              <a:avLst/>
            </a:prstGeom>
          </p:spPr>
        </p:pic>
        <p:pic>
          <p:nvPicPr>
            <p:cNvPr id="119" name="Imagen 118">
              <a:extLst>
                <a:ext uri="{FF2B5EF4-FFF2-40B4-BE49-F238E27FC236}">
                  <a16:creationId xmlns:a16="http://schemas.microsoft.com/office/drawing/2014/main" id="{5DB3547E-5C0C-4C27-B7CB-5DC1F3609B7B}"/>
                </a:ext>
              </a:extLst>
            </p:cNvPr>
            <p:cNvPicPr>
              <a:picLocks noChangeAspect="1"/>
            </p:cNvPicPr>
            <p:nvPr/>
          </p:nvPicPr>
          <p:blipFill>
            <a:blip r:embed="rId3"/>
            <a:stretch>
              <a:fillRect/>
            </a:stretch>
          </p:blipFill>
          <p:spPr>
            <a:xfrm>
              <a:off x="10251429" y="3171350"/>
              <a:ext cx="1066800" cy="655320"/>
            </a:xfrm>
            <a:prstGeom prst="rect">
              <a:avLst/>
            </a:prstGeom>
          </p:spPr>
        </p:pic>
        <p:pic>
          <p:nvPicPr>
            <p:cNvPr id="120" name="Imagen 119">
              <a:extLst>
                <a:ext uri="{FF2B5EF4-FFF2-40B4-BE49-F238E27FC236}">
                  <a16:creationId xmlns:a16="http://schemas.microsoft.com/office/drawing/2014/main" id="{BF34BB74-135A-42F2-90C2-9AD5FE5B0798}"/>
                </a:ext>
              </a:extLst>
            </p:cNvPr>
            <p:cNvPicPr>
              <a:picLocks noChangeAspect="1"/>
            </p:cNvPicPr>
            <p:nvPr/>
          </p:nvPicPr>
          <p:blipFill>
            <a:blip r:embed="rId3"/>
            <a:stretch>
              <a:fillRect/>
            </a:stretch>
          </p:blipFill>
          <p:spPr>
            <a:xfrm>
              <a:off x="9059731" y="3938689"/>
              <a:ext cx="1066800" cy="655320"/>
            </a:xfrm>
            <a:prstGeom prst="rect">
              <a:avLst/>
            </a:prstGeom>
          </p:spPr>
        </p:pic>
        <p:pic>
          <p:nvPicPr>
            <p:cNvPr id="121" name="Imagen 120">
              <a:extLst>
                <a:ext uri="{FF2B5EF4-FFF2-40B4-BE49-F238E27FC236}">
                  <a16:creationId xmlns:a16="http://schemas.microsoft.com/office/drawing/2014/main" id="{0C269162-526B-4A19-A52E-D931E5643D70}"/>
                </a:ext>
              </a:extLst>
            </p:cNvPr>
            <p:cNvPicPr>
              <a:picLocks noChangeAspect="1"/>
            </p:cNvPicPr>
            <p:nvPr/>
          </p:nvPicPr>
          <p:blipFill>
            <a:blip r:embed="rId3"/>
            <a:stretch>
              <a:fillRect/>
            </a:stretch>
          </p:blipFill>
          <p:spPr>
            <a:xfrm>
              <a:off x="10251429" y="3938689"/>
              <a:ext cx="1066800" cy="655320"/>
            </a:xfrm>
            <a:prstGeom prst="rect">
              <a:avLst/>
            </a:prstGeom>
          </p:spPr>
        </p:pic>
      </p:grpSp>
      <p:cxnSp>
        <p:nvCxnSpPr>
          <p:cNvPr id="122" name="Conector: angular 121">
            <a:extLst>
              <a:ext uri="{FF2B5EF4-FFF2-40B4-BE49-F238E27FC236}">
                <a16:creationId xmlns:a16="http://schemas.microsoft.com/office/drawing/2014/main" id="{C617FCE2-B278-418A-8921-01B93183D817}"/>
              </a:ext>
            </a:extLst>
          </p:cNvPr>
          <p:cNvCxnSpPr>
            <a:cxnSpLocks/>
            <a:stCxn id="116" idx="1"/>
          </p:cNvCxnSpPr>
          <p:nvPr/>
        </p:nvCxnSpPr>
        <p:spPr>
          <a:xfrm rot="10800000" flipV="1">
            <a:off x="7379651" y="4149477"/>
            <a:ext cx="1277429" cy="106647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505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Organización de los archivos</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902211"/>
            <a:ext cx="10781864" cy="51937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Existen muchas alternativas, cada una ideal para ciertas situaciones, y no tan adecuadas en otras.</a:t>
            </a:r>
          </a:p>
          <a:p>
            <a:r>
              <a:rPr lang="es-MX" sz="2000" b="1" dirty="0"/>
              <a:t>Archivos tipo heap (Heap)</a:t>
            </a:r>
            <a:r>
              <a:rPr lang="es-MX" sz="2000" dirty="0"/>
              <a:t>: Adecuados cuando el acceso típico es un escaneo completo del archivo que recupera todos los registros.</a:t>
            </a:r>
          </a:p>
          <a:p>
            <a:r>
              <a:rPr lang="es-MX" sz="2000" b="1" dirty="0"/>
              <a:t>Archivos ordenados (Sorted Files)</a:t>
            </a:r>
            <a:r>
              <a:rPr lang="es-MX" sz="2000" dirty="0"/>
              <a:t>: Son mejores si los registros deben recuperarse en algún orden, o si solo se necesita un rango de registros.</a:t>
            </a:r>
          </a:p>
          <a:p>
            <a:r>
              <a:rPr lang="es-MX" sz="2000" b="1" dirty="0"/>
              <a:t>Índices (Indexes)</a:t>
            </a:r>
            <a:r>
              <a:rPr lang="es-MX" sz="2000" dirty="0"/>
              <a:t>: Estructuras de datos para organizar registros mediante árboles (trees) o hashing (hashing).</a:t>
            </a:r>
          </a:p>
          <a:p>
            <a:pPr lvl="1"/>
            <a:r>
              <a:rPr lang="es-MX" sz="2000" dirty="0"/>
              <a:t>Al igual que los archivos ordenados, aceleran las búsquedas para un subconjunto de registros, basándose en valores de ciertos campos (</a:t>
            </a:r>
            <a:r>
              <a:rPr lang="es-MX" sz="2000" b="1" dirty="0"/>
              <a:t>search key</a:t>
            </a:r>
            <a:r>
              <a:rPr lang="es-MX" sz="2000" dirty="0"/>
              <a:t>).</a:t>
            </a:r>
          </a:p>
          <a:p>
            <a:pPr lvl="1"/>
            <a:r>
              <a:rPr lang="es-MX" sz="2000" dirty="0"/>
              <a:t>Las actualizaciones son mucho más rápidas que en archivos ordenados.</a:t>
            </a:r>
          </a:p>
        </p:txBody>
      </p:sp>
    </p:spTree>
    <p:extLst>
      <p:ext uri="{BB962C8B-B14F-4D97-AF65-F5344CB8AC3E}">
        <p14:creationId xmlns:p14="http://schemas.microsoft.com/office/powerpoint/2010/main" val="228680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Archivos tipo heap</a:t>
            </a:r>
            <a:endParaRPr dirty="0">
              <a:highlight>
                <a:srgbClr val="FFFF00"/>
              </a:highlight>
            </a:endParaRPr>
          </a:p>
        </p:txBody>
      </p:sp>
      <p:grpSp>
        <p:nvGrpSpPr>
          <p:cNvPr id="4" name="Grupo 3">
            <a:extLst>
              <a:ext uri="{FF2B5EF4-FFF2-40B4-BE49-F238E27FC236}">
                <a16:creationId xmlns:a16="http://schemas.microsoft.com/office/drawing/2014/main" id="{675D29A8-12C8-4E79-8451-582F6DD193A5}"/>
              </a:ext>
            </a:extLst>
          </p:cNvPr>
          <p:cNvGrpSpPr/>
          <p:nvPr/>
        </p:nvGrpSpPr>
        <p:grpSpPr>
          <a:xfrm>
            <a:off x="1115716" y="2818278"/>
            <a:ext cx="2870266" cy="1976038"/>
            <a:chOff x="7752463" y="4106107"/>
            <a:chExt cx="2870266" cy="1976038"/>
          </a:xfrm>
        </p:grpSpPr>
        <p:grpSp>
          <p:nvGrpSpPr>
            <p:cNvPr id="5" name="Grupo 4">
              <a:extLst>
                <a:ext uri="{FF2B5EF4-FFF2-40B4-BE49-F238E27FC236}">
                  <a16:creationId xmlns:a16="http://schemas.microsoft.com/office/drawing/2014/main" id="{D8B1243D-8C60-4149-B065-644853454E99}"/>
                </a:ext>
              </a:extLst>
            </p:cNvPr>
            <p:cNvGrpSpPr/>
            <p:nvPr/>
          </p:nvGrpSpPr>
          <p:grpSpPr>
            <a:xfrm>
              <a:off x="7818569" y="4398818"/>
              <a:ext cx="2804160" cy="1683327"/>
              <a:chOff x="7719061" y="4641270"/>
              <a:chExt cx="2804160" cy="1683327"/>
            </a:xfrm>
          </p:grpSpPr>
          <p:sp>
            <p:nvSpPr>
              <p:cNvPr id="7" name="Rectángulo: esquina doblada 6">
                <a:extLst>
                  <a:ext uri="{FF2B5EF4-FFF2-40B4-BE49-F238E27FC236}">
                    <a16:creationId xmlns:a16="http://schemas.microsoft.com/office/drawing/2014/main" id="{C653BCC1-35B5-4EB9-AD08-3F5AB42E7A1E}"/>
                  </a:ext>
                </a:extLst>
              </p:cNvPr>
              <p:cNvSpPr/>
              <p:nvPr/>
            </p:nvSpPr>
            <p:spPr>
              <a:xfrm flipV="1">
                <a:off x="7719061" y="4641270"/>
                <a:ext cx="2804160" cy="1683327"/>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8" name="Grupo 7">
                <a:extLst>
                  <a:ext uri="{FF2B5EF4-FFF2-40B4-BE49-F238E27FC236}">
                    <a16:creationId xmlns:a16="http://schemas.microsoft.com/office/drawing/2014/main" id="{3BCA3851-C7CB-4C0F-A620-9F3A0F7B6FC1}"/>
                  </a:ext>
                </a:extLst>
              </p:cNvPr>
              <p:cNvGrpSpPr/>
              <p:nvPr/>
            </p:nvGrpSpPr>
            <p:grpSpPr>
              <a:xfrm>
                <a:off x="7897091" y="4755573"/>
                <a:ext cx="2300657" cy="1444181"/>
                <a:chOff x="7897091" y="4755573"/>
                <a:chExt cx="2300657" cy="1444181"/>
              </a:xfrm>
            </p:grpSpPr>
            <p:grpSp>
              <p:nvGrpSpPr>
                <p:cNvPr id="9" name="Grupo 8">
                  <a:extLst>
                    <a:ext uri="{FF2B5EF4-FFF2-40B4-BE49-F238E27FC236}">
                      <a16:creationId xmlns:a16="http://schemas.microsoft.com/office/drawing/2014/main" id="{4F52066D-D886-4316-96F8-00314AB05390}"/>
                    </a:ext>
                  </a:extLst>
                </p:cNvPr>
                <p:cNvGrpSpPr/>
                <p:nvPr/>
              </p:nvGrpSpPr>
              <p:grpSpPr>
                <a:xfrm>
                  <a:off x="7897091" y="4755573"/>
                  <a:ext cx="2300657" cy="415636"/>
                  <a:chOff x="7897091" y="4755573"/>
                  <a:chExt cx="2300657" cy="415636"/>
                </a:xfrm>
              </p:grpSpPr>
              <p:sp>
                <p:nvSpPr>
                  <p:cNvPr id="16" name="Rectángulo 15">
                    <a:extLst>
                      <a:ext uri="{FF2B5EF4-FFF2-40B4-BE49-F238E27FC236}">
                        <a16:creationId xmlns:a16="http://schemas.microsoft.com/office/drawing/2014/main" id="{7CDCDC97-66ED-444D-9567-6A32B6506C91}"/>
                      </a:ext>
                    </a:extLst>
                  </p:cNvPr>
                  <p:cNvSpPr/>
                  <p:nvPr/>
                </p:nvSpPr>
                <p:spPr>
                  <a:xfrm>
                    <a:off x="7897091"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1</a:t>
                    </a:r>
                  </a:p>
                </p:txBody>
              </p:sp>
              <p:sp>
                <p:nvSpPr>
                  <p:cNvPr id="17" name="Rectángulo 16">
                    <a:extLst>
                      <a:ext uri="{FF2B5EF4-FFF2-40B4-BE49-F238E27FC236}">
                        <a16:creationId xmlns:a16="http://schemas.microsoft.com/office/drawing/2014/main" id="{81D9E4A2-2E36-4A05-9340-9BB6886E6F40}"/>
                      </a:ext>
                    </a:extLst>
                  </p:cNvPr>
                  <p:cNvSpPr/>
                  <p:nvPr/>
                </p:nvSpPr>
                <p:spPr>
                  <a:xfrm>
                    <a:off x="9117094"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2</a:t>
                    </a:r>
                  </a:p>
                </p:txBody>
              </p:sp>
            </p:grpSp>
            <p:grpSp>
              <p:nvGrpSpPr>
                <p:cNvPr id="10" name="Grupo 9">
                  <a:extLst>
                    <a:ext uri="{FF2B5EF4-FFF2-40B4-BE49-F238E27FC236}">
                      <a16:creationId xmlns:a16="http://schemas.microsoft.com/office/drawing/2014/main" id="{C1924D1D-8619-4486-B501-EEB0433CB366}"/>
                    </a:ext>
                  </a:extLst>
                </p:cNvPr>
                <p:cNvGrpSpPr/>
                <p:nvPr/>
              </p:nvGrpSpPr>
              <p:grpSpPr>
                <a:xfrm>
                  <a:off x="7897091" y="5269557"/>
                  <a:ext cx="2300657" cy="415636"/>
                  <a:chOff x="7897091" y="5314950"/>
                  <a:chExt cx="2300657" cy="415636"/>
                </a:xfrm>
              </p:grpSpPr>
              <p:sp>
                <p:nvSpPr>
                  <p:cNvPr id="14" name="Rectángulo 13">
                    <a:extLst>
                      <a:ext uri="{FF2B5EF4-FFF2-40B4-BE49-F238E27FC236}">
                        <a16:creationId xmlns:a16="http://schemas.microsoft.com/office/drawing/2014/main" id="{4B648E0B-AD36-43F2-A116-5DB03ED80C82}"/>
                      </a:ext>
                    </a:extLst>
                  </p:cNvPr>
                  <p:cNvSpPr/>
                  <p:nvPr/>
                </p:nvSpPr>
                <p:spPr>
                  <a:xfrm>
                    <a:off x="7897091"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3</a:t>
                    </a:r>
                  </a:p>
                </p:txBody>
              </p:sp>
              <p:sp>
                <p:nvSpPr>
                  <p:cNvPr id="15" name="Rectángulo 14">
                    <a:extLst>
                      <a:ext uri="{FF2B5EF4-FFF2-40B4-BE49-F238E27FC236}">
                        <a16:creationId xmlns:a16="http://schemas.microsoft.com/office/drawing/2014/main" id="{789F46B6-6DE9-4DAE-AFBF-75BAB80DF78D}"/>
                      </a:ext>
                    </a:extLst>
                  </p:cNvPr>
                  <p:cNvSpPr/>
                  <p:nvPr/>
                </p:nvSpPr>
                <p:spPr>
                  <a:xfrm>
                    <a:off x="9117094"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4</a:t>
                    </a:r>
                  </a:p>
                </p:txBody>
              </p:sp>
            </p:grpSp>
            <p:grpSp>
              <p:nvGrpSpPr>
                <p:cNvPr id="11" name="Grupo 10">
                  <a:extLst>
                    <a:ext uri="{FF2B5EF4-FFF2-40B4-BE49-F238E27FC236}">
                      <a16:creationId xmlns:a16="http://schemas.microsoft.com/office/drawing/2014/main" id="{4AF58433-4D8C-4DA2-8986-03F0A08E692E}"/>
                    </a:ext>
                  </a:extLst>
                </p:cNvPr>
                <p:cNvGrpSpPr/>
                <p:nvPr/>
              </p:nvGrpSpPr>
              <p:grpSpPr>
                <a:xfrm>
                  <a:off x="7897091" y="5784118"/>
                  <a:ext cx="2300657" cy="415636"/>
                  <a:chOff x="7897091" y="5874327"/>
                  <a:chExt cx="2300657" cy="415636"/>
                </a:xfrm>
              </p:grpSpPr>
              <p:sp>
                <p:nvSpPr>
                  <p:cNvPr id="12" name="Rectángulo 11">
                    <a:extLst>
                      <a:ext uri="{FF2B5EF4-FFF2-40B4-BE49-F238E27FC236}">
                        <a16:creationId xmlns:a16="http://schemas.microsoft.com/office/drawing/2014/main" id="{2887ECF4-0ACE-414C-A432-B8AF75F7E4E9}"/>
                      </a:ext>
                    </a:extLst>
                  </p:cNvPr>
                  <p:cNvSpPr/>
                  <p:nvPr/>
                </p:nvSpPr>
                <p:spPr>
                  <a:xfrm>
                    <a:off x="7897091"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5</a:t>
                    </a:r>
                  </a:p>
                </p:txBody>
              </p:sp>
              <p:sp>
                <p:nvSpPr>
                  <p:cNvPr id="13" name="Rectángulo 12">
                    <a:extLst>
                      <a:ext uri="{FF2B5EF4-FFF2-40B4-BE49-F238E27FC236}">
                        <a16:creationId xmlns:a16="http://schemas.microsoft.com/office/drawing/2014/main" id="{42CCF4D4-16FF-4C8A-815E-18EB9848A9C8}"/>
                      </a:ext>
                    </a:extLst>
                  </p:cNvPr>
                  <p:cNvSpPr/>
                  <p:nvPr/>
                </p:nvSpPr>
                <p:spPr>
                  <a:xfrm>
                    <a:off x="9117094"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6</a:t>
                    </a:r>
                  </a:p>
                </p:txBody>
              </p:sp>
            </p:grpSp>
          </p:grpSp>
        </p:grpSp>
        <p:sp>
          <p:nvSpPr>
            <p:cNvPr id="6" name="CuadroTexto 5">
              <a:extLst>
                <a:ext uri="{FF2B5EF4-FFF2-40B4-BE49-F238E27FC236}">
                  <a16:creationId xmlns:a16="http://schemas.microsoft.com/office/drawing/2014/main" id="{5408ECF4-870C-4A10-A71D-CE0F70AEC5F1}"/>
                </a:ext>
              </a:extLst>
            </p:cNvPr>
            <p:cNvSpPr txBox="1"/>
            <p:nvPr/>
          </p:nvSpPr>
          <p:spPr>
            <a:xfrm>
              <a:off x="7752463" y="4106107"/>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grpSp>
      <p:pic>
        <p:nvPicPr>
          <p:cNvPr id="18" name="Imagen 17">
            <a:extLst>
              <a:ext uri="{FF2B5EF4-FFF2-40B4-BE49-F238E27FC236}">
                <a16:creationId xmlns:a16="http://schemas.microsoft.com/office/drawing/2014/main" id="{11ECC97E-3DFC-45FD-81EF-B99CD22A7695}"/>
              </a:ext>
            </a:extLst>
          </p:cNvPr>
          <p:cNvPicPr>
            <a:picLocks noChangeAspect="1"/>
          </p:cNvPicPr>
          <p:nvPr/>
        </p:nvPicPr>
        <p:blipFill>
          <a:blip r:embed="rId3"/>
          <a:stretch>
            <a:fillRect/>
          </a:stretch>
        </p:blipFill>
        <p:spPr>
          <a:xfrm>
            <a:off x="6862077" y="1695923"/>
            <a:ext cx="5036457" cy="1808603"/>
          </a:xfrm>
          <a:prstGeom prst="rect">
            <a:avLst/>
          </a:prstGeom>
        </p:spPr>
      </p:pic>
      <p:pic>
        <p:nvPicPr>
          <p:cNvPr id="19" name="Imagen 18">
            <a:extLst>
              <a:ext uri="{FF2B5EF4-FFF2-40B4-BE49-F238E27FC236}">
                <a16:creationId xmlns:a16="http://schemas.microsoft.com/office/drawing/2014/main" id="{9EDA9C57-BD4A-432D-8D85-0C102E7ED51D}"/>
              </a:ext>
            </a:extLst>
          </p:cNvPr>
          <p:cNvPicPr>
            <a:picLocks noChangeAspect="1"/>
          </p:cNvPicPr>
          <p:nvPr/>
        </p:nvPicPr>
        <p:blipFill>
          <a:blip r:embed="rId4"/>
          <a:stretch>
            <a:fillRect/>
          </a:stretch>
        </p:blipFill>
        <p:spPr>
          <a:xfrm>
            <a:off x="7717946" y="4073113"/>
            <a:ext cx="3005408" cy="2177928"/>
          </a:xfrm>
          <a:prstGeom prst="rect">
            <a:avLst/>
          </a:prstGeom>
        </p:spPr>
      </p:pic>
      <p:sp>
        <p:nvSpPr>
          <p:cNvPr id="20" name="Rectángulo: esquinas redondeadas 19">
            <a:extLst>
              <a:ext uri="{FF2B5EF4-FFF2-40B4-BE49-F238E27FC236}">
                <a16:creationId xmlns:a16="http://schemas.microsoft.com/office/drawing/2014/main" id="{75F680CD-3EF5-4016-BFD3-855477188F34}"/>
              </a:ext>
            </a:extLst>
          </p:cNvPr>
          <p:cNvSpPr/>
          <p:nvPr/>
        </p:nvSpPr>
        <p:spPr>
          <a:xfrm>
            <a:off x="4652952" y="2090057"/>
            <a:ext cx="1646248" cy="84182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latin typeface="Roboto" panose="02000000000000000000" pitchFamily="2" charset="0"/>
                <a:ea typeface="Roboto" panose="02000000000000000000" pitchFamily="2" charset="0"/>
              </a:rPr>
              <a:t>Lista enlazada </a:t>
            </a:r>
            <a:endParaRPr lang="es-CO" sz="1800" b="1" dirty="0">
              <a:latin typeface="Roboto" panose="02000000000000000000" pitchFamily="2" charset="0"/>
              <a:ea typeface="Roboto" panose="02000000000000000000" pitchFamily="2" charset="0"/>
            </a:endParaRPr>
          </a:p>
        </p:txBody>
      </p:sp>
      <p:sp>
        <p:nvSpPr>
          <p:cNvPr id="21" name="Rectángulo: esquinas redondeadas 20">
            <a:extLst>
              <a:ext uri="{FF2B5EF4-FFF2-40B4-BE49-F238E27FC236}">
                <a16:creationId xmlns:a16="http://schemas.microsoft.com/office/drawing/2014/main" id="{AC95AFF0-1EA8-4FE9-8BEC-EB0AA23D4CD4}"/>
              </a:ext>
            </a:extLst>
          </p:cNvPr>
          <p:cNvSpPr/>
          <p:nvPr/>
        </p:nvSpPr>
        <p:spPr>
          <a:xfrm>
            <a:off x="4674077" y="4822961"/>
            <a:ext cx="1646248" cy="84182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800" b="1" dirty="0">
                <a:latin typeface="Roboto" panose="02000000000000000000" pitchFamily="2" charset="0"/>
                <a:ea typeface="Roboto" panose="02000000000000000000" pitchFamily="2" charset="0"/>
              </a:rPr>
              <a:t>Lista de directorios </a:t>
            </a:r>
            <a:endParaRPr lang="es-CO" sz="1800"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40724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Archivos ordenados (sorted files)</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902211"/>
            <a:ext cx="10781864" cy="9495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Adecuado para aplicaciones que requieren procesamiento secuencial de todo el archivo.</a:t>
            </a:r>
          </a:p>
          <a:p>
            <a:r>
              <a:rPr lang="es-MX" sz="2000" dirty="0"/>
              <a:t>Los registros en el archivo están ordenados según una clave de búsqueda (</a:t>
            </a:r>
            <a:r>
              <a:rPr lang="es-MX" sz="2000" b="1" dirty="0"/>
              <a:t>search-key</a:t>
            </a:r>
            <a:r>
              <a:rPr lang="es-MX" sz="2000" dirty="0"/>
              <a:t>).</a:t>
            </a:r>
          </a:p>
        </p:txBody>
      </p:sp>
      <p:pic>
        <p:nvPicPr>
          <p:cNvPr id="5" name="Picture 11">
            <a:extLst>
              <a:ext uri="{FF2B5EF4-FFF2-40B4-BE49-F238E27FC236}">
                <a16:creationId xmlns:a16="http://schemas.microsoft.com/office/drawing/2014/main" id="{F2B09921-53F0-4B85-B3E9-9A25D6A936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4544" y="2073055"/>
            <a:ext cx="5426075" cy="361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9935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Archivos ordenados (sorted files)</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03291" y="912282"/>
            <a:ext cx="5392709" cy="53818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b="1" dirty="0"/>
              <a:t>Algunas Operaciones</a:t>
            </a:r>
          </a:p>
          <a:p>
            <a:r>
              <a:rPr lang="es-MX" sz="2000" b="1" dirty="0"/>
              <a:t>Eliminación (Deletion)</a:t>
            </a:r>
            <a:r>
              <a:rPr lang="es-MX" sz="2000" dirty="0"/>
              <a:t>: utiliza cadenas de punteros (pointer chains).</a:t>
            </a:r>
          </a:p>
          <a:p>
            <a:r>
              <a:rPr lang="es-MX" sz="2000" b="1" dirty="0"/>
              <a:t>Inserción (Insertion)</a:t>
            </a:r>
            <a:r>
              <a:rPr lang="es-MX" sz="2000" dirty="0"/>
              <a:t>: Localiza la posición donde debe insertarse el registro:</a:t>
            </a:r>
          </a:p>
          <a:p>
            <a:pPr lvl="1"/>
            <a:r>
              <a:rPr lang="es-MX" sz="1800" dirty="0"/>
              <a:t>Si hay espacio libre (free space), se inserta allí</a:t>
            </a:r>
          </a:p>
          <a:p>
            <a:pPr lvl="1"/>
            <a:r>
              <a:rPr lang="es-MX" sz="2000" dirty="0"/>
              <a:t>Si no hay espacio libre, se inserta el registro en un bloque de desbordamiento (</a:t>
            </a:r>
            <a:r>
              <a:rPr lang="es-MX" sz="2000" b="1" dirty="0"/>
              <a:t>overflow block</a:t>
            </a:r>
            <a:r>
              <a:rPr lang="es-MX" sz="2000" dirty="0"/>
              <a:t>)</a:t>
            </a:r>
          </a:p>
          <a:p>
            <a:pPr lvl="1"/>
            <a:r>
              <a:rPr lang="es-MX" sz="2000" dirty="0"/>
              <a:t>En cualquier caso, la cadena de punteros debe ser actualizada.</a:t>
            </a:r>
          </a:p>
          <a:p>
            <a:r>
              <a:rPr lang="es-MX" sz="2000" dirty="0"/>
              <a:t>Es necesario reorganizar el archivo de vez en cuando para restaurar el orden secuencial.</a:t>
            </a:r>
          </a:p>
          <a:p>
            <a:endParaRPr lang="es-MX" sz="2400" dirty="0"/>
          </a:p>
        </p:txBody>
      </p:sp>
      <p:pic>
        <p:nvPicPr>
          <p:cNvPr id="9" name="Picture 11">
            <a:extLst>
              <a:ext uri="{FF2B5EF4-FFF2-40B4-BE49-F238E27FC236}">
                <a16:creationId xmlns:a16="http://schemas.microsoft.com/office/drawing/2014/main" id="{3C091905-E55C-456B-A64D-AC45D0538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444" y="1499448"/>
            <a:ext cx="5732412" cy="4207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27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Contextualización</a:t>
            </a:r>
          </a:p>
        </p:txBody>
      </p:sp>
      <p:sp>
        <p:nvSpPr>
          <p:cNvPr id="6" name="Google Shape;310;p34">
            <a:extLst>
              <a:ext uri="{FF2B5EF4-FFF2-40B4-BE49-F238E27FC236}">
                <a16:creationId xmlns:a16="http://schemas.microsoft.com/office/drawing/2014/main" id="{CF851078-B9A5-498B-8A59-BAB678895DC4}"/>
              </a:ext>
            </a:extLst>
          </p:cNvPr>
          <p:cNvSpPr txBox="1">
            <a:spLocks noGrp="1"/>
          </p:cNvSpPr>
          <p:nvPr>
            <p:ph type="body" idx="1"/>
          </p:nvPr>
        </p:nvSpPr>
        <p:spPr>
          <a:xfrm>
            <a:off x="916650" y="863760"/>
            <a:ext cx="10711470" cy="23214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dirty="0"/>
              <a:t>El </a:t>
            </a:r>
            <a:r>
              <a:rPr lang="es-MX" sz="2200" b="1" dirty="0"/>
              <a:t>DBMS</a:t>
            </a:r>
            <a:r>
              <a:rPr lang="es-MX" sz="2200" dirty="0"/>
              <a:t> se organiza en capas funcionales, desde el almacenamiento físico (</a:t>
            </a:r>
            <a:r>
              <a:rPr lang="es-MX" sz="2200" b="1" dirty="0"/>
              <a:t>Disk Manager</a:t>
            </a:r>
            <a:r>
              <a:rPr lang="es-MX" sz="2200" dirty="0"/>
              <a:t>) hasta la planificación de consultas (</a:t>
            </a:r>
            <a:r>
              <a:rPr lang="es-MX" sz="2200" b="1" dirty="0"/>
              <a:t>Query Planning</a:t>
            </a:r>
            <a:r>
              <a:rPr lang="es-MX" sz="2200" dirty="0"/>
              <a:t>)</a:t>
            </a:r>
          </a:p>
          <a:p>
            <a:pPr marL="342900" indent="-342900"/>
            <a:r>
              <a:rPr lang="es-MX" sz="2200" dirty="0"/>
              <a:t>La capa de </a:t>
            </a:r>
            <a:r>
              <a:rPr lang="es-MX" sz="2200" b="1" dirty="0"/>
              <a:t>Access Methods</a:t>
            </a:r>
            <a:r>
              <a:rPr lang="es-MX" sz="2200" dirty="0"/>
              <a:t> es la responsable de leer y escribir datos eficientemente desde las páginas (pages)</a:t>
            </a:r>
          </a:p>
          <a:p>
            <a:pPr marL="342900" indent="-342900"/>
            <a:r>
              <a:rPr lang="es-MX" sz="2200" dirty="0"/>
              <a:t>La indexación (</a:t>
            </a:r>
            <a:r>
              <a:rPr lang="es-MX" sz="2200" b="1" dirty="0"/>
              <a:t>indexing</a:t>
            </a:r>
            <a:r>
              <a:rPr lang="es-MX" sz="2200" dirty="0"/>
              <a:t>) es el mecanismo fundamental de esta capa: permite acceder a los datos sin recorrer el archivo completo</a:t>
            </a:r>
          </a:p>
          <a:p>
            <a:pPr marL="342900" indent="-342900"/>
            <a:endParaRPr lang="es-MX" sz="2200" dirty="0"/>
          </a:p>
        </p:txBody>
      </p:sp>
      <p:pic>
        <p:nvPicPr>
          <p:cNvPr id="5" name="Imagen 4">
            <a:extLst>
              <a:ext uri="{FF2B5EF4-FFF2-40B4-BE49-F238E27FC236}">
                <a16:creationId xmlns:a16="http://schemas.microsoft.com/office/drawing/2014/main" id="{F71EB42A-BE6B-4CFF-B76E-F54CFF9ADDB9}"/>
              </a:ext>
            </a:extLst>
          </p:cNvPr>
          <p:cNvPicPr>
            <a:picLocks noChangeAspect="1"/>
          </p:cNvPicPr>
          <p:nvPr/>
        </p:nvPicPr>
        <p:blipFill>
          <a:blip r:embed="rId3"/>
          <a:stretch>
            <a:fillRect/>
          </a:stretch>
        </p:blipFill>
        <p:spPr>
          <a:xfrm>
            <a:off x="4559487" y="3358030"/>
            <a:ext cx="3761075" cy="3220561"/>
          </a:xfrm>
          <a:prstGeom prst="rect">
            <a:avLst/>
          </a:prstGeom>
        </p:spPr>
      </p:pic>
    </p:spTree>
    <p:extLst>
      <p:ext uri="{BB962C8B-B14F-4D97-AF65-F5344CB8AC3E}">
        <p14:creationId xmlns:p14="http://schemas.microsoft.com/office/powerpoint/2010/main" val="3597328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Indexando en un libro</a:t>
            </a:r>
          </a:p>
        </p:txBody>
      </p:sp>
      <p:sp>
        <p:nvSpPr>
          <p:cNvPr id="6" name="Google Shape;310;p34">
            <a:extLst>
              <a:ext uri="{FF2B5EF4-FFF2-40B4-BE49-F238E27FC236}">
                <a16:creationId xmlns:a16="http://schemas.microsoft.com/office/drawing/2014/main" id="{CF851078-B9A5-498B-8A59-BAB678895DC4}"/>
              </a:ext>
            </a:extLst>
          </p:cNvPr>
          <p:cNvSpPr txBox="1">
            <a:spLocks noGrp="1"/>
          </p:cNvSpPr>
          <p:nvPr>
            <p:ph type="body" idx="1"/>
          </p:nvPr>
        </p:nvSpPr>
        <p:spPr>
          <a:xfrm>
            <a:off x="916650" y="863760"/>
            <a:ext cx="10711470" cy="44245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b="1" dirty="0"/>
              <a:t>Ejemplo</a:t>
            </a:r>
            <a:r>
              <a:rPr lang="es-MX" sz="2200" dirty="0"/>
              <a:t>: Encontrar información sobre “</a:t>
            </a:r>
            <a:r>
              <a:rPr lang="es-MX" sz="2200" b="1" dirty="0"/>
              <a:t>Google Cloud SQL</a:t>
            </a:r>
            <a:r>
              <a:rPr lang="es-MX" sz="2200" dirty="0"/>
              <a:t>” a partir de: </a:t>
            </a:r>
            <a:r>
              <a:rPr lang="es-MX" sz="2200" b="1" i="1" dirty="0"/>
              <a:t>Algún libro</a:t>
            </a:r>
          </a:p>
        </p:txBody>
      </p:sp>
      <p:pic>
        <p:nvPicPr>
          <p:cNvPr id="7" name="Imagen 6">
            <a:extLst>
              <a:ext uri="{FF2B5EF4-FFF2-40B4-BE49-F238E27FC236}">
                <a16:creationId xmlns:a16="http://schemas.microsoft.com/office/drawing/2014/main" id="{815104FE-6AA2-4679-B8A4-727341D79345}"/>
              </a:ext>
            </a:extLst>
          </p:cNvPr>
          <p:cNvPicPr>
            <a:picLocks noChangeAspect="1"/>
          </p:cNvPicPr>
          <p:nvPr/>
        </p:nvPicPr>
        <p:blipFill>
          <a:blip r:embed="rId3"/>
          <a:stretch>
            <a:fillRect/>
          </a:stretch>
        </p:blipFill>
        <p:spPr>
          <a:xfrm>
            <a:off x="2011028" y="1569720"/>
            <a:ext cx="1895653" cy="2425620"/>
          </a:xfrm>
          <a:prstGeom prst="rect">
            <a:avLst/>
          </a:prstGeom>
        </p:spPr>
      </p:pic>
      <p:pic>
        <p:nvPicPr>
          <p:cNvPr id="9" name="Imagen 8">
            <a:extLst>
              <a:ext uri="{FF2B5EF4-FFF2-40B4-BE49-F238E27FC236}">
                <a16:creationId xmlns:a16="http://schemas.microsoft.com/office/drawing/2014/main" id="{16D6E07A-1EA5-43FE-8681-B69BE0EA6052}"/>
              </a:ext>
            </a:extLst>
          </p:cNvPr>
          <p:cNvPicPr>
            <a:picLocks noChangeAspect="1"/>
          </p:cNvPicPr>
          <p:nvPr/>
        </p:nvPicPr>
        <p:blipFill>
          <a:blip r:embed="rId4"/>
          <a:stretch>
            <a:fillRect/>
          </a:stretch>
        </p:blipFill>
        <p:spPr>
          <a:xfrm>
            <a:off x="5706600" y="1569720"/>
            <a:ext cx="5968873" cy="4486282"/>
          </a:xfrm>
          <a:prstGeom prst="rect">
            <a:avLst/>
          </a:prstGeom>
        </p:spPr>
      </p:pic>
      <p:sp>
        <p:nvSpPr>
          <p:cNvPr id="10" name="Google Shape;310;p34">
            <a:extLst>
              <a:ext uri="{FF2B5EF4-FFF2-40B4-BE49-F238E27FC236}">
                <a16:creationId xmlns:a16="http://schemas.microsoft.com/office/drawing/2014/main" id="{84272E15-D148-4292-80AD-B79BDE30C23F}"/>
              </a:ext>
            </a:extLst>
          </p:cNvPr>
          <p:cNvSpPr txBox="1">
            <a:spLocks/>
          </p:cNvSpPr>
          <p:nvPr/>
        </p:nvSpPr>
        <p:spPr>
          <a:xfrm>
            <a:off x="746760" y="4356795"/>
            <a:ext cx="4789950" cy="19982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800100" lvl="1" indent="-342900"/>
            <a:r>
              <a:rPr lang="es-MX" sz="2000" dirty="0"/>
              <a:t>Buscar las palabras clave (keywords) en el índice.</a:t>
            </a:r>
          </a:p>
          <a:p>
            <a:pPr marL="800100" lvl="1" indent="-342900"/>
            <a:r>
              <a:rPr lang="es-MX" sz="2000" dirty="0"/>
              <a:t>Encontrar las páginas donde aparecen las palabras.</a:t>
            </a:r>
          </a:p>
          <a:p>
            <a:pPr marL="800100" lvl="1" indent="-342900"/>
            <a:r>
              <a:rPr lang="es-MX" sz="2000" dirty="0"/>
              <a:t>Leer las páginas para encontrar la información.</a:t>
            </a:r>
          </a:p>
        </p:txBody>
      </p:sp>
    </p:spTree>
    <p:extLst>
      <p:ext uri="{BB962C8B-B14F-4D97-AF65-F5344CB8AC3E}">
        <p14:creationId xmlns:p14="http://schemas.microsoft.com/office/powerpoint/2010/main" val="2626027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Indexando en una base de datos</a:t>
            </a:r>
          </a:p>
        </p:txBody>
      </p:sp>
      <p:sp>
        <p:nvSpPr>
          <p:cNvPr id="6" name="Google Shape;310;p34">
            <a:extLst>
              <a:ext uri="{FF2B5EF4-FFF2-40B4-BE49-F238E27FC236}">
                <a16:creationId xmlns:a16="http://schemas.microsoft.com/office/drawing/2014/main" id="{CF851078-B9A5-498B-8A59-BAB678895DC4}"/>
              </a:ext>
            </a:extLst>
          </p:cNvPr>
          <p:cNvSpPr txBox="1">
            <a:spLocks noGrp="1"/>
          </p:cNvSpPr>
          <p:nvPr>
            <p:ph type="body" idx="1"/>
          </p:nvPr>
        </p:nvSpPr>
        <p:spPr>
          <a:xfrm>
            <a:off x="916650" y="863760"/>
            <a:ext cx="10711470" cy="8126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b="1" dirty="0"/>
              <a:t>Ejemplo</a:t>
            </a:r>
            <a:r>
              <a:rPr lang="es-MX" sz="2200" dirty="0"/>
              <a:t>: Encontrar estudiantes de 2º año que hayan cursado menos de 45 créditos.</a:t>
            </a:r>
            <a:endParaRPr lang="es-MX" sz="2200" b="1" i="1" dirty="0"/>
          </a:p>
        </p:txBody>
      </p:sp>
      <p:sp>
        <p:nvSpPr>
          <p:cNvPr id="10" name="Google Shape;310;p34">
            <a:extLst>
              <a:ext uri="{FF2B5EF4-FFF2-40B4-BE49-F238E27FC236}">
                <a16:creationId xmlns:a16="http://schemas.microsoft.com/office/drawing/2014/main" id="{84272E15-D148-4292-80AD-B79BDE30C23F}"/>
              </a:ext>
            </a:extLst>
          </p:cNvPr>
          <p:cNvSpPr txBox="1">
            <a:spLocks/>
          </p:cNvSpPr>
          <p:nvPr/>
        </p:nvSpPr>
        <p:spPr>
          <a:xfrm>
            <a:off x="916650" y="3694937"/>
            <a:ext cx="5412652" cy="1946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Determinar en qué bloque de disco se encuentra el registro correspondiente.</a:t>
            </a:r>
          </a:p>
          <a:p>
            <a:pPr marL="342900" indent="-342900"/>
            <a:r>
              <a:rPr lang="es-MX" sz="2000" dirty="0"/>
              <a:t>Recuperar (fetch) el bloque de disco.</a:t>
            </a:r>
          </a:p>
          <a:p>
            <a:pPr marL="342900" indent="-342900"/>
            <a:r>
              <a:rPr lang="es-MX" sz="2000" dirty="0"/>
              <a:t>Obtener los registros de los estudiantes que cumplen el criterio de búsqueda.</a:t>
            </a:r>
          </a:p>
        </p:txBody>
      </p:sp>
      <p:sp>
        <p:nvSpPr>
          <p:cNvPr id="8" name="CuadroTexto 7">
            <a:extLst>
              <a:ext uri="{FF2B5EF4-FFF2-40B4-BE49-F238E27FC236}">
                <a16:creationId xmlns:a16="http://schemas.microsoft.com/office/drawing/2014/main" id="{71AE40DB-8BE8-40BD-83A6-6A1288FC2818}"/>
              </a:ext>
            </a:extLst>
          </p:cNvPr>
          <p:cNvSpPr txBox="1"/>
          <p:nvPr/>
        </p:nvSpPr>
        <p:spPr>
          <a:xfrm>
            <a:off x="4528366" y="1883610"/>
            <a:ext cx="4485768" cy="1015663"/>
          </a:xfrm>
          <a:prstGeom prst="rect">
            <a:avLst/>
          </a:prstGeom>
          <a:solidFill>
            <a:schemeClr val="bg1">
              <a:lumMod val="95000"/>
            </a:schemeClr>
          </a:solidFill>
          <a:ln>
            <a:solidFill>
              <a:schemeClr val="tx1"/>
            </a:solidFill>
          </a:ln>
        </p:spPr>
        <p:txBody>
          <a:bodyPr wrap="square">
            <a:spAutoFit/>
          </a:bodyPr>
          <a:lstStyle/>
          <a:p>
            <a:r>
              <a:rPr lang="en-US" sz="2000" dirty="0">
                <a:latin typeface="Consolas" panose="020B0609020204030204" pitchFamily="49" charset="0"/>
              </a:rPr>
              <a:t>SELECT * </a:t>
            </a:r>
          </a:p>
          <a:p>
            <a:r>
              <a:rPr lang="en-US" sz="2000" dirty="0">
                <a:latin typeface="Consolas" panose="020B0609020204030204" pitchFamily="49" charset="0"/>
              </a:rPr>
              <a:t>FROM students </a:t>
            </a:r>
          </a:p>
          <a:p>
            <a:r>
              <a:rPr lang="en-US" sz="2000" dirty="0">
                <a:latin typeface="Consolas" panose="020B0609020204030204" pitchFamily="49" charset="0"/>
              </a:rPr>
              <a:t>WHERE year=2 AND credits &lt; 45;</a:t>
            </a:r>
            <a:endParaRPr lang="es-CO" sz="2000" dirty="0">
              <a:latin typeface="Consolas" panose="020B0609020204030204" pitchFamily="49" charset="0"/>
            </a:endParaRPr>
          </a:p>
        </p:txBody>
      </p:sp>
      <p:pic>
        <p:nvPicPr>
          <p:cNvPr id="11" name="Imagen 10">
            <a:extLst>
              <a:ext uri="{FF2B5EF4-FFF2-40B4-BE49-F238E27FC236}">
                <a16:creationId xmlns:a16="http://schemas.microsoft.com/office/drawing/2014/main" id="{1661A2F9-3574-4A4E-AD90-88771ED0213F}"/>
              </a:ext>
            </a:extLst>
          </p:cNvPr>
          <p:cNvPicPr>
            <a:picLocks noChangeAspect="1"/>
          </p:cNvPicPr>
          <p:nvPr/>
        </p:nvPicPr>
        <p:blipFill>
          <a:blip r:embed="rId3"/>
          <a:stretch>
            <a:fillRect/>
          </a:stretch>
        </p:blipFill>
        <p:spPr>
          <a:xfrm>
            <a:off x="6514324" y="3216566"/>
            <a:ext cx="5412652" cy="2508507"/>
          </a:xfrm>
          <a:prstGeom prst="rect">
            <a:avLst/>
          </a:prstGeom>
        </p:spPr>
      </p:pic>
      <p:sp>
        <p:nvSpPr>
          <p:cNvPr id="18" name="CuadroTexto 17">
            <a:extLst>
              <a:ext uri="{FF2B5EF4-FFF2-40B4-BE49-F238E27FC236}">
                <a16:creationId xmlns:a16="http://schemas.microsoft.com/office/drawing/2014/main" id="{8BACAA46-6BCC-4385-A2FF-1F21F310D343}"/>
              </a:ext>
            </a:extLst>
          </p:cNvPr>
          <p:cNvSpPr txBox="1"/>
          <p:nvPr/>
        </p:nvSpPr>
        <p:spPr>
          <a:xfrm>
            <a:off x="1100232" y="5949630"/>
            <a:ext cx="10828183" cy="707886"/>
          </a:xfrm>
          <a:prstGeom prst="rect">
            <a:avLst/>
          </a:prstGeom>
          <a:solidFill>
            <a:schemeClr val="accent4">
              <a:lumMod val="20000"/>
              <a:lumOff val="80000"/>
            </a:schemeClr>
          </a:solidFill>
        </p:spPr>
        <p:txBody>
          <a:bodyPr wrap="square">
            <a:spAutoFit/>
          </a:bodyPr>
          <a:lstStyle/>
          <a:p>
            <a:r>
              <a:rPr lang="es-MX" sz="2000" i="1" dirty="0">
                <a:latin typeface="Roboto" panose="02000000000000000000" pitchFamily="2" charset="0"/>
                <a:ea typeface="Roboto" panose="02000000000000000000" pitchFamily="2" charset="0"/>
              </a:rPr>
              <a:t>¿Existe una forma de obtener únicamente las tuplas de estudiantes de 2º año y luego evaluar cada una para verificar si los créditos coinciden?</a:t>
            </a:r>
            <a:endParaRPr lang="es-MX" sz="2000" dirty="0">
              <a:latin typeface="Roboto" panose="02000000000000000000" pitchFamily="2" charset="0"/>
              <a:ea typeface="Roboto" panose="02000000000000000000" pitchFamily="2" charset="0"/>
            </a:endParaRPr>
          </a:p>
        </p:txBody>
      </p:sp>
      <p:sp>
        <p:nvSpPr>
          <p:cNvPr id="19" name="Bocadillo: rectángulo con esquinas redondeadas 18">
            <a:extLst>
              <a:ext uri="{FF2B5EF4-FFF2-40B4-BE49-F238E27FC236}">
                <a16:creationId xmlns:a16="http://schemas.microsoft.com/office/drawing/2014/main" id="{CE0BE983-84BE-4348-BA39-B7BB7C5A6AF8}"/>
              </a:ext>
            </a:extLst>
          </p:cNvPr>
          <p:cNvSpPr/>
          <p:nvPr/>
        </p:nvSpPr>
        <p:spPr>
          <a:xfrm>
            <a:off x="9478504" y="1584833"/>
            <a:ext cx="2087880" cy="910660"/>
          </a:xfrm>
          <a:prstGeom prst="wedgeRoundRectCallout">
            <a:avLst>
              <a:gd name="adj1" fmla="val -62438"/>
              <a:gd name="adj2" fmla="val 51828"/>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sz="1600" dirty="0">
                <a:solidFill>
                  <a:schemeClr val="tx1"/>
                </a:solidFill>
                <a:latin typeface="Roboto" panose="02000000000000000000" pitchFamily="2" charset="0"/>
                <a:ea typeface="Roboto" panose="02000000000000000000" pitchFamily="2" charset="0"/>
              </a:rPr>
              <a:t>Puede haber 10000 tuplas en la relación students.</a:t>
            </a:r>
          </a:p>
        </p:txBody>
      </p:sp>
      <p:sp>
        <p:nvSpPr>
          <p:cNvPr id="20" name="Bocadillo: rectángulo con esquinas redondeadas 19">
            <a:extLst>
              <a:ext uri="{FF2B5EF4-FFF2-40B4-BE49-F238E27FC236}">
                <a16:creationId xmlns:a16="http://schemas.microsoft.com/office/drawing/2014/main" id="{E493B905-5E14-4E16-AC4F-9FB66847700A}"/>
              </a:ext>
            </a:extLst>
          </p:cNvPr>
          <p:cNvSpPr/>
          <p:nvPr/>
        </p:nvSpPr>
        <p:spPr>
          <a:xfrm>
            <a:off x="1149844" y="2264481"/>
            <a:ext cx="2712720" cy="1342272"/>
          </a:xfrm>
          <a:prstGeom prst="wedgeRoundRectCallout">
            <a:avLst>
              <a:gd name="adj1" fmla="val 71061"/>
              <a:gd name="adj2" fmla="val -47188"/>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600" dirty="0">
                <a:solidFill>
                  <a:schemeClr val="tx1"/>
                </a:solidFill>
                <a:latin typeface="Roboto" panose="02000000000000000000" pitchFamily="2" charset="0"/>
                <a:ea typeface="Roboto" panose="02000000000000000000" pitchFamily="2" charset="0"/>
              </a:rPr>
              <a:t>¿Obtener las 10,000 tuplas y evaluar la condición de la cláusula WHERE sobre cada una?</a:t>
            </a:r>
            <a:endParaRPr lang="es-CO" sz="1600" dirty="0">
              <a:solidFill>
                <a:schemeClr val="tx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35625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básicos</a:t>
            </a:r>
            <a:endParaRPr dirty="0"/>
          </a:p>
        </p:txBody>
      </p:sp>
      <p:sp>
        <p:nvSpPr>
          <p:cNvPr id="10" name="Google Shape;310;p34">
            <a:extLst>
              <a:ext uri="{FF2B5EF4-FFF2-40B4-BE49-F238E27FC236}">
                <a16:creationId xmlns:a16="http://schemas.microsoft.com/office/drawing/2014/main" id="{9336861D-8C76-497B-B73D-456F9AA36823}"/>
              </a:ext>
            </a:extLst>
          </p:cNvPr>
          <p:cNvSpPr txBox="1">
            <a:spLocks noGrp="1"/>
          </p:cNvSpPr>
          <p:nvPr>
            <p:ph type="body" idx="1"/>
          </p:nvPr>
        </p:nvSpPr>
        <p:spPr>
          <a:xfrm>
            <a:off x="916650" y="854839"/>
            <a:ext cx="10999579" cy="22998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El </a:t>
            </a:r>
            <a:r>
              <a:rPr lang="es-MX" sz="2000" b="1" dirty="0">
                <a:latin typeface="Roboto" panose="02000000000000000000" pitchFamily="2" charset="0"/>
                <a:ea typeface="Roboto" panose="02000000000000000000" pitchFamily="2" charset="0"/>
              </a:rPr>
              <a:t>indexado</a:t>
            </a:r>
            <a:r>
              <a:rPr lang="es-MX" sz="2000" dirty="0">
                <a:latin typeface="Roboto" panose="02000000000000000000" pitchFamily="2" charset="0"/>
                <a:ea typeface="Roboto" panose="02000000000000000000" pitchFamily="2" charset="0"/>
              </a:rPr>
              <a:t> (</a:t>
            </a:r>
            <a:r>
              <a:rPr lang="es-MX" sz="2000" i="1" dirty="0">
                <a:latin typeface="Roboto" panose="02000000000000000000" pitchFamily="2" charset="0"/>
                <a:ea typeface="Roboto" panose="02000000000000000000" pitchFamily="2" charset="0"/>
              </a:rPr>
              <a:t>indexing</a:t>
            </a:r>
            <a:r>
              <a:rPr lang="es-MX" sz="2000" dirty="0">
                <a:latin typeface="Roboto" panose="02000000000000000000" pitchFamily="2" charset="0"/>
                <a:ea typeface="Roboto" panose="02000000000000000000" pitchFamily="2" charset="0"/>
              </a:rPr>
              <a:t>) es una técnica que consiste en utilizar estructuras de datos auxiliares para permitir que un DBMS localice registros de forma eficiente sin tener que escanear toda una tabla en cada acceso.</a:t>
            </a:r>
          </a:p>
          <a:p>
            <a:pPr marL="342900" indent="-342900"/>
            <a:r>
              <a:rPr lang="es-MX" sz="2000" b="1" dirty="0">
                <a:latin typeface="Roboto" panose="02000000000000000000" pitchFamily="2" charset="0"/>
                <a:ea typeface="Roboto" panose="02000000000000000000" pitchFamily="2" charset="0"/>
              </a:rPr>
              <a:t>Clave de búsqueda (Search Key)</a:t>
            </a:r>
            <a:r>
              <a:rPr lang="es-MX" sz="2000" dirty="0">
                <a:latin typeface="Roboto" panose="02000000000000000000" pitchFamily="2" charset="0"/>
                <a:ea typeface="Roboto" panose="02000000000000000000" pitchFamily="2" charset="0"/>
              </a:rPr>
              <a:t>: atributo o conjunto de atributos utilizados para buscar registros en un archivo.</a:t>
            </a:r>
          </a:p>
          <a:p>
            <a:pPr marL="342900" indent="-342900"/>
            <a:r>
              <a:rPr lang="es-MX" sz="2000" dirty="0">
                <a:latin typeface="Roboto" panose="02000000000000000000" pitchFamily="2" charset="0"/>
                <a:ea typeface="Roboto" panose="02000000000000000000" pitchFamily="2" charset="0"/>
              </a:rPr>
              <a:t>Un archivo de índice (</a:t>
            </a:r>
            <a:r>
              <a:rPr lang="es-MX" sz="2000" b="1" dirty="0">
                <a:latin typeface="Roboto" panose="02000000000000000000" pitchFamily="2" charset="0"/>
                <a:ea typeface="Roboto" panose="02000000000000000000" pitchFamily="2" charset="0"/>
              </a:rPr>
              <a:t>index file</a:t>
            </a:r>
            <a:r>
              <a:rPr lang="es-MX" sz="2000" dirty="0">
                <a:latin typeface="Roboto" panose="02000000000000000000" pitchFamily="2" charset="0"/>
                <a:ea typeface="Roboto" panose="02000000000000000000" pitchFamily="2" charset="0"/>
              </a:rPr>
              <a:t>) consiste en registros (entradas de índice (</a:t>
            </a:r>
            <a:r>
              <a:rPr lang="es-MX" sz="2000" b="1" dirty="0">
                <a:latin typeface="Roboto" panose="02000000000000000000" pitchFamily="2" charset="0"/>
                <a:ea typeface="Roboto" panose="02000000000000000000" pitchFamily="2" charset="0"/>
              </a:rPr>
              <a:t>index entries</a:t>
            </a:r>
            <a:r>
              <a:rPr lang="es-MX" sz="2000" dirty="0">
                <a:latin typeface="Roboto" panose="02000000000000000000" pitchFamily="2" charset="0"/>
                <a:ea typeface="Roboto" panose="02000000000000000000" pitchFamily="2" charset="0"/>
              </a:rPr>
              <a:t>)).</a:t>
            </a:r>
          </a:p>
        </p:txBody>
      </p:sp>
      <p:pic>
        <p:nvPicPr>
          <p:cNvPr id="16" name="Imagen 15">
            <a:extLst>
              <a:ext uri="{FF2B5EF4-FFF2-40B4-BE49-F238E27FC236}">
                <a16:creationId xmlns:a16="http://schemas.microsoft.com/office/drawing/2014/main" id="{D0D703DE-7EEC-4D78-B800-15A9D3D0EECE}"/>
              </a:ext>
            </a:extLst>
          </p:cNvPr>
          <p:cNvPicPr>
            <a:picLocks noChangeAspect="1"/>
          </p:cNvPicPr>
          <p:nvPr/>
        </p:nvPicPr>
        <p:blipFill>
          <a:blip r:embed="rId3"/>
          <a:stretch>
            <a:fillRect/>
          </a:stretch>
        </p:blipFill>
        <p:spPr>
          <a:xfrm>
            <a:off x="2336303" y="3703321"/>
            <a:ext cx="7519394" cy="18935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básicos</a:t>
            </a:r>
            <a:endParaRPr dirty="0"/>
          </a:p>
        </p:txBody>
      </p:sp>
      <p:sp>
        <p:nvSpPr>
          <p:cNvPr id="10" name="Google Shape;310;p34">
            <a:extLst>
              <a:ext uri="{FF2B5EF4-FFF2-40B4-BE49-F238E27FC236}">
                <a16:creationId xmlns:a16="http://schemas.microsoft.com/office/drawing/2014/main" id="{9336861D-8C76-497B-B73D-456F9AA36823}"/>
              </a:ext>
            </a:extLst>
          </p:cNvPr>
          <p:cNvSpPr txBox="1">
            <a:spLocks noGrp="1"/>
          </p:cNvSpPr>
          <p:nvPr>
            <p:ph type="body" idx="1"/>
          </p:nvPr>
        </p:nvSpPr>
        <p:spPr>
          <a:xfrm>
            <a:off x="916650" y="854839"/>
            <a:ext cx="10999579" cy="6844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Un </a:t>
            </a:r>
            <a:r>
              <a:rPr lang="es-MX" sz="2000" b="1" dirty="0">
                <a:latin typeface="Roboto" panose="02000000000000000000" pitchFamily="2" charset="0"/>
                <a:ea typeface="Roboto" panose="02000000000000000000" pitchFamily="2" charset="0"/>
              </a:rPr>
              <a:t>índice</a:t>
            </a:r>
            <a:r>
              <a:rPr lang="es-MX" sz="2000" dirty="0">
                <a:latin typeface="Roboto" panose="02000000000000000000" pitchFamily="2" charset="0"/>
                <a:ea typeface="Roboto" panose="02000000000000000000" pitchFamily="2" charset="0"/>
              </a:rPr>
              <a:t> toma un valor para algún(os) campo(s) y encuentra rápidamente los registros con el valor coincidente</a:t>
            </a:r>
          </a:p>
        </p:txBody>
      </p:sp>
      <p:pic>
        <p:nvPicPr>
          <p:cNvPr id="16" name="Imagen 15">
            <a:extLst>
              <a:ext uri="{FF2B5EF4-FFF2-40B4-BE49-F238E27FC236}">
                <a16:creationId xmlns:a16="http://schemas.microsoft.com/office/drawing/2014/main" id="{D0D703DE-7EEC-4D78-B800-15A9D3D0EECE}"/>
              </a:ext>
            </a:extLst>
          </p:cNvPr>
          <p:cNvPicPr>
            <a:picLocks noChangeAspect="1"/>
          </p:cNvPicPr>
          <p:nvPr/>
        </p:nvPicPr>
        <p:blipFill>
          <a:blip r:embed="rId3"/>
          <a:stretch>
            <a:fillRect/>
          </a:stretch>
        </p:blipFill>
        <p:spPr>
          <a:xfrm>
            <a:off x="3044190" y="1539240"/>
            <a:ext cx="6987850" cy="1759714"/>
          </a:xfrm>
          <a:prstGeom prst="rect">
            <a:avLst/>
          </a:prstGeom>
        </p:spPr>
      </p:pic>
      <p:graphicFrame>
        <p:nvGraphicFramePr>
          <p:cNvPr id="3" name="Tabla 3">
            <a:extLst>
              <a:ext uri="{FF2B5EF4-FFF2-40B4-BE49-F238E27FC236}">
                <a16:creationId xmlns:a16="http://schemas.microsoft.com/office/drawing/2014/main" id="{26A57E5C-BB5D-4C6C-9232-F69ABDCD2DE9}"/>
              </a:ext>
            </a:extLst>
          </p:cNvPr>
          <p:cNvGraphicFramePr>
            <a:graphicFrameLocks noGrp="1"/>
          </p:cNvGraphicFramePr>
          <p:nvPr>
            <p:extLst>
              <p:ext uri="{D42A27DB-BD31-4B8C-83A1-F6EECF244321}">
                <p14:modId xmlns:p14="http://schemas.microsoft.com/office/powerpoint/2010/main" val="3876330120"/>
              </p:ext>
            </p:extLst>
          </p:nvPr>
        </p:nvGraphicFramePr>
        <p:xfrm>
          <a:off x="3445200" y="4775581"/>
          <a:ext cx="8128000" cy="518160"/>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2641519906"/>
                    </a:ext>
                  </a:extLst>
                </a:gridCol>
                <a:gridCol w="4064000">
                  <a:extLst>
                    <a:ext uri="{9D8B030D-6E8A-4147-A177-3AD203B41FA5}">
                      <a16:colId xmlns:a16="http://schemas.microsoft.com/office/drawing/2014/main" val="3761582667"/>
                    </a:ext>
                  </a:extLst>
                </a:gridCol>
              </a:tblGrid>
              <a:tr h="370840">
                <a:tc>
                  <a:txBody>
                    <a:bodyPr/>
                    <a:lstStyle/>
                    <a:p>
                      <a:pPr algn="r"/>
                      <a:r>
                        <a:rPr lang="es-MX" sz="1400" dirty="0">
                          <a:latin typeface="Roboto" panose="02000000000000000000" pitchFamily="2" charset="0"/>
                          <a:ea typeface="Roboto" panose="02000000000000000000" pitchFamily="2" charset="0"/>
                        </a:rPr>
                        <a:t>Puede ser la clave primaria o </a:t>
                      </a:r>
                      <a:r>
                        <a:rPr lang="es-MX" sz="1400" b="1" dirty="0">
                          <a:latin typeface="Roboto" panose="02000000000000000000" pitchFamily="2" charset="0"/>
                          <a:ea typeface="Roboto" panose="02000000000000000000" pitchFamily="2" charset="0"/>
                        </a:rPr>
                        <a:t>candidata de la tabla</a:t>
                      </a:r>
                      <a:r>
                        <a:rPr lang="es-MX" sz="1400" dirty="0">
                          <a:latin typeface="Roboto" panose="02000000000000000000" pitchFamily="2" charset="0"/>
                          <a:ea typeface="Roboto" panose="02000000000000000000" pitchFamily="2" charset="0"/>
                        </a:rPr>
                        <a:t> (en orden ordenado)</a:t>
                      </a:r>
                      <a:endParaRPr lang="es-CO" sz="1400" dirty="0">
                        <a:latin typeface="Roboto" panose="02000000000000000000" pitchFamily="2" charset="0"/>
                        <a:ea typeface="Roboto" panose="02000000000000000000" pitchFamily="2"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Roboto" panose="02000000000000000000" pitchFamily="2" charset="0"/>
                          <a:ea typeface="Roboto" panose="02000000000000000000" pitchFamily="2" charset="0"/>
                        </a:rPr>
                        <a:t>Contiene la dirección del bloque de disco donde se puede encontrar el valor de la clave</a:t>
                      </a:r>
                      <a:endParaRPr lang="es-CO" sz="14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219970848"/>
                  </a:ext>
                </a:extLst>
              </a:tr>
            </a:tbl>
          </a:graphicData>
        </a:graphic>
      </p:graphicFrame>
      <p:graphicFrame>
        <p:nvGraphicFramePr>
          <p:cNvPr id="8" name="Tabla 3">
            <a:extLst>
              <a:ext uri="{FF2B5EF4-FFF2-40B4-BE49-F238E27FC236}">
                <a16:creationId xmlns:a16="http://schemas.microsoft.com/office/drawing/2014/main" id="{33363B5D-18A9-4948-A29B-1984AE5672A2}"/>
              </a:ext>
            </a:extLst>
          </p:cNvPr>
          <p:cNvGraphicFramePr>
            <a:graphicFrameLocks noGrp="1"/>
          </p:cNvGraphicFramePr>
          <p:nvPr>
            <p:extLst>
              <p:ext uri="{D42A27DB-BD31-4B8C-83A1-F6EECF244321}">
                <p14:modId xmlns:p14="http://schemas.microsoft.com/office/powerpoint/2010/main" val="857654098"/>
              </p:ext>
            </p:extLst>
          </p:nvPr>
        </p:nvGraphicFramePr>
        <p:xfrm>
          <a:off x="5731972" y="4309243"/>
          <a:ext cx="4103893" cy="396240"/>
        </p:xfrm>
        <a:graphic>
          <a:graphicData uri="http://schemas.openxmlformats.org/drawingml/2006/table">
            <a:tbl>
              <a:tblPr firstRow="1" bandRow="1">
                <a:tableStyleId>{AD6A3598-7CB8-4345-8D95-17CE05F158A0}</a:tableStyleId>
              </a:tblPr>
              <a:tblGrid>
                <a:gridCol w="1777228">
                  <a:extLst>
                    <a:ext uri="{9D8B030D-6E8A-4147-A177-3AD203B41FA5}">
                      <a16:colId xmlns:a16="http://schemas.microsoft.com/office/drawing/2014/main" val="2641519906"/>
                    </a:ext>
                  </a:extLst>
                </a:gridCol>
                <a:gridCol w="2326665">
                  <a:extLst>
                    <a:ext uri="{9D8B030D-6E8A-4147-A177-3AD203B41FA5}">
                      <a16:colId xmlns:a16="http://schemas.microsoft.com/office/drawing/2014/main" val="3761582667"/>
                    </a:ext>
                  </a:extLst>
                </a:gridCol>
              </a:tblGrid>
              <a:tr h="144274">
                <a:tc>
                  <a:txBody>
                    <a:bodyPr/>
                    <a:lstStyle/>
                    <a:p>
                      <a:pPr algn="ctr"/>
                      <a:r>
                        <a:rPr lang="es-MX" sz="2000" b="1" dirty="0">
                          <a:latin typeface="Consolas" panose="020B0609020204030204" pitchFamily="49" charset="0"/>
                          <a:ea typeface="Roboto" panose="02000000000000000000" pitchFamily="2" charset="0"/>
                        </a:rPr>
                        <a:t>Search-key</a:t>
                      </a:r>
                      <a:endParaRPr lang="es-CO" sz="2000" b="1" dirty="0">
                        <a:latin typeface="Consolas" panose="020B0609020204030204" pitchFamily="49"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Consolas" panose="020B0609020204030204" pitchFamily="49" charset="0"/>
                          <a:ea typeface="Roboto" panose="02000000000000000000" pitchFamily="2" charset="0"/>
                        </a:rPr>
                        <a:t>Data Refence</a:t>
                      </a:r>
                      <a:endParaRPr lang="es-CO" sz="2000" b="1"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19970848"/>
                  </a:ext>
                </a:extLst>
              </a:tr>
            </a:tbl>
          </a:graphicData>
        </a:graphic>
      </p:graphicFrame>
      <p:cxnSp>
        <p:nvCxnSpPr>
          <p:cNvPr id="5" name="Conector recto de flecha 4">
            <a:extLst>
              <a:ext uri="{FF2B5EF4-FFF2-40B4-BE49-F238E27FC236}">
                <a16:creationId xmlns:a16="http://schemas.microsoft.com/office/drawing/2014/main" id="{70608C40-D744-49AD-8AF6-760ACECCD661}"/>
              </a:ext>
            </a:extLst>
          </p:cNvPr>
          <p:cNvCxnSpPr>
            <a:cxnSpLocks/>
          </p:cNvCxnSpPr>
          <p:nvPr/>
        </p:nvCxnSpPr>
        <p:spPr>
          <a:xfrm>
            <a:off x="9637745" y="4507363"/>
            <a:ext cx="1594135" cy="0"/>
          </a:xfrm>
          <a:prstGeom prst="straightConnector1">
            <a:avLst/>
          </a:prstGeom>
          <a:ln w="381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40C3DB57-5A13-4FF5-A4CC-4BE5B5A30163}"/>
              </a:ext>
            </a:extLst>
          </p:cNvPr>
          <p:cNvSpPr/>
          <p:nvPr/>
        </p:nvSpPr>
        <p:spPr>
          <a:xfrm>
            <a:off x="3668720" y="4118237"/>
            <a:ext cx="7807000" cy="1310640"/>
          </a:xfrm>
          <a:prstGeom prst="rect">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accent3"/>
              </a:solidFill>
            </a:endParaRPr>
          </a:p>
        </p:txBody>
      </p:sp>
      <p:sp>
        <p:nvSpPr>
          <p:cNvPr id="14" name="CuadroTexto 13">
            <a:extLst>
              <a:ext uri="{FF2B5EF4-FFF2-40B4-BE49-F238E27FC236}">
                <a16:creationId xmlns:a16="http://schemas.microsoft.com/office/drawing/2014/main" id="{0D4B6671-2885-40D8-B611-4BD288B0A885}"/>
              </a:ext>
            </a:extLst>
          </p:cNvPr>
          <p:cNvSpPr txBox="1"/>
          <p:nvPr/>
        </p:nvSpPr>
        <p:spPr>
          <a:xfrm>
            <a:off x="7474740" y="5478645"/>
            <a:ext cx="4000980" cy="338554"/>
          </a:xfrm>
          <a:prstGeom prst="rect">
            <a:avLst/>
          </a:prstGeom>
          <a:noFill/>
        </p:spPr>
        <p:txBody>
          <a:bodyPr wrap="square">
            <a:spAutoFit/>
          </a:bodyPr>
          <a:lstStyle/>
          <a:p>
            <a:pPr algn="r"/>
            <a:r>
              <a:rPr lang="es-MX" sz="1600" b="1" dirty="0">
                <a:solidFill>
                  <a:schemeClr val="bg1">
                    <a:lumMod val="50000"/>
                  </a:schemeClr>
                </a:solidFill>
                <a:latin typeface="Roboto" panose="02000000000000000000" pitchFamily="2" charset="0"/>
                <a:ea typeface="Roboto" panose="02000000000000000000" pitchFamily="2" charset="0"/>
              </a:rPr>
              <a:t>Estructura general de un Index record</a:t>
            </a:r>
            <a:endParaRPr lang="es-CO" sz="1600" b="1" dirty="0">
              <a:solidFill>
                <a:schemeClr val="bg1">
                  <a:lumMod val="50000"/>
                </a:schemeClr>
              </a:solidFill>
            </a:endParaRPr>
          </a:p>
        </p:txBody>
      </p:sp>
      <p:cxnSp>
        <p:nvCxnSpPr>
          <p:cNvPr id="13" name="Conector recto 12">
            <a:extLst>
              <a:ext uri="{FF2B5EF4-FFF2-40B4-BE49-F238E27FC236}">
                <a16:creationId xmlns:a16="http://schemas.microsoft.com/office/drawing/2014/main" id="{1EE7BCB8-E3AA-4135-92CC-97D34F2B367C}"/>
              </a:ext>
            </a:extLst>
          </p:cNvPr>
          <p:cNvCxnSpPr>
            <a:cxnSpLocks/>
            <a:endCxn id="9" idx="0"/>
          </p:cNvCxnSpPr>
          <p:nvPr/>
        </p:nvCxnSpPr>
        <p:spPr>
          <a:xfrm>
            <a:off x="5227320" y="3049517"/>
            <a:ext cx="2344900" cy="1068720"/>
          </a:xfrm>
          <a:prstGeom prst="line">
            <a:avLst/>
          </a:prstGeom>
          <a:ln w="285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0" name="Bocadillo: rectángulo con esquinas redondeadas 19">
            <a:extLst>
              <a:ext uri="{FF2B5EF4-FFF2-40B4-BE49-F238E27FC236}">
                <a16:creationId xmlns:a16="http://schemas.microsoft.com/office/drawing/2014/main" id="{413E4797-5552-438B-8DCA-FE91562FF316}"/>
              </a:ext>
            </a:extLst>
          </p:cNvPr>
          <p:cNvSpPr/>
          <p:nvPr/>
        </p:nvSpPr>
        <p:spPr>
          <a:xfrm>
            <a:off x="1874520" y="5598139"/>
            <a:ext cx="2842740" cy="467381"/>
          </a:xfrm>
          <a:prstGeom prst="wedgeRoundRectCallout">
            <a:avLst>
              <a:gd name="adj1" fmla="val 67970"/>
              <a:gd name="adj2" fmla="val -145420"/>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O" sz="1200" b="1" dirty="0">
                <a:solidFill>
                  <a:schemeClr val="tx1"/>
                </a:solidFill>
                <a:latin typeface="Roboto" panose="02000000000000000000" pitchFamily="2" charset="0"/>
                <a:ea typeface="Roboto" panose="02000000000000000000" pitchFamily="2" charset="0"/>
              </a:rPr>
              <a:t>"Search key" (o "key") = Field(s)</a:t>
            </a:r>
            <a:r>
              <a:rPr lang="es-CO" sz="1200" dirty="0">
                <a:solidFill>
                  <a:schemeClr val="tx1"/>
                </a:solidFill>
                <a:latin typeface="Roboto" panose="02000000000000000000" pitchFamily="2" charset="0"/>
                <a:ea typeface="Roboto" panose="02000000000000000000" pitchFamily="2" charset="0"/>
              </a:rPr>
              <a:t> </a:t>
            </a:r>
          </a:p>
          <a:p>
            <a:pPr algn="r"/>
            <a:r>
              <a:rPr lang="es-CO" sz="1200" dirty="0">
                <a:solidFill>
                  <a:schemeClr val="tx1"/>
                </a:solidFill>
                <a:latin typeface="Roboto" panose="02000000000000000000" pitchFamily="2" charset="0"/>
                <a:ea typeface="Roboto" panose="02000000000000000000" pitchFamily="2" charset="0"/>
              </a:rPr>
              <a:t>sobre cuyos valores se basa el índice.</a:t>
            </a:r>
          </a:p>
        </p:txBody>
      </p:sp>
    </p:spTree>
    <p:extLst>
      <p:ext uri="{BB962C8B-B14F-4D97-AF65-F5344CB8AC3E}">
        <p14:creationId xmlns:p14="http://schemas.microsoft.com/office/powerpoint/2010/main" val="294576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básicos</a:t>
            </a:r>
            <a:endParaRPr dirty="0"/>
          </a:p>
        </p:txBody>
      </p:sp>
      <p:sp>
        <p:nvSpPr>
          <p:cNvPr id="10" name="Google Shape;310;p34">
            <a:extLst>
              <a:ext uri="{FF2B5EF4-FFF2-40B4-BE49-F238E27FC236}">
                <a16:creationId xmlns:a16="http://schemas.microsoft.com/office/drawing/2014/main" id="{9336861D-8C76-497B-B73D-456F9AA36823}"/>
              </a:ext>
            </a:extLst>
          </p:cNvPr>
          <p:cNvSpPr txBox="1">
            <a:spLocks noGrp="1"/>
          </p:cNvSpPr>
          <p:nvPr>
            <p:ph type="body" idx="1"/>
          </p:nvPr>
        </p:nvSpPr>
        <p:spPr>
          <a:xfrm>
            <a:off x="916650" y="1106185"/>
            <a:ext cx="10990286" cy="18640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El índice permite identificar más rápido qué bloque de disco debe leerse, evitando recorrer todos los bloques del archivo.</a:t>
            </a:r>
          </a:p>
          <a:p>
            <a:pPr marL="342900" indent="-342900"/>
            <a:r>
              <a:rPr lang="es-MX" sz="2000" dirty="0">
                <a:latin typeface="Roboto" panose="02000000000000000000" pitchFamily="2" charset="0"/>
                <a:ea typeface="Roboto" panose="02000000000000000000" pitchFamily="2" charset="0"/>
              </a:rPr>
              <a:t>Un índice es una </a:t>
            </a:r>
            <a:r>
              <a:rPr lang="es-MX" sz="2000" b="1" dirty="0">
                <a:latin typeface="Roboto" panose="02000000000000000000" pitchFamily="2" charset="0"/>
                <a:ea typeface="Roboto" panose="02000000000000000000" pitchFamily="2" charset="0"/>
              </a:rPr>
              <a:t>estructura auxiliar</a:t>
            </a:r>
            <a:r>
              <a:rPr lang="es-MX" sz="2000" dirty="0">
                <a:latin typeface="Roboto" panose="02000000000000000000" pitchFamily="2" charset="0"/>
                <a:ea typeface="Roboto" panose="02000000000000000000" pitchFamily="2" charset="0"/>
              </a:rPr>
              <a:t> (</a:t>
            </a:r>
            <a:r>
              <a:rPr lang="es-CO" sz="2000" b="1" dirty="0">
                <a:solidFill>
                  <a:schemeClr val="accent5"/>
                </a:solidFill>
                <a:latin typeface="Consolas" panose="020B0609020204030204" pitchFamily="49" charset="0"/>
                <a:ea typeface="Roboto" panose="02000000000000000000" pitchFamily="2" charset="0"/>
              </a:rPr>
              <a:t>&lt;</a:t>
            </a:r>
            <a:r>
              <a:rPr lang="es-CO" sz="2000" b="1" dirty="0" err="1">
                <a:solidFill>
                  <a:schemeClr val="accent5"/>
                </a:solidFill>
                <a:latin typeface="Consolas" panose="020B0609020204030204" pitchFamily="49" charset="0"/>
                <a:ea typeface="Roboto" panose="02000000000000000000" pitchFamily="2" charset="0"/>
              </a:rPr>
              <a:t>search</a:t>
            </a:r>
            <a:r>
              <a:rPr lang="es-CO" sz="2000" b="1" dirty="0">
                <a:solidFill>
                  <a:schemeClr val="accent5"/>
                </a:solidFill>
                <a:latin typeface="Consolas" panose="020B0609020204030204" pitchFamily="49" charset="0"/>
                <a:ea typeface="Roboto" panose="02000000000000000000" pitchFamily="2" charset="0"/>
              </a:rPr>
              <a:t> key&gt; --&gt; &lt;Block #&gt;</a:t>
            </a:r>
            <a:r>
              <a:rPr lang="es-MX" sz="2000" dirty="0">
                <a:latin typeface="Roboto" panose="02000000000000000000" pitchFamily="2" charset="0"/>
                <a:ea typeface="Roboto" panose="02000000000000000000" pitchFamily="2" charset="0"/>
              </a:rPr>
              <a:t>) que mapea una clave de búsqueda a un bloque de disco, permitiendo que el DBMS lea en memoria solo los bloques relevantes mediante operaciones como </a:t>
            </a:r>
            <a:r>
              <a:rPr lang="es-CO" sz="2000" b="1" dirty="0" err="1">
                <a:solidFill>
                  <a:schemeClr val="accent2"/>
                </a:solidFill>
                <a:latin typeface="Consolas" panose="020B0609020204030204" pitchFamily="49" charset="0"/>
                <a:ea typeface="Roboto" panose="02000000000000000000" pitchFamily="2" charset="0"/>
              </a:rPr>
              <a:t>ReadBlock</a:t>
            </a:r>
            <a:r>
              <a:rPr lang="es-CO" sz="2000" b="1" dirty="0">
                <a:solidFill>
                  <a:schemeClr val="accent2"/>
                </a:solidFill>
                <a:latin typeface="Consolas" panose="020B0609020204030204" pitchFamily="49" charset="0"/>
                <a:ea typeface="Roboto" panose="02000000000000000000" pitchFamily="2" charset="0"/>
              </a:rPr>
              <a:t>(Block #)</a:t>
            </a:r>
            <a:r>
              <a:rPr lang="es-CO" sz="2000" dirty="0">
                <a:latin typeface="Consolas" panose="020B0609020204030204" pitchFamily="49" charset="0"/>
                <a:ea typeface="Roboto" panose="02000000000000000000" pitchFamily="2" charset="0"/>
              </a:rPr>
              <a:t> </a:t>
            </a:r>
          </a:p>
          <a:p>
            <a:pPr marL="342900" indent="-342900"/>
            <a:endParaRPr lang="es-MX" sz="2000" dirty="0">
              <a:latin typeface="Roboto" panose="02000000000000000000" pitchFamily="2" charset="0"/>
              <a:ea typeface="Roboto" panose="02000000000000000000" pitchFamily="2" charset="0"/>
            </a:endParaRPr>
          </a:p>
        </p:txBody>
      </p:sp>
      <p:pic>
        <p:nvPicPr>
          <p:cNvPr id="12" name="Google Shape;454;p49">
            <a:extLst>
              <a:ext uri="{FF2B5EF4-FFF2-40B4-BE49-F238E27FC236}">
                <a16:creationId xmlns:a16="http://schemas.microsoft.com/office/drawing/2014/main" id="{D3237A18-CF3B-4238-8BEC-548889BA79BD}"/>
              </a:ext>
            </a:extLst>
          </p:cNvPr>
          <p:cNvPicPr preferRelativeResize="0"/>
          <p:nvPr/>
        </p:nvPicPr>
        <p:blipFill>
          <a:blip r:embed="rId3">
            <a:alphaModFix/>
          </a:blip>
          <a:stretch>
            <a:fillRect/>
          </a:stretch>
        </p:blipFill>
        <p:spPr>
          <a:xfrm>
            <a:off x="1397111" y="4074963"/>
            <a:ext cx="3106025" cy="1710750"/>
          </a:xfrm>
          <a:prstGeom prst="rect">
            <a:avLst/>
          </a:prstGeom>
          <a:noFill/>
          <a:ln>
            <a:noFill/>
          </a:ln>
        </p:spPr>
      </p:pic>
      <p:sp>
        <p:nvSpPr>
          <p:cNvPr id="15" name="CuadroTexto 14">
            <a:extLst>
              <a:ext uri="{FF2B5EF4-FFF2-40B4-BE49-F238E27FC236}">
                <a16:creationId xmlns:a16="http://schemas.microsoft.com/office/drawing/2014/main" id="{AA55E8DB-9572-44BD-8BF7-01592F0D2E57}"/>
              </a:ext>
            </a:extLst>
          </p:cNvPr>
          <p:cNvSpPr txBox="1"/>
          <p:nvPr/>
        </p:nvSpPr>
        <p:spPr>
          <a:xfrm>
            <a:off x="916650" y="3542239"/>
            <a:ext cx="4416427" cy="380873"/>
          </a:xfrm>
          <a:prstGeom prst="rect">
            <a:avLst/>
          </a:prstGeom>
          <a:noFill/>
        </p:spPr>
        <p:txBody>
          <a:bodyPr wrap="square">
            <a:spAutoFit/>
          </a:bodyPr>
          <a:lstStyle/>
          <a:p>
            <a:pPr marL="0" lvl="0" indent="0" algn="l" rtl="0">
              <a:lnSpc>
                <a:spcPct val="150000"/>
              </a:lnSpc>
              <a:spcBef>
                <a:spcPts val="0"/>
              </a:spcBef>
              <a:spcAft>
                <a:spcPts val="0"/>
              </a:spcAft>
              <a:buNone/>
            </a:pPr>
            <a:r>
              <a:rPr lang="en-US" sz="1400" dirty="0">
                <a:solidFill>
                  <a:srgbClr val="ED7D31"/>
                </a:solidFill>
                <a:latin typeface="Consolas" panose="020B0609020204030204" pitchFamily="49" charset="0"/>
                <a:ea typeface="Roboto" panose="02000000000000000000" pitchFamily="2" charset="0"/>
              </a:rPr>
              <a:t>Company(</a:t>
            </a:r>
            <a:r>
              <a:rPr lang="en-US" sz="1400" u="sng" dirty="0">
                <a:solidFill>
                  <a:srgbClr val="ED7D31"/>
                </a:solidFill>
                <a:latin typeface="Consolas" panose="020B0609020204030204" pitchFamily="49" charset="0"/>
                <a:ea typeface="Roboto" panose="02000000000000000000" pitchFamily="2" charset="0"/>
              </a:rPr>
              <a:t>CName</a:t>
            </a:r>
            <a:r>
              <a:rPr lang="en-US" sz="1400" dirty="0">
                <a:solidFill>
                  <a:srgbClr val="ED7D31"/>
                </a:solidFill>
                <a:latin typeface="Consolas" panose="020B0609020204030204" pitchFamily="49" charset="0"/>
                <a:ea typeface="Roboto" panose="02000000000000000000" pitchFamily="2" charset="0"/>
              </a:rPr>
              <a:t>, StockPrice, Date, Country)</a:t>
            </a:r>
          </a:p>
        </p:txBody>
      </p:sp>
      <p:sp>
        <p:nvSpPr>
          <p:cNvPr id="17" name="Google Shape;462;p50">
            <a:extLst>
              <a:ext uri="{FF2B5EF4-FFF2-40B4-BE49-F238E27FC236}">
                <a16:creationId xmlns:a16="http://schemas.microsoft.com/office/drawing/2014/main" id="{774FC56B-02BD-45AE-B8FE-07CC454B4936}"/>
              </a:ext>
            </a:extLst>
          </p:cNvPr>
          <p:cNvSpPr txBox="1"/>
          <p:nvPr/>
        </p:nvSpPr>
        <p:spPr>
          <a:xfrm>
            <a:off x="6970643" y="4137617"/>
            <a:ext cx="13155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200" b="1" dirty="0">
                <a:solidFill>
                  <a:srgbClr val="0000FF"/>
                </a:solidFill>
                <a:latin typeface="Consolas" panose="020B0609020204030204" pitchFamily="49" charset="0"/>
              </a:rPr>
              <a:t>CName</a:t>
            </a:r>
            <a:r>
              <a:rPr lang="en" sz="1200" b="1" i="0" u="none" strike="noStrike" cap="none" dirty="0">
                <a:solidFill>
                  <a:srgbClr val="0000FF"/>
                </a:solidFill>
                <a:latin typeface="Consolas" panose="020B0609020204030204" pitchFamily="49" charset="0"/>
                <a:sym typeface="Arial"/>
              </a:rPr>
              <a:t>_Index</a:t>
            </a:r>
            <a:endParaRPr sz="1200" b="1" i="0" u="none" strike="noStrike" cap="none" dirty="0">
              <a:solidFill>
                <a:srgbClr val="0000FF"/>
              </a:solidFill>
              <a:latin typeface="Consolas" panose="020B0609020204030204" pitchFamily="49" charset="0"/>
              <a:sym typeface="Arial"/>
            </a:endParaRPr>
          </a:p>
        </p:txBody>
      </p:sp>
      <p:pic>
        <p:nvPicPr>
          <p:cNvPr id="21" name="Google Shape;465;p50">
            <a:extLst>
              <a:ext uri="{FF2B5EF4-FFF2-40B4-BE49-F238E27FC236}">
                <a16:creationId xmlns:a16="http://schemas.microsoft.com/office/drawing/2014/main" id="{6013FEE2-686C-47DF-AB70-307DFB2BAF5F}"/>
              </a:ext>
            </a:extLst>
          </p:cNvPr>
          <p:cNvPicPr preferRelativeResize="0"/>
          <p:nvPr/>
        </p:nvPicPr>
        <p:blipFill>
          <a:blip r:embed="rId3">
            <a:alphaModFix/>
          </a:blip>
          <a:stretch>
            <a:fillRect/>
          </a:stretch>
        </p:blipFill>
        <p:spPr>
          <a:xfrm>
            <a:off x="8960240" y="4274378"/>
            <a:ext cx="2867025" cy="1533525"/>
          </a:xfrm>
          <a:prstGeom prst="rect">
            <a:avLst/>
          </a:prstGeom>
          <a:noFill/>
          <a:ln w="19050" cap="flat" cmpd="sng">
            <a:solidFill>
              <a:schemeClr val="dk2"/>
            </a:solidFill>
            <a:prstDash val="solid"/>
            <a:round/>
            <a:headEnd type="none" w="sm" len="sm"/>
            <a:tailEnd type="none" w="sm" len="sm"/>
          </a:ln>
        </p:spPr>
      </p:pic>
      <p:pic>
        <p:nvPicPr>
          <p:cNvPr id="22" name="Google Shape;466;p50">
            <a:extLst>
              <a:ext uri="{FF2B5EF4-FFF2-40B4-BE49-F238E27FC236}">
                <a16:creationId xmlns:a16="http://schemas.microsoft.com/office/drawing/2014/main" id="{A04182ED-C7C7-42B9-9D08-3A42C1CCE13B}"/>
              </a:ext>
            </a:extLst>
          </p:cNvPr>
          <p:cNvPicPr preferRelativeResize="0"/>
          <p:nvPr/>
        </p:nvPicPr>
        <p:blipFill>
          <a:blip r:embed="rId4">
            <a:alphaModFix/>
          </a:blip>
          <a:stretch>
            <a:fillRect/>
          </a:stretch>
        </p:blipFill>
        <p:spPr>
          <a:xfrm>
            <a:off x="7341908" y="4475990"/>
            <a:ext cx="515573" cy="1275825"/>
          </a:xfrm>
          <a:prstGeom prst="rect">
            <a:avLst/>
          </a:prstGeom>
          <a:noFill/>
          <a:ln w="19050" cap="flat" cmpd="sng">
            <a:solidFill>
              <a:schemeClr val="dk2"/>
            </a:solidFill>
            <a:prstDash val="solid"/>
            <a:round/>
            <a:headEnd type="none" w="sm" len="sm"/>
            <a:tailEnd type="none" w="sm" len="sm"/>
          </a:ln>
        </p:spPr>
      </p:pic>
      <p:cxnSp>
        <p:nvCxnSpPr>
          <p:cNvPr id="24" name="Google Shape;468;p50">
            <a:extLst>
              <a:ext uri="{FF2B5EF4-FFF2-40B4-BE49-F238E27FC236}">
                <a16:creationId xmlns:a16="http://schemas.microsoft.com/office/drawing/2014/main" id="{D31DE4BC-2CDE-41E8-82E9-57204E7C701C}"/>
              </a:ext>
            </a:extLst>
          </p:cNvPr>
          <p:cNvCxnSpPr/>
          <p:nvPr/>
        </p:nvCxnSpPr>
        <p:spPr>
          <a:xfrm>
            <a:off x="7702481" y="4475990"/>
            <a:ext cx="7500" cy="1289400"/>
          </a:xfrm>
          <a:prstGeom prst="straightConnector1">
            <a:avLst/>
          </a:prstGeom>
          <a:noFill/>
          <a:ln w="9525" cap="flat" cmpd="sng">
            <a:solidFill>
              <a:srgbClr val="999999"/>
            </a:solidFill>
            <a:prstDash val="solid"/>
            <a:round/>
            <a:headEnd type="none" w="med" len="med"/>
            <a:tailEnd type="none" w="med" len="med"/>
          </a:ln>
        </p:spPr>
      </p:cxnSp>
      <p:cxnSp>
        <p:nvCxnSpPr>
          <p:cNvPr id="25" name="Google Shape;469;p50">
            <a:extLst>
              <a:ext uri="{FF2B5EF4-FFF2-40B4-BE49-F238E27FC236}">
                <a16:creationId xmlns:a16="http://schemas.microsoft.com/office/drawing/2014/main" id="{876C1135-F72A-4EDF-B308-3A1276CBE63D}"/>
              </a:ext>
            </a:extLst>
          </p:cNvPr>
          <p:cNvCxnSpPr/>
          <p:nvPr/>
        </p:nvCxnSpPr>
        <p:spPr>
          <a:xfrm>
            <a:off x="7857481" y="4475990"/>
            <a:ext cx="7500" cy="1289400"/>
          </a:xfrm>
          <a:prstGeom prst="straightConnector1">
            <a:avLst/>
          </a:prstGeom>
          <a:noFill/>
          <a:ln w="9525" cap="flat" cmpd="sng">
            <a:solidFill>
              <a:srgbClr val="999999"/>
            </a:solidFill>
            <a:prstDash val="solid"/>
            <a:round/>
            <a:headEnd type="none" w="med" len="med"/>
            <a:tailEnd type="none" w="med" len="med"/>
          </a:ln>
        </p:spPr>
      </p:cxnSp>
      <p:sp>
        <p:nvSpPr>
          <p:cNvPr id="30" name="Google Shape;474;p50">
            <a:extLst>
              <a:ext uri="{FF2B5EF4-FFF2-40B4-BE49-F238E27FC236}">
                <a16:creationId xmlns:a16="http://schemas.microsoft.com/office/drawing/2014/main" id="{0967A957-34C7-4CE8-8062-6D47E74B8A1D}"/>
              </a:ext>
            </a:extLst>
          </p:cNvPr>
          <p:cNvSpPr txBox="1"/>
          <p:nvPr/>
        </p:nvSpPr>
        <p:spPr>
          <a:xfrm>
            <a:off x="8012481" y="4441266"/>
            <a:ext cx="668709" cy="3507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Block #</a:t>
            </a:r>
            <a:endParaRPr sz="1050" dirty="0"/>
          </a:p>
        </p:txBody>
      </p:sp>
      <p:sp>
        <p:nvSpPr>
          <p:cNvPr id="31" name="Google Shape;476;p50">
            <a:extLst>
              <a:ext uri="{FF2B5EF4-FFF2-40B4-BE49-F238E27FC236}">
                <a16:creationId xmlns:a16="http://schemas.microsoft.com/office/drawing/2014/main" id="{CA7B8D89-21C7-4B11-A42E-E5EDE451BC47}"/>
              </a:ext>
            </a:extLst>
          </p:cNvPr>
          <p:cNvSpPr txBox="1"/>
          <p:nvPr/>
        </p:nvSpPr>
        <p:spPr>
          <a:xfrm>
            <a:off x="8012481" y="5492478"/>
            <a:ext cx="668709" cy="3507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Block #</a:t>
            </a:r>
            <a:endParaRPr sz="1050" dirty="0"/>
          </a:p>
        </p:txBody>
      </p:sp>
      <p:grpSp>
        <p:nvGrpSpPr>
          <p:cNvPr id="260" name="Grupo 259">
            <a:extLst>
              <a:ext uri="{FF2B5EF4-FFF2-40B4-BE49-F238E27FC236}">
                <a16:creationId xmlns:a16="http://schemas.microsoft.com/office/drawing/2014/main" id="{612D7AAD-39A1-4BF9-927D-C90FE198D9ED}"/>
              </a:ext>
            </a:extLst>
          </p:cNvPr>
          <p:cNvGrpSpPr/>
          <p:nvPr/>
        </p:nvGrpSpPr>
        <p:grpSpPr>
          <a:xfrm>
            <a:off x="7790231" y="4683265"/>
            <a:ext cx="1150388" cy="1042763"/>
            <a:chOff x="6941668" y="2950000"/>
            <a:chExt cx="1705200" cy="1042763"/>
          </a:xfrm>
        </p:grpSpPr>
        <p:cxnSp>
          <p:nvCxnSpPr>
            <p:cNvPr id="26" name="Google Shape;470;p50">
              <a:extLst>
                <a:ext uri="{FF2B5EF4-FFF2-40B4-BE49-F238E27FC236}">
                  <a16:creationId xmlns:a16="http://schemas.microsoft.com/office/drawing/2014/main" id="{2BDA43D1-5F55-46EB-B19D-AF12D6C5ED6F}"/>
                </a:ext>
              </a:extLst>
            </p:cNvPr>
            <p:cNvCxnSpPr>
              <a:cxnSpLocks/>
            </p:cNvCxnSpPr>
            <p:nvPr/>
          </p:nvCxnSpPr>
          <p:spPr>
            <a:xfrm rot="10800000" flipH="1">
              <a:off x="6941668" y="2950000"/>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27" name="Google Shape;471;p50">
              <a:extLst>
                <a:ext uri="{FF2B5EF4-FFF2-40B4-BE49-F238E27FC236}">
                  <a16:creationId xmlns:a16="http://schemas.microsoft.com/office/drawing/2014/main" id="{F0C0B9E9-A688-4737-9BE1-7484000E370B}"/>
                </a:ext>
              </a:extLst>
            </p:cNvPr>
            <p:cNvCxnSpPr>
              <a:cxnSpLocks/>
            </p:cNvCxnSpPr>
            <p:nvPr/>
          </p:nvCxnSpPr>
          <p:spPr>
            <a:xfrm rot="10800000" flipH="1">
              <a:off x="6941668" y="3216825"/>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28" name="Google Shape;472;p50">
              <a:extLst>
                <a:ext uri="{FF2B5EF4-FFF2-40B4-BE49-F238E27FC236}">
                  <a16:creationId xmlns:a16="http://schemas.microsoft.com/office/drawing/2014/main" id="{A1DF1A31-B421-487A-8D6E-20D2B36BD15D}"/>
                </a:ext>
              </a:extLst>
            </p:cNvPr>
            <p:cNvCxnSpPr>
              <a:cxnSpLocks/>
            </p:cNvCxnSpPr>
            <p:nvPr/>
          </p:nvCxnSpPr>
          <p:spPr>
            <a:xfrm rot="10800000" flipH="1">
              <a:off x="6941668" y="3512763"/>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29" name="Google Shape;473;p50">
              <a:extLst>
                <a:ext uri="{FF2B5EF4-FFF2-40B4-BE49-F238E27FC236}">
                  <a16:creationId xmlns:a16="http://schemas.microsoft.com/office/drawing/2014/main" id="{7F515AEC-F9CB-4916-BCE4-5252F852AD15}"/>
                </a:ext>
              </a:extLst>
            </p:cNvPr>
            <p:cNvCxnSpPr>
              <a:cxnSpLocks/>
            </p:cNvCxnSpPr>
            <p:nvPr/>
          </p:nvCxnSpPr>
          <p:spPr>
            <a:xfrm rot="10800000" flipH="1">
              <a:off x="6941668" y="3808700"/>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34" name="Google Shape;479;p50">
              <a:extLst>
                <a:ext uri="{FF2B5EF4-FFF2-40B4-BE49-F238E27FC236}">
                  <a16:creationId xmlns:a16="http://schemas.microsoft.com/office/drawing/2014/main" id="{970E0E84-271D-4FC5-9666-42220961D2F2}"/>
                </a:ext>
              </a:extLst>
            </p:cNvPr>
            <p:cNvCxnSpPr>
              <a:cxnSpLocks/>
            </p:cNvCxnSpPr>
            <p:nvPr/>
          </p:nvCxnSpPr>
          <p:spPr>
            <a:xfrm rot="10800000" flipH="1">
              <a:off x="6941668" y="3064425"/>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35" name="Google Shape;480;p50">
              <a:extLst>
                <a:ext uri="{FF2B5EF4-FFF2-40B4-BE49-F238E27FC236}">
                  <a16:creationId xmlns:a16="http://schemas.microsoft.com/office/drawing/2014/main" id="{1377B203-8FE4-4CFE-A903-8753B510E302}"/>
                </a:ext>
              </a:extLst>
            </p:cNvPr>
            <p:cNvCxnSpPr>
              <a:cxnSpLocks/>
            </p:cNvCxnSpPr>
            <p:nvPr/>
          </p:nvCxnSpPr>
          <p:spPr>
            <a:xfrm rot="10800000" flipH="1">
              <a:off x="6941668" y="3360363"/>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36" name="Google Shape;481;p50">
              <a:extLst>
                <a:ext uri="{FF2B5EF4-FFF2-40B4-BE49-F238E27FC236}">
                  <a16:creationId xmlns:a16="http://schemas.microsoft.com/office/drawing/2014/main" id="{2D696DE8-D6FD-443B-B038-E064CF9EF15C}"/>
                </a:ext>
              </a:extLst>
            </p:cNvPr>
            <p:cNvCxnSpPr>
              <a:cxnSpLocks/>
            </p:cNvCxnSpPr>
            <p:nvPr/>
          </p:nvCxnSpPr>
          <p:spPr>
            <a:xfrm rot="10800000" flipH="1">
              <a:off x="6941668" y="3665163"/>
              <a:ext cx="1705200" cy="22800"/>
            </a:xfrm>
            <a:prstGeom prst="straightConnector1">
              <a:avLst/>
            </a:prstGeom>
            <a:noFill/>
            <a:ln w="9525" cap="flat" cmpd="sng">
              <a:solidFill>
                <a:srgbClr val="FF9900"/>
              </a:solidFill>
              <a:prstDash val="dot"/>
              <a:round/>
              <a:headEnd type="none" w="med" len="med"/>
              <a:tailEnd type="triangle" w="med" len="med"/>
            </a:ln>
          </p:spPr>
        </p:cxnSp>
        <p:cxnSp>
          <p:nvCxnSpPr>
            <p:cNvPr id="37" name="Google Shape;482;p50">
              <a:extLst>
                <a:ext uri="{FF2B5EF4-FFF2-40B4-BE49-F238E27FC236}">
                  <a16:creationId xmlns:a16="http://schemas.microsoft.com/office/drawing/2014/main" id="{17E66780-11F2-4AB4-BBA5-77D7F75FFE5A}"/>
                </a:ext>
              </a:extLst>
            </p:cNvPr>
            <p:cNvCxnSpPr>
              <a:cxnSpLocks/>
            </p:cNvCxnSpPr>
            <p:nvPr/>
          </p:nvCxnSpPr>
          <p:spPr>
            <a:xfrm rot="10800000" flipH="1">
              <a:off x="6941668" y="3969963"/>
              <a:ext cx="1705200" cy="22800"/>
            </a:xfrm>
            <a:prstGeom prst="straightConnector1">
              <a:avLst/>
            </a:prstGeom>
            <a:noFill/>
            <a:ln w="9525" cap="flat" cmpd="sng">
              <a:solidFill>
                <a:srgbClr val="FF9900"/>
              </a:solidFill>
              <a:prstDash val="dot"/>
              <a:round/>
              <a:headEnd type="none" w="med" len="med"/>
              <a:tailEnd type="triangle" w="med" len="med"/>
            </a:ln>
          </p:spPr>
        </p:cxnSp>
      </p:grpSp>
      <p:sp>
        <p:nvSpPr>
          <p:cNvPr id="52" name="Google Shape;451;p49">
            <a:extLst>
              <a:ext uri="{FF2B5EF4-FFF2-40B4-BE49-F238E27FC236}">
                <a16:creationId xmlns:a16="http://schemas.microsoft.com/office/drawing/2014/main" id="{618BCD99-FE84-477C-8362-B02C2DFE87BE}"/>
              </a:ext>
            </a:extLst>
          </p:cNvPr>
          <p:cNvSpPr/>
          <p:nvPr/>
        </p:nvSpPr>
        <p:spPr>
          <a:xfrm>
            <a:off x="4655306" y="4609417"/>
            <a:ext cx="2142461" cy="603454"/>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200" i="0" u="none" strike="noStrike" cap="none" dirty="0">
                <a:solidFill>
                  <a:schemeClr val="accent2"/>
                </a:solidFill>
                <a:latin typeface="Consolas" panose="020B0609020204030204" pitchFamily="49" charset="0"/>
                <a:ea typeface="Roboto"/>
                <a:cs typeface="Roboto"/>
                <a:sym typeface="Roboto"/>
              </a:rPr>
              <a:t>SELECT </a:t>
            </a:r>
            <a:r>
              <a:rPr lang="en" sz="1200" i="0" u="none" strike="noStrike" cap="none" dirty="0">
                <a:solidFill>
                  <a:srgbClr val="000000"/>
                </a:solidFill>
                <a:latin typeface="Consolas" panose="020B0609020204030204" pitchFamily="49" charset="0"/>
                <a:ea typeface="Roboto"/>
                <a:cs typeface="Roboto"/>
                <a:sym typeface="Roboto"/>
              </a:rPr>
              <a:t>*</a:t>
            </a:r>
            <a:endParaRPr sz="1200" dirty="0">
              <a:latin typeface="Consolas" panose="020B0609020204030204" pitchFamily="49" charset="0"/>
              <a:ea typeface="Roboto"/>
              <a:cs typeface="Roboto"/>
              <a:sym typeface="Roboto"/>
            </a:endParaRPr>
          </a:p>
          <a:p>
            <a:pPr marL="0" marR="0" lvl="0" indent="0" algn="l" rtl="0">
              <a:lnSpc>
                <a:spcPct val="100000"/>
              </a:lnSpc>
              <a:spcBef>
                <a:spcPts val="0"/>
              </a:spcBef>
              <a:spcAft>
                <a:spcPts val="0"/>
              </a:spcAft>
              <a:buNone/>
            </a:pPr>
            <a:r>
              <a:rPr lang="en" sz="1200" i="0" u="none" strike="noStrike" cap="none" dirty="0">
                <a:solidFill>
                  <a:schemeClr val="accent2"/>
                </a:solidFill>
                <a:latin typeface="Consolas" panose="020B0609020204030204" pitchFamily="49" charset="0"/>
                <a:ea typeface="Roboto"/>
                <a:cs typeface="Roboto"/>
                <a:sym typeface="Roboto"/>
              </a:rPr>
              <a:t>FROM  </a:t>
            </a:r>
            <a:r>
              <a:rPr lang="en" sz="1200" dirty="0">
                <a:latin typeface="Consolas" panose="020B0609020204030204" pitchFamily="49" charset="0"/>
                <a:ea typeface="Roboto"/>
                <a:cs typeface="Roboto"/>
                <a:sym typeface="Roboto"/>
              </a:rPr>
              <a:t>Company</a:t>
            </a:r>
            <a:br>
              <a:rPr lang="en" sz="1200" i="0" u="none" strike="noStrike" cap="none" dirty="0">
                <a:solidFill>
                  <a:schemeClr val="accent2"/>
                </a:solidFill>
                <a:latin typeface="Consolas" panose="020B0609020204030204" pitchFamily="49" charset="0"/>
                <a:ea typeface="Roboto"/>
                <a:cs typeface="Roboto"/>
                <a:sym typeface="Roboto"/>
              </a:rPr>
            </a:br>
            <a:r>
              <a:rPr lang="en" sz="1200" i="0" u="none" strike="noStrike" cap="none" dirty="0">
                <a:solidFill>
                  <a:schemeClr val="accent2"/>
                </a:solidFill>
                <a:latin typeface="Consolas" panose="020B0609020204030204" pitchFamily="49" charset="0"/>
                <a:ea typeface="Roboto"/>
                <a:cs typeface="Roboto"/>
                <a:sym typeface="Roboto"/>
              </a:rPr>
              <a:t>WHERE </a:t>
            </a:r>
            <a:r>
              <a:rPr lang="en" sz="1200" dirty="0">
                <a:latin typeface="Consolas" panose="020B0609020204030204" pitchFamily="49" charset="0"/>
                <a:ea typeface="Roboto"/>
                <a:cs typeface="Roboto"/>
                <a:sym typeface="Roboto"/>
              </a:rPr>
              <a:t>CName like</a:t>
            </a:r>
            <a:r>
              <a:rPr lang="en" sz="1200" i="0" u="none" strike="noStrike" cap="none" dirty="0">
                <a:solidFill>
                  <a:srgbClr val="000000"/>
                </a:solidFill>
                <a:latin typeface="Consolas" panose="020B0609020204030204" pitchFamily="49" charset="0"/>
                <a:ea typeface="Roboto"/>
                <a:cs typeface="Roboto"/>
                <a:sym typeface="Roboto"/>
              </a:rPr>
              <a:t> </a:t>
            </a:r>
            <a:r>
              <a:rPr lang="en" sz="1200" dirty="0">
                <a:latin typeface="Consolas" panose="020B0609020204030204" pitchFamily="49" charset="0"/>
                <a:ea typeface="Roboto"/>
                <a:cs typeface="Roboto"/>
                <a:sym typeface="Roboto"/>
              </a:rPr>
              <a:t>‘AAPL’</a:t>
            </a:r>
            <a:endParaRPr sz="1200" dirty="0">
              <a:latin typeface="Consolas" panose="020B0609020204030204" pitchFamily="49" charset="0"/>
              <a:ea typeface="Roboto"/>
              <a:cs typeface="Roboto"/>
              <a:sym typeface="Roboto"/>
            </a:endParaRPr>
          </a:p>
        </p:txBody>
      </p:sp>
      <p:pic>
        <p:nvPicPr>
          <p:cNvPr id="72" name="Google Shape;475;p50">
            <a:extLst>
              <a:ext uri="{FF2B5EF4-FFF2-40B4-BE49-F238E27FC236}">
                <a16:creationId xmlns:a16="http://schemas.microsoft.com/office/drawing/2014/main" id="{6B560204-88BB-4280-A583-5BBCF0661743}"/>
              </a:ext>
            </a:extLst>
          </p:cNvPr>
          <p:cNvPicPr preferRelativeResize="0"/>
          <p:nvPr/>
        </p:nvPicPr>
        <p:blipFill>
          <a:blip r:embed="rId5">
            <a:alphaModFix/>
          </a:blip>
          <a:stretch>
            <a:fillRect/>
          </a:stretch>
        </p:blipFill>
        <p:spPr>
          <a:xfrm>
            <a:off x="9789264" y="3254445"/>
            <a:ext cx="821586" cy="883172"/>
          </a:xfrm>
          <a:prstGeom prst="rect">
            <a:avLst/>
          </a:prstGeom>
          <a:noFill/>
          <a:ln>
            <a:noFill/>
          </a:ln>
        </p:spPr>
      </p:pic>
      <p:sp>
        <p:nvSpPr>
          <p:cNvPr id="4" name="Flecha: a la derecha 3">
            <a:extLst>
              <a:ext uri="{FF2B5EF4-FFF2-40B4-BE49-F238E27FC236}">
                <a16:creationId xmlns:a16="http://schemas.microsoft.com/office/drawing/2014/main" id="{565A4B93-98EF-484F-9287-89CA9018670D}"/>
              </a:ext>
            </a:extLst>
          </p:cNvPr>
          <p:cNvSpPr/>
          <p:nvPr/>
        </p:nvSpPr>
        <p:spPr>
          <a:xfrm>
            <a:off x="4676012" y="5363177"/>
            <a:ext cx="1953127" cy="480001"/>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390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básicos</a:t>
            </a:r>
            <a:endParaRPr dirty="0"/>
          </a:p>
        </p:txBody>
      </p:sp>
      <p:sp>
        <p:nvSpPr>
          <p:cNvPr id="10" name="Google Shape;310;p34">
            <a:extLst>
              <a:ext uri="{FF2B5EF4-FFF2-40B4-BE49-F238E27FC236}">
                <a16:creationId xmlns:a16="http://schemas.microsoft.com/office/drawing/2014/main" id="{9336861D-8C76-497B-B73D-456F9AA36823}"/>
              </a:ext>
            </a:extLst>
          </p:cNvPr>
          <p:cNvSpPr txBox="1">
            <a:spLocks noGrp="1"/>
          </p:cNvSpPr>
          <p:nvPr>
            <p:ph type="body" idx="1"/>
          </p:nvPr>
        </p:nvSpPr>
        <p:spPr>
          <a:xfrm>
            <a:off x="786020" y="809228"/>
            <a:ext cx="10767350" cy="21060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lgn="just"/>
            <a:r>
              <a:rPr lang="es-MX" sz="1800" dirty="0">
                <a:latin typeface="Roboto" panose="02000000000000000000" pitchFamily="2" charset="0"/>
                <a:ea typeface="Roboto" panose="02000000000000000000" pitchFamily="2" charset="0"/>
              </a:rPr>
              <a:t>Un índice sobre uno o más atributos (</a:t>
            </a:r>
            <a:r>
              <a:rPr lang="es-MX" sz="1800" b="1" dirty="0">
                <a:latin typeface="Roboto" panose="02000000000000000000" pitchFamily="2" charset="0"/>
                <a:ea typeface="Roboto" panose="02000000000000000000" pitchFamily="2" charset="0"/>
              </a:rPr>
              <a:t>search key</a:t>
            </a:r>
            <a:r>
              <a:rPr lang="es-MX" sz="1800" dirty="0">
                <a:latin typeface="Roboto" panose="02000000000000000000" pitchFamily="2" charset="0"/>
                <a:ea typeface="Roboto" panose="02000000000000000000" pitchFamily="2" charset="0"/>
              </a:rPr>
              <a:t>) puede acelerar la ejecución de aquellas consultas en las que se especifica un valor, o un rango de valores, para dicho atributo, y puede acelerar ciertas combinaciones (</a:t>
            </a:r>
            <a:r>
              <a:rPr lang="es-MX" sz="1800" b="1" dirty="0">
                <a:latin typeface="Roboto" panose="02000000000000000000" pitchFamily="2" charset="0"/>
                <a:ea typeface="Roboto" panose="02000000000000000000" pitchFamily="2" charset="0"/>
              </a:rPr>
              <a:t>joins</a:t>
            </a:r>
            <a:r>
              <a:rPr lang="es-MX" sz="1800" dirty="0">
                <a:latin typeface="Roboto" panose="02000000000000000000" pitchFamily="2" charset="0"/>
                <a:ea typeface="Roboto" panose="02000000000000000000" pitchFamily="2" charset="0"/>
              </a:rPr>
              <a:t>), dependiendo del plan de ejecución.</a:t>
            </a:r>
          </a:p>
          <a:p>
            <a:pPr marL="342900" indent="-342900"/>
            <a:endParaRPr lang="es-MX" sz="1800" dirty="0">
              <a:latin typeface="Roboto" panose="02000000000000000000" pitchFamily="2" charset="0"/>
              <a:ea typeface="Roboto" panose="02000000000000000000" pitchFamily="2" charset="0"/>
            </a:endParaRPr>
          </a:p>
          <a:p>
            <a:pPr marL="342900" indent="-342900"/>
            <a:endParaRPr lang="es-MX" sz="1800" dirty="0">
              <a:latin typeface="Roboto" panose="02000000000000000000" pitchFamily="2" charset="0"/>
              <a:ea typeface="Roboto" panose="02000000000000000000" pitchFamily="2" charset="0"/>
            </a:endParaRPr>
          </a:p>
          <a:p>
            <a:pPr marL="342900" indent="-342900"/>
            <a:endParaRPr lang="es-MX" sz="1800" dirty="0">
              <a:latin typeface="Roboto" panose="02000000000000000000" pitchFamily="2" charset="0"/>
              <a:ea typeface="Roboto" panose="02000000000000000000" pitchFamily="2" charset="0"/>
            </a:endParaRPr>
          </a:p>
        </p:txBody>
      </p:sp>
      <p:sp>
        <p:nvSpPr>
          <p:cNvPr id="17" name="CuadroTexto 16">
            <a:extLst>
              <a:ext uri="{FF2B5EF4-FFF2-40B4-BE49-F238E27FC236}">
                <a16:creationId xmlns:a16="http://schemas.microsoft.com/office/drawing/2014/main" id="{C53735B3-6DD0-4A71-B55B-F15FA77F0621}"/>
              </a:ext>
            </a:extLst>
          </p:cNvPr>
          <p:cNvSpPr txBox="1"/>
          <p:nvPr/>
        </p:nvSpPr>
        <p:spPr>
          <a:xfrm>
            <a:off x="1045028" y="6178352"/>
            <a:ext cx="9434285" cy="400110"/>
          </a:xfrm>
          <a:prstGeom prst="rect">
            <a:avLst/>
          </a:prstGeom>
          <a:solidFill>
            <a:schemeClr val="accent1">
              <a:lumMod val="20000"/>
              <a:lumOff val="80000"/>
            </a:schemeClr>
          </a:solidFill>
        </p:spPr>
        <p:txBody>
          <a:bodyPr wrap="square">
            <a:spAutoFit/>
          </a:bodyPr>
          <a:lstStyle/>
          <a:p>
            <a:r>
              <a:rPr lang="es-CO" sz="2000" dirty="0">
                <a:latin typeface="Roboto" panose="02000000000000000000" pitchFamily="2" charset="0"/>
                <a:ea typeface="Roboto" panose="02000000000000000000" pitchFamily="2" charset="0"/>
              </a:rPr>
              <a:t>Los diseñadores de bases de datos deben analizar el compromiso (</a:t>
            </a:r>
            <a:r>
              <a:rPr lang="es-CO" sz="2000" b="1" dirty="0">
                <a:latin typeface="Roboto" panose="02000000000000000000" pitchFamily="2" charset="0"/>
                <a:ea typeface="Roboto" panose="02000000000000000000" pitchFamily="2" charset="0"/>
              </a:rPr>
              <a:t>trade-off</a:t>
            </a:r>
            <a:r>
              <a:rPr lang="es-CO" sz="2000" dirty="0">
                <a:latin typeface="Roboto" panose="02000000000000000000" pitchFamily="2" charset="0"/>
                <a:ea typeface="Roboto" panose="02000000000000000000" pitchFamily="2" charset="0"/>
              </a:rPr>
              <a:t>).</a:t>
            </a:r>
          </a:p>
        </p:txBody>
      </p:sp>
      <p:sp>
        <p:nvSpPr>
          <p:cNvPr id="18" name="Google Shape;501;p52">
            <a:extLst>
              <a:ext uri="{FF2B5EF4-FFF2-40B4-BE49-F238E27FC236}">
                <a16:creationId xmlns:a16="http://schemas.microsoft.com/office/drawing/2014/main" id="{BC1E9C61-239F-444A-9AC8-6B646F61BDF7}"/>
              </a:ext>
            </a:extLst>
          </p:cNvPr>
          <p:cNvSpPr/>
          <p:nvPr/>
        </p:nvSpPr>
        <p:spPr>
          <a:xfrm>
            <a:off x="1597697" y="4881936"/>
            <a:ext cx="2612570" cy="738326"/>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i="0" u="none" strike="noStrike" cap="none" dirty="0">
                <a:solidFill>
                  <a:schemeClr val="accent2"/>
                </a:solidFill>
                <a:latin typeface="Consolas" panose="020B0609020204030204" pitchFamily="49" charset="0"/>
                <a:ea typeface="Roboto"/>
                <a:cs typeface="Roboto"/>
                <a:sym typeface="Roboto"/>
              </a:rPr>
              <a:t>UPDATE </a:t>
            </a:r>
            <a:r>
              <a:rPr lang="en-US" i="0" u="none" strike="noStrike" cap="none" dirty="0">
                <a:solidFill>
                  <a:schemeClr val="tx1"/>
                </a:solidFill>
                <a:latin typeface="Consolas" panose="020B0609020204030204" pitchFamily="49" charset="0"/>
                <a:ea typeface="Roboto"/>
                <a:cs typeface="Roboto"/>
                <a:sym typeface="Roboto"/>
              </a:rPr>
              <a:t>Company </a:t>
            </a:r>
          </a:p>
          <a:p>
            <a:pPr marL="0" marR="0" lvl="0" indent="0" algn="l" rtl="0">
              <a:lnSpc>
                <a:spcPct val="100000"/>
              </a:lnSpc>
              <a:spcBef>
                <a:spcPts val="0"/>
              </a:spcBef>
              <a:spcAft>
                <a:spcPts val="0"/>
              </a:spcAft>
              <a:buNone/>
            </a:pPr>
            <a:r>
              <a:rPr lang="en-US" i="0" u="none" strike="noStrike" cap="none" dirty="0">
                <a:solidFill>
                  <a:schemeClr val="accent2"/>
                </a:solidFill>
                <a:latin typeface="Consolas" panose="020B0609020204030204" pitchFamily="49" charset="0"/>
                <a:ea typeface="Roboto"/>
                <a:cs typeface="Roboto"/>
                <a:sym typeface="Roboto"/>
              </a:rPr>
              <a:t>SET </a:t>
            </a:r>
            <a:r>
              <a:rPr lang="en-US" i="0" u="none" strike="noStrike" cap="none" dirty="0">
                <a:solidFill>
                  <a:schemeClr val="tx1"/>
                </a:solidFill>
                <a:latin typeface="Consolas" panose="020B0609020204030204" pitchFamily="49" charset="0"/>
                <a:ea typeface="Roboto"/>
                <a:cs typeface="Roboto"/>
                <a:sym typeface="Roboto"/>
              </a:rPr>
              <a:t>Price = 102.5 </a:t>
            </a:r>
          </a:p>
          <a:p>
            <a:pPr marL="0" marR="0" lvl="0" indent="0" algn="l" rtl="0">
              <a:lnSpc>
                <a:spcPct val="100000"/>
              </a:lnSpc>
              <a:spcBef>
                <a:spcPts val="0"/>
              </a:spcBef>
              <a:spcAft>
                <a:spcPts val="0"/>
              </a:spcAft>
              <a:buNone/>
            </a:pPr>
            <a:r>
              <a:rPr lang="en-US" i="0" u="none" strike="noStrike" cap="none" dirty="0">
                <a:solidFill>
                  <a:schemeClr val="accent2"/>
                </a:solidFill>
                <a:latin typeface="Consolas" panose="020B0609020204030204" pitchFamily="49" charset="0"/>
                <a:ea typeface="Roboto"/>
                <a:cs typeface="Roboto"/>
                <a:sym typeface="Roboto"/>
              </a:rPr>
              <a:t>WHERE </a:t>
            </a:r>
            <a:r>
              <a:rPr lang="en-US" i="0" u="none" strike="noStrike" cap="none" dirty="0">
                <a:solidFill>
                  <a:schemeClr val="tx1"/>
                </a:solidFill>
                <a:latin typeface="Consolas" panose="020B0609020204030204" pitchFamily="49" charset="0"/>
                <a:ea typeface="Roboto"/>
                <a:cs typeface="Roboto"/>
                <a:sym typeface="Roboto"/>
              </a:rPr>
              <a:t>CName = 'AAPL'</a:t>
            </a:r>
            <a:endParaRPr sz="1600" dirty="0">
              <a:solidFill>
                <a:schemeClr val="tx1"/>
              </a:solidFill>
              <a:latin typeface="Consolas" panose="020B0609020204030204" pitchFamily="49" charset="0"/>
              <a:ea typeface="Roboto"/>
              <a:cs typeface="Roboto"/>
              <a:sym typeface="Roboto"/>
            </a:endParaRPr>
          </a:p>
        </p:txBody>
      </p:sp>
      <p:sp>
        <p:nvSpPr>
          <p:cNvPr id="19" name="Google Shape;451;p49">
            <a:extLst>
              <a:ext uri="{FF2B5EF4-FFF2-40B4-BE49-F238E27FC236}">
                <a16:creationId xmlns:a16="http://schemas.microsoft.com/office/drawing/2014/main" id="{EBF5F8F4-EF42-47E3-8D10-21E08BADCF60}"/>
              </a:ext>
            </a:extLst>
          </p:cNvPr>
          <p:cNvSpPr/>
          <p:nvPr/>
        </p:nvSpPr>
        <p:spPr>
          <a:xfrm>
            <a:off x="2119087" y="1948347"/>
            <a:ext cx="2612570" cy="76292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i="0" u="none" strike="noStrike" cap="none" dirty="0">
                <a:solidFill>
                  <a:schemeClr val="accent2"/>
                </a:solidFill>
                <a:latin typeface="Consolas" panose="020B0609020204030204" pitchFamily="49" charset="0"/>
                <a:ea typeface="Roboto"/>
                <a:cs typeface="Roboto"/>
                <a:sym typeface="Roboto"/>
              </a:rPr>
              <a:t>SELECT </a:t>
            </a:r>
            <a:r>
              <a:rPr lang="en" i="0" u="none" strike="noStrike" cap="none" dirty="0">
                <a:solidFill>
                  <a:srgbClr val="000000"/>
                </a:solidFill>
                <a:latin typeface="Consolas" panose="020B0609020204030204" pitchFamily="49" charset="0"/>
                <a:ea typeface="Roboto"/>
                <a:cs typeface="Roboto"/>
                <a:sym typeface="Roboto"/>
              </a:rPr>
              <a:t>*</a:t>
            </a:r>
            <a:endParaRPr dirty="0">
              <a:latin typeface="Consolas" panose="020B0609020204030204" pitchFamily="49" charset="0"/>
              <a:ea typeface="Roboto"/>
              <a:cs typeface="Roboto"/>
              <a:sym typeface="Roboto"/>
            </a:endParaRPr>
          </a:p>
          <a:p>
            <a:pPr marL="0" marR="0" lvl="0" indent="0" algn="l" rtl="0">
              <a:lnSpc>
                <a:spcPct val="100000"/>
              </a:lnSpc>
              <a:spcBef>
                <a:spcPts val="0"/>
              </a:spcBef>
              <a:spcAft>
                <a:spcPts val="0"/>
              </a:spcAft>
              <a:buNone/>
            </a:pPr>
            <a:r>
              <a:rPr lang="en" i="0" u="none" strike="noStrike" cap="none" dirty="0">
                <a:solidFill>
                  <a:schemeClr val="accent2"/>
                </a:solidFill>
                <a:latin typeface="Consolas" panose="020B0609020204030204" pitchFamily="49" charset="0"/>
                <a:ea typeface="Roboto"/>
                <a:cs typeface="Roboto"/>
                <a:sym typeface="Roboto"/>
              </a:rPr>
              <a:t>FROM  </a:t>
            </a:r>
            <a:r>
              <a:rPr lang="en" dirty="0">
                <a:latin typeface="Consolas" panose="020B0609020204030204" pitchFamily="49" charset="0"/>
                <a:ea typeface="Roboto"/>
                <a:cs typeface="Roboto"/>
                <a:sym typeface="Roboto"/>
              </a:rPr>
              <a:t>Company</a:t>
            </a:r>
            <a:br>
              <a:rPr lang="en" i="0" u="none" strike="noStrike" cap="none" dirty="0">
                <a:solidFill>
                  <a:schemeClr val="accent2"/>
                </a:solidFill>
                <a:latin typeface="Consolas" panose="020B0609020204030204" pitchFamily="49" charset="0"/>
                <a:ea typeface="Roboto"/>
                <a:cs typeface="Roboto"/>
                <a:sym typeface="Roboto"/>
              </a:rPr>
            </a:br>
            <a:r>
              <a:rPr lang="en" i="0" u="none" strike="noStrike" cap="none" dirty="0">
                <a:solidFill>
                  <a:schemeClr val="accent2"/>
                </a:solidFill>
                <a:latin typeface="Consolas" panose="020B0609020204030204" pitchFamily="49" charset="0"/>
                <a:ea typeface="Roboto"/>
                <a:cs typeface="Roboto"/>
                <a:sym typeface="Roboto"/>
              </a:rPr>
              <a:t>WHERE </a:t>
            </a:r>
            <a:r>
              <a:rPr lang="en" dirty="0">
                <a:latin typeface="Consolas" panose="020B0609020204030204" pitchFamily="49" charset="0"/>
                <a:ea typeface="Roboto"/>
                <a:cs typeface="Roboto"/>
                <a:sym typeface="Roboto"/>
              </a:rPr>
              <a:t>CName like</a:t>
            </a:r>
            <a:r>
              <a:rPr lang="en" i="0" u="none" strike="noStrike" cap="none" dirty="0">
                <a:solidFill>
                  <a:srgbClr val="000000"/>
                </a:solidFill>
                <a:latin typeface="Consolas" panose="020B0609020204030204" pitchFamily="49" charset="0"/>
                <a:ea typeface="Roboto"/>
                <a:cs typeface="Roboto"/>
                <a:sym typeface="Roboto"/>
              </a:rPr>
              <a:t> </a:t>
            </a:r>
            <a:r>
              <a:rPr lang="es-CO" dirty="0">
                <a:latin typeface="Consolas" panose="020B0609020204030204" pitchFamily="49" charset="0"/>
                <a:ea typeface="Roboto"/>
                <a:cs typeface="Roboto"/>
                <a:sym typeface="Roboto"/>
              </a:rPr>
              <a:t>'AAPL%'</a:t>
            </a:r>
            <a:endParaRPr dirty="0">
              <a:latin typeface="Consolas" panose="020B0609020204030204" pitchFamily="49" charset="0"/>
              <a:ea typeface="Roboto"/>
              <a:cs typeface="Roboto"/>
              <a:sym typeface="Roboto"/>
            </a:endParaRPr>
          </a:p>
        </p:txBody>
      </p:sp>
      <p:pic>
        <p:nvPicPr>
          <p:cNvPr id="21" name="Google Shape;454;p49">
            <a:extLst>
              <a:ext uri="{FF2B5EF4-FFF2-40B4-BE49-F238E27FC236}">
                <a16:creationId xmlns:a16="http://schemas.microsoft.com/office/drawing/2014/main" id="{B8FDD901-3491-48BC-9CC0-BE70A9DE2E62}"/>
              </a:ext>
            </a:extLst>
          </p:cNvPr>
          <p:cNvPicPr preferRelativeResize="0"/>
          <p:nvPr/>
        </p:nvPicPr>
        <p:blipFill>
          <a:blip r:embed="rId3">
            <a:alphaModFix/>
          </a:blip>
          <a:stretch>
            <a:fillRect/>
          </a:stretch>
        </p:blipFill>
        <p:spPr>
          <a:xfrm>
            <a:off x="7692571" y="2368871"/>
            <a:ext cx="4020458" cy="2409372"/>
          </a:xfrm>
          <a:prstGeom prst="rect">
            <a:avLst/>
          </a:prstGeom>
          <a:noFill/>
          <a:ln>
            <a:noFill/>
          </a:ln>
        </p:spPr>
      </p:pic>
      <p:sp>
        <p:nvSpPr>
          <p:cNvPr id="15" name="Bocadillo: rectángulo con esquinas redondeadas 14">
            <a:extLst>
              <a:ext uri="{FF2B5EF4-FFF2-40B4-BE49-F238E27FC236}">
                <a16:creationId xmlns:a16="http://schemas.microsoft.com/office/drawing/2014/main" id="{84C215B1-6764-4E80-9B02-98C94D462F31}"/>
              </a:ext>
            </a:extLst>
          </p:cNvPr>
          <p:cNvSpPr/>
          <p:nvPr/>
        </p:nvSpPr>
        <p:spPr>
          <a:xfrm>
            <a:off x="4513942" y="4881936"/>
            <a:ext cx="2264230" cy="638162"/>
          </a:xfrm>
          <a:prstGeom prst="wedgeRoundRectCallout">
            <a:avLst>
              <a:gd name="adj1" fmla="val -86012"/>
              <a:gd name="adj2" fmla="val 42030"/>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200" dirty="0">
                <a:solidFill>
                  <a:schemeClr val="tx1"/>
                </a:solidFill>
                <a:latin typeface="Roboto" panose="02000000000000000000" pitchFamily="2" charset="0"/>
                <a:ea typeface="Roboto" panose="02000000000000000000" pitchFamily="2" charset="0"/>
              </a:rPr>
              <a:t>Al actualizar, el índice sobre </a:t>
            </a:r>
            <a:r>
              <a:rPr lang="es-MX" sz="1200" b="1" dirty="0">
                <a:solidFill>
                  <a:schemeClr val="tx1"/>
                </a:solidFill>
                <a:latin typeface="Roboto" panose="02000000000000000000" pitchFamily="2" charset="0"/>
                <a:ea typeface="Roboto" panose="02000000000000000000" pitchFamily="2" charset="0"/>
              </a:rPr>
              <a:t>CName</a:t>
            </a:r>
            <a:r>
              <a:rPr lang="es-MX" sz="1200" dirty="0">
                <a:solidFill>
                  <a:schemeClr val="tx1"/>
                </a:solidFill>
                <a:latin typeface="Roboto" panose="02000000000000000000" pitchFamily="2" charset="0"/>
                <a:ea typeface="Roboto" panose="02000000000000000000" pitchFamily="2" charset="0"/>
              </a:rPr>
              <a:t> también debe ser modificado</a:t>
            </a:r>
            <a:endParaRPr lang="es-CO" sz="1200" dirty="0">
              <a:solidFill>
                <a:schemeClr val="tx1"/>
              </a:solidFill>
              <a:latin typeface="Roboto" panose="02000000000000000000" pitchFamily="2" charset="0"/>
              <a:ea typeface="Roboto" panose="02000000000000000000" pitchFamily="2" charset="0"/>
            </a:endParaRPr>
          </a:p>
        </p:txBody>
      </p:sp>
      <p:sp>
        <p:nvSpPr>
          <p:cNvPr id="11" name="Google Shape;310;p34">
            <a:extLst>
              <a:ext uri="{FF2B5EF4-FFF2-40B4-BE49-F238E27FC236}">
                <a16:creationId xmlns:a16="http://schemas.microsoft.com/office/drawing/2014/main" id="{5262A07D-003C-43EE-A880-40ABB0BED64A}"/>
              </a:ext>
            </a:extLst>
          </p:cNvPr>
          <p:cNvSpPr txBox="1">
            <a:spLocks/>
          </p:cNvSpPr>
          <p:nvPr/>
        </p:nvSpPr>
        <p:spPr>
          <a:xfrm>
            <a:off x="786020" y="2871079"/>
            <a:ext cx="6717866" cy="16138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lgn="just"/>
            <a:r>
              <a:rPr lang="es-MX" sz="1800" dirty="0">
                <a:latin typeface="Roboto" panose="02000000000000000000" pitchFamily="2" charset="0"/>
                <a:ea typeface="Roboto" panose="02000000000000000000" pitchFamily="2" charset="0"/>
              </a:rPr>
              <a:t>Por otro lado, todo índice construido sobre uno o más atributos de una relación hace que las inserciones (insertions), eliminaciones (deletions) y actualizaciones (updates) sobre dicha relación sean más complejas y costosas en tiempo, ya que el índice también debe mantenerse actualizado.</a:t>
            </a:r>
          </a:p>
        </p:txBody>
      </p:sp>
    </p:spTree>
    <p:extLst>
      <p:ext uri="{BB962C8B-B14F-4D97-AF65-F5344CB8AC3E}">
        <p14:creationId xmlns:p14="http://schemas.microsoft.com/office/powerpoint/2010/main" val="218514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¿Cuál técnica de indexación seleccionar?</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71507" y="890008"/>
            <a:ext cx="11318893" cy="50608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Aspectos que deben ser considerados</a:t>
            </a:r>
            <a:r>
              <a:rPr lang="es-MX" sz="2000" dirty="0"/>
              <a:t>:</a:t>
            </a:r>
          </a:p>
          <a:p>
            <a:r>
              <a:rPr lang="es-MX" sz="2000" b="1" dirty="0"/>
              <a:t>Tipos de acceso (Access types)</a:t>
            </a:r>
          </a:p>
          <a:p>
            <a:pPr lvl="1"/>
            <a:r>
              <a:rPr lang="es-MX" sz="1800" dirty="0"/>
              <a:t>Encontrar registros con un valor específico de atributo (</a:t>
            </a:r>
            <a:r>
              <a:rPr lang="es-MX" sz="1800" b="1" dirty="0"/>
              <a:t>search key</a:t>
            </a:r>
            <a:r>
              <a:rPr lang="es-MX" sz="1800" dirty="0"/>
              <a:t>)</a:t>
            </a:r>
          </a:p>
          <a:p>
            <a:pPr lvl="1"/>
            <a:r>
              <a:rPr lang="es-MX" sz="1800" dirty="0"/>
              <a:t>Encontrar registros con valores de atributo dentro de un rango especificado (</a:t>
            </a:r>
            <a:r>
              <a:rPr lang="es-MX" sz="1800" b="1" dirty="0"/>
              <a:t>range</a:t>
            </a:r>
            <a:r>
              <a:rPr lang="es-MX" sz="1800" dirty="0"/>
              <a:t>)</a:t>
            </a:r>
          </a:p>
          <a:p>
            <a:r>
              <a:rPr lang="es-MX" sz="2000" b="1" dirty="0"/>
              <a:t>Tiempo de acceso (Access time)</a:t>
            </a:r>
          </a:p>
          <a:p>
            <a:pPr lvl="1"/>
            <a:r>
              <a:rPr lang="es-MX" sz="1800" dirty="0"/>
              <a:t>Tiempo necesario para encontrar un ítem de datos particular o un conjunto de ítems de datos</a:t>
            </a:r>
          </a:p>
          <a:p>
            <a:r>
              <a:rPr lang="es-MX" sz="2000" b="1" dirty="0"/>
              <a:t>Tiempo de inserción (Insertion time)</a:t>
            </a:r>
          </a:p>
          <a:p>
            <a:pPr lvl="1"/>
            <a:r>
              <a:rPr lang="es-MX" sz="1800" dirty="0"/>
              <a:t>Tiempo para encontrar la posición de inserción + tiempo para insertar un nuevo ítem de datos + tiempo para actualizar la estructura del índice (</a:t>
            </a:r>
            <a:r>
              <a:rPr lang="es-MX" sz="1800" b="1" dirty="0"/>
              <a:t>index structure</a:t>
            </a:r>
            <a:r>
              <a:rPr lang="es-MX" sz="1800" dirty="0"/>
              <a:t>)</a:t>
            </a:r>
          </a:p>
          <a:p>
            <a:r>
              <a:rPr lang="es-MX" sz="2000" b="1" dirty="0"/>
              <a:t>Tiempo de eliminación (Deletion time)</a:t>
            </a:r>
          </a:p>
          <a:p>
            <a:pPr lvl="1"/>
            <a:r>
              <a:rPr lang="es-MX" sz="1800" dirty="0"/>
              <a:t>Tiempo para encontrar el elemento de datos a eliminar + tiempo para eliminar los datos + tiempo para actualizar la estructura del índice</a:t>
            </a:r>
          </a:p>
          <a:p>
            <a:r>
              <a:rPr lang="es-MX" sz="2000" b="1" dirty="0"/>
              <a:t>Sobrecarga de espacio (Space overhead)</a:t>
            </a:r>
          </a:p>
          <a:p>
            <a:pPr lvl="1"/>
            <a:r>
              <a:rPr lang="es-MX" sz="1800" dirty="0"/>
              <a:t>Espacio ocupado por una estructura de índice (vs. rendimiento)</a:t>
            </a:r>
          </a:p>
        </p:txBody>
      </p:sp>
    </p:spTree>
    <p:extLst>
      <p:ext uri="{BB962C8B-B14F-4D97-AF65-F5344CB8AC3E}">
        <p14:creationId xmlns:p14="http://schemas.microsoft.com/office/powerpoint/2010/main" val="2522249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Mecanismos</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88716" y="721115"/>
            <a:ext cx="10984405" cy="26062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Un </a:t>
            </a:r>
            <a:r>
              <a:rPr lang="es-MX" sz="2000" b="1" dirty="0">
                <a:solidFill>
                  <a:schemeClr val="accent5"/>
                </a:solidFill>
              </a:rPr>
              <a:t>mecanismo de organización de archivos </a:t>
            </a:r>
            <a:r>
              <a:rPr lang="es-MX" sz="2000" dirty="0"/>
              <a:t>es la </a:t>
            </a:r>
            <a:r>
              <a:rPr lang="es-MX" sz="2000" b="1" dirty="0"/>
              <a:t>estrategia que define cómo se </a:t>
            </a:r>
            <a:r>
              <a:rPr lang="es-MX" sz="2000" b="1" dirty="0">
                <a:solidFill>
                  <a:srgbClr val="C00000"/>
                </a:solidFill>
              </a:rPr>
              <a:t>almacenan</a:t>
            </a:r>
            <a:r>
              <a:rPr lang="es-MX" sz="2000" b="1" dirty="0"/>
              <a:t> y </a:t>
            </a:r>
            <a:r>
              <a:rPr lang="es-MX" sz="2000" b="1" dirty="0">
                <a:solidFill>
                  <a:srgbClr val="92D050"/>
                </a:solidFill>
              </a:rPr>
              <a:t>localizan</a:t>
            </a:r>
            <a:r>
              <a:rPr lang="es-MX" sz="2000" b="1" dirty="0"/>
              <a:t> físicamente los registros en disco</a:t>
            </a:r>
            <a:r>
              <a:rPr lang="es-MX" sz="2000" dirty="0"/>
              <a:t>, de manera que el DBMS pueda responder a una consulta sin recorrer el archivo completo. En otras palabras, es la forma en que el índice organiza internamente sus entradas para que la búsqueda sea eficiente.</a:t>
            </a:r>
          </a:p>
          <a:p>
            <a:r>
              <a:rPr lang="es-MX" sz="2000" dirty="0"/>
              <a:t>La elección del mecanismo determina directamente:</a:t>
            </a:r>
          </a:p>
          <a:p>
            <a:pPr lvl="1"/>
            <a:r>
              <a:rPr lang="es-MX" sz="1800" b="1" dirty="0"/>
              <a:t>El tipo de consultas</a:t>
            </a:r>
            <a:r>
              <a:rPr lang="es-MX" sz="1800" dirty="0"/>
              <a:t> que se pueden responder eficientemente.</a:t>
            </a:r>
          </a:p>
          <a:p>
            <a:pPr lvl="1"/>
            <a:r>
              <a:rPr lang="es-MX" sz="1800" dirty="0"/>
              <a:t>El </a:t>
            </a:r>
            <a:r>
              <a:rPr lang="es-MX" sz="1800" b="1" dirty="0"/>
              <a:t>costo</a:t>
            </a:r>
            <a:r>
              <a:rPr lang="es-MX" sz="1800" dirty="0"/>
              <a:t> de las operaciones de inserción, eliminación y actualización, ya que el índice también debe mantenerse actualizado</a:t>
            </a:r>
            <a:r>
              <a:rPr lang="es-MX" sz="1600" dirty="0"/>
              <a:t>.</a:t>
            </a:r>
            <a:endParaRPr lang="es-MX" sz="2000" dirty="0"/>
          </a:p>
        </p:txBody>
      </p:sp>
      <p:graphicFrame>
        <p:nvGraphicFramePr>
          <p:cNvPr id="2" name="Tabla 1">
            <a:extLst>
              <a:ext uri="{FF2B5EF4-FFF2-40B4-BE49-F238E27FC236}">
                <a16:creationId xmlns:a16="http://schemas.microsoft.com/office/drawing/2014/main" id="{539432F3-6082-44EC-976B-6A4E1218F3D5}"/>
              </a:ext>
            </a:extLst>
          </p:cNvPr>
          <p:cNvGraphicFramePr>
            <a:graphicFrameLocks noGrp="1"/>
          </p:cNvGraphicFramePr>
          <p:nvPr>
            <p:extLst>
              <p:ext uri="{D42A27DB-BD31-4B8C-83A1-F6EECF244321}">
                <p14:modId xmlns:p14="http://schemas.microsoft.com/office/powerpoint/2010/main" val="406763674"/>
              </p:ext>
            </p:extLst>
          </p:nvPr>
        </p:nvGraphicFramePr>
        <p:xfrm>
          <a:off x="1040093" y="3429000"/>
          <a:ext cx="10733028" cy="3230880"/>
        </p:xfrm>
        <a:graphic>
          <a:graphicData uri="http://schemas.openxmlformats.org/drawingml/2006/table">
            <a:tbl>
              <a:tblPr/>
              <a:tblGrid>
                <a:gridCol w="4416743">
                  <a:extLst>
                    <a:ext uri="{9D8B030D-6E8A-4147-A177-3AD203B41FA5}">
                      <a16:colId xmlns:a16="http://schemas.microsoft.com/office/drawing/2014/main" val="2479175202"/>
                    </a:ext>
                  </a:extLst>
                </a:gridCol>
                <a:gridCol w="2359810">
                  <a:extLst>
                    <a:ext uri="{9D8B030D-6E8A-4147-A177-3AD203B41FA5}">
                      <a16:colId xmlns:a16="http://schemas.microsoft.com/office/drawing/2014/main" val="1332718204"/>
                    </a:ext>
                  </a:extLst>
                </a:gridCol>
                <a:gridCol w="2418736">
                  <a:extLst>
                    <a:ext uri="{9D8B030D-6E8A-4147-A177-3AD203B41FA5}">
                      <a16:colId xmlns:a16="http://schemas.microsoft.com/office/drawing/2014/main" val="135635994"/>
                    </a:ext>
                  </a:extLst>
                </a:gridCol>
                <a:gridCol w="1537739">
                  <a:extLst>
                    <a:ext uri="{9D8B030D-6E8A-4147-A177-3AD203B41FA5}">
                      <a16:colId xmlns:a16="http://schemas.microsoft.com/office/drawing/2014/main" val="643876336"/>
                    </a:ext>
                  </a:extLst>
                </a:gridCol>
              </a:tblGrid>
              <a:tr h="0">
                <a:tc>
                  <a:txBody>
                    <a:bodyPr/>
                    <a:lstStyle/>
                    <a:p>
                      <a:r>
                        <a:rPr lang="es-CO" sz="1600" b="1" dirty="0">
                          <a:latin typeface="Roboto" panose="02000000000000000000" pitchFamily="2" charset="0"/>
                          <a:ea typeface="Roboto" panose="02000000000000000000" pitchFamily="2" charset="0"/>
                        </a:rPr>
                        <a:t>Tipo de mecanismo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s-CO" sz="1600" b="1">
                          <a:latin typeface="Roboto" panose="02000000000000000000" pitchFamily="2" charset="0"/>
                          <a:ea typeface="Roboto" panose="02000000000000000000" pitchFamily="2" charset="0"/>
                        </a:rPr>
                        <a:t>Propósito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s-CO" sz="1600" b="1">
                          <a:latin typeface="Roboto" panose="02000000000000000000" pitchFamily="2" charset="0"/>
                          <a:ea typeface="Roboto" panose="02000000000000000000" pitchFamily="2" charset="0"/>
                        </a:rPr>
                        <a:t>¿Qué define?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s-CO" sz="1600" b="1" dirty="0">
                          <a:latin typeface="Roboto" panose="02000000000000000000" pitchFamily="2" charset="0"/>
                          <a:ea typeface="Roboto" panose="02000000000000000000" pitchFamily="2" charset="0"/>
                        </a:rPr>
                        <a:t>Ejemplos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7857008"/>
                  </a:ext>
                </a:extLst>
              </a:tr>
              <a:tr h="0">
                <a:tc>
                  <a:txBody>
                    <a:bodyPr/>
                    <a:lstStyle/>
                    <a:p>
                      <a:r>
                        <a:rPr lang="es-MX" sz="1400" b="1" dirty="0">
                          <a:latin typeface="Roboto" panose="02000000000000000000" pitchFamily="2" charset="0"/>
                          <a:ea typeface="Roboto" panose="02000000000000000000" pitchFamily="2" charset="0"/>
                        </a:rPr>
                        <a:t>ORGANIZACIÓN — ¿Cómo se almacenan los datos?</a:t>
                      </a:r>
                      <a:endParaRPr lang="es-MX"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endParaRPr lang="es-CO" sz="1400" dirty="0">
                        <a:latin typeface="Roboto" panose="02000000000000000000" pitchFamily="2" charset="0"/>
                        <a:ea typeface="Roboto" panose="02000000000000000000" pitchFamily="2"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endParaRPr lang="es-CO" sz="1400">
                        <a:latin typeface="Roboto" panose="02000000000000000000" pitchFamily="2" charset="0"/>
                        <a:ea typeface="Roboto" panose="02000000000000000000" pitchFamily="2"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endParaRPr lang="es-CO" sz="1400" dirty="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642659619"/>
                  </a:ext>
                </a:extLst>
              </a:tr>
              <a:tr h="0">
                <a:tc>
                  <a:txBody>
                    <a:bodyPr/>
                    <a:lstStyle/>
                    <a:p>
                      <a:r>
                        <a:rPr lang="es-MX" sz="1400" dirty="0">
                          <a:latin typeface="Roboto" panose="02000000000000000000" pitchFamily="2" charset="0"/>
                          <a:ea typeface="Roboto" panose="02000000000000000000" pitchFamily="2" charset="0"/>
                        </a:rPr>
                        <a:t>Organización de archivos </a:t>
                      </a:r>
                      <a:r>
                        <a:rPr lang="es-MX" sz="1400" i="1" dirty="0">
                          <a:latin typeface="Roboto" panose="02000000000000000000" pitchFamily="2" charset="0"/>
                          <a:ea typeface="Roboto" panose="02000000000000000000" pitchFamily="2" charset="0"/>
                        </a:rPr>
                        <a:t>(File </a:t>
                      </a:r>
                      <a:r>
                        <a:rPr lang="es-MX" sz="1400" i="1" dirty="0" err="1">
                          <a:latin typeface="Roboto" panose="02000000000000000000" pitchFamily="2" charset="0"/>
                          <a:ea typeface="Roboto" panose="02000000000000000000" pitchFamily="2" charset="0"/>
                        </a:rPr>
                        <a:t>Organization</a:t>
                      </a:r>
                      <a:r>
                        <a:rPr lang="es-MX" sz="1400" i="1" dirty="0">
                          <a:latin typeface="Roboto" panose="02000000000000000000" pitchFamily="2" charset="0"/>
                          <a:ea typeface="Roboto" panose="02000000000000000000" pitchFamily="2" charset="0"/>
                        </a:rPr>
                        <a:t>)</a:t>
                      </a:r>
                      <a:endParaRPr lang="es-MX"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MX" sz="1400">
                          <a:latin typeface="Roboto" panose="02000000000000000000" pitchFamily="2" charset="0"/>
                          <a:ea typeface="Roboto" panose="02000000000000000000" pitchFamily="2" charset="0"/>
                        </a:rPr>
                        <a:t>Definir cómo se almacenan los datos en disco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MX" sz="1400">
                          <a:latin typeface="Roboto" panose="02000000000000000000" pitchFamily="2" charset="0"/>
                          <a:ea typeface="Roboto" panose="02000000000000000000" pitchFamily="2" charset="0"/>
                        </a:rPr>
                        <a:t>Estructura física de los registros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400">
                          <a:latin typeface="Roboto" panose="02000000000000000000" pitchFamily="2" charset="0"/>
                          <a:ea typeface="Roboto" panose="02000000000000000000" pitchFamily="2" charset="0"/>
                        </a:rPr>
                        <a:t>Heap files, Sorted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45109197"/>
                  </a:ext>
                </a:extLst>
              </a:tr>
              <a:tr h="0">
                <a:tc>
                  <a:txBody>
                    <a:bodyPr/>
                    <a:lstStyle/>
                    <a:p>
                      <a:r>
                        <a:rPr lang="es-CO" sz="1400" dirty="0">
                          <a:latin typeface="Roboto" panose="02000000000000000000" pitchFamily="2" charset="0"/>
                          <a:ea typeface="Roboto" panose="02000000000000000000" pitchFamily="2" charset="0"/>
                        </a:rPr>
                        <a:t>Estructuras de acceso </a:t>
                      </a:r>
                      <a:r>
                        <a:rPr lang="es-CO" sz="1400" i="1" dirty="0">
                          <a:latin typeface="Roboto" panose="02000000000000000000" pitchFamily="2" charset="0"/>
                          <a:ea typeface="Roboto" panose="02000000000000000000" pitchFamily="2" charset="0"/>
                        </a:rPr>
                        <a:t>(Access </a:t>
                      </a:r>
                      <a:r>
                        <a:rPr lang="es-CO" sz="1400" i="1" dirty="0" err="1">
                          <a:latin typeface="Roboto" panose="02000000000000000000" pitchFamily="2" charset="0"/>
                          <a:ea typeface="Roboto" panose="02000000000000000000" pitchFamily="2" charset="0"/>
                        </a:rPr>
                        <a:t>Structures</a:t>
                      </a:r>
                      <a:r>
                        <a:rPr lang="es-CO" sz="1400" i="1" dirty="0">
                          <a:latin typeface="Roboto" panose="02000000000000000000" pitchFamily="2" charset="0"/>
                          <a:ea typeface="Roboto" panose="02000000000000000000" pitchFamily="2" charset="0"/>
                        </a:rPr>
                        <a:t> / Indexes)</a:t>
                      </a:r>
                      <a:endParaRPr lang="es-CO"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MX" sz="1400" dirty="0">
                          <a:latin typeface="Roboto" panose="02000000000000000000" pitchFamily="2" charset="0"/>
                          <a:ea typeface="Roboto" panose="02000000000000000000" pitchFamily="2" charset="0"/>
                        </a:rPr>
                        <a:t>Acelerar la localización de datos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MX" sz="1400" dirty="0">
                          <a:latin typeface="Roboto" panose="02000000000000000000" pitchFamily="2" charset="0"/>
                          <a:ea typeface="Roboto" panose="02000000000000000000" pitchFamily="2" charset="0"/>
                        </a:rPr>
                        <a:t>Caminos de acceso a los registros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400" dirty="0">
                          <a:latin typeface="Roboto" panose="02000000000000000000" pitchFamily="2" charset="0"/>
                          <a:ea typeface="Roboto" panose="02000000000000000000" pitchFamily="2" charset="0"/>
                        </a:rPr>
                        <a:t>B+ </a:t>
                      </a:r>
                      <a:r>
                        <a:rPr lang="es-CO" sz="1400" dirty="0" err="1">
                          <a:latin typeface="Roboto" panose="02000000000000000000" pitchFamily="2" charset="0"/>
                          <a:ea typeface="Roboto" panose="02000000000000000000" pitchFamily="2" charset="0"/>
                        </a:rPr>
                        <a:t>Tree</a:t>
                      </a:r>
                      <a:r>
                        <a:rPr lang="es-CO" sz="1400" dirty="0">
                          <a:latin typeface="Roboto" panose="02000000000000000000" pitchFamily="2" charset="0"/>
                          <a:ea typeface="Roboto" panose="02000000000000000000" pitchFamily="2" charset="0"/>
                        </a:rPr>
                        <a:t>, Hash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81184338"/>
                  </a:ext>
                </a:extLst>
              </a:tr>
              <a:tr h="0">
                <a:tc>
                  <a:txBody>
                    <a:bodyPr/>
                    <a:lstStyle/>
                    <a:p>
                      <a:r>
                        <a:rPr lang="es-MX" sz="1400" b="1" dirty="0">
                          <a:latin typeface="Roboto" panose="02000000000000000000" pitchFamily="2" charset="0"/>
                          <a:ea typeface="Roboto" panose="02000000000000000000" pitchFamily="2" charset="0"/>
                        </a:rPr>
                        <a:t>ACCESO — ¿Cómo se recorren o localizan los datos?</a:t>
                      </a:r>
                      <a:endParaRPr lang="es-MX"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s-CO" sz="1400">
                        <a:latin typeface="Roboto" panose="02000000000000000000" pitchFamily="2" charset="0"/>
                        <a:ea typeface="Roboto" panose="02000000000000000000" pitchFamily="2"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s-CO" sz="1400">
                        <a:latin typeface="Roboto" panose="02000000000000000000" pitchFamily="2" charset="0"/>
                        <a:ea typeface="Roboto" panose="02000000000000000000" pitchFamily="2"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s-CO" sz="1400" dirty="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450811878"/>
                  </a:ext>
                </a:extLst>
              </a:tr>
              <a:tr h="0">
                <a:tc>
                  <a:txBody>
                    <a:bodyPr/>
                    <a:lstStyle/>
                    <a:p>
                      <a:r>
                        <a:rPr lang="es-CO" sz="1400" dirty="0">
                          <a:latin typeface="Roboto" panose="02000000000000000000" pitchFamily="2" charset="0"/>
                          <a:ea typeface="Roboto" panose="02000000000000000000" pitchFamily="2" charset="0"/>
                        </a:rPr>
                        <a:t>Acceso secuencial </a:t>
                      </a:r>
                      <a:r>
                        <a:rPr lang="es-CO" sz="1400" i="1" dirty="0">
                          <a:latin typeface="Roboto" panose="02000000000000000000" pitchFamily="2" charset="0"/>
                          <a:ea typeface="Roboto" panose="02000000000000000000" pitchFamily="2" charset="0"/>
                        </a:rPr>
                        <a:t>(</a:t>
                      </a:r>
                      <a:r>
                        <a:rPr lang="es-CO" sz="1400" i="1" dirty="0" err="1">
                          <a:latin typeface="Roboto" panose="02000000000000000000" pitchFamily="2" charset="0"/>
                          <a:ea typeface="Roboto" panose="02000000000000000000" pitchFamily="2" charset="0"/>
                        </a:rPr>
                        <a:t>Sequential</a:t>
                      </a:r>
                      <a:r>
                        <a:rPr lang="es-CO" sz="1400" i="1" dirty="0">
                          <a:latin typeface="Roboto" panose="02000000000000000000" pitchFamily="2" charset="0"/>
                          <a:ea typeface="Roboto" panose="02000000000000000000" pitchFamily="2" charset="0"/>
                        </a:rPr>
                        <a:t> </a:t>
                      </a:r>
                      <a:r>
                        <a:rPr lang="es-CO" sz="1400" i="1" dirty="0" err="1">
                          <a:latin typeface="Roboto" panose="02000000000000000000" pitchFamily="2" charset="0"/>
                          <a:ea typeface="Roboto" panose="02000000000000000000" pitchFamily="2" charset="0"/>
                        </a:rPr>
                        <a:t>access</a:t>
                      </a:r>
                      <a:r>
                        <a:rPr lang="es-CO" sz="1400" i="1" dirty="0">
                          <a:latin typeface="Roboto" panose="02000000000000000000" pitchFamily="2" charset="0"/>
                          <a:ea typeface="Roboto" panose="02000000000000000000" pitchFamily="2" charset="0"/>
                        </a:rPr>
                        <a:t>)</a:t>
                      </a:r>
                      <a:endParaRPr lang="es-CO"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MX" sz="1400">
                          <a:latin typeface="Roboto" panose="02000000000000000000" pitchFamily="2" charset="0"/>
                          <a:ea typeface="Roboto" panose="02000000000000000000" pitchFamily="2" charset="0"/>
                        </a:rPr>
                        <a:t>Procesar todos los datos en orden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MX" sz="1400">
                          <a:latin typeface="Roboto" panose="02000000000000000000" pitchFamily="2" charset="0"/>
                          <a:ea typeface="Roboto" panose="02000000000000000000" pitchFamily="2" charset="0"/>
                        </a:rPr>
                        <a:t>Forma de recorrer los datos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CO" sz="1400" dirty="0">
                          <a:latin typeface="Roboto" panose="02000000000000000000" pitchFamily="2" charset="0"/>
                          <a:ea typeface="Roboto" panose="02000000000000000000" pitchFamily="2" charset="0"/>
                        </a:rPr>
                        <a:t>File scan, </a:t>
                      </a:r>
                      <a:r>
                        <a:rPr lang="es-CO" sz="1400" dirty="0" err="1">
                          <a:latin typeface="Roboto" panose="02000000000000000000" pitchFamily="2" charset="0"/>
                          <a:ea typeface="Roboto" panose="02000000000000000000" pitchFamily="2" charset="0"/>
                        </a:rPr>
                        <a:t>Ordered</a:t>
                      </a:r>
                      <a:r>
                        <a:rPr lang="es-CO" sz="1400" dirty="0">
                          <a:latin typeface="Roboto" panose="02000000000000000000" pitchFamily="2" charset="0"/>
                          <a:ea typeface="Roboto" panose="02000000000000000000" pitchFamily="2" charset="0"/>
                        </a:rPr>
                        <a:t> scan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82501561"/>
                  </a:ext>
                </a:extLst>
              </a:tr>
              <a:tr h="0">
                <a:tc>
                  <a:txBody>
                    <a:bodyPr/>
                    <a:lstStyle/>
                    <a:p>
                      <a:r>
                        <a:rPr lang="es-CO" sz="1400" dirty="0">
                          <a:latin typeface="Roboto" panose="02000000000000000000" pitchFamily="2" charset="0"/>
                          <a:ea typeface="Roboto" panose="02000000000000000000" pitchFamily="2" charset="0"/>
                        </a:rPr>
                        <a:t>Acceso directo </a:t>
                      </a:r>
                      <a:r>
                        <a:rPr lang="es-CO" sz="1400" i="1" dirty="0">
                          <a:latin typeface="Roboto" panose="02000000000000000000" pitchFamily="2" charset="0"/>
                          <a:ea typeface="Roboto" panose="02000000000000000000" pitchFamily="2" charset="0"/>
                        </a:rPr>
                        <a:t>(Direct </a:t>
                      </a:r>
                      <a:r>
                        <a:rPr lang="es-CO" sz="1400" i="1" dirty="0" err="1">
                          <a:latin typeface="Roboto" panose="02000000000000000000" pitchFamily="2" charset="0"/>
                          <a:ea typeface="Roboto" panose="02000000000000000000" pitchFamily="2" charset="0"/>
                        </a:rPr>
                        <a:t>access</a:t>
                      </a:r>
                      <a:r>
                        <a:rPr lang="es-CO" sz="1400" i="1" dirty="0">
                          <a:latin typeface="Roboto" panose="02000000000000000000" pitchFamily="2" charset="0"/>
                          <a:ea typeface="Roboto" panose="02000000000000000000" pitchFamily="2" charset="0"/>
                        </a:rPr>
                        <a:t>)</a:t>
                      </a:r>
                      <a:endParaRPr lang="es-CO"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MX" sz="1400" dirty="0">
                          <a:latin typeface="Roboto" panose="02000000000000000000" pitchFamily="2" charset="0"/>
                          <a:ea typeface="Roboto" panose="02000000000000000000" pitchFamily="2" charset="0"/>
                        </a:rPr>
                        <a:t>Acceder a datos específicos sin recorrer todo el archivo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CO" sz="1400" dirty="0">
                          <a:latin typeface="Roboto" panose="02000000000000000000" pitchFamily="2" charset="0"/>
                          <a:ea typeface="Roboto" panose="02000000000000000000" pitchFamily="2" charset="0"/>
                        </a:rPr>
                        <a:t>Estrategia de búsqueda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s-CO" sz="1400" dirty="0">
                          <a:latin typeface="Roboto" panose="02000000000000000000" pitchFamily="2" charset="0"/>
                          <a:ea typeface="Roboto" panose="02000000000000000000" pitchFamily="2" charset="0"/>
                        </a:rPr>
                        <a:t>Index </a:t>
                      </a:r>
                      <a:r>
                        <a:rPr lang="es-CO" sz="1400" dirty="0" err="1">
                          <a:latin typeface="Roboto" panose="02000000000000000000" pitchFamily="2" charset="0"/>
                          <a:ea typeface="Roboto" panose="02000000000000000000" pitchFamily="2" charset="0"/>
                        </a:rPr>
                        <a:t>lookup</a:t>
                      </a:r>
                      <a:r>
                        <a:rPr lang="es-CO" sz="1400" dirty="0">
                          <a:latin typeface="Roboto" panose="02000000000000000000" pitchFamily="2" charset="0"/>
                          <a:ea typeface="Roboto" panose="02000000000000000000" pitchFamily="2" charset="0"/>
                        </a:rPr>
                        <a:t>, Hash </a:t>
                      </a:r>
                      <a:r>
                        <a:rPr lang="es-CO" sz="1400" dirty="0" err="1">
                          <a:latin typeface="Roboto" panose="02000000000000000000" pitchFamily="2" charset="0"/>
                          <a:ea typeface="Roboto" panose="02000000000000000000" pitchFamily="2" charset="0"/>
                        </a:rPr>
                        <a:t>lookup</a:t>
                      </a:r>
                      <a:endParaRPr lang="es-CO" sz="14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89092281"/>
                  </a:ext>
                </a:extLst>
              </a:tr>
            </a:tbl>
          </a:graphicData>
        </a:graphic>
      </p:graphicFrame>
    </p:spTree>
    <p:extLst>
      <p:ext uri="{BB962C8B-B14F-4D97-AF65-F5344CB8AC3E}">
        <p14:creationId xmlns:p14="http://schemas.microsoft.com/office/powerpoint/2010/main" val="106595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01902" y="361509"/>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Tipos de Mecanismos de Organización de Archivos</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73969" y="1311009"/>
            <a:ext cx="10847759" cy="49275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De los mecanismos mencionados, los dos que implementan directamente el </a:t>
            </a:r>
            <a:r>
              <a:rPr lang="es-MX" sz="2000" b="1" dirty="0"/>
              <a:t>Indexing</a:t>
            </a:r>
            <a:r>
              <a:rPr lang="es-MX" sz="2000" dirty="0"/>
              <a:t> son:</a:t>
            </a:r>
            <a:endParaRPr lang="es-MX" sz="2000" b="1" dirty="0">
              <a:solidFill>
                <a:schemeClr val="accent1"/>
              </a:solidFill>
            </a:endParaRPr>
          </a:p>
          <a:p>
            <a:r>
              <a:rPr lang="es-MX" sz="1800" b="1" dirty="0">
                <a:solidFill>
                  <a:schemeClr val="tx1"/>
                </a:solidFill>
              </a:rPr>
              <a:t>Organización de archivo secuencial</a:t>
            </a:r>
            <a:r>
              <a:rPr lang="es-MX" sz="1800" dirty="0">
                <a:solidFill>
                  <a:schemeClr val="tx1"/>
                </a:solidFill>
              </a:rPr>
              <a:t> (soporta igualdad y rango)</a:t>
            </a:r>
          </a:p>
          <a:p>
            <a:r>
              <a:rPr lang="es-MX" sz="1800" b="1" dirty="0">
                <a:solidFill>
                  <a:schemeClr val="tx1"/>
                </a:solidFill>
              </a:rPr>
              <a:t>Organización de archivo hash</a:t>
            </a:r>
            <a:r>
              <a:rPr lang="es-MX" sz="1800" dirty="0">
                <a:solidFill>
                  <a:schemeClr val="tx1"/>
                </a:solidFill>
              </a:rPr>
              <a:t> (soporta solo igualdad exacta)</a:t>
            </a:r>
          </a:p>
        </p:txBody>
      </p:sp>
      <p:pic>
        <p:nvPicPr>
          <p:cNvPr id="33" name="Picture 5">
            <a:extLst>
              <a:ext uri="{FF2B5EF4-FFF2-40B4-BE49-F238E27FC236}">
                <a16:creationId xmlns:a16="http://schemas.microsoft.com/office/drawing/2014/main" id="{22B46B82-8F1A-48E3-9121-18F5E24DC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2903" y="2303967"/>
            <a:ext cx="3597176" cy="3472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CuadroTexto 34">
            <a:extLst>
              <a:ext uri="{FF2B5EF4-FFF2-40B4-BE49-F238E27FC236}">
                <a16:creationId xmlns:a16="http://schemas.microsoft.com/office/drawing/2014/main" id="{153655E0-C39E-45F2-B6D1-947CBA7379DF}"/>
              </a:ext>
            </a:extLst>
          </p:cNvPr>
          <p:cNvSpPr txBox="1"/>
          <p:nvPr/>
        </p:nvSpPr>
        <p:spPr>
          <a:xfrm>
            <a:off x="1972384" y="5317573"/>
            <a:ext cx="3781864" cy="461665"/>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Archivo de la relación </a:t>
            </a:r>
            <a:r>
              <a:rPr lang="es-MX" sz="1200" i="1" dirty="0">
                <a:latin typeface="Roboto" panose="02000000000000000000" pitchFamily="2" charset="0"/>
                <a:ea typeface="Roboto" panose="02000000000000000000" pitchFamily="2" charset="0"/>
              </a:rPr>
              <a:t>instructor</a:t>
            </a:r>
            <a:r>
              <a:rPr lang="es-MX" sz="1200" dirty="0">
                <a:latin typeface="Roboto" panose="02000000000000000000" pitchFamily="2" charset="0"/>
                <a:ea typeface="Roboto" panose="02000000000000000000" pitchFamily="2" charset="0"/>
              </a:rPr>
              <a:t> ordenado </a:t>
            </a:r>
            <a:r>
              <a:rPr lang="es-MX" sz="1200" b="1" dirty="0">
                <a:latin typeface="Roboto" panose="02000000000000000000" pitchFamily="2" charset="0"/>
                <a:ea typeface="Roboto" panose="02000000000000000000" pitchFamily="2" charset="0"/>
              </a:rPr>
              <a:t>secuencialmente</a:t>
            </a:r>
            <a:r>
              <a:rPr lang="es-MX" sz="1200" dirty="0">
                <a:latin typeface="Roboto" panose="02000000000000000000" pitchFamily="2" charset="0"/>
                <a:ea typeface="Roboto" panose="02000000000000000000" pitchFamily="2" charset="0"/>
              </a:rPr>
              <a:t> por </a:t>
            </a:r>
            <a:r>
              <a:rPr lang="es-MX" sz="1200" i="1" dirty="0">
                <a:latin typeface="Roboto" panose="02000000000000000000" pitchFamily="2" charset="0"/>
                <a:ea typeface="Roboto" panose="02000000000000000000" pitchFamily="2" charset="0"/>
              </a:rPr>
              <a:t>dept_name </a:t>
            </a:r>
            <a:r>
              <a:rPr lang="es-MX" sz="1200" dirty="0">
                <a:latin typeface="Roboto" panose="02000000000000000000" pitchFamily="2" charset="0"/>
                <a:ea typeface="Roboto" panose="02000000000000000000" pitchFamily="2" charset="0"/>
              </a:rPr>
              <a:t>como clave</a:t>
            </a:r>
            <a:endParaRPr lang="es-CO" sz="1200" dirty="0">
              <a:latin typeface="Roboto" panose="02000000000000000000" pitchFamily="2" charset="0"/>
              <a:ea typeface="Roboto" panose="02000000000000000000" pitchFamily="2" charset="0"/>
            </a:endParaRPr>
          </a:p>
        </p:txBody>
      </p:sp>
      <p:sp>
        <p:nvSpPr>
          <p:cNvPr id="37" name="CuadroTexto 36">
            <a:extLst>
              <a:ext uri="{FF2B5EF4-FFF2-40B4-BE49-F238E27FC236}">
                <a16:creationId xmlns:a16="http://schemas.microsoft.com/office/drawing/2014/main" id="{E59E4A74-06F0-48EB-858A-DF3C1A7A9501}"/>
              </a:ext>
            </a:extLst>
          </p:cNvPr>
          <p:cNvSpPr txBox="1"/>
          <p:nvPr/>
        </p:nvSpPr>
        <p:spPr>
          <a:xfrm>
            <a:off x="7347783" y="5926723"/>
            <a:ext cx="3992027" cy="461665"/>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Organización </a:t>
            </a:r>
            <a:r>
              <a:rPr lang="es-MX" sz="1200" b="1" dirty="0">
                <a:latin typeface="Roboto" panose="02000000000000000000" pitchFamily="2" charset="0"/>
                <a:ea typeface="Roboto" panose="02000000000000000000" pitchFamily="2" charset="0"/>
              </a:rPr>
              <a:t>hash</a:t>
            </a:r>
            <a:r>
              <a:rPr lang="es-MX" sz="1200" dirty="0">
                <a:latin typeface="Roboto" panose="02000000000000000000" pitchFamily="2" charset="0"/>
                <a:ea typeface="Roboto" panose="02000000000000000000" pitchFamily="2" charset="0"/>
              </a:rPr>
              <a:t> de la relación </a:t>
            </a:r>
            <a:r>
              <a:rPr lang="es-MX" sz="1200" i="1" dirty="0">
                <a:latin typeface="Roboto" panose="02000000000000000000" pitchFamily="2" charset="0"/>
                <a:ea typeface="Roboto" panose="02000000000000000000" pitchFamily="2" charset="0"/>
              </a:rPr>
              <a:t>instructor</a:t>
            </a:r>
            <a:r>
              <a:rPr lang="es-MX" sz="1200" dirty="0">
                <a:latin typeface="Roboto" panose="02000000000000000000" pitchFamily="2" charset="0"/>
                <a:ea typeface="Roboto" panose="02000000000000000000" pitchFamily="2" charset="0"/>
              </a:rPr>
              <a:t> usando </a:t>
            </a:r>
            <a:r>
              <a:rPr lang="es-MX" sz="1200" i="1" dirty="0">
                <a:latin typeface="Roboto" panose="02000000000000000000" pitchFamily="2" charset="0"/>
                <a:ea typeface="Roboto" panose="02000000000000000000" pitchFamily="2" charset="0"/>
              </a:rPr>
              <a:t>dept_name</a:t>
            </a:r>
            <a:r>
              <a:rPr lang="es-MX" sz="1200" dirty="0">
                <a:latin typeface="Roboto" panose="02000000000000000000" pitchFamily="2" charset="0"/>
                <a:ea typeface="Roboto" panose="02000000000000000000" pitchFamily="2" charset="0"/>
              </a:rPr>
              <a:t> como clave</a:t>
            </a:r>
            <a:endParaRPr lang="es-CO" sz="1200" dirty="0">
              <a:latin typeface="Roboto" panose="02000000000000000000" pitchFamily="2" charset="0"/>
              <a:ea typeface="Roboto" panose="02000000000000000000" pitchFamily="2" charset="0"/>
            </a:endParaRPr>
          </a:p>
        </p:txBody>
      </p:sp>
      <p:pic>
        <p:nvPicPr>
          <p:cNvPr id="38" name="Picture 7">
            <a:extLst>
              <a:ext uri="{FF2B5EF4-FFF2-40B4-BE49-F238E27FC236}">
                <a16:creationId xmlns:a16="http://schemas.microsoft.com/office/drawing/2014/main" id="{65B85DF0-230A-4023-BFB6-144F970D5B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3992" y="3049976"/>
            <a:ext cx="5277752" cy="219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0985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01901" y="214167"/>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Organización de archivo secuencial</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901901" y="905601"/>
            <a:ext cx="7062227" cy="265801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Índices basados en el ordenamiento de los valores de la clave de búsqueda (</a:t>
            </a:r>
            <a:r>
              <a:rPr lang="es-MX" sz="2000" b="1" dirty="0"/>
              <a:t>search key</a:t>
            </a:r>
            <a:r>
              <a:rPr lang="es-MX" sz="2000" dirty="0"/>
              <a:t>).</a:t>
            </a:r>
          </a:p>
          <a:p>
            <a:r>
              <a:rPr lang="es-MX" sz="2000" dirty="0"/>
              <a:t>Generalmente rápido.</a:t>
            </a:r>
          </a:p>
          <a:p>
            <a:r>
              <a:rPr lang="es-MX" sz="2000" dirty="0"/>
              <a:t>Estructura básica / tradicional que utiliza la mayoría de los DBMS.</a:t>
            </a:r>
          </a:p>
          <a:p>
            <a:r>
              <a:rPr lang="es-MX" sz="2000" dirty="0"/>
              <a:t>Soporta búsquedas por igualdad exacta y por rango de valores.</a:t>
            </a:r>
            <a:endParaRPr lang="es-MX" sz="2000" b="1" dirty="0">
              <a:solidFill>
                <a:schemeClr val="accent1"/>
              </a:solidFill>
            </a:endParaRPr>
          </a:p>
        </p:txBody>
      </p:sp>
      <p:pic>
        <p:nvPicPr>
          <p:cNvPr id="6" name="Graphic 4">
            <a:extLst>
              <a:ext uri="{FF2B5EF4-FFF2-40B4-BE49-F238E27FC236}">
                <a16:creationId xmlns:a16="http://schemas.microsoft.com/office/drawing/2014/main" id="{BF2B492C-2361-48E7-BDCE-BEFFE4E3F8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8133" y="3764819"/>
            <a:ext cx="4351394" cy="2528762"/>
          </a:xfrm>
          <a:prstGeom prst="rect">
            <a:avLst/>
          </a:prstGeom>
        </p:spPr>
      </p:pic>
      <p:pic>
        <p:nvPicPr>
          <p:cNvPr id="8" name="Picture 8">
            <a:extLst>
              <a:ext uri="{FF2B5EF4-FFF2-40B4-BE49-F238E27FC236}">
                <a16:creationId xmlns:a16="http://schemas.microsoft.com/office/drawing/2014/main" id="{2443A9E8-C244-4166-84E2-7357CE0444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7035" y="3797211"/>
            <a:ext cx="5477733" cy="26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B99A1166-C82B-4E64-BAAD-5034CDB64F23}"/>
              </a:ext>
            </a:extLst>
          </p:cNvPr>
          <p:cNvSpPr txBox="1"/>
          <p:nvPr/>
        </p:nvSpPr>
        <p:spPr>
          <a:xfrm>
            <a:off x="7226710" y="6375512"/>
            <a:ext cx="3854951" cy="461665"/>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Archivo de la relación </a:t>
            </a:r>
            <a:r>
              <a:rPr lang="es-MX" sz="1200" i="1" dirty="0">
                <a:latin typeface="Roboto" panose="02000000000000000000" pitchFamily="2" charset="0"/>
                <a:ea typeface="Roboto" panose="02000000000000000000" pitchFamily="2" charset="0"/>
              </a:rPr>
              <a:t>instructor</a:t>
            </a:r>
            <a:r>
              <a:rPr lang="es-MX" sz="1200" dirty="0">
                <a:latin typeface="Roboto" panose="02000000000000000000" pitchFamily="2" charset="0"/>
                <a:ea typeface="Roboto" panose="02000000000000000000" pitchFamily="2" charset="0"/>
              </a:rPr>
              <a:t> ordenado secuencialmente por ID</a:t>
            </a:r>
            <a:endParaRPr lang="es-CO" sz="1200" dirty="0">
              <a:latin typeface="Roboto" panose="02000000000000000000" pitchFamily="2" charset="0"/>
              <a:ea typeface="Roboto" panose="02000000000000000000" pitchFamily="2" charset="0"/>
            </a:endParaRPr>
          </a:p>
        </p:txBody>
      </p:sp>
      <p:sp>
        <p:nvSpPr>
          <p:cNvPr id="10" name="CuadroTexto 9">
            <a:extLst>
              <a:ext uri="{FF2B5EF4-FFF2-40B4-BE49-F238E27FC236}">
                <a16:creationId xmlns:a16="http://schemas.microsoft.com/office/drawing/2014/main" id="{193C4281-FB71-4572-8141-8389DB983F32}"/>
              </a:ext>
            </a:extLst>
          </p:cNvPr>
          <p:cNvSpPr txBox="1"/>
          <p:nvPr/>
        </p:nvSpPr>
        <p:spPr>
          <a:xfrm>
            <a:off x="2050706" y="6428327"/>
            <a:ext cx="3192387" cy="276999"/>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Relación </a:t>
            </a:r>
            <a:r>
              <a:rPr lang="es-MX" sz="1200" i="1" dirty="0">
                <a:latin typeface="Roboto" panose="02000000000000000000" pitchFamily="2" charset="0"/>
                <a:ea typeface="Roboto" panose="02000000000000000000" pitchFamily="2" charset="0"/>
              </a:rPr>
              <a:t>instructor – </a:t>
            </a:r>
            <a:r>
              <a:rPr lang="es-MX" sz="1200" dirty="0">
                <a:latin typeface="Roboto" panose="02000000000000000000" pitchFamily="2" charset="0"/>
                <a:ea typeface="Roboto" panose="02000000000000000000" pitchFamily="2" charset="0"/>
              </a:rPr>
              <a:t>sin ordenamiento</a:t>
            </a:r>
            <a:endParaRPr lang="es-CO" sz="1200" dirty="0">
              <a:latin typeface="Roboto" panose="02000000000000000000" pitchFamily="2" charset="0"/>
              <a:ea typeface="Roboto" panose="02000000000000000000" pitchFamily="2" charset="0"/>
            </a:endParaRPr>
          </a:p>
        </p:txBody>
      </p:sp>
      <p:sp>
        <p:nvSpPr>
          <p:cNvPr id="3" name="Flecha: a la derecha 2">
            <a:extLst>
              <a:ext uri="{FF2B5EF4-FFF2-40B4-BE49-F238E27FC236}">
                <a16:creationId xmlns:a16="http://schemas.microsoft.com/office/drawing/2014/main" id="{C3A010B7-F7DC-424E-8F0B-1BA3E18EC48B}"/>
              </a:ext>
            </a:extLst>
          </p:cNvPr>
          <p:cNvSpPr/>
          <p:nvPr/>
        </p:nvSpPr>
        <p:spPr>
          <a:xfrm>
            <a:off x="5736369" y="4881716"/>
            <a:ext cx="518651" cy="294967"/>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CuadroTexto 11">
            <a:extLst>
              <a:ext uri="{FF2B5EF4-FFF2-40B4-BE49-F238E27FC236}">
                <a16:creationId xmlns:a16="http://schemas.microsoft.com/office/drawing/2014/main" id="{382A9575-1162-49F9-93DB-9E4D42AE16BB}"/>
              </a:ext>
            </a:extLst>
          </p:cNvPr>
          <p:cNvSpPr txBox="1"/>
          <p:nvPr/>
        </p:nvSpPr>
        <p:spPr>
          <a:xfrm>
            <a:off x="8145069" y="1083260"/>
            <a:ext cx="3487240" cy="2246769"/>
          </a:xfrm>
          <a:prstGeom prst="rect">
            <a:avLst/>
          </a:prstGeom>
          <a:noFill/>
          <a:ln>
            <a:solidFill>
              <a:schemeClr val="tx1"/>
            </a:solidFill>
          </a:ln>
        </p:spPr>
        <p:txBody>
          <a:bodyPr wrap="square">
            <a:spAutoFit/>
          </a:bodyPr>
          <a:lstStyle/>
          <a:p>
            <a:r>
              <a:rPr lang="es-MX" dirty="0">
                <a:solidFill>
                  <a:srgbClr val="8100C2"/>
                </a:solidFill>
                <a:effectLst/>
                <a:latin typeface="Consolas" panose="020B0609020204030204" pitchFamily="49" charset="0"/>
              </a:rPr>
              <a:t>CREATE</a:t>
            </a:r>
            <a:r>
              <a:rPr lang="es-MX" dirty="0">
                <a:latin typeface="Consolas" panose="020B0609020204030204" pitchFamily="49" charset="0"/>
              </a:rPr>
              <a:t> </a:t>
            </a:r>
            <a:r>
              <a:rPr lang="es-MX" dirty="0">
                <a:solidFill>
                  <a:srgbClr val="8100C2"/>
                </a:solidFill>
                <a:effectLst/>
                <a:latin typeface="Consolas" panose="020B0609020204030204" pitchFamily="49" charset="0"/>
              </a:rPr>
              <a:t>INDEX</a:t>
            </a:r>
            <a:r>
              <a:rPr lang="es-MX" dirty="0">
                <a:latin typeface="Consolas" panose="020B0609020204030204" pitchFamily="49" charset="0"/>
              </a:rPr>
              <a:t> idx_instructor_id </a:t>
            </a:r>
            <a:r>
              <a:rPr lang="es-MX" dirty="0">
                <a:solidFill>
                  <a:srgbClr val="8100C2"/>
                </a:solidFill>
                <a:effectLst/>
                <a:latin typeface="Consolas" panose="020B0609020204030204" pitchFamily="49" charset="0"/>
              </a:rPr>
              <a:t>ON</a:t>
            </a:r>
            <a:r>
              <a:rPr lang="es-MX" dirty="0">
                <a:latin typeface="Consolas" panose="020B0609020204030204" pitchFamily="49" charset="0"/>
              </a:rPr>
              <a:t> instructor </a:t>
            </a:r>
            <a:r>
              <a:rPr lang="es-MX" dirty="0">
                <a:solidFill>
                  <a:srgbClr val="2B303B"/>
                </a:solidFill>
                <a:effectLst/>
                <a:latin typeface="Consolas" panose="020B0609020204030204" pitchFamily="49" charset="0"/>
              </a:rPr>
              <a:t>(</a:t>
            </a:r>
            <a:r>
              <a:rPr lang="es-MX" dirty="0">
                <a:latin typeface="Consolas" panose="020B0609020204030204" pitchFamily="49" charset="0"/>
              </a:rPr>
              <a:t>ID</a:t>
            </a:r>
            <a:r>
              <a:rPr lang="es-MX" dirty="0">
                <a:solidFill>
                  <a:srgbClr val="2B303B"/>
                </a:solidFill>
                <a:effectLst/>
                <a:latin typeface="Consolas" panose="020B0609020204030204" pitchFamily="49" charset="0"/>
              </a:rPr>
              <a:t>);</a:t>
            </a:r>
          </a:p>
          <a:p>
            <a:endParaRPr lang="es-MX" dirty="0">
              <a:solidFill>
                <a:srgbClr val="2B303B"/>
              </a:solidFill>
              <a:latin typeface="Roboto" panose="02000000000000000000" pitchFamily="2" charset="0"/>
              <a:ea typeface="Roboto" panose="02000000000000000000" pitchFamily="2" charset="0"/>
            </a:endParaRPr>
          </a:p>
          <a:p>
            <a:r>
              <a:rPr lang="en-US" dirty="0">
                <a:solidFill>
                  <a:srgbClr val="8100C2"/>
                </a:solidFill>
                <a:effectLst/>
                <a:latin typeface="Consolas" panose="020B0609020204030204" pitchFamily="49" charset="0"/>
                <a:ea typeface="Roboto" panose="02000000000000000000" pitchFamily="2" charset="0"/>
              </a:rPr>
              <a:t>SELECT</a:t>
            </a:r>
            <a:r>
              <a:rPr lang="en-US" dirty="0">
                <a:latin typeface="Consolas" panose="020B0609020204030204" pitchFamily="49" charset="0"/>
                <a:ea typeface="Roboto" panose="02000000000000000000" pitchFamily="2" charset="0"/>
              </a:rPr>
              <a:t> </a:t>
            </a:r>
            <a:r>
              <a:rPr lang="en-US" dirty="0">
                <a:solidFill>
                  <a:srgbClr val="14181F"/>
                </a:solidFill>
                <a:effectLst/>
                <a:latin typeface="Consolas" panose="020B0609020204030204" pitchFamily="49" charset="0"/>
                <a:ea typeface="Roboto" panose="02000000000000000000" pitchFamily="2" charset="0"/>
              </a:rPr>
              <a:t>*</a:t>
            </a:r>
            <a:r>
              <a:rPr lang="en-US" dirty="0">
                <a:latin typeface="Consolas" panose="020B0609020204030204" pitchFamily="49" charset="0"/>
                <a:ea typeface="Roboto" panose="02000000000000000000" pitchFamily="2" charset="0"/>
              </a:rPr>
              <a:t> </a:t>
            </a:r>
          </a:p>
          <a:p>
            <a:r>
              <a:rPr lang="en-US" dirty="0">
                <a:solidFill>
                  <a:srgbClr val="8100C2"/>
                </a:solidFill>
                <a:effectLst/>
                <a:latin typeface="Consolas" panose="020B0609020204030204" pitchFamily="49" charset="0"/>
                <a:ea typeface="Roboto" panose="02000000000000000000" pitchFamily="2" charset="0"/>
              </a:rPr>
              <a:t>FROM</a:t>
            </a:r>
            <a:r>
              <a:rPr lang="en-US" dirty="0">
                <a:latin typeface="Consolas" panose="020B0609020204030204" pitchFamily="49" charset="0"/>
                <a:ea typeface="Roboto" panose="02000000000000000000" pitchFamily="2" charset="0"/>
              </a:rPr>
              <a:t> instructor </a:t>
            </a:r>
          </a:p>
          <a:p>
            <a:r>
              <a:rPr lang="en-US" dirty="0">
                <a:solidFill>
                  <a:srgbClr val="8100C2"/>
                </a:solidFill>
                <a:effectLst/>
                <a:latin typeface="Consolas" panose="020B0609020204030204" pitchFamily="49" charset="0"/>
                <a:ea typeface="Roboto" panose="02000000000000000000" pitchFamily="2" charset="0"/>
              </a:rPr>
              <a:t>WHERE</a:t>
            </a:r>
            <a:r>
              <a:rPr lang="en-US" dirty="0">
                <a:latin typeface="Consolas" panose="020B0609020204030204" pitchFamily="49" charset="0"/>
                <a:ea typeface="Roboto" panose="02000000000000000000" pitchFamily="2" charset="0"/>
              </a:rPr>
              <a:t> ID </a:t>
            </a:r>
            <a:r>
              <a:rPr lang="en-US" dirty="0">
                <a:solidFill>
                  <a:srgbClr val="14181F"/>
                </a:solidFill>
                <a:effectLst/>
                <a:latin typeface="Consolas" panose="020B0609020204030204" pitchFamily="49" charset="0"/>
                <a:ea typeface="Roboto" panose="02000000000000000000" pitchFamily="2" charset="0"/>
              </a:rPr>
              <a:t>=</a:t>
            </a:r>
            <a:r>
              <a:rPr lang="en-US" dirty="0">
                <a:latin typeface="Consolas" panose="020B0609020204030204" pitchFamily="49" charset="0"/>
                <a:ea typeface="Roboto" panose="02000000000000000000" pitchFamily="2" charset="0"/>
              </a:rPr>
              <a:t> </a:t>
            </a:r>
            <a:r>
              <a:rPr lang="en-US" dirty="0">
                <a:solidFill>
                  <a:srgbClr val="008080"/>
                </a:solidFill>
                <a:effectLst/>
                <a:latin typeface="Consolas" panose="020B0609020204030204" pitchFamily="49" charset="0"/>
                <a:ea typeface="Roboto" panose="02000000000000000000" pitchFamily="2" charset="0"/>
              </a:rPr>
              <a:t>45565</a:t>
            </a:r>
            <a:r>
              <a:rPr lang="en-US" dirty="0">
                <a:solidFill>
                  <a:srgbClr val="2B303B"/>
                </a:solidFill>
                <a:effectLst/>
                <a:latin typeface="Consolas" panose="020B0609020204030204" pitchFamily="49" charset="0"/>
                <a:ea typeface="Roboto" panose="02000000000000000000" pitchFamily="2" charset="0"/>
              </a:rPr>
              <a:t>;</a:t>
            </a:r>
            <a:endParaRPr lang="en-US" dirty="0">
              <a:solidFill>
                <a:srgbClr val="8100C2"/>
              </a:solidFill>
              <a:latin typeface="Consolas" panose="020B0609020204030204" pitchFamily="49" charset="0"/>
              <a:ea typeface="Roboto" panose="02000000000000000000" pitchFamily="2" charset="0"/>
            </a:endParaRPr>
          </a:p>
          <a:p>
            <a:endParaRPr lang="en-US" dirty="0">
              <a:solidFill>
                <a:srgbClr val="8100C2"/>
              </a:solidFill>
              <a:effectLst/>
              <a:latin typeface="Consolas" panose="020B0609020204030204" pitchFamily="49" charset="0"/>
              <a:ea typeface="Roboto" panose="02000000000000000000" pitchFamily="2" charset="0"/>
            </a:endParaRPr>
          </a:p>
          <a:p>
            <a:r>
              <a:rPr lang="en-US" dirty="0">
                <a:solidFill>
                  <a:srgbClr val="8100C2"/>
                </a:solidFill>
                <a:effectLst/>
                <a:latin typeface="Consolas" panose="020B0609020204030204" pitchFamily="49" charset="0"/>
                <a:ea typeface="Roboto" panose="02000000000000000000" pitchFamily="2" charset="0"/>
              </a:rPr>
              <a:t>SELECT</a:t>
            </a:r>
            <a:r>
              <a:rPr lang="en-US" dirty="0">
                <a:latin typeface="Consolas" panose="020B0609020204030204" pitchFamily="49" charset="0"/>
                <a:ea typeface="Roboto" panose="02000000000000000000" pitchFamily="2" charset="0"/>
              </a:rPr>
              <a:t> </a:t>
            </a:r>
            <a:r>
              <a:rPr lang="en-US" dirty="0">
                <a:solidFill>
                  <a:srgbClr val="14181F"/>
                </a:solidFill>
                <a:effectLst/>
                <a:latin typeface="Consolas" panose="020B0609020204030204" pitchFamily="49" charset="0"/>
                <a:ea typeface="Roboto" panose="02000000000000000000" pitchFamily="2" charset="0"/>
              </a:rPr>
              <a:t>*</a:t>
            </a:r>
            <a:r>
              <a:rPr lang="en-US" dirty="0">
                <a:latin typeface="Consolas" panose="020B0609020204030204" pitchFamily="49" charset="0"/>
                <a:ea typeface="Roboto" panose="02000000000000000000" pitchFamily="2" charset="0"/>
              </a:rPr>
              <a:t> </a:t>
            </a:r>
          </a:p>
          <a:p>
            <a:r>
              <a:rPr lang="en-US" dirty="0">
                <a:solidFill>
                  <a:srgbClr val="8100C2"/>
                </a:solidFill>
                <a:effectLst/>
                <a:latin typeface="Consolas" panose="020B0609020204030204" pitchFamily="49" charset="0"/>
                <a:ea typeface="Roboto" panose="02000000000000000000" pitchFamily="2" charset="0"/>
              </a:rPr>
              <a:t>FROM</a:t>
            </a:r>
            <a:r>
              <a:rPr lang="en-US" dirty="0">
                <a:latin typeface="Consolas" panose="020B0609020204030204" pitchFamily="49" charset="0"/>
                <a:ea typeface="Roboto" panose="02000000000000000000" pitchFamily="2" charset="0"/>
              </a:rPr>
              <a:t> instructor </a:t>
            </a:r>
          </a:p>
          <a:p>
            <a:r>
              <a:rPr lang="en-US" dirty="0">
                <a:solidFill>
                  <a:srgbClr val="8100C2"/>
                </a:solidFill>
                <a:effectLst/>
                <a:latin typeface="Consolas" panose="020B0609020204030204" pitchFamily="49" charset="0"/>
                <a:ea typeface="Roboto" panose="02000000000000000000" pitchFamily="2" charset="0"/>
              </a:rPr>
              <a:t>WHERE</a:t>
            </a:r>
            <a:r>
              <a:rPr lang="en-US" dirty="0">
                <a:latin typeface="Consolas" panose="020B0609020204030204" pitchFamily="49" charset="0"/>
                <a:ea typeface="Roboto" panose="02000000000000000000" pitchFamily="2" charset="0"/>
              </a:rPr>
              <a:t> ID </a:t>
            </a:r>
            <a:r>
              <a:rPr lang="en-US" dirty="0">
                <a:solidFill>
                  <a:srgbClr val="14181F"/>
                </a:solidFill>
                <a:effectLst/>
                <a:latin typeface="Consolas" panose="020B0609020204030204" pitchFamily="49" charset="0"/>
                <a:ea typeface="Roboto" panose="02000000000000000000" pitchFamily="2" charset="0"/>
              </a:rPr>
              <a:t>BETWEEN</a:t>
            </a:r>
            <a:r>
              <a:rPr lang="en-US" dirty="0">
                <a:latin typeface="Consolas" panose="020B0609020204030204" pitchFamily="49" charset="0"/>
                <a:ea typeface="Roboto" panose="02000000000000000000" pitchFamily="2" charset="0"/>
              </a:rPr>
              <a:t> </a:t>
            </a:r>
            <a:r>
              <a:rPr lang="en-US" dirty="0">
                <a:solidFill>
                  <a:srgbClr val="008080"/>
                </a:solidFill>
                <a:effectLst/>
                <a:latin typeface="Consolas" panose="020B0609020204030204" pitchFamily="49" charset="0"/>
                <a:ea typeface="Roboto" panose="02000000000000000000" pitchFamily="2" charset="0"/>
              </a:rPr>
              <a:t>22222</a:t>
            </a:r>
            <a:r>
              <a:rPr lang="en-US" dirty="0">
                <a:latin typeface="Consolas" panose="020B0609020204030204" pitchFamily="49" charset="0"/>
                <a:ea typeface="Roboto" panose="02000000000000000000" pitchFamily="2" charset="0"/>
              </a:rPr>
              <a:t> </a:t>
            </a:r>
            <a:r>
              <a:rPr lang="en-US" dirty="0">
                <a:solidFill>
                  <a:srgbClr val="14181F"/>
                </a:solidFill>
                <a:effectLst/>
                <a:latin typeface="Consolas" panose="020B0609020204030204" pitchFamily="49" charset="0"/>
                <a:ea typeface="Roboto" panose="02000000000000000000" pitchFamily="2" charset="0"/>
              </a:rPr>
              <a:t>AND</a:t>
            </a:r>
            <a:r>
              <a:rPr lang="en-US" dirty="0">
                <a:latin typeface="Consolas" panose="020B0609020204030204" pitchFamily="49" charset="0"/>
                <a:ea typeface="Roboto" panose="02000000000000000000" pitchFamily="2" charset="0"/>
              </a:rPr>
              <a:t> </a:t>
            </a:r>
            <a:r>
              <a:rPr lang="en-US" dirty="0">
                <a:solidFill>
                  <a:srgbClr val="008080"/>
                </a:solidFill>
                <a:effectLst/>
                <a:latin typeface="Consolas" panose="020B0609020204030204" pitchFamily="49" charset="0"/>
                <a:ea typeface="Roboto" panose="02000000000000000000" pitchFamily="2" charset="0"/>
              </a:rPr>
              <a:t>45565</a:t>
            </a:r>
            <a:r>
              <a:rPr lang="en-US" dirty="0">
                <a:solidFill>
                  <a:srgbClr val="2B303B"/>
                </a:solidFill>
                <a:effectLst/>
                <a:latin typeface="Consolas" panose="020B0609020204030204" pitchFamily="49" charset="0"/>
                <a:ea typeface="Roboto" panose="02000000000000000000" pitchFamily="2" charset="0"/>
              </a:rPr>
              <a:t>;</a:t>
            </a:r>
            <a:endParaRPr lang="es-CO" dirty="0">
              <a:latin typeface="Consolas" panose="020B0609020204030204" pitchFamily="49" charset="0"/>
            </a:endParaRPr>
          </a:p>
        </p:txBody>
      </p:sp>
    </p:spTree>
    <p:extLst>
      <p:ext uri="{BB962C8B-B14F-4D97-AF65-F5344CB8AC3E}">
        <p14:creationId xmlns:p14="http://schemas.microsoft.com/office/powerpoint/2010/main" val="1859734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887154" y="199411"/>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Organización de archivo hash</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685477" y="876427"/>
            <a:ext cx="6482237" cy="211539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Índices basados en una distribución uniforme de valores a través de un rango de cubetas (</a:t>
            </a:r>
            <a:r>
              <a:rPr lang="es-MX" sz="2000" b="1" dirty="0"/>
              <a:t>buckets</a:t>
            </a:r>
            <a:r>
              <a:rPr lang="es-MX" sz="2000" dirty="0"/>
              <a:t>).</a:t>
            </a:r>
          </a:p>
          <a:p>
            <a:r>
              <a:rPr lang="es-MX" sz="2000" dirty="0"/>
              <a:t>La función de dispersión (</a:t>
            </a:r>
            <a:r>
              <a:rPr lang="es-MX" sz="2000" b="1" dirty="0"/>
              <a:t>hash function</a:t>
            </a:r>
            <a:r>
              <a:rPr lang="es-MX" sz="2000" dirty="0"/>
              <a:t>) determina la cubeta asignada a cada registro.</a:t>
            </a:r>
          </a:p>
          <a:p>
            <a:r>
              <a:rPr lang="es-MX" sz="2000" dirty="0"/>
              <a:t>Soporta únicamente búsquedas por igualdad exacta.</a:t>
            </a:r>
          </a:p>
        </p:txBody>
      </p:sp>
      <p:pic>
        <p:nvPicPr>
          <p:cNvPr id="33" name="Picture 5">
            <a:extLst>
              <a:ext uri="{FF2B5EF4-FFF2-40B4-BE49-F238E27FC236}">
                <a16:creationId xmlns:a16="http://schemas.microsoft.com/office/drawing/2014/main" id="{22B46B82-8F1A-48E3-9121-18F5E24DC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9094" y="2745248"/>
            <a:ext cx="3607429" cy="348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raphic 4">
            <a:extLst>
              <a:ext uri="{FF2B5EF4-FFF2-40B4-BE49-F238E27FC236}">
                <a16:creationId xmlns:a16="http://schemas.microsoft.com/office/drawing/2014/main" id="{DE5D67F7-176A-46D0-B8FD-642F1D0817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76875" y="3204889"/>
            <a:ext cx="4578278" cy="2660613"/>
          </a:xfrm>
          <a:prstGeom prst="rect">
            <a:avLst/>
          </a:prstGeom>
        </p:spPr>
      </p:pic>
      <p:sp>
        <p:nvSpPr>
          <p:cNvPr id="8" name="CuadroTexto 7">
            <a:extLst>
              <a:ext uri="{FF2B5EF4-FFF2-40B4-BE49-F238E27FC236}">
                <a16:creationId xmlns:a16="http://schemas.microsoft.com/office/drawing/2014/main" id="{4F6F0A22-A203-4AA8-99C2-6A2D80650A25}"/>
              </a:ext>
            </a:extLst>
          </p:cNvPr>
          <p:cNvSpPr txBox="1"/>
          <p:nvPr/>
        </p:nvSpPr>
        <p:spPr>
          <a:xfrm>
            <a:off x="2330403" y="5906840"/>
            <a:ext cx="3192387" cy="276999"/>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Relación </a:t>
            </a:r>
            <a:r>
              <a:rPr lang="es-MX" sz="1200" i="1" dirty="0">
                <a:latin typeface="Roboto" panose="02000000000000000000" pitchFamily="2" charset="0"/>
                <a:ea typeface="Roboto" panose="02000000000000000000" pitchFamily="2" charset="0"/>
              </a:rPr>
              <a:t>instructor – </a:t>
            </a:r>
            <a:r>
              <a:rPr lang="es-MX" sz="1200" dirty="0">
                <a:latin typeface="Roboto" panose="02000000000000000000" pitchFamily="2" charset="0"/>
                <a:ea typeface="Roboto" panose="02000000000000000000" pitchFamily="2" charset="0"/>
              </a:rPr>
              <a:t>sin ordenamiento</a:t>
            </a:r>
            <a:endParaRPr lang="es-CO" sz="1200" dirty="0">
              <a:latin typeface="Roboto" panose="02000000000000000000" pitchFamily="2" charset="0"/>
              <a:ea typeface="Roboto" panose="02000000000000000000" pitchFamily="2" charset="0"/>
            </a:endParaRPr>
          </a:p>
        </p:txBody>
      </p:sp>
      <p:sp>
        <p:nvSpPr>
          <p:cNvPr id="9" name="CuadroTexto 8">
            <a:extLst>
              <a:ext uri="{FF2B5EF4-FFF2-40B4-BE49-F238E27FC236}">
                <a16:creationId xmlns:a16="http://schemas.microsoft.com/office/drawing/2014/main" id="{80DB02E6-8420-41BC-8E7E-408CAA211411}"/>
              </a:ext>
            </a:extLst>
          </p:cNvPr>
          <p:cNvSpPr txBox="1"/>
          <p:nvPr/>
        </p:nvSpPr>
        <p:spPr>
          <a:xfrm>
            <a:off x="7403243" y="6320214"/>
            <a:ext cx="4380718" cy="461665"/>
          </a:xfrm>
          <a:prstGeom prst="rect">
            <a:avLst/>
          </a:prstGeom>
          <a:solidFill>
            <a:schemeClr val="bg1"/>
          </a:solidFill>
        </p:spPr>
        <p:txBody>
          <a:bodyPr wrap="square">
            <a:spAutoFit/>
          </a:bodyPr>
          <a:lstStyle/>
          <a:p>
            <a:pPr algn="ctr"/>
            <a:r>
              <a:rPr lang="es-MX" sz="1200" dirty="0">
                <a:latin typeface="Roboto" panose="02000000000000000000" pitchFamily="2" charset="0"/>
                <a:ea typeface="Roboto" panose="02000000000000000000" pitchFamily="2" charset="0"/>
              </a:rPr>
              <a:t>Organización hash de la relación </a:t>
            </a:r>
            <a:r>
              <a:rPr lang="es-MX" sz="1200" i="1" dirty="0">
                <a:latin typeface="Roboto" panose="02000000000000000000" pitchFamily="2" charset="0"/>
                <a:ea typeface="Roboto" panose="02000000000000000000" pitchFamily="2" charset="0"/>
              </a:rPr>
              <a:t>instructor</a:t>
            </a:r>
            <a:r>
              <a:rPr lang="es-MX" sz="1200" dirty="0">
                <a:latin typeface="Roboto" panose="02000000000000000000" pitchFamily="2" charset="0"/>
                <a:ea typeface="Roboto" panose="02000000000000000000" pitchFamily="2" charset="0"/>
              </a:rPr>
              <a:t> usando </a:t>
            </a:r>
            <a:r>
              <a:rPr lang="es-MX" sz="1200" i="1" dirty="0">
                <a:latin typeface="Roboto" panose="02000000000000000000" pitchFamily="2" charset="0"/>
                <a:ea typeface="Roboto" panose="02000000000000000000" pitchFamily="2" charset="0"/>
              </a:rPr>
              <a:t>dept_name</a:t>
            </a:r>
            <a:r>
              <a:rPr lang="es-MX" sz="1200" dirty="0">
                <a:latin typeface="Roboto" panose="02000000000000000000" pitchFamily="2" charset="0"/>
                <a:ea typeface="Roboto" panose="02000000000000000000" pitchFamily="2" charset="0"/>
              </a:rPr>
              <a:t> como clave</a:t>
            </a:r>
            <a:endParaRPr lang="es-CO" sz="1200" dirty="0">
              <a:latin typeface="Roboto" panose="02000000000000000000" pitchFamily="2" charset="0"/>
              <a:ea typeface="Roboto" panose="02000000000000000000" pitchFamily="2" charset="0"/>
            </a:endParaRPr>
          </a:p>
        </p:txBody>
      </p:sp>
      <p:sp>
        <p:nvSpPr>
          <p:cNvPr id="11" name="CuadroTexto 10">
            <a:extLst>
              <a:ext uri="{FF2B5EF4-FFF2-40B4-BE49-F238E27FC236}">
                <a16:creationId xmlns:a16="http://schemas.microsoft.com/office/drawing/2014/main" id="{2829EBC7-2B47-4939-8E53-F1641382FE78}"/>
              </a:ext>
            </a:extLst>
          </p:cNvPr>
          <p:cNvSpPr txBox="1"/>
          <p:nvPr/>
        </p:nvSpPr>
        <p:spPr>
          <a:xfrm>
            <a:off x="1078615" y="6183839"/>
            <a:ext cx="5482372" cy="523220"/>
          </a:xfrm>
          <a:prstGeom prst="rect">
            <a:avLst/>
          </a:prstGeom>
          <a:solidFill>
            <a:schemeClr val="accent4">
              <a:lumMod val="20000"/>
              <a:lumOff val="80000"/>
            </a:schemeClr>
          </a:solidFill>
        </p:spPr>
        <p:txBody>
          <a:bodyPr wrap="square">
            <a:spAutoFit/>
          </a:bodyPr>
          <a:lstStyle/>
          <a:p>
            <a:r>
              <a:rPr lang="es-MX" b="1" dirty="0">
                <a:latin typeface="Roboto" panose="02000000000000000000" pitchFamily="2" charset="0"/>
                <a:ea typeface="Roboto" panose="02000000000000000000" pitchFamily="2" charset="0"/>
              </a:rPr>
              <a:t>Nota</a:t>
            </a:r>
            <a:r>
              <a:rPr lang="es-MX" dirty="0">
                <a:latin typeface="Roboto" panose="02000000000000000000" pitchFamily="2" charset="0"/>
                <a:ea typeface="Roboto" panose="02000000000000000000" pitchFamily="2" charset="0"/>
              </a:rPr>
              <a:t>: El mismo archivo base puede organizarse de forma hash en lugar de secuencial</a:t>
            </a:r>
            <a:endParaRPr lang="es-CO" dirty="0">
              <a:latin typeface="Roboto" panose="02000000000000000000" pitchFamily="2" charset="0"/>
              <a:ea typeface="Roboto" panose="02000000000000000000" pitchFamily="2" charset="0"/>
            </a:endParaRPr>
          </a:p>
        </p:txBody>
      </p:sp>
      <p:sp>
        <p:nvSpPr>
          <p:cNvPr id="12" name="Flecha: a la derecha 11">
            <a:extLst>
              <a:ext uri="{FF2B5EF4-FFF2-40B4-BE49-F238E27FC236}">
                <a16:creationId xmlns:a16="http://schemas.microsoft.com/office/drawing/2014/main" id="{FE2929BA-0A6C-402C-B995-26B3B7F8DAF2}"/>
              </a:ext>
            </a:extLst>
          </p:cNvPr>
          <p:cNvSpPr/>
          <p:nvPr/>
        </p:nvSpPr>
        <p:spPr>
          <a:xfrm>
            <a:off x="6528741" y="4440345"/>
            <a:ext cx="518651" cy="294967"/>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CuadroTexto 12">
            <a:extLst>
              <a:ext uri="{FF2B5EF4-FFF2-40B4-BE49-F238E27FC236}">
                <a16:creationId xmlns:a16="http://schemas.microsoft.com/office/drawing/2014/main" id="{8F44BEBC-14B7-4DC8-9CF1-138FF58DD480}"/>
              </a:ext>
            </a:extLst>
          </p:cNvPr>
          <p:cNvSpPr txBox="1"/>
          <p:nvPr/>
        </p:nvSpPr>
        <p:spPr>
          <a:xfrm>
            <a:off x="7630660" y="1492916"/>
            <a:ext cx="4144296" cy="738664"/>
          </a:xfrm>
          <a:prstGeom prst="rect">
            <a:avLst/>
          </a:prstGeom>
          <a:noFill/>
          <a:ln>
            <a:solidFill>
              <a:schemeClr val="tx1"/>
            </a:solidFill>
          </a:ln>
        </p:spPr>
        <p:txBody>
          <a:bodyPr wrap="square">
            <a:spAutoFit/>
          </a:bodyPr>
          <a:lstStyle/>
          <a:p>
            <a:r>
              <a:rPr lang="en-US" dirty="0">
                <a:solidFill>
                  <a:srgbClr val="8100C2"/>
                </a:solidFill>
                <a:latin typeface="Consolas" panose="020B0609020204030204" pitchFamily="49" charset="0"/>
              </a:rPr>
              <a:t>CREATE INDEX </a:t>
            </a:r>
            <a:r>
              <a:rPr lang="en-US" dirty="0">
                <a:solidFill>
                  <a:schemeClr val="tx1"/>
                </a:solidFill>
                <a:latin typeface="Consolas" panose="020B0609020204030204" pitchFamily="49" charset="0"/>
              </a:rPr>
              <a:t>idx_instructor_dept</a:t>
            </a:r>
          </a:p>
          <a:p>
            <a:r>
              <a:rPr lang="en-US" dirty="0">
                <a:solidFill>
                  <a:srgbClr val="8100C2"/>
                </a:solidFill>
                <a:latin typeface="Consolas" panose="020B0609020204030204" pitchFamily="49" charset="0"/>
              </a:rPr>
              <a:t>ON </a:t>
            </a:r>
            <a:r>
              <a:rPr lang="en-US" dirty="0">
                <a:solidFill>
                  <a:schemeClr val="tx1"/>
                </a:solidFill>
                <a:latin typeface="Consolas" panose="020B0609020204030204" pitchFamily="49" charset="0"/>
              </a:rPr>
              <a:t>instructor(dept_name)</a:t>
            </a:r>
          </a:p>
          <a:p>
            <a:r>
              <a:rPr lang="en-US" dirty="0">
                <a:solidFill>
                  <a:srgbClr val="8100C2"/>
                </a:solidFill>
                <a:latin typeface="Consolas" panose="020B0609020204030204" pitchFamily="49" charset="0"/>
              </a:rPr>
              <a:t>USING HASH;</a:t>
            </a:r>
          </a:p>
        </p:txBody>
      </p:sp>
    </p:spTree>
    <p:extLst>
      <p:ext uri="{BB962C8B-B14F-4D97-AF65-F5344CB8AC3E}">
        <p14:creationId xmlns:p14="http://schemas.microsoft.com/office/powerpoint/2010/main" val="1715112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887154" y="199411"/>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1 – Costo sin índice</a:t>
            </a:r>
            <a:endParaRPr dirty="0"/>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685477" y="876426"/>
                <a:ext cx="11304962" cy="51261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n-US" sz="2000" dirty="0">
                    <a:solidFill>
                      <a:srgbClr val="1A1A1A"/>
                    </a:solidFill>
                  </a:rPr>
                  <a:t>Una tabla de </a:t>
                </a:r>
                <a:r>
                  <a:rPr lang="en-US" sz="2000" dirty="0" err="1">
                    <a:solidFill>
                      <a:srgbClr val="1A1A1A"/>
                    </a:solidFill>
                  </a:rPr>
                  <a:t>Estudiantes</a:t>
                </a:r>
                <a:r>
                  <a:rPr lang="en-US" sz="2000" dirty="0">
                    <a:solidFill>
                      <a:srgbClr val="1A1A1A"/>
                    </a:solidFill>
                  </a:rPr>
                  <a:t> </a:t>
                </a:r>
                <a:r>
                  <a:rPr lang="en-US" sz="2000" dirty="0" err="1">
                    <a:solidFill>
                      <a:srgbClr val="1A1A1A"/>
                    </a:solidFill>
                  </a:rPr>
                  <a:t>tiene</a:t>
                </a:r>
                <a:r>
                  <a:rPr lang="en-US" sz="2000" dirty="0">
                    <a:solidFill>
                      <a:srgbClr val="1A1A1A"/>
                    </a:solidFill>
                  </a:rPr>
                  <a:t> 1000000 de </a:t>
                </a:r>
                <a:r>
                  <a:rPr lang="en-US" sz="2000" dirty="0" err="1">
                    <a:solidFill>
                      <a:srgbClr val="1A1A1A"/>
                    </a:solidFill>
                  </a:rPr>
                  <a:t>registros</a:t>
                </a:r>
                <a:r>
                  <a:rPr lang="en-US" sz="2000" dirty="0">
                    <a:solidFill>
                      <a:srgbClr val="1A1A1A"/>
                    </a:solidFill>
                  </a:rPr>
                  <a:t> </a:t>
                </a:r>
                <a:r>
                  <a:rPr lang="en-US" sz="2000" dirty="0" err="1">
                    <a:solidFill>
                      <a:srgbClr val="1A1A1A"/>
                    </a:solidFill>
                  </a:rPr>
                  <a:t>almacenados</a:t>
                </a:r>
                <a:r>
                  <a:rPr lang="en-US" sz="2000" dirty="0">
                    <a:solidFill>
                      <a:srgbClr val="1A1A1A"/>
                    </a:solidFill>
                  </a:rPr>
                  <a:t> en 200000 </a:t>
                </a:r>
                <a:r>
                  <a:rPr lang="en-US" sz="2000" dirty="0" err="1">
                    <a:solidFill>
                      <a:srgbClr val="1A1A1A"/>
                    </a:solidFill>
                  </a:rPr>
                  <a:t>bloques</a:t>
                </a:r>
                <a:r>
                  <a:rPr lang="en-US" sz="2000" dirty="0">
                    <a:solidFill>
                      <a:srgbClr val="1A1A1A"/>
                    </a:solidFill>
                  </a:rPr>
                  <a:t> de disco. </a:t>
                </a:r>
                <a:r>
                  <a:rPr lang="en-US" sz="2000" dirty="0" err="1">
                    <a:solidFill>
                      <a:srgbClr val="1A1A1A"/>
                    </a:solidFill>
                  </a:rPr>
                  <a:t>Teniendo</a:t>
                </a:r>
                <a:r>
                  <a:rPr lang="en-US" sz="2000" dirty="0">
                    <a:solidFill>
                      <a:srgbClr val="1A1A1A"/>
                    </a:solidFill>
                  </a:rPr>
                  <a:t> en </a:t>
                </a:r>
                <a:r>
                  <a:rPr lang="en-US" sz="2000" dirty="0" err="1">
                    <a:solidFill>
                      <a:srgbClr val="1A1A1A"/>
                    </a:solidFill>
                  </a:rPr>
                  <a:t>cuenta</a:t>
                </a:r>
                <a:r>
                  <a:rPr lang="en-US" sz="2000" dirty="0">
                    <a:solidFill>
                      <a:srgbClr val="1A1A1A"/>
                    </a:solidFill>
                  </a:rPr>
                  <a:t> </a:t>
                </a:r>
                <a:r>
                  <a:rPr lang="en-US" sz="2000" dirty="0" err="1">
                    <a:solidFill>
                      <a:srgbClr val="1A1A1A"/>
                    </a:solidFill>
                  </a:rPr>
                  <a:t>esta</a:t>
                </a:r>
                <a:r>
                  <a:rPr lang="en-US" sz="2000" dirty="0">
                    <a:solidFill>
                      <a:srgbClr val="1A1A1A"/>
                    </a:solidFill>
                  </a:rPr>
                  <a:t> </a:t>
                </a:r>
                <a:r>
                  <a:rPr lang="en-US" sz="2000" dirty="0" err="1">
                    <a:solidFill>
                      <a:srgbClr val="1A1A1A"/>
                    </a:solidFill>
                  </a:rPr>
                  <a:t>situación</a:t>
                </a:r>
                <a:r>
                  <a:rPr lang="en-US" sz="2000" dirty="0">
                    <a:solidFill>
                      <a:srgbClr val="1A1A1A"/>
                    </a:solidFill>
                  </a:rPr>
                  <a:t>, </a:t>
                </a:r>
                <a:r>
                  <a:rPr lang="en-US" sz="2000" dirty="0" err="1">
                    <a:solidFill>
                      <a:srgbClr val="1A1A1A"/>
                    </a:solidFill>
                  </a:rPr>
                  <a:t>responda</a:t>
                </a:r>
                <a:r>
                  <a:rPr lang="en-US" sz="2000" dirty="0">
                    <a:solidFill>
                      <a:srgbClr val="1A1A1A"/>
                    </a:solidFill>
                  </a:rPr>
                  <a:t> las </a:t>
                </a:r>
                <a:r>
                  <a:rPr lang="en-US" sz="2000" dirty="0" err="1">
                    <a:solidFill>
                      <a:srgbClr val="1A1A1A"/>
                    </a:solidFill>
                  </a:rPr>
                  <a:t>siguientes</a:t>
                </a:r>
                <a:r>
                  <a:rPr lang="en-US" sz="2000" dirty="0">
                    <a:solidFill>
                      <a:srgbClr val="1A1A1A"/>
                    </a:solidFill>
                  </a:rPr>
                  <a:t> </a:t>
                </a:r>
                <a:r>
                  <a:rPr lang="en-US" sz="2000" dirty="0" err="1">
                    <a:solidFill>
                      <a:srgbClr val="1A1A1A"/>
                    </a:solidFill>
                  </a:rPr>
                  <a:t>preguntas</a:t>
                </a:r>
                <a:r>
                  <a:rPr lang="en-US" sz="2000" dirty="0">
                    <a:solidFill>
                      <a:srgbClr val="1A1A1A"/>
                    </a:solidFill>
                  </a:rPr>
                  <a:t>:</a:t>
                </a:r>
              </a:p>
              <a:p>
                <a:pPr marL="584200" indent="-457200">
                  <a:buFont typeface="+mj-lt"/>
                  <a:buAutoNum type="arabicPeriod"/>
                </a:pPr>
                <a:r>
                  <a:rPr lang="es-MX" sz="2000" dirty="0"/>
                  <a:t>¿Cuántos registros por bloque?</a:t>
                </a:r>
              </a:p>
              <a:p>
                <a:pPr marL="584200" indent="-457200">
                  <a:buFont typeface="+mj-lt"/>
                  <a:buAutoNum type="arabicPeriod"/>
                </a:pPr>
                <a:r>
                  <a:rPr lang="es-MX" sz="2000" dirty="0"/>
                  <a:t>Si cada lectura de disco toma 10 ms, ¿cuántos segundos tarda un full scan sobre 200.000 bloques?</a:t>
                </a:r>
              </a:p>
              <a:p>
                <a:pPr marL="127000" indent="0">
                  <a:buNone/>
                </a:pPr>
                <a:endParaRPr lang="es-MX" sz="2000" b="1" dirty="0"/>
              </a:p>
              <a:p>
                <a:pPr marL="127000" indent="0">
                  <a:buNone/>
                </a:pPr>
                <a:r>
                  <a:rPr lang="es-MX" sz="2000" b="1" dirty="0"/>
                  <a:t>Solución</a:t>
                </a:r>
                <a:r>
                  <a:rPr lang="es-MX" sz="2000" dirty="0"/>
                  <a:t>:</a:t>
                </a:r>
              </a:p>
              <a:p>
                <a:r>
                  <a:rPr lang="es-MX" sz="2000" b="1" dirty="0"/>
                  <a:t>Datos</a:t>
                </a:r>
                <a:r>
                  <a:rPr lang="es-MX" sz="2000" dirty="0"/>
                  <a:t>:</a:t>
                </a:r>
              </a:p>
              <a:p>
                <a:pPr lvl="1"/>
                <a14:m>
                  <m:oMath xmlns:m="http://schemas.openxmlformats.org/officeDocument/2006/math">
                    <m:r>
                      <a:rPr lang="es-MX" sz="1600" b="0" i="1" smtClean="0">
                        <a:latin typeface="Cambria Math" panose="02040503050406030204" pitchFamily="18" charset="0"/>
                      </a:rPr>
                      <m:t>𝑁</m:t>
                    </m:r>
                    <m:r>
                      <a:rPr lang="es-MX" sz="1600" b="0" i="1" smtClean="0">
                        <a:latin typeface="Cambria Math" panose="02040503050406030204" pitchFamily="18" charset="0"/>
                      </a:rPr>
                      <m:t>=1000000</m:t>
                    </m:r>
                  </m:oMath>
                </a14:m>
                <a:endParaRPr lang="es-MX" sz="1600" b="0" dirty="0"/>
              </a:p>
              <a:p>
                <a:pPr lvl="1"/>
                <a14:m>
                  <m:oMath xmlns:m="http://schemas.openxmlformats.org/officeDocument/2006/math">
                    <m:r>
                      <a:rPr lang="es-MX" sz="1600" b="0" i="1" smtClean="0">
                        <a:latin typeface="Cambria Math" panose="02040503050406030204" pitchFamily="18" charset="0"/>
                      </a:rPr>
                      <m:t>𝐵</m:t>
                    </m:r>
                    <m:r>
                      <a:rPr lang="es-MX" sz="1600" b="0" i="1" smtClean="0">
                        <a:latin typeface="Cambria Math" panose="02040503050406030204" pitchFamily="18" charset="0"/>
                      </a:rPr>
                      <m:t>=200000</m:t>
                    </m:r>
                  </m:oMath>
                </a14:m>
                <a:endParaRPr lang="es-MX" sz="1600" b="0" dirty="0"/>
              </a:p>
              <a:p>
                <a:pPr lvl="1"/>
                <a14:m>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𝑇</m:t>
                        </m:r>
                      </m:e>
                      <m:sub>
                        <m:r>
                          <a:rPr lang="es-MX" sz="1600" b="0" i="1" smtClean="0">
                            <a:latin typeface="Cambria Math" panose="02040503050406030204" pitchFamily="18" charset="0"/>
                          </a:rPr>
                          <m:t>𝑟𝑒𝑎𝑑</m:t>
                        </m:r>
                      </m:sub>
                    </m:sSub>
                    <m:r>
                      <a:rPr lang="es-MX" sz="1600" b="0" i="1" smtClean="0">
                        <a:latin typeface="Cambria Math" panose="02040503050406030204" pitchFamily="18" charset="0"/>
                      </a:rPr>
                      <m:t>=10 </m:t>
                    </m:r>
                    <m:r>
                      <a:rPr lang="es-MX" sz="1600" b="0" i="1" smtClean="0">
                        <a:latin typeface="Cambria Math" panose="02040503050406030204" pitchFamily="18" charset="0"/>
                      </a:rPr>
                      <m:t>𝑚𝑠</m:t>
                    </m:r>
                    <m:r>
                      <a:rPr lang="es-MX" sz="1600" b="0" i="1" smtClean="0">
                        <a:latin typeface="Cambria Math" panose="02040503050406030204" pitchFamily="18" charset="0"/>
                      </a:rPr>
                      <m:t>/</m:t>
                    </m:r>
                    <m:r>
                      <a:rPr lang="es-MX" sz="1600" b="0" i="1" smtClean="0">
                        <a:latin typeface="Cambria Math" panose="02040503050406030204" pitchFamily="18" charset="0"/>
                      </a:rPr>
                      <m:t>𝑏𝑙𝑜𝑞𝑢𝑒</m:t>
                    </m:r>
                  </m:oMath>
                </a14:m>
                <a:endParaRPr lang="es-MX" sz="1600" b="0" dirty="0"/>
              </a:p>
              <a:p>
                <a:pPr lvl="1"/>
                <a:endParaRPr lang="es-MX" sz="1600" dirty="0"/>
              </a:p>
              <a:p>
                <a:pPr marL="127000" indent="0">
                  <a:buNone/>
                </a:pPr>
                <a:endParaRPr lang="es-MX" sz="2000" dirty="0"/>
              </a:p>
            </p:txBody>
          </p:sp>
        </mc:Choice>
        <mc:Fallback xmlns="">
          <p:sp>
            <p:nvSpPr>
              <p:cNvPr id="7" name="Google Shape;310;p34">
                <a:extLst>
                  <a:ext uri="{FF2B5EF4-FFF2-40B4-BE49-F238E27FC236}">
                    <a16:creationId xmlns:a16="http://schemas.microsoft.com/office/drawing/2014/main" id="{70DEFA27-6AC4-4939-80A7-2BA081AB3D70}"/>
                  </a:ext>
                </a:extLst>
              </p:cNvPr>
              <p:cNvSpPr txBox="1">
                <a:spLocks noRot="1" noChangeAspect="1" noMove="1" noResize="1" noEditPoints="1" noAdjustHandles="1" noChangeArrowheads="1" noChangeShapeType="1" noTextEdit="1"/>
              </p:cNvSpPr>
              <p:nvPr/>
            </p:nvSpPr>
            <p:spPr>
              <a:xfrm>
                <a:off x="685477" y="876426"/>
                <a:ext cx="11304962" cy="5126167"/>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Google Shape;310;p34">
                <a:extLst>
                  <a:ext uri="{FF2B5EF4-FFF2-40B4-BE49-F238E27FC236}">
                    <a16:creationId xmlns:a16="http://schemas.microsoft.com/office/drawing/2014/main" id="{8359523A-59AC-4A76-BD4E-4C637673B933}"/>
                  </a:ext>
                </a:extLst>
              </p:cNvPr>
              <p:cNvSpPr txBox="1">
                <a:spLocks/>
              </p:cNvSpPr>
              <p:nvPr/>
            </p:nvSpPr>
            <p:spPr>
              <a:xfrm>
                <a:off x="4687206" y="2663438"/>
                <a:ext cx="6819317" cy="39951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a:pPr>
                <a14:m>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𝐵</m:t>
                        </m:r>
                      </m:sub>
                    </m:sSub>
                    <m:r>
                      <a:rPr lang="es-MX" sz="1800" b="0" i="1" smtClean="0">
                        <a:latin typeface="Cambria Math" panose="02040503050406030204" pitchFamily="18" charset="0"/>
                      </a:rPr>
                      <m:t>=?</m:t>
                    </m:r>
                  </m:oMath>
                </a14:m>
                <a:endParaRPr lang="es-MX" sz="1800" b="0" dirty="0"/>
              </a:p>
              <a:p>
                <a:pPr marL="584200" indent="-457200">
                  <a:buFont typeface="+mj-lt"/>
                  <a:buAutoNum type="arabicPeriod"/>
                </a:pPr>
                <a:endParaRPr lang="es-MX" sz="1800" dirty="0"/>
              </a:p>
              <a:p>
                <a:pPr marL="127000" indent="0">
                  <a:buNone/>
                </a:pPr>
                <a14:m>
                  <m:oMathPara xmlns:m="http://schemas.openxmlformats.org/officeDocument/2006/math">
                    <m:oMathParaPr>
                      <m:jc m:val="centerGroup"/>
                    </m:oMathParaPr>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𝑁</m:t>
                          </m:r>
                        </m:e>
                        <m:sub>
                          <m:r>
                            <a:rPr lang="es-MX" sz="1600" b="0" i="1" smtClean="0">
                              <a:latin typeface="Cambria Math" panose="02040503050406030204" pitchFamily="18" charset="0"/>
                            </a:rPr>
                            <m:t>𝐵</m:t>
                          </m:r>
                        </m:sub>
                      </m:sSub>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𝑁</m:t>
                          </m:r>
                        </m:num>
                        <m:den>
                          <m:r>
                            <a:rPr lang="es-MX" sz="1600" b="0" i="1" smtClean="0">
                              <a:latin typeface="Cambria Math" panose="02040503050406030204" pitchFamily="18" charset="0"/>
                            </a:rPr>
                            <m:t>𝐵</m:t>
                          </m:r>
                        </m:den>
                      </m:f>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1000000</m:t>
                          </m:r>
                        </m:num>
                        <m:den>
                          <m:r>
                            <a:rPr lang="es-MX" sz="1600" b="0" i="1" smtClean="0">
                              <a:latin typeface="Cambria Math" panose="02040503050406030204" pitchFamily="18" charset="0"/>
                            </a:rPr>
                            <m:t>200000</m:t>
                          </m:r>
                        </m:den>
                      </m:f>
                      <m:r>
                        <a:rPr lang="es-MX" sz="1600" b="0" i="1" smtClean="0">
                          <a:latin typeface="Cambria Math" panose="02040503050406030204" pitchFamily="18" charset="0"/>
                        </a:rPr>
                        <m:t>=5 </m:t>
                      </m:r>
                      <m:r>
                        <a:rPr lang="es-MX" sz="1600" b="0" i="1" smtClean="0">
                          <a:latin typeface="Cambria Math" panose="02040503050406030204" pitchFamily="18" charset="0"/>
                        </a:rPr>
                        <m:t>𝑟𝑒𝑔</m:t>
                      </m:r>
                      <m:r>
                        <a:rPr lang="es-MX" sz="1600" b="0" i="1" smtClean="0">
                          <a:latin typeface="Cambria Math" panose="02040503050406030204" pitchFamily="18" charset="0"/>
                        </a:rPr>
                        <m:t>/</m:t>
                      </m:r>
                      <m:r>
                        <a:rPr lang="es-MX" sz="1600" b="0" i="1" smtClean="0">
                          <a:latin typeface="Cambria Math" panose="02040503050406030204" pitchFamily="18" charset="0"/>
                        </a:rPr>
                        <m:t>𝑏𝑙𝑜𝑞𝑢𝑒</m:t>
                      </m:r>
                    </m:oMath>
                  </m:oMathPara>
                </a14:m>
                <a:endParaRPr lang="es-MX" sz="1600" dirty="0"/>
              </a:p>
              <a:p>
                <a:pPr marL="127000" indent="0">
                  <a:buNone/>
                </a:pPr>
                <a:endParaRPr lang="es-MX" sz="1800" dirty="0"/>
              </a:p>
              <a:p>
                <a:pPr marL="469900" indent="-342900">
                  <a:buFont typeface="+mj-lt"/>
                  <a:buAutoNum type="arabicPeriod" startAt="2"/>
                </a:pPr>
                <a14:m>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𝑇</m:t>
                        </m:r>
                      </m:e>
                      <m:sub>
                        <m:r>
                          <a:rPr lang="es-MX" sz="1800" b="0" i="1" smtClean="0">
                            <a:latin typeface="Cambria Math" panose="02040503050406030204" pitchFamily="18" charset="0"/>
                          </a:rPr>
                          <m:t>𝐹𝑆</m:t>
                        </m:r>
                      </m:sub>
                    </m:sSub>
                    <m:r>
                      <a:rPr lang="es-MX" sz="1800" b="0" i="1" smtClean="0">
                        <a:latin typeface="Cambria Math" panose="02040503050406030204" pitchFamily="18" charset="0"/>
                      </a:rPr>
                      <m:t>=?</m:t>
                    </m:r>
                  </m:oMath>
                </a14:m>
                <a:endParaRPr lang="es-MX" sz="1800" b="0"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𝑇</m:t>
                          </m:r>
                        </m:e>
                        <m:sub>
                          <m:r>
                            <a:rPr lang="es-MX" sz="1600" b="0" i="1" smtClean="0">
                              <a:latin typeface="Cambria Math" panose="02040503050406030204" pitchFamily="18" charset="0"/>
                            </a:rPr>
                            <m:t>𝐹𝑆</m:t>
                          </m:r>
                        </m:sub>
                      </m:sSub>
                      <m:r>
                        <a:rPr lang="es-MX" sz="1600" b="0" i="1" smtClean="0">
                          <a:latin typeface="Cambria Math" panose="02040503050406030204" pitchFamily="18" charset="0"/>
                        </a:rPr>
                        <m:t>=200000 </m:t>
                      </m:r>
                      <m:r>
                        <a:rPr lang="es-MX" sz="1600" b="0" i="1" smtClean="0">
                          <a:latin typeface="Cambria Math" panose="02040503050406030204" pitchFamily="18" charset="0"/>
                        </a:rPr>
                        <m:t>𝑏𝑙𝑜𝑞𝑢𝑒𝑠</m:t>
                      </m:r>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10 </m:t>
                          </m:r>
                          <m:r>
                            <a:rPr lang="es-MX" sz="1600" b="0" i="1" smtClean="0">
                              <a:latin typeface="Cambria Math" panose="02040503050406030204" pitchFamily="18" charset="0"/>
                            </a:rPr>
                            <m:t>𝑚𝑠</m:t>
                          </m:r>
                        </m:num>
                        <m:den>
                          <m:r>
                            <a:rPr lang="es-MX" sz="1600" b="0" i="1" smtClean="0">
                              <a:latin typeface="Cambria Math" panose="02040503050406030204" pitchFamily="18" charset="0"/>
                            </a:rPr>
                            <m:t>1 </m:t>
                          </m:r>
                          <m:r>
                            <a:rPr lang="es-MX" sz="1600" b="0" i="1" smtClean="0">
                              <a:latin typeface="Cambria Math" panose="02040503050406030204" pitchFamily="18" charset="0"/>
                            </a:rPr>
                            <m:t>𝑏𝑙𝑜𝑞𝑢𝑒</m:t>
                          </m:r>
                        </m:den>
                      </m:f>
                      <m:r>
                        <a:rPr lang="es-MX" sz="1600" b="0" i="1" smtClean="0">
                          <a:latin typeface="Cambria Math" panose="02040503050406030204" pitchFamily="18" charset="0"/>
                        </a:rPr>
                        <m:t>=2000000 </m:t>
                      </m:r>
                      <m:r>
                        <a:rPr lang="es-MX" sz="1600" b="0" i="1" smtClean="0">
                          <a:latin typeface="Cambria Math" panose="02040503050406030204" pitchFamily="18" charset="0"/>
                        </a:rPr>
                        <m:t>𝑚𝑠</m:t>
                      </m:r>
                    </m:oMath>
                  </m:oMathPara>
                </a14:m>
                <a:endParaRPr lang="es-MX" sz="1600" b="0" dirty="0"/>
              </a:p>
              <a:p>
                <a:pPr marL="127000" indent="0">
                  <a:buNone/>
                </a:pPr>
                <a:endParaRPr lang="es-MX" sz="1600" dirty="0"/>
              </a:p>
              <a:p>
                <a:pPr marL="127000" indent="0">
                  <a:buNone/>
                </a:pPr>
                <a14:m>
                  <m:oMathPara xmlns:m="http://schemas.openxmlformats.org/officeDocument/2006/math">
                    <m:oMathParaPr>
                      <m:jc m:val="centerGroup"/>
                    </m:oMathParaPr>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𝑇</m:t>
                          </m:r>
                        </m:e>
                        <m:sub>
                          <m:r>
                            <a:rPr lang="es-MX" sz="1600" b="0" i="1" smtClean="0">
                              <a:latin typeface="Cambria Math" panose="02040503050406030204" pitchFamily="18" charset="0"/>
                            </a:rPr>
                            <m:t>𝐹𝑆</m:t>
                          </m:r>
                        </m:sub>
                      </m:sSub>
                      <m:r>
                        <a:rPr lang="es-MX" sz="1600" b="0" i="1" smtClean="0">
                          <a:latin typeface="Cambria Math" panose="02040503050406030204" pitchFamily="18" charset="0"/>
                        </a:rPr>
                        <m:t>=2000000 </m:t>
                      </m:r>
                      <m:r>
                        <a:rPr lang="es-MX" sz="1600" b="0" i="1" smtClean="0">
                          <a:latin typeface="Cambria Math" panose="02040503050406030204" pitchFamily="18" charset="0"/>
                        </a:rPr>
                        <m:t>𝑚𝑠</m:t>
                      </m:r>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1 </m:t>
                          </m:r>
                          <m:r>
                            <a:rPr lang="es-MX" sz="1600" b="0" i="1" smtClean="0">
                              <a:latin typeface="Cambria Math" panose="02040503050406030204" pitchFamily="18" charset="0"/>
                            </a:rPr>
                            <m:t>𝑠</m:t>
                          </m:r>
                        </m:num>
                        <m:den>
                          <m:r>
                            <a:rPr lang="es-MX" sz="1600" b="0" i="1" smtClean="0">
                              <a:latin typeface="Cambria Math" panose="02040503050406030204" pitchFamily="18" charset="0"/>
                            </a:rPr>
                            <m:t>1000 </m:t>
                          </m:r>
                          <m:r>
                            <a:rPr lang="es-MX" sz="1600" b="0" i="1" smtClean="0">
                              <a:latin typeface="Cambria Math" panose="02040503050406030204" pitchFamily="18" charset="0"/>
                            </a:rPr>
                            <m:t>𝑚𝑠</m:t>
                          </m:r>
                        </m:den>
                      </m:f>
                      <m:r>
                        <a:rPr lang="es-MX" sz="1600" i="1">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1 </m:t>
                          </m:r>
                          <m:r>
                            <a:rPr lang="es-MX" sz="1600" b="0" i="1" smtClean="0">
                              <a:latin typeface="Cambria Math" panose="02040503050406030204" pitchFamily="18" charset="0"/>
                            </a:rPr>
                            <m:t>𝑚𝑖𝑛</m:t>
                          </m:r>
                        </m:num>
                        <m:den>
                          <m:r>
                            <a:rPr lang="es-MX" sz="1600" b="0" i="1" smtClean="0">
                              <a:latin typeface="Cambria Math" panose="02040503050406030204" pitchFamily="18" charset="0"/>
                            </a:rPr>
                            <m:t>60 </m:t>
                          </m:r>
                          <m:r>
                            <a:rPr lang="es-MX" sz="1600" b="0" i="1" smtClean="0">
                              <a:latin typeface="Cambria Math" panose="02040503050406030204" pitchFamily="18" charset="0"/>
                            </a:rPr>
                            <m:t>𝑠</m:t>
                          </m:r>
                        </m:den>
                      </m:f>
                      <m:r>
                        <a:rPr lang="es-MX" sz="1600" b="0" i="1" smtClean="0">
                          <a:latin typeface="Cambria Math" panose="02040503050406030204" pitchFamily="18" charset="0"/>
                        </a:rPr>
                        <m:t>=33.33 </m:t>
                      </m:r>
                      <m:r>
                        <a:rPr lang="es-MX" sz="1600" b="0" i="1" smtClean="0">
                          <a:latin typeface="Cambria Math" panose="02040503050406030204" pitchFamily="18" charset="0"/>
                        </a:rPr>
                        <m:t>𝑚𝑖𝑛</m:t>
                      </m:r>
                    </m:oMath>
                  </m:oMathPara>
                </a14:m>
                <a:endParaRPr lang="es-MX" sz="1600" dirty="0"/>
              </a:p>
              <a:p>
                <a:pPr marL="127000" indent="0">
                  <a:buNone/>
                </a:pPr>
                <a:endParaRPr lang="es-MX" sz="1600" dirty="0"/>
              </a:p>
              <a:p>
                <a:pPr marL="469900" indent="-342900">
                  <a:buFont typeface="+mj-lt"/>
                  <a:buAutoNum type="arabicPeriod" startAt="2"/>
                </a:pPr>
                <a:endParaRPr lang="es-MX" sz="1600" b="0" dirty="0"/>
              </a:p>
              <a:p>
                <a:pPr marL="469900" indent="-342900">
                  <a:buFont typeface="+mj-lt"/>
                  <a:buAutoNum type="arabicPeriod" startAt="2"/>
                </a:pPr>
                <a:endParaRPr lang="es-MX" sz="1800" dirty="0"/>
              </a:p>
            </p:txBody>
          </p:sp>
        </mc:Choice>
        <mc:Fallback xmlns="">
          <p:sp>
            <p:nvSpPr>
              <p:cNvPr id="15" name="Google Shape;310;p34">
                <a:extLst>
                  <a:ext uri="{FF2B5EF4-FFF2-40B4-BE49-F238E27FC236}">
                    <a16:creationId xmlns:a16="http://schemas.microsoft.com/office/drawing/2014/main" id="{8359523A-59AC-4A76-BD4E-4C637673B933}"/>
                  </a:ext>
                </a:extLst>
              </p:cNvPr>
              <p:cNvSpPr txBox="1">
                <a:spLocks noRot="1" noChangeAspect="1" noMove="1" noResize="1" noEditPoints="1" noAdjustHandles="1" noChangeArrowheads="1" noChangeShapeType="1" noTextEdit="1"/>
              </p:cNvSpPr>
              <p:nvPr/>
            </p:nvSpPr>
            <p:spPr>
              <a:xfrm>
                <a:off x="4687206" y="2663438"/>
                <a:ext cx="6819317" cy="3995151"/>
              </a:xfrm>
              <a:prstGeom prst="rect">
                <a:avLst/>
              </a:prstGeom>
              <a:blipFill>
                <a:blip r:embed="rId4"/>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50742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887154" y="199411"/>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1 – Costo sin índice</a:t>
            </a:r>
            <a:endParaRPr dirty="0"/>
          </a:p>
        </p:txBody>
      </p:sp>
      <p:pic>
        <p:nvPicPr>
          <p:cNvPr id="5" name="Imagen 4">
            <a:extLst>
              <a:ext uri="{FF2B5EF4-FFF2-40B4-BE49-F238E27FC236}">
                <a16:creationId xmlns:a16="http://schemas.microsoft.com/office/drawing/2014/main" id="{E431FBF2-8E0E-4F34-B1DA-B508C365A439}"/>
              </a:ext>
            </a:extLst>
          </p:cNvPr>
          <p:cNvPicPr>
            <a:picLocks noChangeAspect="1"/>
          </p:cNvPicPr>
          <p:nvPr/>
        </p:nvPicPr>
        <p:blipFill>
          <a:blip r:embed="rId3"/>
          <a:stretch>
            <a:fillRect/>
          </a:stretch>
        </p:blipFill>
        <p:spPr>
          <a:xfrm>
            <a:off x="4901565" y="1693191"/>
            <a:ext cx="3062564" cy="4766002"/>
          </a:xfrm>
          <a:prstGeom prst="rect">
            <a:avLst/>
          </a:prstGeom>
        </p:spPr>
      </p:pic>
      <p:sp>
        <p:nvSpPr>
          <p:cNvPr id="9" name="Google Shape;310;p34">
            <a:extLst>
              <a:ext uri="{FF2B5EF4-FFF2-40B4-BE49-F238E27FC236}">
                <a16:creationId xmlns:a16="http://schemas.microsoft.com/office/drawing/2014/main" id="{99115683-7D6E-410E-87A6-7E519B3EA2C6}"/>
              </a:ext>
            </a:extLst>
          </p:cNvPr>
          <p:cNvSpPr txBox="1">
            <a:spLocks/>
          </p:cNvSpPr>
          <p:nvPr/>
        </p:nvSpPr>
        <p:spPr>
          <a:xfrm>
            <a:off x="744471" y="980271"/>
            <a:ext cx="11304962" cy="5071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lgn="l">
              <a:buNone/>
            </a:pPr>
            <a:r>
              <a:rPr lang="es-CO" sz="2000" b="1" i="0" dirty="0">
                <a:solidFill>
                  <a:srgbClr val="141413"/>
                </a:solidFill>
                <a:effectLst/>
                <a:latin typeface="Roboto" panose="02000000000000000000" pitchFamily="2" charset="0"/>
                <a:ea typeface="Roboto" panose="02000000000000000000" pitchFamily="2" charset="0"/>
              </a:rPr>
              <a:t>Sin índice — 15 primeros registros (1 por bloque, 5 registros/bloque)</a:t>
            </a:r>
          </a:p>
          <a:p>
            <a:pPr lvl="1"/>
            <a:endParaRPr lang="es-MX" sz="1600" dirty="0"/>
          </a:p>
          <a:p>
            <a:pPr marL="127000" indent="0">
              <a:buNone/>
            </a:pPr>
            <a:endParaRPr lang="es-MX" sz="2000" dirty="0"/>
          </a:p>
        </p:txBody>
      </p:sp>
    </p:spTree>
    <p:extLst>
      <p:ext uri="{BB962C8B-B14F-4D97-AF65-F5344CB8AC3E}">
        <p14:creationId xmlns:p14="http://schemas.microsoft.com/office/powerpoint/2010/main" val="1801466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De los mecanismos a los índices ordenados</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10033"/>
            <a:ext cx="10989600" cy="11711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latin typeface="Roboto" panose="02000000000000000000" pitchFamily="2" charset="0"/>
                <a:ea typeface="Roboto" panose="02000000000000000000" pitchFamily="2" charset="0"/>
              </a:rPr>
              <a:t>De los dos mecanismos vistos, la organización secuencial se implementa a través de una familia de técnicas conocidas como índices ordenados (</a:t>
            </a:r>
            <a:r>
              <a:rPr lang="es-MX" sz="2000" b="1" dirty="0">
                <a:latin typeface="Roboto" panose="02000000000000000000" pitchFamily="2" charset="0"/>
                <a:ea typeface="Roboto" panose="02000000000000000000" pitchFamily="2" charset="0"/>
              </a:rPr>
              <a:t>ordered </a:t>
            </a:r>
            <a:r>
              <a:rPr lang="es-MX" sz="2000" b="1" dirty="0" err="1">
                <a:latin typeface="Roboto" panose="02000000000000000000" pitchFamily="2" charset="0"/>
                <a:ea typeface="Roboto" panose="02000000000000000000" pitchFamily="2" charset="0"/>
              </a:rPr>
              <a:t>indices</a:t>
            </a:r>
            <a:r>
              <a:rPr lang="es-MX" sz="2000" dirty="0">
                <a:latin typeface="Roboto" panose="02000000000000000000" pitchFamily="2" charset="0"/>
                <a:ea typeface="Roboto" panose="02000000000000000000" pitchFamily="2" charset="0"/>
              </a:rPr>
              <a:t>). A continuación exploraremos esta familia.</a:t>
            </a:r>
            <a:endParaRPr lang="es-MX" sz="2400" dirty="0"/>
          </a:p>
        </p:txBody>
      </p:sp>
      <p:pic>
        <p:nvPicPr>
          <p:cNvPr id="6" name="Imagen 5">
            <a:extLst>
              <a:ext uri="{FF2B5EF4-FFF2-40B4-BE49-F238E27FC236}">
                <a16:creationId xmlns:a16="http://schemas.microsoft.com/office/drawing/2014/main" id="{C524C058-AD3D-421A-AB92-9535D0715995}"/>
              </a:ext>
            </a:extLst>
          </p:cNvPr>
          <p:cNvPicPr>
            <a:picLocks noChangeAspect="1"/>
          </p:cNvPicPr>
          <p:nvPr/>
        </p:nvPicPr>
        <p:blipFill>
          <a:blip r:embed="rId3"/>
          <a:stretch>
            <a:fillRect/>
          </a:stretch>
        </p:blipFill>
        <p:spPr>
          <a:xfrm>
            <a:off x="3455622" y="1981201"/>
            <a:ext cx="5378157" cy="4666342"/>
          </a:xfrm>
          <a:prstGeom prst="rect">
            <a:avLst/>
          </a:prstGeom>
        </p:spPr>
      </p:pic>
    </p:spTree>
    <p:extLst>
      <p:ext uri="{BB962C8B-B14F-4D97-AF65-F5344CB8AC3E}">
        <p14:creationId xmlns:p14="http://schemas.microsoft.com/office/powerpoint/2010/main" val="4163603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¿Qué tan denso es un índice?</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28447"/>
            <a:ext cx="11144720" cy="27005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Cuando se construye un índice, una decisión fundamental es </a:t>
            </a:r>
            <a:r>
              <a:rPr lang="es-MX" sz="2000" b="1" dirty="0">
                <a:latin typeface="Roboto" panose="02000000000000000000" pitchFamily="2" charset="0"/>
                <a:ea typeface="Roboto" panose="02000000000000000000" pitchFamily="2" charset="0"/>
              </a:rPr>
              <a:t>cuántas entradas</a:t>
            </a:r>
            <a:r>
              <a:rPr lang="es-MX" sz="2000" dirty="0">
                <a:latin typeface="Roboto" panose="02000000000000000000" pitchFamily="2" charset="0"/>
                <a:ea typeface="Roboto" panose="02000000000000000000" pitchFamily="2" charset="0"/>
              </a:rPr>
              <a:t> tendrá: ¿una por cada registro del archivo, o solo algunas?</a:t>
            </a:r>
          </a:p>
          <a:p>
            <a:pPr marL="342900" indent="-342900"/>
            <a:r>
              <a:rPr lang="es-MX" sz="2000" dirty="0">
                <a:latin typeface="Roboto" panose="02000000000000000000" pitchFamily="2" charset="0"/>
                <a:ea typeface="Roboto" panose="02000000000000000000" pitchFamily="2" charset="0"/>
              </a:rPr>
              <a:t>A esta característica se le denomina </a:t>
            </a:r>
            <a:r>
              <a:rPr lang="es-MX" sz="2000" b="1" dirty="0">
                <a:latin typeface="Roboto" panose="02000000000000000000" pitchFamily="2" charset="0"/>
                <a:ea typeface="Roboto" panose="02000000000000000000" pitchFamily="2" charset="0"/>
              </a:rPr>
              <a:t>densidad del índice</a:t>
            </a:r>
            <a:r>
              <a:rPr lang="es-MX" sz="2000" dirty="0">
                <a:latin typeface="Roboto" panose="02000000000000000000" pitchFamily="2" charset="0"/>
                <a:ea typeface="Roboto" panose="02000000000000000000" pitchFamily="2" charset="0"/>
              </a:rPr>
              <a:t> y determina directamente el equilibrio entre velocidad de búsqueda y espacio ocupado.</a:t>
            </a:r>
          </a:p>
          <a:p>
            <a:pPr marL="342900" indent="-342900"/>
            <a:r>
              <a:rPr lang="es-MX" sz="2000" dirty="0">
                <a:latin typeface="Roboto" panose="02000000000000000000" pitchFamily="2" charset="0"/>
                <a:ea typeface="Roboto" panose="02000000000000000000" pitchFamily="2" charset="0"/>
              </a:rPr>
              <a:t>Existen dos tipos:</a:t>
            </a:r>
          </a:p>
          <a:p>
            <a:pPr marL="800100" lvl="1" indent="-342900"/>
            <a:r>
              <a:rPr lang="es-MX" sz="1800" b="1" dirty="0">
                <a:latin typeface="Roboto" panose="02000000000000000000" pitchFamily="2" charset="0"/>
                <a:ea typeface="Roboto" panose="02000000000000000000" pitchFamily="2" charset="0"/>
              </a:rPr>
              <a:t>Índice denso (Dense index)</a:t>
            </a:r>
            <a:r>
              <a:rPr lang="es-MX" sz="1800" dirty="0">
                <a:latin typeface="Roboto" panose="02000000000000000000" pitchFamily="2" charset="0"/>
                <a:ea typeface="Roboto" panose="02000000000000000000" pitchFamily="2" charset="0"/>
              </a:rPr>
              <a:t>: existe una entrada en el índice por cada registro del archivo (mapeo 1:1).</a:t>
            </a:r>
          </a:p>
          <a:p>
            <a:pPr marL="800100" lvl="1" indent="-342900"/>
            <a:r>
              <a:rPr lang="es-MX" sz="1800" b="1" dirty="0">
                <a:latin typeface="Roboto" panose="02000000000000000000" pitchFamily="2" charset="0"/>
                <a:ea typeface="Roboto" panose="02000000000000000000" pitchFamily="2" charset="0"/>
              </a:rPr>
              <a:t>Índice disperso (Sparse index)</a:t>
            </a:r>
            <a:r>
              <a:rPr lang="es-MX" sz="1800" dirty="0">
                <a:latin typeface="Roboto" panose="02000000000000000000" pitchFamily="2" charset="0"/>
                <a:ea typeface="Roboto" panose="02000000000000000000" pitchFamily="2" charset="0"/>
              </a:rPr>
              <a:t>: el índice contiene entradas solo para algunos valores de la clave de búsqueda.</a:t>
            </a:r>
            <a:endParaRPr lang="es-MX" sz="1800" dirty="0"/>
          </a:p>
        </p:txBody>
      </p:sp>
      <p:sp>
        <p:nvSpPr>
          <p:cNvPr id="7" name="CuadroTexto 6">
            <a:extLst>
              <a:ext uri="{FF2B5EF4-FFF2-40B4-BE49-F238E27FC236}">
                <a16:creationId xmlns:a16="http://schemas.microsoft.com/office/drawing/2014/main" id="{F21F8B81-B192-42FC-BEDB-4B43A5440AC0}"/>
              </a:ext>
            </a:extLst>
          </p:cNvPr>
          <p:cNvSpPr txBox="1"/>
          <p:nvPr/>
        </p:nvSpPr>
        <p:spPr>
          <a:xfrm>
            <a:off x="916650" y="6126201"/>
            <a:ext cx="10705079" cy="646331"/>
          </a:xfrm>
          <a:prstGeom prst="rect">
            <a:avLst/>
          </a:prstGeom>
          <a:solidFill>
            <a:schemeClr val="bg1">
              <a:lumMod val="95000"/>
            </a:schemeClr>
          </a:solidFill>
        </p:spPr>
        <p:txBody>
          <a:bodyPr wrap="square">
            <a:spAutoFit/>
          </a:bodyPr>
          <a:lstStyle/>
          <a:p>
            <a:r>
              <a:rPr lang="es-MX" sz="1800" i="1" dirty="0">
                <a:latin typeface="Roboto" panose="02000000000000000000" pitchFamily="2" charset="0"/>
                <a:ea typeface="Roboto" panose="02000000000000000000" pitchFamily="2" charset="0"/>
              </a:rPr>
              <a:t>La densidad no es una propiedad menor: define cuánto espacio ocupa el índice y qué tan rápido puede localizar un registro.</a:t>
            </a:r>
            <a:endParaRPr lang="es-CO" sz="1800" i="1" dirty="0">
              <a:latin typeface="Roboto" panose="02000000000000000000" pitchFamily="2" charset="0"/>
              <a:ea typeface="Roboto" panose="02000000000000000000" pitchFamily="2" charset="0"/>
            </a:endParaRPr>
          </a:p>
        </p:txBody>
      </p:sp>
      <p:pic>
        <p:nvPicPr>
          <p:cNvPr id="8" name="Picture 8">
            <a:extLst>
              <a:ext uri="{FF2B5EF4-FFF2-40B4-BE49-F238E27FC236}">
                <a16:creationId xmlns:a16="http://schemas.microsoft.com/office/drawing/2014/main" id="{E2AD88A7-40C3-4E5D-A637-DD34B7765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227" y="3768482"/>
            <a:ext cx="4611812" cy="224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a:extLst>
              <a:ext uri="{FF2B5EF4-FFF2-40B4-BE49-F238E27FC236}">
                <a16:creationId xmlns:a16="http://schemas.microsoft.com/office/drawing/2014/main" id="{1C9E38EF-A3F6-4719-87DC-614D98DE9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3445" y="3768482"/>
            <a:ext cx="4867852" cy="224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5398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denso (Dense index)</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56345"/>
            <a:ext cx="10883464" cy="224555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dirty="0">
                <a:latin typeface="Roboto" panose="02000000000000000000" pitchFamily="2" charset="0"/>
                <a:ea typeface="Roboto" panose="02000000000000000000" pitchFamily="2" charset="0"/>
              </a:rPr>
              <a:t>En un índice denso existe </a:t>
            </a:r>
            <a:r>
              <a:rPr lang="es-MX" sz="1800" b="1" dirty="0">
                <a:latin typeface="Roboto" panose="02000000000000000000" pitchFamily="2" charset="0"/>
                <a:ea typeface="Roboto" panose="02000000000000000000" pitchFamily="2" charset="0"/>
              </a:rPr>
              <a:t>una entrada de índice por cada valor de clave de búsqueda</a:t>
            </a:r>
            <a:r>
              <a:rPr lang="es-MX" sz="1800" dirty="0">
                <a:latin typeface="Roboto" panose="02000000000000000000" pitchFamily="2" charset="0"/>
                <a:ea typeface="Roboto" panose="02000000000000000000" pitchFamily="2" charset="0"/>
              </a:rPr>
              <a:t> presente en el archivo.</a:t>
            </a:r>
          </a:p>
          <a:p>
            <a:pPr marL="342900" indent="-342900"/>
            <a:r>
              <a:rPr lang="es-MX" sz="1800" dirty="0">
                <a:latin typeface="Roboto" panose="02000000000000000000" pitchFamily="2" charset="0"/>
                <a:ea typeface="Roboto" panose="02000000000000000000" pitchFamily="2" charset="0"/>
              </a:rPr>
              <a:t>Cada entrada contiene el valor de la clave y un puntero (</a:t>
            </a:r>
            <a:r>
              <a:rPr lang="es-MX" sz="1800" b="1" i="1" dirty="0">
                <a:latin typeface="Roboto" panose="02000000000000000000" pitchFamily="2" charset="0"/>
                <a:ea typeface="Roboto" panose="02000000000000000000" pitchFamily="2" charset="0"/>
              </a:rPr>
              <a:t>pointer</a:t>
            </a:r>
            <a:r>
              <a:rPr lang="es-MX" sz="1800" dirty="0">
                <a:latin typeface="Roboto" panose="02000000000000000000" pitchFamily="2" charset="0"/>
                <a:ea typeface="Roboto" panose="02000000000000000000" pitchFamily="2" charset="0"/>
              </a:rPr>
              <a:t>) al registro correspondiente en el archivo.</a:t>
            </a:r>
          </a:p>
          <a:p>
            <a:pPr marL="342900" indent="-342900"/>
            <a:r>
              <a:rPr lang="es-MX" sz="1800" dirty="0">
                <a:latin typeface="Roboto" panose="02000000000000000000" pitchFamily="2" charset="0"/>
                <a:ea typeface="Roboto" panose="02000000000000000000" pitchFamily="2" charset="0"/>
              </a:rPr>
              <a:t>Permite localizar </a:t>
            </a:r>
            <a:r>
              <a:rPr lang="es-MX" sz="1800" b="1" dirty="0">
                <a:latin typeface="Roboto" panose="02000000000000000000" pitchFamily="2" charset="0"/>
                <a:ea typeface="Roboto" panose="02000000000000000000" pitchFamily="2" charset="0"/>
              </a:rPr>
              <a:t>directamente</a:t>
            </a:r>
            <a:r>
              <a:rPr lang="es-MX" sz="1800" dirty="0">
                <a:latin typeface="Roboto" panose="02000000000000000000" pitchFamily="2" charset="0"/>
                <a:ea typeface="Roboto" panose="02000000000000000000" pitchFamily="2" charset="0"/>
              </a:rPr>
              <a:t> cualquier registro sin necesidad de recorrer el archivo.</a:t>
            </a:r>
          </a:p>
          <a:p>
            <a:pPr marL="342900" indent="-342900"/>
            <a:r>
              <a:rPr lang="es-MX" sz="1800" dirty="0">
                <a:latin typeface="Roboto" panose="02000000000000000000" pitchFamily="2" charset="0"/>
                <a:ea typeface="Roboto" panose="02000000000000000000" pitchFamily="2" charset="0"/>
              </a:rPr>
              <a:t>Es más rápido en las búsquedas, pero ocupa </a:t>
            </a:r>
            <a:r>
              <a:rPr lang="es-MX" sz="1800" b="1" dirty="0">
                <a:latin typeface="Roboto" panose="02000000000000000000" pitchFamily="2" charset="0"/>
                <a:ea typeface="Roboto" panose="02000000000000000000" pitchFamily="2" charset="0"/>
              </a:rPr>
              <a:t>más espacio</a:t>
            </a:r>
            <a:r>
              <a:rPr lang="es-MX" sz="1800" dirty="0">
                <a:latin typeface="Roboto" panose="02000000000000000000" pitchFamily="2" charset="0"/>
                <a:ea typeface="Roboto" panose="02000000000000000000" pitchFamily="2" charset="0"/>
              </a:rPr>
              <a:t> que un índice disperso, ya que debe mantener una entrada por cada registro.</a:t>
            </a:r>
            <a:endParaRPr lang="es-MX" sz="1600" dirty="0"/>
          </a:p>
        </p:txBody>
      </p:sp>
      <p:pic>
        <p:nvPicPr>
          <p:cNvPr id="7" name="Picture 8">
            <a:extLst>
              <a:ext uri="{FF2B5EF4-FFF2-40B4-BE49-F238E27FC236}">
                <a16:creationId xmlns:a16="http://schemas.microsoft.com/office/drawing/2014/main" id="{FBD10977-5247-4015-9033-B615E7593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4847" y="3198682"/>
            <a:ext cx="6410409" cy="311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4028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denso (Dense index)</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923154"/>
            <a:ext cx="10883464" cy="5718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dirty="0">
                <a:latin typeface="Roboto" panose="02000000000000000000" pitchFamily="2" charset="0"/>
                <a:ea typeface="Roboto" panose="02000000000000000000" pitchFamily="2" charset="0"/>
              </a:rPr>
              <a:t>El comportamiento de un índice denso depende de si la clave de búsqueda es única o no.</a:t>
            </a:r>
          </a:p>
        </p:txBody>
      </p:sp>
      <p:sp>
        <p:nvSpPr>
          <p:cNvPr id="10" name="CuadroTexto 9">
            <a:extLst>
              <a:ext uri="{FF2B5EF4-FFF2-40B4-BE49-F238E27FC236}">
                <a16:creationId xmlns:a16="http://schemas.microsoft.com/office/drawing/2014/main" id="{7E495AE1-6E77-4322-BC9F-79DEF85E09EB}"/>
              </a:ext>
            </a:extLst>
          </p:cNvPr>
          <p:cNvSpPr txBox="1"/>
          <p:nvPr/>
        </p:nvSpPr>
        <p:spPr>
          <a:xfrm>
            <a:off x="1035446" y="1495008"/>
            <a:ext cx="4849159" cy="738664"/>
          </a:xfrm>
          <a:prstGeom prst="rect">
            <a:avLst/>
          </a:prstGeom>
          <a:noFill/>
          <a:ln>
            <a:solidFill>
              <a:schemeClr val="tx1"/>
            </a:solidFill>
          </a:ln>
        </p:spPr>
        <p:txBody>
          <a:bodyPr wrap="square">
            <a:spAutoFit/>
          </a:bodyPr>
          <a:lstStyle/>
          <a:p>
            <a:r>
              <a:rPr lang="es-CO" dirty="0">
                <a:solidFill>
                  <a:schemeClr val="bg1">
                    <a:lumMod val="50000"/>
                  </a:schemeClr>
                </a:solidFill>
                <a:latin typeface="Consolas" panose="020B0609020204030204" pitchFamily="49" charset="0"/>
              </a:rPr>
              <a:t>-- Índice sobre clave primaria</a:t>
            </a:r>
            <a:endParaRPr lang="en-US" dirty="0">
              <a:solidFill>
                <a:schemeClr val="bg1">
                  <a:lumMod val="50000"/>
                </a:schemeClr>
              </a:solidFill>
              <a:effectLst/>
              <a:latin typeface="Consolas" panose="020B0609020204030204" pitchFamily="49" charset="0"/>
            </a:endParaRPr>
          </a:p>
          <a:p>
            <a:r>
              <a:rPr lang="en-US" dirty="0">
                <a:solidFill>
                  <a:srgbClr val="8100C2"/>
                </a:solidFill>
                <a:effectLst/>
                <a:latin typeface="Consolas" panose="020B0609020204030204" pitchFamily="49" charset="0"/>
              </a:rPr>
              <a:t>CREATE INDEX </a:t>
            </a:r>
            <a:r>
              <a:rPr lang="en-US" dirty="0">
                <a:solidFill>
                  <a:schemeClr val="tx1"/>
                </a:solidFill>
                <a:effectLst/>
                <a:latin typeface="Consolas" panose="020B0609020204030204" pitchFamily="49" charset="0"/>
              </a:rPr>
              <a:t>idx_instructor_id</a:t>
            </a:r>
            <a:r>
              <a:rPr lang="en-US" dirty="0">
                <a:solidFill>
                  <a:srgbClr val="8100C2"/>
                </a:solidFill>
                <a:effectLst/>
                <a:latin typeface="Consolas" panose="020B0609020204030204" pitchFamily="49" charset="0"/>
              </a:rPr>
              <a:t> </a:t>
            </a:r>
          </a:p>
          <a:p>
            <a:r>
              <a:rPr lang="en-US" dirty="0">
                <a:solidFill>
                  <a:srgbClr val="8100C2"/>
                </a:solidFill>
                <a:effectLst/>
                <a:latin typeface="Consolas" panose="020B0609020204030204" pitchFamily="49" charset="0"/>
              </a:rPr>
              <a:t>ON </a:t>
            </a:r>
            <a:r>
              <a:rPr lang="en-US" dirty="0">
                <a:solidFill>
                  <a:schemeClr val="tx1"/>
                </a:solidFill>
                <a:effectLst/>
                <a:latin typeface="Consolas" panose="020B0609020204030204" pitchFamily="49" charset="0"/>
              </a:rPr>
              <a:t>instructor(ID);</a:t>
            </a:r>
            <a:endParaRPr lang="es-CO" dirty="0">
              <a:solidFill>
                <a:schemeClr val="tx1"/>
              </a:solidFill>
              <a:effectLst/>
              <a:latin typeface="Consolas" panose="020B0609020204030204" pitchFamily="49" charset="0"/>
            </a:endParaRPr>
          </a:p>
        </p:txBody>
      </p:sp>
      <p:sp>
        <p:nvSpPr>
          <p:cNvPr id="12" name="CuadroTexto 11">
            <a:extLst>
              <a:ext uri="{FF2B5EF4-FFF2-40B4-BE49-F238E27FC236}">
                <a16:creationId xmlns:a16="http://schemas.microsoft.com/office/drawing/2014/main" id="{AE2DE725-9BC0-4AC2-892D-BED83266D36A}"/>
              </a:ext>
            </a:extLst>
          </p:cNvPr>
          <p:cNvSpPr txBox="1"/>
          <p:nvPr/>
        </p:nvSpPr>
        <p:spPr>
          <a:xfrm>
            <a:off x="6540625" y="1490850"/>
            <a:ext cx="4849159" cy="738664"/>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a:solidFill>
                  <a:srgbClr val="6E7687"/>
                </a:solidFill>
                <a:effectLst/>
                <a:latin typeface="Consolas" panose="020B0609020204030204" pitchFamily="49" charset="0"/>
              </a:defRPr>
            </a:lvl1pPr>
          </a:lstStyle>
          <a:p>
            <a:r>
              <a:rPr lang="es-CO" dirty="0"/>
              <a:t>-- Índice sobre atributo no único</a:t>
            </a:r>
            <a:endParaRPr lang="en-US" dirty="0">
              <a:solidFill>
                <a:srgbClr val="8100C2"/>
              </a:solidFill>
            </a:endParaRPr>
          </a:p>
          <a:p>
            <a:r>
              <a:rPr lang="en-US" dirty="0">
                <a:solidFill>
                  <a:srgbClr val="8100C2"/>
                </a:solidFill>
              </a:rPr>
              <a:t>CREATE INDEX </a:t>
            </a:r>
            <a:r>
              <a:rPr lang="en-US" dirty="0">
                <a:solidFill>
                  <a:schemeClr val="tx1"/>
                </a:solidFill>
              </a:rPr>
              <a:t>idx_instructor_dept </a:t>
            </a:r>
          </a:p>
          <a:p>
            <a:r>
              <a:rPr lang="en-US" dirty="0">
                <a:solidFill>
                  <a:srgbClr val="8100C2"/>
                </a:solidFill>
              </a:rPr>
              <a:t>ON </a:t>
            </a:r>
            <a:r>
              <a:rPr lang="en-US" dirty="0">
                <a:solidFill>
                  <a:schemeClr val="tx1"/>
                </a:solidFill>
              </a:rPr>
              <a:t>instructor(dept_name);</a:t>
            </a:r>
            <a:endParaRPr lang="es-CO" dirty="0">
              <a:solidFill>
                <a:schemeClr val="tx1"/>
              </a:solidFill>
            </a:endParaRPr>
          </a:p>
        </p:txBody>
      </p:sp>
      <p:pic>
        <p:nvPicPr>
          <p:cNvPr id="7" name="Picture 8">
            <a:extLst>
              <a:ext uri="{FF2B5EF4-FFF2-40B4-BE49-F238E27FC236}">
                <a16:creationId xmlns:a16="http://schemas.microsoft.com/office/drawing/2014/main" id="{FBD10977-5247-4015-9033-B615E7593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586" y="2516333"/>
            <a:ext cx="4588878" cy="222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C95252B-EA8E-47D6-8A65-C15B76E8A6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4640" y="2516332"/>
            <a:ext cx="5361130" cy="222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a 3">
            <a:extLst>
              <a:ext uri="{FF2B5EF4-FFF2-40B4-BE49-F238E27FC236}">
                <a16:creationId xmlns:a16="http://schemas.microsoft.com/office/drawing/2014/main" id="{27730F84-3231-459D-8CE5-F6DF185A8943}"/>
              </a:ext>
            </a:extLst>
          </p:cNvPr>
          <p:cNvGraphicFramePr>
            <a:graphicFrameLocks noGrp="1"/>
          </p:cNvGraphicFramePr>
          <p:nvPr>
            <p:extLst>
              <p:ext uri="{D42A27DB-BD31-4B8C-83A1-F6EECF244321}">
                <p14:modId xmlns:p14="http://schemas.microsoft.com/office/powerpoint/2010/main" val="2423817796"/>
              </p:ext>
            </p:extLst>
          </p:nvPr>
        </p:nvGraphicFramePr>
        <p:xfrm>
          <a:off x="2075205" y="5027878"/>
          <a:ext cx="1384820" cy="1463040"/>
        </p:xfrm>
        <a:graphic>
          <a:graphicData uri="http://schemas.openxmlformats.org/drawingml/2006/table">
            <a:tbl>
              <a:tblPr firstRow="1" bandRow="1">
                <a:tableStyleId>{AD6A3598-7CB8-4345-8D95-17CE05F158A0}</a:tableStyleId>
              </a:tblPr>
              <a:tblGrid>
                <a:gridCol w="794885">
                  <a:extLst>
                    <a:ext uri="{9D8B030D-6E8A-4147-A177-3AD203B41FA5}">
                      <a16:colId xmlns:a16="http://schemas.microsoft.com/office/drawing/2014/main" val="4291334734"/>
                    </a:ext>
                  </a:extLst>
                </a:gridCol>
                <a:gridCol w="589935">
                  <a:extLst>
                    <a:ext uri="{9D8B030D-6E8A-4147-A177-3AD203B41FA5}">
                      <a16:colId xmlns:a16="http://schemas.microsoft.com/office/drawing/2014/main" val="113259606"/>
                    </a:ext>
                  </a:extLst>
                </a:gridCol>
              </a:tblGrid>
              <a:tr h="209597">
                <a:tc>
                  <a:txBody>
                    <a:bodyPr/>
                    <a:lstStyle/>
                    <a:p>
                      <a:r>
                        <a:rPr lang="es-CO" sz="1000" dirty="0">
                          <a:latin typeface="Consolas" panose="020B0609020204030204" pitchFamily="49" charset="0"/>
                          <a:ea typeface="Roboto" panose="02000000000000000000" pitchFamily="2" charset="0"/>
                        </a:rPr>
                        <a:t>10101</a:t>
                      </a:r>
                    </a:p>
                  </a:txBody>
                  <a:tcPr>
                    <a:solidFill>
                      <a:schemeClr val="accent4">
                        <a:lumMod val="20000"/>
                        <a:lumOff val="80000"/>
                      </a:schemeClr>
                    </a:solidFill>
                  </a:tcPr>
                </a:tc>
                <a:tc>
                  <a:txBody>
                    <a:bodyPr/>
                    <a:lstStyle/>
                    <a:p>
                      <a:r>
                        <a:rPr lang="es-CO" sz="1000" dirty="0">
                          <a:latin typeface="Consolas" panose="020B0609020204030204" pitchFamily="49" charset="0"/>
                        </a:rPr>
                        <a:t>-&gt; r1</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714256863"/>
                  </a:ext>
                </a:extLst>
              </a:tr>
              <a:tr h="209597">
                <a:tc>
                  <a:txBody>
                    <a:bodyPr/>
                    <a:lstStyle/>
                    <a:p>
                      <a:r>
                        <a:rPr lang="es-CO" sz="1000" dirty="0">
                          <a:latin typeface="Consolas" panose="020B0609020204030204" pitchFamily="49" charset="0"/>
                          <a:ea typeface="Roboto" panose="02000000000000000000" pitchFamily="2" charset="0"/>
                        </a:rPr>
                        <a:t>12121</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r2</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160977853"/>
                  </a:ext>
                </a:extLst>
              </a:tr>
              <a:tr h="209597">
                <a:tc>
                  <a:txBody>
                    <a:bodyPr/>
                    <a:lstStyle/>
                    <a:p>
                      <a:r>
                        <a:rPr lang="es-CO" sz="1000" dirty="0">
                          <a:latin typeface="Consolas" panose="020B0609020204030204" pitchFamily="49" charset="0"/>
                          <a:ea typeface="Roboto" panose="02000000000000000000" pitchFamily="2" charset="0"/>
                        </a:rPr>
                        <a:t>15151</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r3</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4029499260"/>
                  </a:ext>
                </a:extLst>
              </a:tr>
              <a:tr h="209597">
                <a:tc>
                  <a:txBody>
                    <a:bodyPr/>
                    <a:lstStyle/>
                    <a:p>
                      <a:r>
                        <a:rPr lang="es-CO" sz="1000" dirty="0">
                          <a:latin typeface="Consolas" panose="020B0609020204030204" pitchFamily="49" charset="0"/>
                          <a:ea typeface="Roboto" panose="02000000000000000000" pitchFamily="2" charset="0"/>
                        </a:rPr>
                        <a:t>22222</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r4</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2365417281"/>
                  </a:ext>
                </a:extLst>
              </a:tr>
              <a:tr h="209597">
                <a:tc>
                  <a:txBody>
                    <a:bodyPr/>
                    <a:lstStyle/>
                    <a:p>
                      <a:r>
                        <a:rPr lang="es-CO" sz="1000" dirty="0">
                          <a:latin typeface="Consolas" panose="020B0609020204030204" pitchFamily="49" charset="0"/>
                          <a:ea typeface="Roboto" panose="02000000000000000000" pitchFamily="2" charset="0"/>
                        </a:rPr>
                        <a:t>32343</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r5</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770889815"/>
                  </a:ext>
                </a:extLst>
              </a:tr>
              <a:tr h="209597">
                <a:tc>
                  <a:txBody>
                    <a:bodyPr/>
                    <a:lstStyle/>
                    <a:p>
                      <a:r>
                        <a:rPr lang="es-CO" sz="1000" dirty="0">
                          <a:latin typeface="Consolas" panose="020B0609020204030204" pitchFamily="49" charset="0"/>
                          <a:ea typeface="Roboto" panose="02000000000000000000" pitchFamily="2" charset="0"/>
                        </a:rPr>
                        <a:t>...</a:t>
                      </a:r>
                    </a:p>
                  </a:txBody>
                  <a:tcPr>
                    <a:solidFill>
                      <a:schemeClr val="accent4">
                        <a:lumMod val="20000"/>
                        <a:lumOff val="80000"/>
                      </a:schemeClr>
                    </a:solidFill>
                  </a:tcPr>
                </a:tc>
                <a:tc>
                  <a:txBody>
                    <a:bodyPr/>
                    <a:lstStyle/>
                    <a:p>
                      <a:r>
                        <a:rPr lang="es-CO" sz="1000" dirty="0">
                          <a:latin typeface="Consolas" panose="020B0609020204030204" pitchFamily="49" charset="0"/>
                          <a:ea typeface="Roboto" panose="02000000000000000000" pitchFamily="2" charset="0"/>
                        </a:rPr>
                        <a:t>...</a:t>
                      </a:r>
                    </a:p>
                  </a:txBody>
                  <a:tcPr>
                    <a:solidFill>
                      <a:schemeClr val="accent6">
                        <a:lumMod val="20000"/>
                        <a:lumOff val="80000"/>
                      </a:schemeClr>
                    </a:solidFill>
                  </a:tcPr>
                </a:tc>
                <a:extLst>
                  <a:ext uri="{0D108BD9-81ED-4DB2-BD59-A6C34878D82A}">
                    <a16:rowId xmlns:a16="http://schemas.microsoft.com/office/drawing/2014/main" val="408815073"/>
                  </a:ext>
                </a:extLst>
              </a:tr>
            </a:tbl>
          </a:graphicData>
        </a:graphic>
      </p:graphicFrame>
      <p:graphicFrame>
        <p:nvGraphicFramePr>
          <p:cNvPr id="14" name="Tabla 3">
            <a:extLst>
              <a:ext uri="{FF2B5EF4-FFF2-40B4-BE49-F238E27FC236}">
                <a16:creationId xmlns:a16="http://schemas.microsoft.com/office/drawing/2014/main" id="{1D7BAD34-9456-4815-9360-9A3BDB1F3A08}"/>
              </a:ext>
            </a:extLst>
          </p:cNvPr>
          <p:cNvGraphicFramePr>
            <a:graphicFrameLocks noGrp="1"/>
          </p:cNvGraphicFramePr>
          <p:nvPr>
            <p:extLst>
              <p:ext uri="{D42A27DB-BD31-4B8C-83A1-F6EECF244321}">
                <p14:modId xmlns:p14="http://schemas.microsoft.com/office/powerpoint/2010/main" val="633178805"/>
              </p:ext>
            </p:extLst>
          </p:nvPr>
        </p:nvGraphicFramePr>
        <p:xfrm>
          <a:off x="7685737" y="5026556"/>
          <a:ext cx="1471315" cy="1463040"/>
        </p:xfrm>
        <a:graphic>
          <a:graphicData uri="http://schemas.openxmlformats.org/drawingml/2006/table">
            <a:tbl>
              <a:tblPr firstRow="1" bandRow="1">
                <a:tableStyleId>{AD6A3598-7CB8-4345-8D95-17CE05F158A0}</a:tableStyleId>
              </a:tblPr>
              <a:tblGrid>
                <a:gridCol w="881380">
                  <a:extLst>
                    <a:ext uri="{9D8B030D-6E8A-4147-A177-3AD203B41FA5}">
                      <a16:colId xmlns:a16="http://schemas.microsoft.com/office/drawing/2014/main" val="4291334734"/>
                    </a:ext>
                  </a:extLst>
                </a:gridCol>
                <a:gridCol w="589935">
                  <a:extLst>
                    <a:ext uri="{9D8B030D-6E8A-4147-A177-3AD203B41FA5}">
                      <a16:colId xmlns:a16="http://schemas.microsoft.com/office/drawing/2014/main" val="113259606"/>
                    </a:ext>
                  </a:extLst>
                </a:gridCol>
              </a:tblGrid>
              <a:tr h="204240">
                <a:tc>
                  <a:txBody>
                    <a:bodyPr/>
                    <a:lstStyle/>
                    <a:p>
                      <a:r>
                        <a:rPr lang="es-CO" sz="1000" dirty="0">
                          <a:latin typeface="Consolas" panose="020B0609020204030204" pitchFamily="49" charset="0"/>
                          <a:ea typeface="Roboto" panose="02000000000000000000" pitchFamily="2" charset="0"/>
                        </a:rPr>
                        <a:t>Biology</a:t>
                      </a:r>
                    </a:p>
                  </a:txBody>
                  <a:tcPr>
                    <a:solidFill>
                      <a:schemeClr val="accent4">
                        <a:lumMod val="20000"/>
                        <a:lumOff val="80000"/>
                      </a:schemeClr>
                    </a:solidFill>
                  </a:tcPr>
                </a:tc>
                <a:tc>
                  <a:txBody>
                    <a:bodyPr/>
                    <a:lstStyle/>
                    <a:p>
                      <a:r>
                        <a:rPr lang="es-CO" sz="1000" dirty="0">
                          <a:latin typeface="Consolas" panose="020B0609020204030204" pitchFamily="49" charset="0"/>
                        </a:rPr>
                        <a:t>-&gt; r1</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714256863"/>
                  </a:ext>
                </a:extLst>
              </a:tr>
              <a:tr h="204240">
                <a:tc>
                  <a:txBody>
                    <a:bodyPr/>
                    <a:lstStyle/>
                    <a:p>
                      <a:r>
                        <a:rPr lang="es-CO" sz="1000" dirty="0">
                          <a:latin typeface="Consolas" panose="020B0609020204030204" pitchFamily="49" charset="0"/>
                          <a:ea typeface="Roboto" panose="02000000000000000000" pitchFamily="2" charset="0"/>
                        </a:rPr>
                        <a:t>Comp. Sci.</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r2</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160977853"/>
                  </a:ext>
                </a:extLst>
              </a:tr>
              <a:tr h="204240">
                <a:tc>
                  <a:txBody>
                    <a:bodyPr/>
                    <a:lstStyle/>
                    <a:p>
                      <a:r>
                        <a:rPr lang="es-CO" sz="1000" dirty="0">
                          <a:latin typeface="Consolas" panose="020B0609020204030204" pitchFamily="49" charset="0"/>
                          <a:ea typeface="Roboto" panose="02000000000000000000" pitchFamily="2" charset="0"/>
                        </a:rPr>
                        <a:t>Comp. Sci.</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r3</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4029499260"/>
                  </a:ext>
                </a:extLst>
              </a:tr>
              <a:tr h="204240">
                <a:tc>
                  <a:txBody>
                    <a:bodyPr/>
                    <a:lstStyle/>
                    <a:p>
                      <a:r>
                        <a:rPr lang="es-CO" sz="1000" dirty="0">
                          <a:latin typeface="Consolas" panose="020B0609020204030204" pitchFamily="49" charset="0"/>
                          <a:ea typeface="Roboto" panose="02000000000000000000" pitchFamily="2" charset="0"/>
                        </a:rPr>
                        <a:t>Comp. Sci.</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r4</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2365417281"/>
                  </a:ext>
                </a:extLst>
              </a:tr>
              <a:tr h="204240">
                <a:tc>
                  <a:txBody>
                    <a:bodyPr/>
                    <a:lstStyle/>
                    <a:p>
                      <a:r>
                        <a:rPr lang="es-CO" sz="1000" dirty="0" err="1">
                          <a:latin typeface="Consolas" panose="020B0609020204030204" pitchFamily="49" charset="0"/>
                          <a:ea typeface="Roboto" panose="02000000000000000000" pitchFamily="2" charset="0"/>
                        </a:rPr>
                        <a:t>Elec</a:t>
                      </a:r>
                      <a:r>
                        <a:rPr lang="es-CO" sz="1000" dirty="0">
                          <a:latin typeface="Consolas" panose="020B0609020204030204" pitchFamily="49" charset="0"/>
                          <a:ea typeface="Roboto" panose="02000000000000000000" pitchFamily="2" charset="0"/>
                        </a:rPr>
                        <a:t>. Eng.</a:t>
                      </a: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Consolas" panose="020B0609020204030204" pitchFamily="49" charset="0"/>
                        </a:rPr>
                        <a:t>-&gt; r5</a:t>
                      </a:r>
                      <a:endParaRPr lang="es-CO" sz="1000" dirty="0">
                        <a:latin typeface="Consolas" panose="020B0609020204030204" pitchFamily="49"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770889815"/>
                  </a:ext>
                </a:extLst>
              </a:tr>
              <a:tr h="204240">
                <a:tc>
                  <a:txBody>
                    <a:bodyPr/>
                    <a:lstStyle/>
                    <a:p>
                      <a:r>
                        <a:rPr lang="es-CO" sz="1000" dirty="0">
                          <a:latin typeface="Consolas" panose="020B0609020204030204" pitchFamily="49" charset="0"/>
                          <a:ea typeface="Roboto" panose="02000000000000000000" pitchFamily="2" charset="0"/>
                        </a:rPr>
                        <a:t>...</a:t>
                      </a:r>
                    </a:p>
                  </a:txBody>
                  <a:tcPr>
                    <a:solidFill>
                      <a:schemeClr val="accent4">
                        <a:lumMod val="20000"/>
                        <a:lumOff val="80000"/>
                      </a:schemeClr>
                    </a:solidFill>
                  </a:tcPr>
                </a:tc>
                <a:tc>
                  <a:txBody>
                    <a:bodyPr/>
                    <a:lstStyle/>
                    <a:p>
                      <a:r>
                        <a:rPr lang="es-CO" sz="1000" dirty="0">
                          <a:latin typeface="Consolas" panose="020B0609020204030204" pitchFamily="49" charset="0"/>
                          <a:ea typeface="Roboto" panose="02000000000000000000" pitchFamily="2" charset="0"/>
                        </a:rPr>
                        <a:t>...</a:t>
                      </a:r>
                    </a:p>
                  </a:txBody>
                  <a:tcPr>
                    <a:solidFill>
                      <a:schemeClr val="accent6">
                        <a:lumMod val="20000"/>
                        <a:lumOff val="80000"/>
                      </a:schemeClr>
                    </a:solidFill>
                  </a:tcPr>
                </a:tc>
                <a:extLst>
                  <a:ext uri="{0D108BD9-81ED-4DB2-BD59-A6C34878D82A}">
                    <a16:rowId xmlns:a16="http://schemas.microsoft.com/office/drawing/2014/main" val="408815073"/>
                  </a:ext>
                </a:extLst>
              </a:tr>
            </a:tbl>
          </a:graphicData>
        </a:graphic>
      </p:graphicFrame>
      <p:sp>
        <p:nvSpPr>
          <p:cNvPr id="6" name="Rectángulo: esquinas redondeadas 5">
            <a:extLst>
              <a:ext uri="{FF2B5EF4-FFF2-40B4-BE49-F238E27FC236}">
                <a16:creationId xmlns:a16="http://schemas.microsoft.com/office/drawing/2014/main" id="{41E96579-F962-4CFD-AA19-A29F49A40BD8}"/>
              </a:ext>
            </a:extLst>
          </p:cNvPr>
          <p:cNvSpPr/>
          <p:nvPr/>
        </p:nvSpPr>
        <p:spPr>
          <a:xfrm>
            <a:off x="1076633" y="2448232"/>
            <a:ext cx="855406" cy="2271252"/>
          </a:xfrm>
          <a:prstGeom prst="roundRect">
            <a:avLst>
              <a:gd name="adj" fmla="val 11310"/>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Rectángulo: esquinas redondeadas 15">
            <a:extLst>
              <a:ext uri="{FF2B5EF4-FFF2-40B4-BE49-F238E27FC236}">
                <a16:creationId xmlns:a16="http://schemas.microsoft.com/office/drawing/2014/main" id="{06989655-3BB3-4A6B-B110-FEA58F283BCF}"/>
              </a:ext>
            </a:extLst>
          </p:cNvPr>
          <p:cNvSpPr/>
          <p:nvPr/>
        </p:nvSpPr>
        <p:spPr>
          <a:xfrm>
            <a:off x="6209072" y="2448232"/>
            <a:ext cx="1312606" cy="1371600"/>
          </a:xfrm>
          <a:prstGeom prst="roundRect">
            <a:avLst>
              <a:gd name="adj" fmla="val 11310"/>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Rectángulo: esquinas redondeadas 16">
            <a:extLst>
              <a:ext uri="{FF2B5EF4-FFF2-40B4-BE49-F238E27FC236}">
                <a16:creationId xmlns:a16="http://schemas.microsoft.com/office/drawing/2014/main" id="{DB6D65FE-ECFE-408E-BE09-A17CBA036C78}"/>
              </a:ext>
            </a:extLst>
          </p:cNvPr>
          <p:cNvSpPr/>
          <p:nvPr/>
        </p:nvSpPr>
        <p:spPr>
          <a:xfrm>
            <a:off x="1981200" y="4940710"/>
            <a:ext cx="1587910" cy="1671484"/>
          </a:xfrm>
          <a:prstGeom prst="roundRect">
            <a:avLst>
              <a:gd name="adj" fmla="val 8524"/>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Rectángulo: esquinas redondeadas 17">
            <a:extLst>
              <a:ext uri="{FF2B5EF4-FFF2-40B4-BE49-F238E27FC236}">
                <a16:creationId xmlns:a16="http://schemas.microsoft.com/office/drawing/2014/main" id="{91C239FD-81CB-4B58-801A-0781E1A1C4EC}"/>
              </a:ext>
            </a:extLst>
          </p:cNvPr>
          <p:cNvSpPr/>
          <p:nvPr/>
        </p:nvSpPr>
        <p:spPr>
          <a:xfrm>
            <a:off x="7590503" y="4916129"/>
            <a:ext cx="1656736" cy="1671484"/>
          </a:xfrm>
          <a:prstGeom prst="roundRect">
            <a:avLst>
              <a:gd name="adj" fmla="val 8524"/>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15" name="Conector: angular 14">
            <a:extLst>
              <a:ext uri="{FF2B5EF4-FFF2-40B4-BE49-F238E27FC236}">
                <a16:creationId xmlns:a16="http://schemas.microsoft.com/office/drawing/2014/main" id="{429C6B59-D339-4AE0-90FE-99AF367C06E3}"/>
              </a:ext>
            </a:extLst>
          </p:cNvPr>
          <p:cNvCxnSpPr>
            <a:stCxn id="6" idx="2"/>
            <a:endCxn id="17" idx="1"/>
          </p:cNvCxnSpPr>
          <p:nvPr/>
        </p:nvCxnSpPr>
        <p:spPr>
          <a:xfrm rot="16200000" flipH="1">
            <a:off x="1214284" y="5009536"/>
            <a:ext cx="1056968" cy="476864"/>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17A1972F-3F5D-47A6-9750-A7BECEAFC61A}"/>
              </a:ext>
            </a:extLst>
          </p:cNvPr>
          <p:cNvCxnSpPr>
            <a:cxnSpLocks/>
            <a:stCxn id="16" idx="2"/>
            <a:endCxn id="18" idx="1"/>
          </p:cNvCxnSpPr>
          <p:nvPr/>
        </p:nvCxnSpPr>
        <p:spPr>
          <a:xfrm rot="16200000" flipH="1">
            <a:off x="6261920" y="4423287"/>
            <a:ext cx="1932039" cy="725128"/>
          </a:xfrm>
          <a:prstGeom prst="bentConnector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393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denso (Dense index)</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04817"/>
            <a:ext cx="10660482" cy="114619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b="1" dirty="0">
                <a:latin typeface="Roboto" panose="02000000000000000000" pitchFamily="2" charset="0"/>
                <a:ea typeface="Roboto" panose="02000000000000000000" pitchFamily="2" charset="0"/>
              </a:rPr>
              <a:t>Ejemplo 1</a:t>
            </a:r>
            <a:r>
              <a:rPr lang="es-MX" sz="2000" dirty="0">
                <a:latin typeface="Roboto" panose="02000000000000000000" pitchFamily="2" charset="0"/>
                <a:ea typeface="Roboto" panose="02000000000000000000" pitchFamily="2" charset="0"/>
              </a:rPr>
              <a:t>: La clave de búsqueda (</a:t>
            </a:r>
            <a:r>
              <a:rPr lang="es-MX" sz="2000" i="1" dirty="0">
                <a:latin typeface="Roboto" panose="02000000000000000000" pitchFamily="2" charset="0"/>
                <a:ea typeface="Roboto" panose="02000000000000000000" pitchFamily="2" charset="0"/>
              </a:rPr>
              <a:t>search key</a:t>
            </a:r>
            <a:r>
              <a:rPr lang="es-MX" sz="2000" dirty="0">
                <a:latin typeface="Roboto" panose="02000000000000000000" pitchFamily="2" charset="0"/>
                <a:ea typeface="Roboto" panose="02000000000000000000" pitchFamily="2" charset="0"/>
              </a:rPr>
              <a:t>) es una clave primaria (</a:t>
            </a:r>
            <a:r>
              <a:rPr lang="es-MX" sz="2000" i="1" dirty="0">
                <a:latin typeface="Roboto" panose="02000000000000000000" pitchFamily="2" charset="0"/>
                <a:ea typeface="Roboto" panose="02000000000000000000" pitchFamily="2" charset="0"/>
              </a:rPr>
              <a:t>primary key</a:t>
            </a:r>
            <a:r>
              <a:rPr lang="es-MX" sz="2000" dirty="0">
                <a:latin typeface="Roboto" panose="02000000000000000000" pitchFamily="2" charset="0"/>
                <a:ea typeface="Roboto" panose="02000000000000000000" pitchFamily="2" charset="0"/>
              </a:rPr>
              <a:t>).</a:t>
            </a:r>
          </a:p>
          <a:p>
            <a:pPr marL="800100" lvl="1" indent="-342900"/>
            <a:r>
              <a:rPr lang="es-MX" sz="1800" dirty="0"/>
              <a:t>Se crea un registro por cada valor de clave de búsqueda.</a:t>
            </a:r>
          </a:p>
          <a:p>
            <a:pPr marL="800100" lvl="1" indent="-342900"/>
            <a:r>
              <a:rPr lang="es-MX" sz="1800" dirty="0"/>
              <a:t>Se necesita más espacio para almacenar los registros del índice (</a:t>
            </a:r>
            <a:r>
              <a:rPr lang="es-MX" sz="1800" i="1" dirty="0"/>
              <a:t>index records</a:t>
            </a:r>
            <a:r>
              <a:rPr lang="es-MX" sz="1800" dirty="0"/>
              <a:t>).</a:t>
            </a:r>
          </a:p>
        </p:txBody>
      </p:sp>
      <p:pic>
        <p:nvPicPr>
          <p:cNvPr id="8" name="Picture 8">
            <a:extLst>
              <a:ext uri="{FF2B5EF4-FFF2-40B4-BE49-F238E27FC236}">
                <a16:creationId xmlns:a16="http://schemas.microsoft.com/office/drawing/2014/main" id="{E2AD88A7-40C3-4E5D-A637-DD34B7765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936" y="2730425"/>
            <a:ext cx="5624329" cy="273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uadroTexto 9">
            <a:extLst>
              <a:ext uri="{FF2B5EF4-FFF2-40B4-BE49-F238E27FC236}">
                <a16:creationId xmlns:a16="http://schemas.microsoft.com/office/drawing/2014/main" id="{7E495AE1-6E77-4322-BC9F-79DEF85E09EB}"/>
              </a:ext>
            </a:extLst>
          </p:cNvPr>
          <p:cNvSpPr txBox="1"/>
          <p:nvPr/>
        </p:nvSpPr>
        <p:spPr>
          <a:xfrm>
            <a:off x="5995839" y="2113373"/>
            <a:ext cx="5151577" cy="307777"/>
          </a:xfrm>
          <a:prstGeom prst="rect">
            <a:avLst/>
          </a:prstGeom>
          <a:noFill/>
          <a:ln>
            <a:solidFill>
              <a:schemeClr val="tx1"/>
            </a:solidFill>
          </a:ln>
        </p:spPr>
        <p:txBody>
          <a:bodyPr wrap="square">
            <a:spAutoFit/>
          </a:bodyPr>
          <a:lstStyle/>
          <a:p>
            <a:r>
              <a:rPr lang="es-CO" dirty="0">
                <a:solidFill>
                  <a:srgbClr val="8100C2"/>
                </a:solidFill>
                <a:effectLst/>
                <a:latin typeface="Consolas" panose="020B0609020204030204" pitchFamily="49" charset="0"/>
              </a:rPr>
              <a:t>SELECT</a:t>
            </a:r>
            <a:r>
              <a:rPr lang="es-CO" dirty="0">
                <a:latin typeface="Consolas" panose="020B0609020204030204" pitchFamily="49" charset="0"/>
              </a:rPr>
              <a:t> </a:t>
            </a:r>
            <a:r>
              <a:rPr lang="es-CO" dirty="0">
                <a:solidFill>
                  <a:srgbClr val="14181F"/>
                </a:solidFill>
                <a:effectLst/>
                <a:latin typeface="Consolas" panose="020B0609020204030204" pitchFamily="49" charset="0"/>
              </a:rPr>
              <a:t>*</a:t>
            </a:r>
            <a:r>
              <a:rPr lang="es-CO" dirty="0">
                <a:latin typeface="Consolas" panose="020B0609020204030204" pitchFamily="49" charset="0"/>
              </a:rPr>
              <a:t> </a:t>
            </a:r>
            <a:r>
              <a:rPr lang="es-CO" dirty="0">
                <a:solidFill>
                  <a:srgbClr val="8100C2"/>
                </a:solidFill>
                <a:effectLst/>
                <a:latin typeface="Consolas" panose="020B0609020204030204" pitchFamily="49" charset="0"/>
              </a:rPr>
              <a:t>FROM</a:t>
            </a:r>
            <a:r>
              <a:rPr lang="es-CO" dirty="0">
                <a:latin typeface="Consolas" panose="020B0609020204030204" pitchFamily="49" charset="0"/>
              </a:rPr>
              <a:t> instructor </a:t>
            </a:r>
            <a:r>
              <a:rPr lang="es-CO" dirty="0">
                <a:solidFill>
                  <a:srgbClr val="8100C2"/>
                </a:solidFill>
                <a:effectLst/>
                <a:latin typeface="Consolas" panose="020B0609020204030204" pitchFamily="49" charset="0"/>
              </a:rPr>
              <a:t>WHERE</a:t>
            </a:r>
            <a:r>
              <a:rPr lang="es-CO" dirty="0">
                <a:latin typeface="Consolas" panose="020B0609020204030204" pitchFamily="49" charset="0"/>
              </a:rPr>
              <a:t> ID </a:t>
            </a:r>
            <a:r>
              <a:rPr lang="es-CO" dirty="0">
                <a:solidFill>
                  <a:srgbClr val="14181F"/>
                </a:solidFill>
                <a:effectLst/>
                <a:latin typeface="Consolas" panose="020B0609020204030204" pitchFamily="49" charset="0"/>
              </a:rPr>
              <a:t>=</a:t>
            </a:r>
            <a:r>
              <a:rPr lang="es-CO" dirty="0">
                <a:latin typeface="Consolas" panose="020B0609020204030204" pitchFamily="49" charset="0"/>
              </a:rPr>
              <a:t> </a:t>
            </a:r>
            <a:r>
              <a:rPr lang="es-CO" dirty="0">
                <a:solidFill>
                  <a:srgbClr val="008080"/>
                </a:solidFill>
                <a:effectLst/>
                <a:latin typeface="Consolas" panose="020B0609020204030204" pitchFamily="49" charset="0"/>
              </a:rPr>
              <a:t>58583</a:t>
            </a:r>
            <a:r>
              <a:rPr lang="es-CO" dirty="0">
                <a:solidFill>
                  <a:srgbClr val="2B303B"/>
                </a:solidFill>
                <a:effectLst/>
                <a:latin typeface="Consolas" panose="020B0609020204030204" pitchFamily="49" charset="0"/>
              </a:rPr>
              <a:t>;</a:t>
            </a:r>
            <a:endParaRPr lang="es-CO" dirty="0">
              <a:latin typeface="Consolas" panose="020B0609020204030204" pitchFamily="49" charset="0"/>
              <a:ea typeface="Roboto" panose="02000000000000000000" pitchFamily="2" charset="0"/>
            </a:endParaRPr>
          </a:p>
        </p:txBody>
      </p:sp>
      <p:sp>
        <p:nvSpPr>
          <p:cNvPr id="12" name="CuadroTexto 11">
            <a:extLst>
              <a:ext uri="{FF2B5EF4-FFF2-40B4-BE49-F238E27FC236}">
                <a16:creationId xmlns:a16="http://schemas.microsoft.com/office/drawing/2014/main" id="{92709B11-750D-4930-8FCC-F1BFEF012FD1}"/>
              </a:ext>
            </a:extLst>
          </p:cNvPr>
          <p:cNvSpPr txBox="1"/>
          <p:nvPr/>
        </p:nvSpPr>
        <p:spPr>
          <a:xfrm>
            <a:off x="1541557" y="2713985"/>
            <a:ext cx="3532583" cy="2308324"/>
          </a:xfrm>
          <a:prstGeom prst="rect">
            <a:avLst/>
          </a:prstGeom>
          <a:solidFill>
            <a:schemeClr val="accent2">
              <a:lumMod val="20000"/>
              <a:lumOff val="80000"/>
            </a:schemeClr>
          </a:solidFill>
        </p:spPr>
        <p:txBody>
          <a:bodyPr wrap="square">
            <a:spAutoFit/>
          </a:bodyPr>
          <a:lstStyle/>
          <a:p>
            <a:r>
              <a:rPr lang="es-MX" sz="1600" dirty="0">
                <a:latin typeface="Roboto" panose="02000000000000000000" pitchFamily="2" charset="0"/>
                <a:ea typeface="Roboto" panose="02000000000000000000" pitchFamily="2" charset="0"/>
              </a:rPr>
              <a:t>Si el archivo ya está ordenado por la clave primaria (</a:t>
            </a:r>
            <a:r>
              <a:rPr lang="es-MX" sz="1600" i="1" dirty="0">
                <a:latin typeface="Roboto" panose="02000000000000000000" pitchFamily="2" charset="0"/>
                <a:ea typeface="Roboto" panose="02000000000000000000" pitchFamily="2" charset="0"/>
              </a:rPr>
              <a:t>primary key</a:t>
            </a:r>
            <a:r>
              <a:rPr lang="es-MX" sz="1600" dirty="0">
                <a:latin typeface="Roboto" panose="02000000000000000000" pitchFamily="2" charset="0"/>
                <a:ea typeface="Roboto" panose="02000000000000000000" pitchFamily="2" charset="0"/>
              </a:rPr>
              <a:t>), entonces construir sobre él un índice primario denso puede ser redundante, porque agrega una entrada por cada registro y consume espacio adicional sin aportar tanta ventaja frente a otras alternativas, como un índice disperso.</a:t>
            </a:r>
            <a:endParaRPr lang="es-CO" sz="1600" dirty="0">
              <a:latin typeface="Roboto" panose="02000000000000000000" pitchFamily="2" charset="0"/>
              <a:ea typeface="Roboto" panose="02000000000000000000" pitchFamily="2" charset="0"/>
            </a:endParaRPr>
          </a:p>
        </p:txBody>
      </p:sp>
      <p:sp>
        <p:nvSpPr>
          <p:cNvPr id="13" name="CuadroTexto 12">
            <a:extLst>
              <a:ext uri="{FF2B5EF4-FFF2-40B4-BE49-F238E27FC236}">
                <a16:creationId xmlns:a16="http://schemas.microsoft.com/office/drawing/2014/main" id="{689CE16A-D40D-40A3-8B08-EBB987F9E859}"/>
              </a:ext>
            </a:extLst>
          </p:cNvPr>
          <p:cNvSpPr txBox="1"/>
          <p:nvPr/>
        </p:nvSpPr>
        <p:spPr>
          <a:xfrm>
            <a:off x="1172847" y="6236311"/>
            <a:ext cx="10404285" cy="369332"/>
          </a:xfrm>
          <a:prstGeom prst="rect">
            <a:avLst/>
          </a:prstGeom>
          <a:solidFill>
            <a:schemeClr val="tx2"/>
          </a:solidFill>
        </p:spPr>
        <p:txBody>
          <a:bodyPr wrap="square">
            <a:spAutoFit/>
          </a:bodyPr>
          <a:lstStyle/>
          <a:p>
            <a:r>
              <a:rPr lang="es-MX" sz="1800" i="1" dirty="0">
                <a:latin typeface="Roboto" panose="02000000000000000000" pitchFamily="2" charset="0"/>
                <a:ea typeface="Roboto" panose="02000000000000000000" pitchFamily="2" charset="0"/>
              </a:rPr>
              <a:t>Cuanto más registros tenga el archivo, más grande será el índice denso — una entrada por cada uno.</a:t>
            </a:r>
            <a:endParaRPr lang="es-CO" sz="1800" i="1" dirty="0">
              <a:latin typeface="Roboto" panose="02000000000000000000" pitchFamily="2" charset="0"/>
              <a:ea typeface="Roboto" panose="02000000000000000000" pitchFamily="2" charset="0"/>
            </a:endParaRPr>
          </a:p>
        </p:txBody>
      </p:sp>
      <p:sp>
        <p:nvSpPr>
          <p:cNvPr id="14" name="CuadroTexto 13">
            <a:extLst>
              <a:ext uri="{FF2B5EF4-FFF2-40B4-BE49-F238E27FC236}">
                <a16:creationId xmlns:a16="http://schemas.microsoft.com/office/drawing/2014/main" id="{57B7905D-3370-44AE-950E-7EAED839B10E}"/>
              </a:ext>
            </a:extLst>
          </p:cNvPr>
          <p:cNvSpPr txBox="1"/>
          <p:nvPr/>
        </p:nvSpPr>
        <p:spPr>
          <a:xfrm>
            <a:off x="4415218" y="5330835"/>
            <a:ext cx="2566283" cy="646331"/>
          </a:xfrm>
          <a:prstGeom prst="rect">
            <a:avLst/>
          </a:prstGeom>
          <a:noFill/>
        </p:spPr>
        <p:txBody>
          <a:bodyPr wrap="square">
            <a:spAutoFit/>
          </a:bodyPr>
          <a:lstStyle/>
          <a:p>
            <a:pPr algn="r"/>
            <a:r>
              <a:rPr lang="es-MX" sz="1200" dirty="0">
                <a:solidFill>
                  <a:schemeClr val="accent2"/>
                </a:solidFill>
                <a:latin typeface="Roboto" panose="02000000000000000000" pitchFamily="2" charset="0"/>
                <a:ea typeface="Roboto" panose="02000000000000000000" pitchFamily="2" charset="0"/>
              </a:rPr>
              <a:t>El archivo </a:t>
            </a:r>
            <a:r>
              <a:rPr lang="es-MX" sz="1200" b="1" dirty="0">
                <a:solidFill>
                  <a:schemeClr val="accent2"/>
                </a:solidFill>
                <a:latin typeface="Roboto" panose="02000000000000000000" pitchFamily="2" charset="0"/>
                <a:ea typeface="Roboto" panose="02000000000000000000" pitchFamily="2" charset="0"/>
              </a:rPr>
              <a:t>Instructor</a:t>
            </a:r>
            <a:r>
              <a:rPr lang="es-MX" sz="1200" dirty="0">
                <a:solidFill>
                  <a:schemeClr val="accent2"/>
                </a:solidFill>
                <a:latin typeface="Roboto" panose="02000000000000000000" pitchFamily="2" charset="0"/>
                <a:ea typeface="Roboto" panose="02000000000000000000" pitchFamily="2" charset="0"/>
              </a:rPr>
              <a:t> está ordenado por el ID del instructor</a:t>
            </a:r>
            <a:br>
              <a:rPr lang="es-MX" sz="1200" dirty="0">
                <a:solidFill>
                  <a:schemeClr val="accent2"/>
                </a:solidFill>
                <a:latin typeface="Roboto" panose="02000000000000000000" pitchFamily="2" charset="0"/>
                <a:ea typeface="Roboto" panose="02000000000000000000" pitchFamily="2" charset="0"/>
              </a:rPr>
            </a:br>
            <a:r>
              <a:rPr lang="es-MX" sz="1200" dirty="0">
                <a:solidFill>
                  <a:schemeClr val="accent2"/>
                </a:solidFill>
                <a:latin typeface="Roboto" panose="02000000000000000000" pitchFamily="2" charset="0"/>
                <a:ea typeface="Roboto" panose="02000000000000000000" pitchFamily="2" charset="0"/>
              </a:rPr>
              <a:t>(</a:t>
            </a:r>
            <a:r>
              <a:rPr lang="es-MX" sz="1200" i="1" dirty="0">
                <a:solidFill>
                  <a:schemeClr val="accent2"/>
                </a:solidFill>
                <a:latin typeface="Roboto" panose="02000000000000000000" pitchFamily="2" charset="0"/>
                <a:ea typeface="Roboto" panose="02000000000000000000" pitchFamily="2" charset="0"/>
              </a:rPr>
              <a:t>cada valor de clave de búsqueda</a:t>
            </a:r>
            <a:r>
              <a:rPr lang="es-MX" sz="1200" dirty="0">
                <a:solidFill>
                  <a:schemeClr val="accent2"/>
                </a:solidFill>
                <a:latin typeface="Roboto" panose="02000000000000000000" pitchFamily="2" charset="0"/>
                <a:ea typeface="Roboto" panose="02000000000000000000" pitchFamily="2" charset="0"/>
              </a:rPr>
              <a:t>).</a:t>
            </a:r>
            <a:endParaRPr lang="es-CO" sz="1200" dirty="0">
              <a:solidFill>
                <a:schemeClr val="accent2"/>
              </a:solidFill>
              <a:latin typeface="Roboto" panose="02000000000000000000" pitchFamily="2" charset="0"/>
              <a:ea typeface="Roboto" panose="02000000000000000000" pitchFamily="2" charset="0"/>
            </a:endParaRPr>
          </a:p>
        </p:txBody>
      </p:sp>
      <p:sp>
        <p:nvSpPr>
          <p:cNvPr id="15" name="CuadroTexto 14">
            <a:extLst>
              <a:ext uri="{FF2B5EF4-FFF2-40B4-BE49-F238E27FC236}">
                <a16:creationId xmlns:a16="http://schemas.microsoft.com/office/drawing/2014/main" id="{D4E050E0-276E-48C4-ACE9-8279D4262F95}"/>
              </a:ext>
            </a:extLst>
          </p:cNvPr>
          <p:cNvSpPr txBox="1"/>
          <p:nvPr/>
        </p:nvSpPr>
        <p:spPr>
          <a:xfrm>
            <a:off x="7437587" y="5517176"/>
            <a:ext cx="2731661" cy="276999"/>
          </a:xfrm>
          <a:prstGeom prst="rect">
            <a:avLst/>
          </a:prstGeom>
          <a:noFill/>
        </p:spPr>
        <p:txBody>
          <a:bodyPr wrap="square">
            <a:spAutoFit/>
          </a:bodyPr>
          <a:lstStyle/>
          <a:p>
            <a:r>
              <a:rPr lang="en-US" sz="1200" dirty="0">
                <a:solidFill>
                  <a:schemeClr val="accent6"/>
                </a:solidFill>
                <a:latin typeface="Roboto" panose="02000000000000000000" pitchFamily="2" charset="0"/>
                <a:ea typeface="Roboto" panose="02000000000000000000" pitchFamily="2" charset="0"/>
              </a:rPr>
              <a:t>Apunta al registro real en disco</a:t>
            </a:r>
            <a:endParaRPr lang="es-CO" sz="1200" dirty="0">
              <a:solidFill>
                <a:schemeClr val="accent6"/>
              </a:solidFill>
              <a:latin typeface="Roboto" panose="02000000000000000000" pitchFamily="2" charset="0"/>
              <a:ea typeface="Roboto" panose="02000000000000000000" pitchFamily="2" charset="0"/>
            </a:endParaRPr>
          </a:p>
        </p:txBody>
      </p:sp>
      <p:cxnSp>
        <p:nvCxnSpPr>
          <p:cNvPr id="6" name="Conector recto de flecha 5">
            <a:extLst>
              <a:ext uri="{FF2B5EF4-FFF2-40B4-BE49-F238E27FC236}">
                <a16:creationId xmlns:a16="http://schemas.microsoft.com/office/drawing/2014/main" id="{4226F11F-C3DE-49DD-AAFF-27212A7F1EDD}"/>
              </a:ext>
            </a:extLst>
          </p:cNvPr>
          <p:cNvCxnSpPr>
            <a:cxnSpLocks/>
          </p:cNvCxnSpPr>
          <p:nvPr/>
        </p:nvCxnSpPr>
        <p:spPr>
          <a:xfrm flipH="1" flipV="1">
            <a:off x="7144867" y="5288354"/>
            <a:ext cx="294732" cy="330905"/>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320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denso (Dense index)</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23610"/>
            <a:ext cx="10889776" cy="152846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b="1" dirty="0">
                <a:latin typeface="Roboto" panose="02000000000000000000" pitchFamily="2" charset="0"/>
                <a:ea typeface="Roboto" panose="02000000000000000000" pitchFamily="2" charset="0"/>
              </a:rPr>
              <a:t>Ejemplo 2</a:t>
            </a:r>
            <a:r>
              <a:rPr lang="es-MX" sz="1800" dirty="0">
                <a:latin typeface="Roboto" panose="02000000000000000000" pitchFamily="2" charset="0"/>
                <a:ea typeface="Roboto" panose="02000000000000000000" pitchFamily="2" charset="0"/>
              </a:rPr>
              <a:t>: La clave de búsqueda (</a:t>
            </a:r>
            <a:r>
              <a:rPr lang="es-MX" sz="1800" i="1" dirty="0">
                <a:latin typeface="Roboto" panose="02000000000000000000" pitchFamily="2" charset="0"/>
                <a:ea typeface="Roboto" panose="02000000000000000000" pitchFamily="2" charset="0"/>
              </a:rPr>
              <a:t>search key</a:t>
            </a:r>
            <a:r>
              <a:rPr lang="es-MX" sz="1800" dirty="0">
                <a:latin typeface="Roboto" panose="02000000000000000000" pitchFamily="2" charset="0"/>
                <a:ea typeface="Roboto" panose="02000000000000000000" pitchFamily="2" charset="0"/>
              </a:rPr>
              <a:t>) no es una clave primaria.</a:t>
            </a:r>
          </a:p>
          <a:p>
            <a:pPr marL="800100" lvl="1" indent="-342900"/>
            <a:r>
              <a:rPr lang="es-MX" sz="1800" dirty="0"/>
              <a:t>Cuando la </a:t>
            </a:r>
            <a:r>
              <a:rPr lang="es-MX" sz="1800" b="1" dirty="0"/>
              <a:t>clave de búsqueda (search key)</a:t>
            </a:r>
            <a:r>
              <a:rPr lang="es-MX" sz="1800" dirty="0"/>
              <a:t> no es única, pueden existir </a:t>
            </a:r>
            <a:r>
              <a:rPr lang="es-MX" sz="1800" b="1" dirty="0"/>
              <a:t>múltiples registros</a:t>
            </a:r>
            <a:r>
              <a:rPr lang="es-MX" sz="1800" dirty="0"/>
              <a:t> con el mismo valor.</a:t>
            </a:r>
          </a:p>
          <a:p>
            <a:pPr marL="800100" lvl="1" indent="-342900"/>
            <a:r>
              <a:rPr lang="es-MX" sz="1800" dirty="0"/>
              <a:t>En este caso, el índice mantiene una entrada por cada valor, pero el acceso a los registros ocurre de forma secuencial.</a:t>
            </a:r>
          </a:p>
          <a:p>
            <a:pPr marL="342900" indent="-342900"/>
            <a:endParaRPr lang="es-MX" sz="1800" dirty="0">
              <a:latin typeface="Roboto" panose="02000000000000000000" pitchFamily="2" charset="0"/>
              <a:ea typeface="Roboto" panose="02000000000000000000" pitchFamily="2" charset="0"/>
            </a:endParaRPr>
          </a:p>
        </p:txBody>
      </p:sp>
      <p:pic>
        <p:nvPicPr>
          <p:cNvPr id="9" name="Picture 7">
            <a:extLst>
              <a:ext uri="{FF2B5EF4-FFF2-40B4-BE49-F238E27FC236}">
                <a16:creationId xmlns:a16="http://schemas.microsoft.com/office/drawing/2014/main" id="{D0176FB1-DDE3-4711-9234-0B391219C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5174" y="3146170"/>
            <a:ext cx="6541252" cy="271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uadroTexto 9">
            <a:extLst>
              <a:ext uri="{FF2B5EF4-FFF2-40B4-BE49-F238E27FC236}">
                <a16:creationId xmlns:a16="http://schemas.microsoft.com/office/drawing/2014/main" id="{7E495AE1-6E77-4322-BC9F-79DEF85E09EB}"/>
              </a:ext>
            </a:extLst>
          </p:cNvPr>
          <p:cNvSpPr txBox="1"/>
          <p:nvPr/>
        </p:nvSpPr>
        <p:spPr>
          <a:xfrm>
            <a:off x="1303341" y="4350858"/>
            <a:ext cx="3073633" cy="738664"/>
          </a:xfrm>
          <a:prstGeom prst="rect">
            <a:avLst/>
          </a:prstGeom>
          <a:noFill/>
          <a:ln>
            <a:solidFill>
              <a:schemeClr val="tx1"/>
            </a:solidFill>
          </a:ln>
        </p:spPr>
        <p:txBody>
          <a:bodyPr wrap="square">
            <a:spAutoFit/>
          </a:bodyPr>
          <a:lstStyle/>
          <a:p>
            <a:r>
              <a:rPr lang="es-CO" dirty="0">
                <a:solidFill>
                  <a:srgbClr val="8100C2"/>
                </a:solidFill>
                <a:latin typeface="Consolas" panose="020B0609020204030204" pitchFamily="49" charset="0"/>
              </a:rPr>
              <a:t>SELECT</a:t>
            </a:r>
            <a:r>
              <a:rPr lang="es-CO" dirty="0">
                <a:solidFill>
                  <a:schemeClr val="tx1"/>
                </a:solidFill>
                <a:latin typeface="Consolas" panose="020B0609020204030204" pitchFamily="49" charset="0"/>
              </a:rPr>
              <a:t> *</a:t>
            </a:r>
          </a:p>
          <a:p>
            <a:r>
              <a:rPr lang="es-CO" dirty="0">
                <a:solidFill>
                  <a:srgbClr val="8100C2"/>
                </a:solidFill>
                <a:latin typeface="Consolas" panose="020B0609020204030204" pitchFamily="49" charset="0"/>
              </a:rPr>
              <a:t>FROM</a:t>
            </a:r>
            <a:r>
              <a:rPr lang="es-CO" dirty="0">
                <a:solidFill>
                  <a:schemeClr val="tx1"/>
                </a:solidFill>
                <a:latin typeface="Consolas" panose="020B0609020204030204" pitchFamily="49" charset="0"/>
              </a:rPr>
              <a:t> instructor</a:t>
            </a:r>
          </a:p>
          <a:p>
            <a:r>
              <a:rPr lang="es-CO" dirty="0">
                <a:solidFill>
                  <a:srgbClr val="8100C2"/>
                </a:solidFill>
                <a:latin typeface="Consolas" panose="020B0609020204030204" pitchFamily="49" charset="0"/>
              </a:rPr>
              <a:t>WHERE</a:t>
            </a:r>
            <a:r>
              <a:rPr lang="es-CO" dirty="0">
                <a:solidFill>
                  <a:schemeClr val="tx1"/>
                </a:solidFill>
                <a:latin typeface="Consolas" panose="020B0609020204030204" pitchFamily="49" charset="0"/>
              </a:rPr>
              <a:t> dept_name = </a:t>
            </a:r>
            <a:r>
              <a:rPr lang="es-CO" dirty="0">
                <a:solidFill>
                  <a:srgbClr val="008080"/>
                </a:solidFill>
                <a:latin typeface="Consolas" panose="020B0609020204030204" pitchFamily="49" charset="0"/>
              </a:rPr>
              <a:t>'</a:t>
            </a:r>
            <a:r>
              <a:rPr lang="es-CO" dirty="0" err="1">
                <a:solidFill>
                  <a:srgbClr val="008080"/>
                </a:solidFill>
                <a:latin typeface="Consolas" panose="020B0609020204030204" pitchFamily="49" charset="0"/>
              </a:rPr>
              <a:t>History</a:t>
            </a:r>
            <a:r>
              <a:rPr lang="es-CO" dirty="0">
                <a:solidFill>
                  <a:srgbClr val="008080"/>
                </a:solidFill>
                <a:latin typeface="Consolas" panose="020B0609020204030204" pitchFamily="49" charset="0"/>
              </a:rPr>
              <a:t>'</a:t>
            </a:r>
            <a:r>
              <a:rPr lang="es-CO" dirty="0">
                <a:solidFill>
                  <a:schemeClr val="tx1"/>
                </a:solidFill>
                <a:latin typeface="Consolas" panose="020B0609020204030204" pitchFamily="49" charset="0"/>
              </a:rPr>
              <a:t>;</a:t>
            </a:r>
          </a:p>
        </p:txBody>
      </p:sp>
      <p:sp>
        <p:nvSpPr>
          <p:cNvPr id="12" name="CuadroTexto 11">
            <a:extLst>
              <a:ext uri="{FF2B5EF4-FFF2-40B4-BE49-F238E27FC236}">
                <a16:creationId xmlns:a16="http://schemas.microsoft.com/office/drawing/2014/main" id="{12AE18B4-C092-4FC0-AECA-62380F379497}"/>
              </a:ext>
            </a:extLst>
          </p:cNvPr>
          <p:cNvSpPr txBox="1"/>
          <p:nvPr/>
        </p:nvSpPr>
        <p:spPr>
          <a:xfrm>
            <a:off x="4376974" y="4662291"/>
            <a:ext cx="1984564" cy="646331"/>
          </a:xfrm>
          <a:prstGeom prst="rect">
            <a:avLst/>
          </a:prstGeom>
          <a:noFill/>
        </p:spPr>
        <p:txBody>
          <a:bodyPr wrap="square">
            <a:spAutoFit/>
          </a:bodyPr>
          <a:lstStyle/>
          <a:p>
            <a:pPr algn="r"/>
            <a:r>
              <a:rPr lang="es-MX" sz="1200" dirty="0">
                <a:solidFill>
                  <a:schemeClr val="accent2"/>
                </a:solidFill>
                <a:latin typeface="Roboto" panose="02000000000000000000" pitchFamily="2" charset="0"/>
                <a:ea typeface="Roboto" panose="02000000000000000000" pitchFamily="2" charset="0"/>
              </a:rPr>
              <a:t>El archivo </a:t>
            </a:r>
            <a:r>
              <a:rPr lang="es-MX" sz="1200" b="1" dirty="0">
                <a:solidFill>
                  <a:schemeClr val="accent2"/>
                </a:solidFill>
                <a:latin typeface="Roboto" panose="02000000000000000000" pitchFamily="2" charset="0"/>
                <a:ea typeface="Roboto" panose="02000000000000000000" pitchFamily="2" charset="0"/>
              </a:rPr>
              <a:t>Instructor</a:t>
            </a:r>
            <a:r>
              <a:rPr lang="es-MX" sz="1200" dirty="0">
                <a:solidFill>
                  <a:schemeClr val="accent2"/>
                </a:solidFill>
                <a:latin typeface="Roboto" panose="02000000000000000000" pitchFamily="2" charset="0"/>
                <a:ea typeface="Roboto" panose="02000000000000000000" pitchFamily="2" charset="0"/>
              </a:rPr>
              <a:t> está ordenado por la clave de búsqueda </a:t>
            </a:r>
            <a:r>
              <a:rPr lang="es-MX" sz="1200" i="1" dirty="0">
                <a:solidFill>
                  <a:schemeClr val="accent2"/>
                </a:solidFill>
                <a:latin typeface="Roboto" panose="02000000000000000000" pitchFamily="2" charset="0"/>
                <a:ea typeface="Roboto" panose="02000000000000000000" pitchFamily="2" charset="0"/>
              </a:rPr>
              <a:t>dept_name</a:t>
            </a:r>
            <a:r>
              <a:rPr lang="es-MX" sz="1200" dirty="0">
                <a:solidFill>
                  <a:schemeClr val="accent2"/>
                </a:solidFill>
                <a:latin typeface="Roboto" panose="02000000000000000000" pitchFamily="2" charset="0"/>
                <a:ea typeface="Roboto" panose="02000000000000000000" pitchFamily="2" charset="0"/>
              </a:rPr>
              <a:t>.</a:t>
            </a:r>
            <a:endParaRPr lang="es-CO" sz="1200" dirty="0">
              <a:solidFill>
                <a:schemeClr val="accent2"/>
              </a:solidFill>
              <a:latin typeface="Roboto" panose="02000000000000000000" pitchFamily="2" charset="0"/>
              <a:ea typeface="Roboto" panose="02000000000000000000" pitchFamily="2" charset="0"/>
            </a:endParaRPr>
          </a:p>
        </p:txBody>
      </p:sp>
      <p:sp>
        <p:nvSpPr>
          <p:cNvPr id="13" name="CuadroTexto 12">
            <a:extLst>
              <a:ext uri="{FF2B5EF4-FFF2-40B4-BE49-F238E27FC236}">
                <a16:creationId xmlns:a16="http://schemas.microsoft.com/office/drawing/2014/main" id="{190F0D14-3A94-42F3-9928-81BFAC369C97}"/>
              </a:ext>
            </a:extLst>
          </p:cNvPr>
          <p:cNvSpPr txBox="1"/>
          <p:nvPr/>
        </p:nvSpPr>
        <p:spPr>
          <a:xfrm>
            <a:off x="1538748" y="5571238"/>
            <a:ext cx="4557252" cy="830997"/>
          </a:xfrm>
          <a:prstGeom prst="rect">
            <a:avLst/>
          </a:prstGeom>
          <a:noFill/>
        </p:spPr>
        <p:txBody>
          <a:bodyPr wrap="square">
            <a:spAutoFit/>
          </a:bodyPr>
          <a:lstStyle/>
          <a:p>
            <a:r>
              <a:rPr lang="es-MX" sz="1200" dirty="0">
                <a:solidFill>
                  <a:schemeClr val="accent6"/>
                </a:solidFill>
                <a:latin typeface="Roboto" panose="02000000000000000000" pitchFamily="2" charset="0"/>
                <a:ea typeface="Roboto" panose="02000000000000000000" pitchFamily="2" charset="0"/>
              </a:rPr>
              <a:t>En la búsqueda se sigue el puntero directamente hasta el primer registro y luego se continua siguiendo el puntero en ese registro para ubicar el siguiente registro en orden de la clave de búsqueda, hasta encontrar el registro deseado</a:t>
            </a:r>
            <a:endParaRPr lang="es-CO" sz="1200" dirty="0">
              <a:solidFill>
                <a:schemeClr val="accent6"/>
              </a:solidFill>
              <a:latin typeface="Roboto" panose="02000000000000000000" pitchFamily="2" charset="0"/>
              <a:ea typeface="Roboto" panose="02000000000000000000" pitchFamily="2" charset="0"/>
            </a:endParaRPr>
          </a:p>
        </p:txBody>
      </p:sp>
      <p:cxnSp>
        <p:nvCxnSpPr>
          <p:cNvPr id="14" name="Conector recto de flecha 13">
            <a:extLst>
              <a:ext uri="{FF2B5EF4-FFF2-40B4-BE49-F238E27FC236}">
                <a16:creationId xmlns:a16="http://schemas.microsoft.com/office/drawing/2014/main" id="{6D1D5626-A03F-4EF7-94F6-5FD4D91119BD}"/>
              </a:ext>
            </a:extLst>
          </p:cNvPr>
          <p:cNvCxnSpPr>
            <a:cxnSpLocks/>
          </p:cNvCxnSpPr>
          <p:nvPr/>
        </p:nvCxnSpPr>
        <p:spPr>
          <a:xfrm flipV="1">
            <a:off x="6180071" y="5286958"/>
            <a:ext cx="657771" cy="685826"/>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9995B5AA-D6C5-447F-84F9-D5654A75161A}"/>
              </a:ext>
            </a:extLst>
          </p:cNvPr>
          <p:cNvSpPr txBox="1"/>
          <p:nvPr/>
        </p:nvSpPr>
        <p:spPr>
          <a:xfrm>
            <a:off x="1303341" y="2787645"/>
            <a:ext cx="3021170" cy="1323439"/>
          </a:xfrm>
          <a:prstGeom prst="rect">
            <a:avLst/>
          </a:prstGeom>
          <a:solidFill>
            <a:schemeClr val="accent2">
              <a:lumMod val="20000"/>
              <a:lumOff val="80000"/>
            </a:schemeClr>
          </a:solidFill>
        </p:spPr>
        <p:txBody>
          <a:bodyPr wrap="square">
            <a:spAutoFit/>
          </a:bodyPr>
          <a:lstStyle>
            <a:defPPr marR="0" lvl="0" algn="l" rtl="0">
              <a:lnSpc>
                <a:spcPct val="100000"/>
              </a:lnSpc>
              <a:spcBef>
                <a:spcPts val="0"/>
              </a:spcBef>
              <a:spcAft>
                <a:spcPts val="0"/>
              </a:spcAft>
            </a:defPPr>
            <a:lvl1pPr>
              <a:defRPr sz="1600">
                <a:latin typeface="Roboto" panose="02000000000000000000" pitchFamily="2" charset="0"/>
                <a:ea typeface="Roboto" panose="02000000000000000000" pitchFamily="2" charset="0"/>
              </a:defRPr>
            </a:lvl1pPr>
          </a:lstStyle>
          <a:p>
            <a:r>
              <a:rPr lang="es-MX" dirty="0"/>
              <a:t>Cuando la clave no es única, el índice no devuelve un solo registro, sino un punto de entrada a una secuencia de registros relacionados.</a:t>
            </a:r>
            <a:endParaRPr lang="es-CO" dirty="0"/>
          </a:p>
        </p:txBody>
      </p:sp>
    </p:spTree>
    <p:extLst>
      <p:ext uri="{BB962C8B-B14F-4D97-AF65-F5344CB8AC3E}">
        <p14:creationId xmlns:p14="http://schemas.microsoft.com/office/powerpoint/2010/main" val="2406460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r>
              <a:rPr lang="es-CO" b="1" dirty="0"/>
              <a:t>Índice denso: Búsqueda (Lookup)</a:t>
            </a:r>
          </a:p>
        </p:txBody>
      </p:sp>
      <mc:AlternateContent xmlns:mc="http://schemas.openxmlformats.org/markup-compatibility/2006" xmlns:a14="http://schemas.microsoft.com/office/drawing/2010/main">
        <mc:Choice Requires="a14">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23610"/>
                <a:ext cx="10889776" cy="35874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dirty="0"/>
                  <a:t>Dada una clave de búsqueda (search key) </a:t>
                </a:r>
                <a:r>
                  <a:rPr lang="es-MX" sz="1800" b="1" dirty="0">
                    <a:solidFill>
                      <a:schemeClr val="accent5"/>
                    </a:solidFill>
                    <a:latin typeface="Consolas" panose="020B0609020204030204" pitchFamily="49" charset="0"/>
                  </a:rPr>
                  <a:t>&lt;K&gt;</a:t>
                </a:r>
                <a:r>
                  <a:rPr lang="es-MX" sz="1800" dirty="0"/>
                  <a:t>, el índice es recorrido.</a:t>
                </a:r>
              </a:p>
              <a:p>
                <a:pPr marL="800100" lvl="1" indent="-342900"/>
                <a:r>
                  <a:rPr lang="es-MX" sz="1600" dirty="0"/>
                  <a:t>Cuando se encuentra </a:t>
                </a:r>
                <a:r>
                  <a:rPr lang="es-MX" sz="1600" b="1" dirty="0">
                    <a:solidFill>
                      <a:schemeClr val="accent5"/>
                    </a:solidFill>
                    <a:latin typeface="Consolas" panose="020B0609020204030204" pitchFamily="49" charset="0"/>
                  </a:rPr>
                  <a:t>&lt;K&gt;</a:t>
                </a:r>
                <a:r>
                  <a:rPr lang="es-MX" sz="1600" dirty="0"/>
                  <a:t>, se sigue el puntero (pointer) asociado y se lee el bloque correspondiente mediante: </a:t>
                </a:r>
                <a:r>
                  <a:rPr lang="es-MX" sz="1600" b="1" dirty="0">
                    <a:solidFill>
                      <a:schemeClr val="accent2"/>
                    </a:solidFill>
                    <a:latin typeface="Consolas" panose="020B0609020204030204" pitchFamily="49" charset="0"/>
                  </a:rPr>
                  <a:t>ReadBlock(Block #)</a:t>
                </a:r>
              </a:p>
              <a:p>
                <a:pPr marL="342900" indent="-342900"/>
                <a:r>
                  <a:rPr lang="es-MX" sz="1800" dirty="0"/>
                  <a:t>Cuando el índice se construye sobre una clave no primaria (non-primary key):</a:t>
                </a:r>
              </a:p>
              <a:p>
                <a:pPr marL="800100" lvl="1" indent="-342900"/>
                <a:r>
                  <a:rPr lang="es-MX" sz="1600" dirty="0"/>
                  <a:t>Se localiza el primer valor (mínimo).</a:t>
                </a:r>
              </a:p>
              <a:p>
                <a:pPr marL="800100" lvl="1" indent="-342900"/>
                <a:r>
                  <a:rPr lang="es-MX" sz="1600" dirty="0"/>
                  <a:t>Luego se leen bloques consecutivos en memoria hasta agotar los registros que coinciden.</a:t>
                </a:r>
              </a:p>
              <a:p>
                <a:pPr marL="342900" indent="-342900"/>
                <a:r>
                  <a:rPr lang="es-MX" sz="1800" dirty="0">
                    <a:latin typeface="Roboto" panose="02000000000000000000" pitchFamily="2" charset="0"/>
                    <a:ea typeface="Roboto" panose="02000000000000000000" pitchFamily="2" charset="0"/>
                  </a:rPr>
                  <a:t>El índice se mantiene usualmente en </a:t>
                </a:r>
                <a:r>
                  <a:rPr lang="es-MX" sz="1800" b="1" dirty="0">
                    <a:latin typeface="Roboto" panose="02000000000000000000" pitchFamily="2" charset="0"/>
                    <a:ea typeface="Roboto" panose="02000000000000000000" pitchFamily="2" charset="0"/>
                  </a:rPr>
                  <a:t>memoria principal (main memory)</a:t>
                </a:r>
                <a:r>
                  <a:rPr lang="es-MX" sz="1800" dirty="0">
                    <a:latin typeface="Roboto" panose="02000000000000000000" pitchFamily="2" charset="0"/>
                    <a:ea typeface="Roboto" panose="02000000000000000000" pitchFamily="2" charset="0"/>
                  </a:rPr>
                  <a:t>. Por lo tanto, la búsqueda requiere típicamente </a:t>
                </a:r>
                <a:r>
                  <a:rPr lang="es-MX" sz="1800" b="1" dirty="0">
                    <a:latin typeface="Roboto" panose="02000000000000000000" pitchFamily="2" charset="0"/>
                    <a:ea typeface="Roboto" panose="02000000000000000000" pitchFamily="2" charset="0"/>
                  </a:rPr>
                  <a:t>una sola operación de E/S de disco (disk I/O)</a:t>
                </a:r>
                <a:r>
                  <a:rPr lang="es-MX" sz="1800" dirty="0">
                    <a:latin typeface="Roboto" panose="02000000000000000000" pitchFamily="2" charset="0"/>
                    <a:ea typeface="Roboto" panose="02000000000000000000" pitchFamily="2" charset="0"/>
                  </a:rPr>
                  <a:t>.</a:t>
                </a:r>
              </a:p>
              <a:p>
                <a:pPr marL="342900" indent="-342900"/>
                <a:r>
                  <a:rPr lang="es-MX" sz="1800" dirty="0"/>
                  <a:t>La resolución de consultas mediante índices densos es </a:t>
                </a:r>
                <a:r>
                  <a:rPr lang="es-MX" sz="1800" b="1" dirty="0"/>
                  <a:t>eficiente</a:t>
                </a:r>
                <a:r>
                  <a:rPr lang="es-MX" sz="1800" dirty="0"/>
                  <a:t>.</a:t>
                </a:r>
              </a:p>
              <a:p>
                <a:pPr marL="800100" lvl="1" indent="-342900"/>
                <a:r>
                  <a:rPr lang="es-MX" sz="1600" dirty="0"/>
                  <a:t>El índice está ordenado (</a:t>
                </a:r>
                <a:r>
                  <a:rPr lang="es-MX" sz="1600" i="1" dirty="0"/>
                  <a:t>sorted</a:t>
                </a:r>
                <a:r>
                  <a:rPr lang="es-MX" sz="1600" dirty="0"/>
                  <a:t>), se puede utilizar </a:t>
                </a:r>
                <a:r>
                  <a:rPr lang="es-MX" sz="1600" b="1" dirty="0"/>
                  <a:t>búsqueda binaria</a:t>
                </a:r>
                <a:r>
                  <a:rPr lang="es-MX" sz="1600" dirty="0"/>
                  <a:t>:</a:t>
                </a:r>
              </a:p>
              <a:p>
                <a:pPr marL="1257300" lvl="2"/>
                <a:r>
                  <a:rPr lang="es-MX" sz="1400" dirty="0"/>
                  <a:t>Si existen </a:t>
                </a:r>
                <a14:m>
                  <m:oMath xmlns:m="http://schemas.openxmlformats.org/officeDocument/2006/math">
                    <m:r>
                      <a:rPr lang="es-MX" sz="1400" i="1" dirty="0">
                        <a:latin typeface="Cambria Math" panose="02040503050406030204" pitchFamily="18" charset="0"/>
                      </a:rPr>
                      <m:t>𝑛</m:t>
                    </m:r>
                  </m:oMath>
                </a14:m>
                <a:r>
                  <a:rPr lang="es-MX" sz="1400" dirty="0"/>
                  <a:t> claves de búsqueda, se requieren a lo sumo </a:t>
                </a:r>
                <a14:m>
                  <m:oMath xmlns:m="http://schemas.openxmlformats.org/officeDocument/2006/math">
                    <m:func>
                      <m:funcPr>
                        <m:ctrlPr>
                          <a:rPr lang="es-MX" sz="1400" b="0" i="1" dirty="0" smtClean="0">
                            <a:latin typeface="Cambria Math" panose="02040503050406030204" pitchFamily="18" charset="0"/>
                          </a:rPr>
                        </m:ctrlPr>
                      </m:funcPr>
                      <m:fName>
                        <m:sSub>
                          <m:sSubPr>
                            <m:ctrlPr>
                              <a:rPr lang="es-MX" sz="1400" b="0" i="1" dirty="0" smtClean="0">
                                <a:latin typeface="Cambria Math" panose="02040503050406030204" pitchFamily="18" charset="0"/>
                              </a:rPr>
                            </m:ctrlPr>
                          </m:sSubPr>
                          <m:e>
                            <m:r>
                              <m:rPr>
                                <m:sty m:val="p"/>
                              </m:rPr>
                              <a:rPr lang="es-MX" sz="1400" b="0" i="0" dirty="0" smtClean="0">
                                <a:latin typeface="Cambria Math" panose="02040503050406030204" pitchFamily="18" charset="0"/>
                              </a:rPr>
                              <m:t>log</m:t>
                            </m:r>
                          </m:e>
                          <m:sub>
                            <m:r>
                              <a:rPr lang="es-MX" sz="1400" b="0" i="1" dirty="0" smtClean="0">
                                <a:latin typeface="Cambria Math" panose="02040503050406030204" pitchFamily="18" charset="0"/>
                              </a:rPr>
                              <m:t>2</m:t>
                            </m:r>
                          </m:sub>
                        </m:sSub>
                      </m:fName>
                      <m:e>
                        <m:r>
                          <a:rPr lang="es-MX" sz="1400" b="0" i="1" dirty="0" smtClean="0">
                            <a:latin typeface="Cambria Math" panose="02040503050406030204" pitchFamily="18" charset="0"/>
                          </a:rPr>
                          <m:t>𝑛</m:t>
                        </m:r>
                      </m:e>
                    </m:func>
                  </m:oMath>
                </a14:m>
                <a:r>
                  <a:rPr lang="es-MX" sz="1400" dirty="0"/>
                  <a:t> pasos para localizar una clave dada.</a:t>
                </a:r>
              </a:p>
              <a:p>
                <a:pPr marL="342900" indent="-342900"/>
                <a:endParaRPr lang="es-MX" sz="1800" dirty="0">
                  <a:latin typeface="Roboto" panose="02000000000000000000" pitchFamily="2" charset="0"/>
                  <a:ea typeface="Roboto" panose="02000000000000000000" pitchFamily="2" charset="0"/>
                </a:endParaRPr>
              </a:p>
              <a:p>
                <a:pPr marL="342900" indent="-342900"/>
                <a:endParaRPr lang="es-MX" sz="2800" dirty="0">
                  <a:latin typeface="Roboto" panose="02000000000000000000" pitchFamily="2" charset="0"/>
                  <a:ea typeface="Roboto" panose="02000000000000000000" pitchFamily="2" charset="0"/>
                </a:endParaRPr>
              </a:p>
            </p:txBody>
          </p:sp>
        </mc:Choice>
        <mc:Fallback xmlns="">
          <p:sp>
            <p:nvSpPr>
              <p:cNvPr id="24" name="Google Shape;310;p34">
                <a:extLst>
                  <a:ext uri="{FF2B5EF4-FFF2-40B4-BE49-F238E27FC236}">
                    <a16:creationId xmlns:a16="http://schemas.microsoft.com/office/drawing/2014/main" id="{5F31170D-46D9-49FC-BFBE-D4C804AA915A}"/>
                  </a:ext>
                </a:extLst>
              </p:cNvPr>
              <p:cNvSpPr txBox="1">
                <a:spLocks noRot="1" noChangeAspect="1" noMove="1" noResize="1" noEditPoints="1" noAdjustHandles="1" noChangeArrowheads="1" noChangeShapeType="1" noTextEdit="1"/>
              </p:cNvSpPr>
              <p:nvPr/>
            </p:nvSpPr>
            <p:spPr>
              <a:xfrm>
                <a:off x="916650" y="823610"/>
                <a:ext cx="10889776" cy="3587401"/>
              </a:xfrm>
              <a:prstGeom prst="rect">
                <a:avLst/>
              </a:prstGeom>
              <a:blipFill>
                <a:blip r:embed="rId3"/>
                <a:stretch>
                  <a:fillRect l="-168" r="-560"/>
                </a:stretch>
              </a:blipFill>
              <a:ln>
                <a:noFill/>
              </a:ln>
            </p:spPr>
            <p:txBody>
              <a:bodyPr/>
              <a:lstStyle/>
              <a:p>
                <a:r>
                  <a:rPr lang="es-CO">
                    <a:noFill/>
                  </a:rPr>
                  <a:t> </a:t>
                </a:r>
              </a:p>
            </p:txBody>
          </p:sp>
        </mc:Fallback>
      </mc:AlternateContent>
      <p:pic>
        <p:nvPicPr>
          <p:cNvPr id="25" name="Imagen 24">
            <a:extLst>
              <a:ext uri="{FF2B5EF4-FFF2-40B4-BE49-F238E27FC236}">
                <a16:creationId xmlns:a16="http://schemas.microsoft.com/office/drawing/2014/main" id="{3631402A-8A40-4324-BFCF-2D12CA989728}"/>
              </a:ext>
            </a:extLst>
          </p:cNvPr>
          <p:cNvPicPr>
            <a:picLocks noChangeAspect="1"/>
          </p:cNvPicPr>
          <p:nvPr/>
        </p:nvPicPr>
        <p:blipFill>
          <a:blip r:embed="rId4"/>
          <a:stretch>
            <a:fillRect/>
          </a:stretch>
        </p:blipFill>
        <p:spPr>
          <a:xfrm>
            <a:off x="3415708" y="4411011"/>
            <a:ext cx="5360583" cy="2137277"/>
          </a:xfrm>
          <a:prstGeom prst="rect">
            <a:avLst/>
          </a:prstGeom>
        </p:spPr>
      </p:pic>
    </p:spTree>
    <p:extLst>
      <p:ext uri="{BB962C8B-B14F-4D97-AF65-F5344CB8AC3E}">
        <p14:creationId xmlns:p14="http://schemas.microsoft.com/office/powerpoint/2010/main" val="3329906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disperso (</a:t>
            </a:r>
            <a:r>
              <a:rPr lang="es-CO" dirty="0"/>
              <a:t>Sparse index</a:t>
            </a:r>
            <a:r>
              <a:rPr lang="es-MX" dirty="0"/>
              <a:t>)</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07476"/>
            <a:ext cx="10941053" cy="17582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dirty="0">
                <a:latin typeface="Roboto" panose="02000000000000000000" pitchFamily="2" charset="0"/>
                <a:ea typeface="Roboto" panose="02000000000000000000" pitchFamily="2" charset="0"/>
              </a:rPr>
              <a:t>En un índice disperso el índice </a:t>
            </a:r>
            <a:r>
              <a:rPr lang="es-MX" sz="1800" b="1" dirty="0">
                <a:latin typeface="Roboto" panose="02000000000000000000" pitchFamily="2" charset="0"/>
                <a:ea typeface="Roboto" panose="02000000000000000000" pitchFamily="2" charset="0"/>
              </a:rPr>
              <a:t>contiene entradas solo para algunos valores</a:t>
            </a:r>
            <a:r>
              <a:rPr lang="es-MX" sz="1800" dirty="0">
                <a:latin typeface="Roboto" panose="02000000000000000000" pitchFamily="2" charset="0"/>
                <a:ea typeface="Roboto" panose="02000000000000000000" pitchFamily="2" charset="0"/>
              </a:rPr>
              <a:t> de la clave de búsqueda, no para todos los registros.</a:t>
            </a:r>
          </a:p>
          <a:p>
            <a:pPr marL="342900" indent="-342900"/>
            <a:r>
              <a:rPr lang="es-MX" sz="1800" dirty="0">
                <a:latin typeface="Roboto" panose="02000000000000000000" pitchFamily="2" charset="0"/>
                <a:ea typeface="Roboto" panose="02000000000000000000" pitchFamily="2" charset="0"/>
              </a:rPr>
              <a:t>Solo es aplicable cuando los registros están </a:t>
            </a:r>
            <a:r>
              <a:rPr lang="es-MX" sz="1800" b="1" dirty="0">
                <a:latin typeface="Roboto" panose="02000000000000000000" pitchFamily="2" charset="0"/>
                <a:ea typeface="Roboto" panose="02000000000000000000" pitchFamily="2" charset="0"/>
              </a:rPr>
              <a:t>ordenados secuencialmente</a:t>
            </a:r>
            <a:r>
              <a:rPr lang="es-MX" sz="1800" dirty="0">
                <a:latin typeface="Roboto" panose="02000000000000000000" pitchFamily="2" charset="0"/>
                <a:ea typeface="Roboto" panose="02000000000000000000" pitchFamily="2" charset="0"/>
              </a:rPr>
              <a:t> por la clave de búsqueda.</a:t>
            </a:r>
          </a:p>
          <a:p>
            <a:pPr marL="342900" indent="-342900"/>
            <a:r>
              <a:rPr lang="es-MX" sz="1800" dirty="0">
                <a:latin typeface="Roboto" panose="02000000000000000000" pitchFamily="2" charset="0"/>
                <a:ea typeface="Roboto" panose="02000000000000000000" pitchFamily="2" charset="0"/>
              </a:rPr>
              <a:t>Ocupa menos espacio y tiene menor costo de mantenimiento que el índice denso, pero es más lento en la localización de registros individuales.</a:t>
            </a:r>
            <a:endParaRPr lang="es-MX" sz="1600" dirty="0"/>
          </a:p>
        </p:txBody>
      </p:sp>
      <p:pic>
        <p:nvPicPr>
          <p:cNvPr id="6" name="Picture 7">
            <a:extLst>
              <a:ext uri="{FF2B5EF4-FFF2-40B4-BE49-F238E27FC236}">
                <a16:creationId xmlns:a16="http://schemas.microsoft.com/office/drawing/2014/main" id="{BD9F8966-E66A-4E70-8D87-99D5DD16B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138" y="3017548"/>
            <a:ext cx="5796676" cy="266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290FBEC5-AF49-48D9-AF3A-113222E6B4A4}"/>
              </a:ext>
            </a:extLst>
          </p:cNvPr>
          <p:cNvSpPr txBox="1"/>
          <p:nvPr/>
        </p:nvSpPr>
        <p:spPr>
          <a:xfrm>
            <a:off x="1297138" y="6136804"/>
            <a:ext cx="10295093" cy="369332"/>
          </a:xfrm>
          <a:prstGeom prst="rect">
            <a:avLst/>
          </a:prstGeom>
          <a:solidFill>
            <a:schemeClr val="tx2"/>
          </a:solidFill>
        </p:spPr>
        <p:txBody>
          <a:bodyPr wrap="square">
            <a:spAutoFit/>
          </a:bodyPr>
          <a:lstStyle/>
          <a:p>
            <a:r>
              <a:rPr lang="es-MX" sz="1800" dirty="0">
                <a:latin typeface="Roboto" panose="02000000000000000000" pitchFamily="2" charset="0"/>
                <a:ea typeface="Roboto" panose="02000000000000000000" pitchFamily="2" charset="0"/>
              </a:rPr>
              <a:t>El índice apunta al inicio de un bloque, por lo que es necesario buscar dentro del bloque</a:t>
            </a:r>
            <a:endParaRPr lang="es-CO" sz="1800" dirty="0">
              <a:latin typeface="Roboto" panose="02000000000000000000" pitchFamily="2" charset="0"/>
              <a:ea typeface="Roboto" panose="02000000000000000000" pitchFamily="2" charset="0"/>
            </a:endParaRPr>
          </a:p>
        </p:txBody>
      </p:sp>
      <p:sp>
        <p:nvSpPr>
          <p:cNvPr id="9" name="CuadroTexto 8">
            <a:extLst>
              <a:ext uri="{FF2B5EF4-FFF2-40B4-BE49-F238E27FC236}">
                <a16:creationId xmlns:a16="http://schemas.microsoft.com/office/drawing/2014/main" id="{539FA3A8-C367-4AA4-B122-A087FB909DBC}"/>
              </a:ext>
            </a:extLst>
          </p:cNvPr>
          <p:cNvSpPr txBox="1"/>
          <p:nvPr/>
        </p:nvSpPr>
        <p:spPr>
          <a:xfrm>
            <a:off x="7385255" y="3190399"/>
            <a:ext cx="4472448" cy="523220"/>
          </a:xfrm>
          <a:prstGeom prst="rect">
            <a:avLst/>
          </a:prstGeom>
          <a:noFill/>
          <a:ln>
            <a:solidFill>
              <a:schemeClr val="tx1"/>
            </a:solidFill>
          </a:ln>
        </p:spPr>
        <p:txBody>
          <a:bodyPr wrap="square">
            <a:spAutoFit/>
          </a:bodyPr>
          <a:lstStyle/>
          <a:p>
            <a:r>
              <a:rPr lang="en-US" dirty="0">
                <a:solidFill>
                  <a:srgbClr val="8100C2"/>
                </a:solidFill>
                <a:effectLst/>
                <a:latin typeface="Consolas" panose="020B0609020204030204" pitchFamily="49" charset="0"/>
              </a:rPr>
              <a:t>CREATE INDEX </a:t>
            </a:r>
            <a:r>
              <a:rPr lang="en-US" dirty="0">
                <a:solidFill>
                  <a:schemeClr val="tx1"/>
                </a:solidFill>
                <a:effectLst/>
                <a:latin typeface="Consolas" panose="020B0609020204030204" pitchFamily="49" charset="0"/>
              </a:rPr>
              <a:t>idx_instructor_id</a:t>
            </a:r>
            <a:r>
              <a:rPr lang="en-US" dirty="0">
                <a:solidFill>
                  <a:srgbClr val="8100C2"/>
                </a:solidFill>
                <a:effectLst/>
                <a:latin typeface="Consolas" panose="020B0609020204030204" pitchFamily="49" charset="0"/>
              </a:rPr>
              <a:t> </a:t>
            </a:r>
          </a:p>
          <a:p>
            <a:r>
              <a:rPr lang="en-US" dirty="0">
                <a:solidFill>
                  <a:srgbClr val="8100C2"/>
                </a:solidFill>
                <a:effectLst/>
                <a:latin typeface="Consolas" panose="020B0609020204030204" pitchFamily="49" charset="0"/>
              </a:rPr>
              <a:t>ON </a:t>
            </a:r>
            <a:r>
              <a:rPr lang="en-US" dirty="0">
                <a:solidFill>
                  <a:schemeClr val="tx1"/>
                </a:solidFill>
                <a:effectLst/>
                <a:latin typeface="Consolas" panose="020B0609020204030204" pitchFamily="49" charset="0"/>
              </a:rPr>
              <a:t>instructor(ID);</a:t>
            </a:r>
            <a:endParaRPr lang="es-CO" dirty="0">
              <a:solidFill>
                <a:schemeClr val="tx1"/>
              </a:solidFill>
              <a:effectLst/>
              <a:latin typeface="Consolas" panose="020B0609020204030204" pitchFamily="49" charset="0"/>
            </a:endParaRPr>
          </a:p>
        </p:txBody>
      </p:sp>
      <p:sp>
        <p:nvSpPr>
          <p:cNvPr id="13" name="CuadroTexto 12">
            <a:extLst>
              <a:ext uri="{FF2B5EF4-FFF2-40B4-BE49-F238E27FC236}">
                <a16:creationId xmlns:a16="http://schemas.microsoft.com/office/drawing/2014/main" id="{A9109506-ECC9-4407-A3F1-C50C15363571}"/>
              </a:ext>
            </a:extLst>
          </p:cNvPr>
          <p:cNvSpPr txBox="1"/>
          <p:nvPr/>
        </p:nvSpPr>
        <p:spPr>
          <a:xfrm>
            <a:off x="7385255" y="4013269"/>
            <a:ext cx="4472448" cy="830997"/>
          </a:xfrm>
          <a:prstGeom prst="rect">
            <a:avLst/>
          </a:prstGeom>
          <a:solidFill>
            <a:schemeClr val="accent4">
              <a:lumMod val="20000"/>
              <a:lumOff val="80000"/>
            </a:schemeClr>
          </a:solidFill>
        </p:spPr>
        <p:txBody>
          <a:bodyPr wrap="square">
            <a:spAutoFit/>
          </a:bodyPr>
          <a:lstStyle/>
          <a:p>
            <a:r>
              <a:rPr lang="es-MX" sz="1600" b="1" dirty="0">
                <a:latin typeface="Roboto" panose="02000000000000000000" pitchFamily="2" charset="0"/>
                <a:ea typeface="Roboto" panose="02000000000000000000" pitchFamily="2" charset="0"/>
              </a:rPr>
              <a:t>Dense</a:t>
            </a:r>
            <a:r>
              <a:rPr lang="es-MX" sz="1600" dirty="0">
                <a:latin typeface="Roboto" panose="02000000000000000000" pitchFamily="2" charset="0"/>
                <a:ea typeface="Roboto" panose="02000000000000000000" pitchFamily="2" charset="0"/>
              </a:rPr>
              <a:t> vs </a:t>
            </a:r>
            <a:r>
              <a:rPr lang="es-MX" sz="1600" b="1" dirty="0">
                <a:latin typeface="Roboto" panose="02000000000000000000" pitchFamily="2" charset="0"/>
                <a:ea typeface="Roboto" panose="02000000000000000000" pitchFamily="2" charset="0"/>
              </a:rPr>
              <a:t>Sparse</a:t>
            </a:r>
            <a:r>
              <a:rPr lang="es-MX" sz="1600" dirty="0">
                <a:latin typeface="Roboto" panose="02000000000000000000" pitchFamily="2" charset="0"/>
                <a:ea typeface="Roboto" panose="02000000000000000000" pitchFamily="2" charset="0"/>
              </a:rPr>
              <a:t> es una decisión de implementación del DBMS, no una instrucción del usuario en SQL</a:t>
            </a:r>
            <a:endParaRPr lang="es-CO" sz="16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29690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Índice disperso: Busqueda (Lookup)</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894277" y="785683"/>
            <a:ext cx="10924558" cy="20378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1800" b="1" dirty="0">
                <a:latin typeface="Roboto" panose="02000000000000000000" pitchFamily="2" charset="0"/>
                <a:ea typeface="Roboto" panose="02000000000000000000" pitchFamily="2" charset="0"/>
              </a:rPr>
              <a:t>Búsqueda</a:t>
            </a:r>
            <a:r>
              <a:rPr lang="es-MX" sz="1800" dirty="0">
                <a:latin typeface="Roboto" panose="02000000000000000000" pitchFamily="2" charset="0"/>
                <a:ea typeface="Roboto" panose="02000000000000000000" pitchFamily="2" charset="0"/>
              </a:rPr>
              <a:t>: Para localizar un registro con valor de clave </a:t>
            </a:r>
            <a:r>
              <a:rPr lang="es-MX" sz="2000" b="1" dirty="0">
                <a:solidFill>
                  <a:schemeClr val="accent5"/>
                </a:solidFill>
                <a:latin typeface="Consolas" panose="020B0609020204030204" pitchFamily="49" charset="0"/>
                <a:ea typeface="Roboto" panose="02000000000000000000" pitchFamily="2" charset="0"/>
              </a:rPr>
              <a:t>&lt;K&gt;</a:t>
            </a:r>
            <a:r>
              <a:rPr lang="es-MX" sz="1800" dirty="0">
                <a:latin typeface="Roboto" panose="02000000000000000000" pitchFamily="2" charset="0"/>
                <a:ea typeface="Roboto" panose="02000000000000000000" pitchFamily="2" charset="0"/>
              </a:rPr>
              <a:t>, el proceso es:</a:t>
            </a:r>
          </a:p>
          <a:p>
            <a:pPr marL="800100" lvl="1" indent="-342900">
              <a:buFont typeface="+mj-lt"/>
              <a:buAutoNum type="arabicPeriod"/>
            </a:pPr>
            <a:r>
              <a:rPr lang="es-MX" sz="1800" dirty="0">
                <a:latin typeface="Roboto" panose="02000000000000000000" pitchFamily="2" charset="0"/>
                <a:ea typeface="Roboto" panose="02000000000000000000" pitchFamily="2" charset="0"/>
              </a:rPr>
              <a:t>Encontrar la entrada de índice con el mayor valor de clave </a:t>
            </a:r>
            <a:r>
              <a:rPr lang="es-MX" sz="1800" b="1" dirty="0">
                <a:solidFill>
                  <a:schemeClr val="accent5"/>
                </a:solidFill>
                <a:latin typeface="Consolas" panose="020B0609020204030204" pitchFamily="49" charset="0"/>
                <a:ea typeface="Roboto" panose="02000000000000000000" pitchFamily="2" charset="0"/>
              </a:rPr>
              <a:t>&lt;K&gt;</a:t>
            </a:r>
            <a:r>
              <a:rPr lang="es-MX" sz="1800" dirty="0">
                <a:latin typeface="Roboto" panose="02000000000000000000" pitchFamily="2" charset="0"/>
                <a:ea typeface="Roboto" panose="02000000000000000000" pitchFamily="2" charset="0"/>
              </a:rPr>
              <a:t>.</a:t>
            </a:r>
          </a:p>
          <a:p>
            <a:pPr marL="800100" lvl="1" indent="-342900">
              <a:buFont typeface="+mj-lt"/>
              <a:buAutoNum type="arabicPeriod"/>
            </a:pPr>
            <a:r>
              <a:rPr lang="es-MX" sz="1800" dirty="0">
                <a:latin typeface="Roboto" panose="02000000000000000000" pitchFamily="2" charset="0"/>
                <a:ea typeface="Roboto" panose="02000000000000000000" pitchFamily="2" charset="0"/>
              </a:rPr>
              <a:t>Buscar secuencialmente dentro del bloque a partir de ese punto.</a:t>
            </a:r>
          </a:p>
          <a:p>
            <a:pPr marL="342900" indent="-342900"/>
            <a:r>
              <a:rPr lang="es-MX" sz="1800" b="1" dirty="0"/>
              <a:t>El índice usualmente se mantiene en memoria principal.</a:t>
            </a:r>
            <a:r>
              <a:rPr lang="es-MX" sz="1800" dirty="0"/>
              <a:t> Por lo tanto, se requiere realizar </a:t>
            </a:r>
            <a:r>
              <a:rPr lang="es-MX" sz="1800" b="1" dirty="0"/>
              <a:t>una operación de E/S a disco</a:t>
            </a:r>
            <a:r>
              <a:rPr lang="es-MX" sz="1800" dirty="0"/>
              <a:t> durante la búsqueda.</a:t>
            </a:r>
          </a:p>
          <a:p>
            <a:pPr marL="342900" indent="-342900"/>
            <a:r>
              <a:rPr lang="es-MX" sz="1800" b="1" dirty="0"/>
              <a:t>Eficiente en espacio</a:t>
            </a:r>
            <a:r>
              <a:rPr lang="es-MX" sz="1800" dirty="0"/>
              <a:t>, pero puede requerir </a:t>
            </a:r>
            <a:r>
              <a:rPr lang="es-MX" sz="1800" b="1" dirty="0"/>
              <a:t>más tiempo de cómputo</a:t>
            </a:r>
            <a:r>
              <a:rPr lang="es-MX" sz="1800" dirty="0"/>
              <a:t> debido a dos búsquedas:</a:t>
            </a:r>
          </a:p>
          <a:p>
            <a:pPr marL="342900" indent="-342900"/>
            <a:endParaRPr lang="es-MX" sz="2400" dirty="0">
              <a:latin typeface="Roboto" panose="02000000000000000000" pitchFamily="2" charset="0"/>
              <a:ea typeface="Roboto" panose="02000000000000000000" pitchFamily="2" charset="0"/>
            </a:endParaRPr>
          </a:p>
        </p:txBody>
      </p:sp>
      <p:sp>
        <p:nvSpPr>
          <p:cNvPr id="12" name="CuadroTexto 11">
            <a:extLst>
              <a:ext uri="{FF2B5EF4-FFF2-40B4-BE49-F238E27FC236}">
                <a16:creationId xmlns:a16="http://schemas.microsoft.com/office/drawing/2014/main" id="{1A364A81-1339-4D64-9856-7B0E773C9D87}"/>
              </a:ext>
            </a:extLst>
          </p:cNvPr>
          <p:cNvSpPr txBox="1"/>
          <p:nvPr/>
        </p:nvSpPr>
        <p:spPr>
          <a:xfrm>
            <a:off x="1255358" y="3014933"/>
            <a:ext cx="4480019" cy="954107"/>
          </a:xfrm>
          <a:prstGeom prst="rect">
            <a:avLst/>
          </a:prstGeom>
          <a:noFill/>
          <a:ln>
            <a:solidFill>
              <a:schemeClr val="tx1"/>
            </a:solidFill>
          </a:ln>
        </p:spPr>
        <p:txBody>
          <a:bodyPr wrap="square">
            <a:spAutoFit/>
          </a:bodyPr>
          <a:lstStyle/>
          <a:p>
            <a:r>
              <a:rPr lang="es-MX" dirty="0">
                <a:solidFill>
                  <a:srgbClr val="6E7687"/>
                </a:solidFill>
                <a:effectLst/>
                <a:latin typeface="Consolas" panose="020B0609020204030204" pitchFamily="49" charset="0"/>
              </a:rPr>
              <a:t>-- Para responder eficientemente a:</a:t>
            </a:r>
            <a:r>
              <a:rPr lang="es-MX" dirty="0">
                <a:latin typeface="Consolas" panose="020B0609020204030204" pitchFamily="49" charset="0"/>
              </a:rPr>
              <a:t> </a:t>
            </a:r>
          </a:p>
          <a:p>
            <a:r>
              <a:rPr lang="es-MX" dirty="0">
                <a:solidFill>
                  <a:srgbClr val="8100C2"/>
                </a:solidFill>
                <a:effectLst/>
                <a:latin typeface="Consolas" panose="020B0609020204030204" pitchFamily="49" charset="0"/>
              </a:rPr>
              <a:t>SELECT</a:t>
            </a:r>
            <a:r>
              <a:rPr lang="es-MX" dirty="0">
                <a:latin typeface="Consolas" panose="020B0609020204030204" pitchFamily="49" charset="0"/>
              </a:rPr>
              <a:t> </a:t>
            </a:r>
            <a:r>
              <a:rPr lang="es-MX" dirty="0">
                <a:solidFill>
                  <a:srgbClr val="14181F"/>
                </a:solidFill>
                <a:effectLst/>
                <a:latin typeface="Consolas" panose="020B0609020204030204" pitchFamily="49" charset="0"/>
              </a:rPr>
              <a:t>*</a:t>
            </a:r>
            <a:r>
              <a:rPr lang="es-MX" dirty="0">
                <a:latin typeface="Consolas" panose="020B0609020204030204" pitchFamily="49" charset="0"/>
              </a:rPr>
              <a:t> </a:t>
            </a:r>
            <a:r>
              <a:rPr lang="es-MX" dirty="0">
                <a:solidFill>
                  <a:srgbClr val="8100C2"/>
                </a:solidFill>
                <a:effectLst/>
                <a:latin typeface="Consolas" panose="020B0609020204030204" pitchFamily="49" charset="0"/>
              </a:rPr>
              <a:t>FROM</a:t>
            </a:r>
            <a:r>
              <a:rPr lang="es-MX" dirty="0">
                <a:latin typeface="Consolas" panose="020B0609020204030204" pitchFamily="49" charset="0"/>
              </a:rPr>
              <a:t> instructor </a:t>
            </a:r>
            <a:r>
              <a:rPr lang="es-MX" dirty="0">
                <a:solidFill>
                  <a:srgbClr val="8100C2"/>
                </a:solidFill>
                <a:effectLst/>
                <a:latin typeface="Consolas" panose="020B0609020204030204" pitchFamily="49" charset="0"/>
              </a:rPr>
              <a:t>WHERE</a:t>
            </a:r>
            <a:r>
              <a:rPr lang="es-MX" dirty="0">
                <a:latin typeface="Consolas" panose="020B0609020204030204" pitchFamily="49" charset="0"/>
              </a:rPr>
              <a:t> ID </a:t>
            </a:r>
            <a:r>
              <a:rPr lang="es-MX" dirty="0">
                <a:solidFill>
                  <a:srgbClr val="14181F"/>
                </a:solidFill>
                <a:effectLst/>
                <a:latin typeface="Consolas" panose="020B0609020204030204" pitchFamily="49" charset="0"/>
              </a:rPr>
              <a:t>=</a:t>
            </a:r>
            <a:r>
              <a:rPr lang="es-MX" dirty="0">
                <a:latin typeface="Consolas" panose="020B0609020204030204" pitchFamily="49" charset="0"/>
              </a:rPr>
              <a:t> </a:t>
            </a:r>
            <a:r>
              <a:rPr lang="es-MX" dirty="0">
                <a:solidFill>
                  <a:srgbClr val="008080"/>
                </a:solidFill>
                <a:effectLst/>
                <a:latin typeface="Consolas" panose="020B0609020204030204" pitchFamily="49" charset="0"/>
              </a:rPr>
              <a:t>45565</a:t>
            </a:r>
            <a:r>
              <a:rPr lang="es-MX" dirty="0">
                <a:solidFill>
                  <a:srgbClr val="2B303B"/>
                </a:solidFill>
                <a:effectLst/>
                <a:latin typeface="Consolas" panose="020B0609020204030204" pitchFamily="49" charset="0"/>
              </a:rPr>
              <a:t>;</a:t>
            </a:r>
            <a:r>
              <a:rPr lang="es-MX" dirty="0">
                <a:latin typeface="Consolas" panose="020B0609020204030204" pitchFamily="49" charset="0"/>
              </a:rPr>
              <a:t> </a:t>
            </a:r>
          </a:p>
          <a:p>
            <a:r>
              <a:rPr lang="es-MX" dirty="0">
                <a:solidFill>
                  <a:srgbClr val="6E7687"/>
                </a:solidFill>
                <a:effectLst/>
                <a:latin typeface="Consolas" panose="020B0609020204030204" pitchFamily="49" charset="0"/>
              </a:rPr>
              <a:t>-- El DBMS encuentra la entrada más cercana</a:t>
            </a:r>
            <a:r>
              <a:rPr lang="es-MX" dirty="0">
                <a:latin typeface="Consolas" panose="020B0609020204030204" pitchFamily="49" charset="0"/>
              </a:rPr>
              <a:t> </a:t>
            </a:r>
          </a:p>
          <a:p>
            <a:r>
              <a:rPr lang="es-MX" dirty="0">
                <a:solidFill>
                  <a:srgbClr val="6E7687"/>
                </a:solidFill>
                <a:effectLst/>
                <a:latin typeface="Consolas" panose="020B0609020204030204" pitchFamily="49" charset="0"/>
              </a:rPr>
              <a:t>-- y busca secuencialmente desde allí.</a:t>
            </a:r>
            <a:endParaRPr lang="es-CO" dirty="0">
              <a:latin typeface="Consolas" panose="020B0609020204030204" pitchFamily="49" charset="0"/>
            </a:endParaRPr>
          </a:p>
        </p:txBody>
      </p:sp>
      <p:sp>
        <p:nvSpPr>
          <p:cNvPr id="13" name="CuadroTexto 12">
            <a:extLst>
              <a:ext uri="{FF2B5EF4-FFF2-40B4-BE49-F238E27FC236}">
                <a16:creationId xmlns:a16="http://schemas.microsoft.com/office/drawing/2014/main" id="{DE019BEC-3F0F-4F79-9AFB-EBA432CC21B4}"/>
              </a:ext>
            </a:extLst>
          </p:cNvPr>
          <p:cNvSpPr txBox="1"/>
          <p:nvPr/>
        </p:nvSpPr>
        <p:spPr>
          <a:xfrm>
            <a:off x="1061885" y="6000244"/>
            <a:ext cx="10589342" cy="646331"/>
          </a:xfrm>
          <a:prstGeom prst="rect">
            <a:avLst/>
          </a:prstGeom>
          <a:solidFill>
            <a:schemeClr val="tx2"/>
          </a:solidFill>
        </p:spPr>
        <p:txBody>
          <a:bodyPr wrap="square">
            <a:spAutoFit/>
          </a:bodyPr>
          <a:lstStyle/>
          <a:p>
            <a:r>
              <a:rPr lang="es-MX" sz="1800" b="1" dirty="0">
                <a:latin typeface="Roboto" panose="02000000000000000000" pitchFamily="2" charset="0"/>
                <a:ea typeface="Roboto" panose="02000000000000000000" pitchFamily="2" charset="0"/>
              </a:rPr>
              <a:t>Compromiso adecuado</a:t>
            </a:r>
            <a:r>
              <a:rPr lang="es-MX" sz="1800" dirty="0">
                <a:latin typeface="Roboto" panose="02000000000000000000" pitchFamily="2" charset="0"/>
                <a:ea typeface="Roboto" panose="02000000000000000000" pitchFamily="2" charset="0"/>
              </a:rPr>
              <a:t>: un índice disperso con una entrada por cada bloque del archivo ofrece el mejor balance entre espacio y velocidad.</a:t>
            </a:r>
            <a:endParaRPr lang="es-CO" sz="1800" dirty="0">
              <a:latin typeface="Roboto" panose="02000000000000000000" pitchFamily="2" charset="0"/>
              <a:ea typeface="Roboto" panose="02000000000000000000" pitchFamily="2" charset="0"/>
            </a:endParaRPr>
          </a:p>
        </p:txBody>
      </p:sp>
      <p:pic>
        <p:nvPicPr>
          <p:cNvPr id="14" name="Picture 7">
            <a:extLst>
              <a:ext uri="{FF2B5EF4-FFF2-40B4-BE49-F238E27FC236}">
                <a16:creationId xmlns:a16="http://schemas.microsoft.com/office/drawing/2014/main" id="{7880F691-667B-465E-B6CF-B0620F758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0028" y="3013279"/>
            <a:ext cx="6078598" cy="279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F8EDC4B3-F815-4550-8ACB-7B88A6B7FC86}"/>
              </a:ext>
            </a:extLst>
          </p:cNvPr>
          <p:cNvSpPr txBox="1"/>
          <p:nvPr/>
        </p:nvSpPr>
        <p:spPr>
          <a:xfrm>
            <a:off x="1255358" y="4245978"/>
            <a:ext cx="4480019" cy="923330"/>
          </a:xfrm>
          <a:prstGeom prst="rect">
            <a:avLst/>
          </a:prstGeom>
          <a:solidFill>
            <a:schemeClr val="accent1">
              <a:lumMod val="20000"/>
              <a:lumOff val="80000"/>
            </a:schemeClr>
          </a:solidFill>
        </p:spPr>
        <p:txBody>
          <a:bodyPr wrap="square">
            <a:spAutoFit/>
          </a:bodyPr>
          <a:lstStyle/>
          <a:p>
            <a:r>
              <a:rPr lang="es-MX" sz="1800" dirty="0">
                <a:latin typeface="Roboto" panose="02000000000000000000" pitchFamily="2" charset="0"/>
                <a:ea typeface="Roboto" panose="02000000000000000000" pitchFamily="2" charset="0"/>
              </a:rPr>
              <a:t>Se inicia en la clave más grande menor o igual al valor buscado, y a partir de ahí se realiza una búsqueda lineal.</a:t>
            </a:r>
            <a:endParaRPr lang="es-CO" sz="18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52753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49" y="96038"/>
            <a:ext cx="90385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sz="2800" dirty="0"/>
              <a:t>¿Denso o disperso? El compromiso (</a:t>
            </a:r>
            <a:r>
              <a:rPr lang="es-CO" sz="2800" dirty="0" err="1"/>
              <a:t>trade</a:t>
            </a:r>
            <a:r>
              <a:rPr lang="es-CO" sz="2800" dirty="0"/>
              <a:t>-off)</a:t>
            </a:r>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1" y="975743"/>
            <a:ext cx="11000046" cy="5847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Ninguno de los dos tipos es universalmente mejor: la elección depende del contexto de uso.</a:t>
            </a: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a:p>
            <a:pPr marL="342900" indent="-342900"/>
            <a:endParaRPr lang="es-MX" sz="2000" dirty="0">
              <a:latin typeface="Roboto" panose="02000000000000000000" pitchFamily="2" charset="0"/>
              <a:ea typeface="Roboto" panose="02000000000000000000" pitchFamily="2" charset="0"/>
            </a:endParaRPr>
          </a:p>
        </p:txBody>
      </p:sp>
      <p:graphicFrame>
        <p:nvGraphicFramePr>
          <p:cNvPr id="2" name="Tabla 1">
            <a:extLst>
              <a:ext uri="{FF2B5EF4-FFF2-40B4-BE49-F238E27FC236}">
                <a16:creationId xmlns:a16="http://schemas.microsoft.com/office/drawing/2014/main" id="{DFBA649B-A603-4601-A616-C3B0628DBD18}"/>
              </a:ext>
            </a:extLst>
          </p:cNvPr>
          <p:cNvGraphicFramePr>
            <a:graphicFrameLocks noGrp="1"/>
          </p:cNvGraphicFramePr>
          <p:nvPr>
            <p:extLst>
              <p:ext uri="{D42A27DB-BD31-4B8C-83A1-F6EECF244321}">
                <p14:modId xmlns:p14="http://schemas.microsoft.com/office/powerpoint/2010/main" val="747136451"/>
              </p:ext>
            </p:extLst>
          </p:nvPr>
        </p:nvGraphicFramePr>
        <p:xfrm>
          <a:off x="1836689" y="2148840"/>
          <a:ext cx="8953491" cy="2560320"/>
        </p:xfrm>
        <a:graphic>
          <a:graphicData uri="http://schemas.openxmlformats.org/drawingml/2006/table">
            <a:tbl>
              <a:tblPr/>
              <a:tblGrid>
                <a:gridCol w="2633980">
                  <a:extLst>
                    <a:ext uri="{9D8B030D-6E8A-4147-A177-3AD203B41FA5}">
                      <a16:colId xmlns:a16="http://schemas.microsoft.com/office/drawing/2014/main" val="1299009677"/>
                    </a:ext>
                  </a:extLst>
                </a:gridCol>
                <a:gridCol w="3052517">
                  <a:extLst>
                    <a:ext uri="{9D8B030D-6E8A-4147-A177-3AD203B41FA5}">
                      <a16:colId xmlns:a16="http://schemas.microsoft.com/office/drawing/2014/main" val="3386392871"/>
                    </a:ext>
                  </a:extLst>
                </a:gridCol>
                <a:gridCol w="3266994">
                  <a:extLst>
                    <a:ext uri="{9D8B030D-6E8A-4147-A177-3AD203B41FA5}">
                      <a16:colId xmlns:a16="http://schemas.microsoft.com/office/drawing/2014/main" val="2939166704"/>
                    </a:ext>
                  </a:extLst>
                </a:gridCol>
              </a:tblGrid>
              <a:tr h="0">
                <a:tc>
                  <a:txBody>
                    <a:bodyPr/>
                    <a:lstStyle/>
                    <a:p>
                      <a:endParaRPr lang="es-CO" sz="1800" dirty="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b="1" dirty="0">
                          <a:latin typeface="Roboto" panose="02000000000000000000" pitchFamily="2" charset="0"/>
                          <a:ea typeface="Roboto" panose="02000000000000000000" pitchFamily="2" charset="0"/>
                        </a:rPr>
                        <a:t>Índice denso (Dense)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sz="1800" b="1" dirty="0">
                          <a:latin typeface="Roboto" panose="02000000000000000000" pitchFamily="2" charset="0"/>
                          <a:ea typeface="Roboto" panose="02000000000000000000" pitchFamily="2" charset="0"/>
                        </a:rPr>
                        <a:t>Índice disperso (Sparse)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786321985"/>
                  </a:ext>
                </a:extLst>
              </a:tr>
              <a:tr h="0">
                <a:tc>
                  <a:txBody>
                    <a:bodyPr/>
                    <a:lstStyle/>
                    <a:p>
                      <a:r>
                        <a:rPr lang="es-CO" sz="1800" b="1" dirty="0">
                          <a:latin typeface="Roboto" panose="02000000000000000000" pitchFamily="2" charset="0"/>
                          <a:ea typeface="Roboto" panose="02000000000000000000" pitchFamily="2" charset="0"/>
                        </a:rPr>
                        <a:t>Entradas</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CO" sz="1800" dirty="0">
                          <a:latin typeface="Roboto" panose="02000000000000000000" pitchFamily="2" charset="0"/>
                          <a:ea typeface="Roboto" panose="02000000000000000000" pitchFamily="2" charset="0"/>
                        </a:rPr>
                        <a:t>Una por cada registro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CO" sz="1800" dirty="0">
                          <a:latin typeface="Roboto" panose="02000000000000000000" pitchFamily="2" charset="0"/>
                          <a:ea typeface="Roboto" panose="02000000000000000000" pitchFamily="2" charset="0"/>
                        </a:rPr>
                        <a:t>Una por cada bloque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263002975"/>
                  </a:ext>
                </a:extLst>
              </a:tr>
              <a:tr h="0">
                <a:tc>
                  <a:txBody>
                    <a:bodyPr/>
                    <a:lstStyle/>
                    <a:p>
                      <a:r>
                        <a:rPr lang="es-CO" sz="1800" b="1" dirty="0">
                          <a:latin typeface="Roboto" panose="02000000000000000000" pitchFamily="2" charset="0"/>
                          <a:ea typeface="Roboto" panose="02000000000000000000" pitchFamily="2" charset="0"/>
                        </a:rPr>
                        <a:t>Velocidad de búsqueda</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Más rápido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a:latin typeface="Roboto" panose="02000000000000000000" pitchFamily="2" charset="0"/>
                          <a:ea typeface="Roboto" panose="02000000000000000000" pitchFamily="2" charset="0"/>
                        </a:rPr>
                        <a:t>Más lento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338494120"/>
                  </a:ext>
                </a:extLst>
              </a:tr>
              <a:tr h="0">
                <a:tc>
                  <a:txBody>
                    <a:bodyPr/>
                    <a:lstStyle/>
                    <a:p>
                      <a:r>
                        <a:rPr lang="es-CO" sz="1800" b="1" dirty="0">
                          <a:latin typeface="Roboto" panose="02000000000000000000" pitchFamily="2" charset="0"/>
                          <a:ea typeface="Roboto" panose="02000000000000000000" pitchFamily="2" charset="0"/>
                        </a:rPr>
                        <a:t>Espacio ocupado</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Mayor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a:latin typeface="Roboto" panose="02000000000000000000" pitchFamily="2" charset="0"/>
                          <a:ea typeface="Roboto" panose="02000000000000000000" pitchFamily="2" charset="0"/>
                        </a:rPr>
                        <a:t>Menor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524157119"/>
                  </a:ext>
                </a:extLst>
              </a:tr>
              <a:tr h="0">
                <a:tc>
                  <a:txBody>
                    <a:bodyPr/>
                    <a:lstStyle/>
                    <a:p>
                      <a:r>
                        <a:rPr lang="es-CO" sz="1800" b="1">
                          <a:latin typeface="Roboto" panose="02000000000000000000" pitchFamily="2" charset="0"/>
                          <a:ea typeface="Roboto" panose="02000000000000000000" pitchFamily="2" charset="0"/>
                        </a:rPr>
                        <a:t>Costo de actualización</a:t>
                      </a:r>
                      <a:endParaRPr lang="es-CO" sz="180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Mayor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Menor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197472865"/>
                  </a:ext>
                </a:extLst>
              </a:tr>
              <a:tr h="0">
                <a:tc>
                  <a:txBody>
                    <a:bodyPr/>
                    <a:lstStyle/>
                    <a:p>
                      <a:r>
                        <a:rPr lang="es-CO" sz="1800" b="1">
                          <a:latin typeface="Roboto" panose="02000000000000000000" pitchFamily="2" charset="0"/>
                          <a:ea typeface="Roboto" panose="02000000000000000000" pitchFamily="2" charset="0"/>
                        </a:rPr>
                        <a:t>Requisito</a:t>
                      </a:r>
                      <a:endParaRPr lang="es-CO" sz="180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Ninguno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Archivo ordenado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093906102"/>
                  </a:ext>
                </a:extLst>
              </a:tr>
              <a:tr h="0">
                <a:tc>
                  <a:txBody>
                    <a:bodyPr/>
                    <a:lstStyle/>
                    <a:p>
                      <a:r>
                        <a:rPr lang="es-CO" sz="1800" b="1">
                          <a:latin typeface="Roboto" panose="02000000000000000000" pitchFamily="2" charset="0"/>
                          <a:ea typeface="Roboto" panose="02000000000000000000" pitchFamily="2" charset="0"/>
                        </a:rPr>
                        <a:t>Uso típico</a:t>
                      </a:r>
                      <a:endParaRPr lang="es-CO" sz="180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Índices secundarios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Índices de agrupamiento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9379293"/>
                  </a:ext>
                </a:extLst>
              </a:tr>
            </a:tbl>
          </a:graphicData>
        </a:graphic>
      </p:graphicFrame>
    </p:spTree>
    <p:extLst>
      <p:ext uri="{BB962C8B-B14F-4D97-AF65-F5344CB8AC3E}">
        <p14:creationId xmlns:p14="http://schemas.microsoft.com/office/powerpoint/2010/main" val="1656887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49" y="96038"/>
            <a:ext cx="90385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sz="2800" dirty="0"/>
              <a:t>¿Denso o disperso? El compromiso (</a:t>
            </a:r>
            <a:r>
              <a:rPr lang="es-CO" sz="2800" dirty="0" err="1"/>
              <a:t>trade</a:t>
            </a:r>
            <a:r>
              <a:rPr lang="es-CO" sz="2800" dirty="0"/>
              <a:t>-off)</a:t>
            </a:r>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1" y="975743"/>
            <a:ext cx="10793570" cy="46433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t>Regla práctica (Libro Silberschatz)</a:t>
            </a:r>
            <a:r>
              <a:rPr lang="es-MX" sz="2000" dirty="0"/>
              <a:t>: </a:t>
            </a:r>
          </a:p>
          <a:p>
            <a:pPr lvl="1"/>
            <a:r>
              <a:rPr lang="es-MX" sz="2000" dirty="0"/>
              <a:t>Para un </a:t>
            </a:r>
            <a:r>
              <a:rPr lang="es-MX" sz="2000" b="1" dirty="0"/>
              <a:t>índice de agrupamiento</a:t>
            </a:r>
            <a:r>
              <a:rPr lang="es-MX" sz="2000" dirty="0"/>
              <a:t> </a:t>
            </a:r>
            <a:r>
              <a:rPr lang="es-MX" sz="2000" b="1" dirty="0"/>
              <a:t>(</a:t>
            </a:r>
            <a:r>
              <a:rPr lang="es-MX" sz="2000" b="1" i="1" dirty="0"/>
              <a:t>clustered</a:t>
            </a:r>
            <a:r>
              <a:rPr lang="es-MX" sz="2000" b="1" dirty="0"/>
              <a:t>)</a:t>
            </a:r>
            <a:r>
              <a:rPr lang="es-MX" sz="2000" dirty="0"/>
              <a:t>: usar índice disperso con una entrada por bloque.</a:t>
            </a:r>
          </a:p>
          <a:p>
            <a:pPr lvl="1"/>
            <a:endParaRPr lang="es-MX" sz="1800" dirty="0"/>
          </a:p>
          <a:p>
            <a:pPr lvl="1"/>
            <a:endParaRPr lang="es-MX" sz="1800" dirty="0"/>
          </a:p>
          <a:p>
            <a:pPr lvl="1"/>
            <a:endParaRPr lang="es-MX" sz="1800" dirty="0"/>
          </a:p>
          <a:p>
            <a:pPr lvl="1"/>
            <a:endParaRPr lang="es-MX" sz="1800" dirty="0"/>
          </a:p>
          <a:p>
            <a:pPr lvl="1"/>
            <a:endParaRPr lang="es-MX" sz="1800" dirty="0"/>
          </a:p>
          <a:p>
            <a:pPr lvl="1"/>
            <a:endParaRPr lang="es-MX" sz="1800" dirty="0"/>
          </a:p>
          <a:p>
            <a:pPr marL="584200" lvl="1" indent="0">
              <a:buNone/>
            </a:pPr>
            <a:endParaRPr lang="es-MX" sz="1800" dirty="0"/>
          </a:p>
          <a:p>
            <a:pPr marL="584200" lvl="1" indent="0">
              <a:buNone/>
            </a:pPr>
            <a:endParaRPr lang="es-MX" sz="1800" dirty="0"/>
          </a:p>
          <a:p>
            <a:pPr lvl="1"/>
            <a:endParaRPr lang="es-MX" sz="1800" dirty="0"/>
          </a:p>
          <a:p>
            <a:pPr lvl="1"/>
            <a:r>
              <a:rPr lang="es-MX" sz="2000" dirty="0"/>
              <a:t>Para un </a:t>
            </a:r>
            <a:r>
              <a:rPr lang="es-MX" sz="2000" b="1" dirty="0"/>
              <a:t>índice no agrupado</a:t>
            </a:r>
            <a:r>
              <a:rPr lang="es-MX" sz="2000" dirty="0"/>
              <a:t> </a:t>
            </a:r>
            <a:r>
              <a:rPr lang="es-MX" sz="2000" b="1" dirty="0"/>
              <a:t>(</a:t>
            </a:r>
            <a:r>
              <a:rPr lang="es-MX" sz="2000" b="1" i="1" dirty="0"/>
              <a:t>unclustered</a:t>
            </a:r>
            <a:r>
              <a:rPr lang="es-MX" sz="2000" b="1" dirty="0"/>
              <a:t>)</a:t>
            </a:r>
            <a:r>
              <a:rPr lang="es-MX" sz="2000" dirty="0"/>
              <a:t>: usar índice disperso sobre índice denso (multinivel).</a:t>
            </a:r>
          </a:p>
          <a:p>
            <a:pPr marL="342900" indent="-342900"/>
            <a:endParaRPr lang="es-MX" sz="2000" dirty="0">
              <a:latin typeface="Roboto" panose="02000000000000000000" pitchFamily="2" charset="0"/>
              <a:ea typeface="Roboto" panose="02000000000000000000" pitchFamily="2" charset="0"/>
            </a:endParaRPr>
          </a:p>
        </p:txBody>
      </p:sp>
      <p:sp>
        <p:nvSpPr>
          <p:cNvPr id="13" name="CuadroTexto 12">
            <a:extLst>
              <a:ext uri="{FF2B5EF4-FFF2-40B4-BE49-F238E27FC236}">
                <a16:creationId xmlns:a16="http://schemas.microsoft.com/office/drawing/2014/main" id="{DE019BEC-3F0F-4F79-9AFB-EBA432CC21B4}"/>
              </a:ext>
            </a:extLst>
          </p:cNvPr>
          <p:cNvSpPr txBox="1"/>
          <p:nvPr/>
        </p:nvSpPr>
        <p:spPr>
          <a:xfrm>
            <a:off x="1019376" y="5882257"/>
            <a:ext cx="10793570" cy="707886"/>
          </a:xfrm>
          <a:prstGeom prst="rect">
            <a:avLst/>
          </a:prstGeom>
          <a:solidFill>
            <a:schemeClr val="tx2"/>
          </a:solidFill>
        </p:spPr>
        <p:txBody>
          <a:bodyPr wrap="square">
            <a:spAutoFit/>
          </a:bodyPr>
          <a:lstStyle/>
          <a:p>
            <a:r>
              <a:rPr lang="es-MX" sz="2000" b="1" i="1" dirty="0">
                <a:latin typeface="Roboto" panose="02000000000000000000" pitchFamily="2" charset="0"/>
                <a:ea typeface="Roboto" panose="02000000000000000000" pitchFamily="2" charset="0"/>
              </a:rPr>
              <a:t>La densidad del índice no se elige de forma aislada</a:t>
            </a:r>
            <a:r>
              <a:rPr lang="es-MX" sz="2000" i="1" dirty="0">
                <a:latin typeface="Roboto" panose="02000000000000000000" pitchFamily="2" charset="0"/>
                <a:ea typeface="Roboto" panose="02000000000000000000" pitchFamily="2" charset="0"/>
              </a:rPr>
              <a:t>: siempre se decide en función del tipo de agrupamiento y del patrón de consultas del sistema.</a:t>
            </a:r>
            <a:endParaRPr lang="es-CO" sz="2000" i="1" dirty="0">
              <a:latin typeface="Roboto" panose="02000000000000000000" pitchFamily="2" charset="0"/>
              <a:ea typeface="Roboto" panose="02000000000000000000" pitchFamily="2" charset="0"/>
            </a:endParaRPr>
          </a:p>
        </p:txBody>
      </p:sp>
      <p:pic>
        <p:nvPicPr>
          <p:cNvPr id="4" name="Imagen 3">
            <a:extLst>
              <a:ext uri="{FF2B5EF4-FFF2-40B4-BE49-F238E27FC236}">
                <a16:creationId xmlns:a16="http://schemas.microsoft.com/office/drawing/2014/main" id="{59C352B7-10E2-4CB6-A8C5-3948F7E837FA}"/>
              </a:ext>
            </a:extLst>
          </p:cNvPr>
          <p:cNvPicPr>
            <a:picLocks noChangeAspect="1"/>
          </p:cNvPicPr>
          <p:nvPr/>
        </p:nvPicPr>
        <p:blipFill>
          <a:blip r:embed="rId3"/>
          <a:stretch>
            <a:fillRect/>
          </a:stretch>
        </p:blipFill>
        <p:spPr>
          <a:xfrm>
            <a:off x="4660845" y="2136811"/>
            <a:ext cx="2870309" cy="2584378"/>
          </a:xfrm>
          <a:prstGeom prst="rect">
            <a:avLst/>
          </a:prstGeom>
        </p:spPr>
      </p:pic>
    </p:spTree>
    <p:extLst>
      <p:ext uri="{BB962C8B-B14F-4D97-AF65-F5344CB8AC3E}">
        <p14:creationId xmlns:p14="http://schemas.microsoft.com/office/powerpoint/2010/main" val="2953822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2 – Costo con índice denso</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685477" y="876426"/>
            <a:ext cx="11304962" cy="41085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Una tabla de </a:t>
            </a:r>
            <a:r>
              <a:rPr lang="es-MX" sz="2000" b="1" dirty="0"/>
              <a:t>Estudiantes</a:t>
            </a:r>
            <a:r>
              <a:rPr lang="es-MX" sz="2000" dirty="0"/>
              <a:t> tiene 1,000,000 de registros almacenados en 200,000 bloques de disco. Las columnas de la tabla son: </a:t>
            </a:r>
            <a:r>
              <a:rPr lang="es-MX" sz="2000" b="1" dirty="0"/>
              <a:t>ID</a:t>
            </a:r>
            <a:r>
              <a:rPr lang="es-MX" sz="2000" dirty="0"/>
              <a:t>, </a:t>
            </a:r>
            <a:r>
              <a:rPr lang="es-MX" sz="2000" b="1" dirty="0"/>
              <a:t>Nombre</a:t>
            </a:r>
            <a:r>
              <a:rPr lang="es-MX" sz="2000" dirty="0"/>
              <a:t> y </a:t>
            </a:r>
            <a:r>
              <a:rPr lang="es-MX" sz="2000" b="1" dirty="0"/>
              <a:t>Carrera</a:t>
            </a:r>
            <a:r>
              <a:rPr lang="es-MX" sz="2000" dirty="0"/>
              <a:t> (Sistemas, Matemáticas, Física o Química). Cada lectura de disco toma </a:t>
            </a:r>
            <a:r>
              <a:rPr lang="es-MX" sz="2000" b="1" dirty="0"/>
              <a:t>10 ms</a:t>
            </a:r>
            <a:r>
              <a:rPr lang="es-MX" sz="2000" dirty="0"/>
              <a:t>, y cada bloque del índice puede almacenar </a:t>
            </a:r>
            <a:r>
              <a:rPr lang="es-MX" sz="2000" b="1" dirty="0"/>
              <a:t>100 entradas</a:t>
            </a:r>
            <a:r>
              <a:rPr lang="es-MX" sz="2000" dirty="0"/>
              <a:t>. Teniendo en cuenta esta situación, responda las siguientes preguntas:</a:t>
            </a:r>
          </a:p>
          <a:p>
            <a:pPr>
              <a:buFont typeface="+mj-lt"/>
              <a:buAutoNum type="arabicPeriod"/>
            </a:pPr>
            <a:r>
              <a:rPr lang="es-MX" sz="2000" dirty="0"/>
              <a:t>Si se construye un índice </a:t>
            </a:r>
            <a:r>
              <a:rPr lang="es-MX" sz="2000" b="1" dirty="0"/>
              <a:t>denso</a:t>
            </a:r>
            <a:r>
              <a:rPr lang="es-MX" sz="2000" dirty="0"/>
              <a:t> basado en el ID del estudiante, ¿cuántas entradas tiene este índice?</a:t>
            </a:r>
          </a:p>
          <a:p>
            <a:pPr>
              <a:buFont typeface="+mj-lt"/>
              <a:buAutoNum type="arabicPeriod"/>
            </a:pPr>
            <a:r>
              <a:rPr lang="es-MX" sz="2000" dirty="0"/>
              <a:t>Si el índice denso se construye sobre el atributo </a:t>
            </a:r>
            <a:r>
              <a:rPr lang="es-MX" sz="2000" b="1" dirty="0"/>
              <a:t>Carrera</a:t>
            </a:r>
            <a:r>
              <a:rPr lang="es-MX" sz="2000" dirty="0"/>
              <a:t>, ¿cuántas entradas tiene?</a:t>
            </a:r>
          </a:p>
          <a:p>
            <a:pPr>
              <a:buFont typeface="+mj-lt"/>
              <a:buAutoNum type="arabicPeriod"/>
            </a:pPr>
            <a:r>
              <a:rPr lang="es-MX" sz="2000" dirty="0"/>
              <a:t>Asuma que el índice está almacenado en disco. ¿Cuántos bloques ocupa el índice denso sobre ID? ¿Cuál es el costo en I/O y en tiempo para recuperar un único registro usando este índice con búsqueda binaria?</a:t>
            </a:r>
          </a:p>
          <a:p>
            <a:pPr>
              <a:buFont typeface="+mj-lt"/>
              <a:buAutoNum type="arabicPeriod"/>
            </a:pPr>
            <a:r>
              <a:rPr lang="es-MX" sz="2000" dirty="0"/>
              <a:t>Sin ningún índice, ¿cuál sería el costo en tiempo de recuperar un registro haciendo un escaneo completo del archivo? ¿Qué concluye al comparar este resultado con el punto anterior?</a:t>
            </a:r>
          </a:p>
          <a:p>
            <a:pPr marL="127000" indent="0">
              <a:buNone/>
            </a:pPr>
            <a:endParaRPr lang="es-MX" sz="2000" b="1" dirty="0"/>
          </a:p>
          <a:p>
            <a:pPr marL="127000" indent="0">
              <a:buNone/>
            </a:pPr>
            <a:endParaRPr lang="es-MX" sz="2000" dirty="0"/>
          </a:p>
        </p:txBody>
      </p:sp>
    </p:spTree>
    <p:extLst>
      <p:ext uri="{BB962C8B-B14F-4D97-AF65-F5344CB8AC3E}">
        <p14:creationId xmlns:p14="http://schemas.microsoft.com/office/powerpoint/2010/main" val="950096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2 – Costo con índice denso</a:t>
            </a:r>
            <a:endParaRPr dirty="0"/>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9"/>
                <a:ext cx="11304962" cy="122571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a:pPr>
                <a:r>
                  <a:rPr lang="es-MX" sz="1800" b="1" dirty="0"/>
                  <a:t>Índice denso sobre </a:t>
                </a:r>
                <a:r>
                  <a:rPr lang="es-MX" sz="1800" b="1" dirty="0">
                    <a:latin typeface="Consolas" panose="020B0609020204030204" pitchFamily="49" charset="0"/>
                  </a:rPr>
                  <a:t>ID (</a:t>
                </a:r>
                <a:r>
                  <a:rPr lang="es-MX" sz="1800" b="1" dirty="0" err="1">
                    <a:latin typeface="Consolas" panose="020B0609020204030204" pitchFamily="49" charset="0"/>
                  </a:rPr>
                  <a:t>ID,puntero</a:t>
                </a:r>
                <a:r>
                  <a:rPr lang="es-MX" sz="1800" b="1" dirty="0">
                    <a:latin typeface="Consolas" panose="020B0609020204030204" pitchFamily="49" charset="0"/>
                  </a:rPr>
                  <a:t> </a:t>
                </a:r>
                <a:r>
                  <a:rPr lang="es-MX" sz="1800" b="1" dirty="0">
                    <a:latin typeface="Consolas" panose="020B0609020204030204" pitchFamily="49" charset="0"/>
                    <a:sym typeface="Wingdings" panose="05000000000000000000" pitchFamily="2" charset="2"/>
                  </a:rPr>
                  <a:t></a:t>
                </a:r>
                <a:r>
                  <a:rPr lang="es-MX" sz="1800" b="1" dirty="0">
                    <a:latin typeface="Consolas" panose="020B0609020204030204" pitchFamily="49" charset="0"/>
                  </a:rPr>
                  <a:t>)</a:t>
                </a:r>
                <a:r>
                  <a:rPr lang="es-MX" sz="1800" dirty="0"/>
                  <a:t>: En un índice denso hay una entrada por cada registro de la tabla.</a:t>
                </a:r>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𝐼𝑛𝑑𝑒𝑥</m:t>
                          </m:r>
                        </m:sub>
                      </m:sSub>
                      <m:r>
                        <a:rPr lang="es-MX" sz="1800" b="0" i="1" smtClean="0">
                          <a:latin typeface="Cambria Math" panose="02040503050406030204" pitchFamily="18" charset="0"/>
                        </a:rPr>
                        <m:t>=</m:t>
                      </m:r>
                      <m:r>
                        <a:rPr lang="es-MX" sz="1800" b="0" i="1" smtClean="0">
                          <a:latin typeface="Cambria Math" panose="02040503050406030204" pitchFamily="18" charset="0"/>
                        </a:rPr>
                        <m:t>𝑁</m:t>
                      </m:r>
                      <m:r>
                        <a:rPr lang="es-MX" sz="1800" b="0" i="1" smtClean="0">
                          <a:latin typeface="Cambria Math" panose="02040503050406030204" pitchFamily="18" charset="0"/>
                        </a:rPr>
                        <m:t>=1000000</m:t>
                      </m:r>
                    </m:oMath>
                  </m:oMathPara>
                </a14:m>
                <a:endParaRPr lang="es-MX" sz="2000" dirty="0"/>
              </a:p>
              <a:p>
                <a:pPr marL="127000" indent="0">
                  <a:buNone/>
                </a:pPr>
                <a:endParaRPr lang="es-MX" sz="1800" dirty="0"/>
              </a:p>
            </p:txBody>
          </p:sp>
        </mc:Choice>
        <mc:Fallback xmlns="">
          <p:sp>
            <p:nvSpPr>
              <p:cNvPr id="7" name="Google Shape;310;p34">
                <a:extLst>
                  <a:ext uri="{FF2B5EF4-FFF2-40B4-BE49-F238E27FC236}">
                    <a16:creationId xmlns:a16="http://schemas.microsoft.com/office/drawing/2014/main" id="{70DEFA27-6AC4-4939-80A7-2BA081AB3D70}"/>
                  </a:ext>
                </a:extLst>
              </p:cNvPr>
              <p:cNvSpPr txBox="1">
                <a:spLocks noRot="1" noChangeAspect="1" noMove="1" noResize="1" noEditPoints="1" noAdjustHandles="1" noChangeArrowheads="1" noChangeShapeType="1" noTextEdit="1"/>
              </p:cNvSpPr>
              <p:nvPr/>
            </p:nvSpPr>
            <p:spPr>
              <a:xfrm>
                <a:off x="759219" y="1045539"/>
                <a:ext cx="11304962" cy="1225714"/>
              </a:xfrm>
              <a:prstGeom prst="rect">
                <a:avLst/>
              </a:prstGeom>
              <a:blipFill>
                <a:blip r:embed="rId3"/>
                <a:stretch>
                  <a:fillRect b="-8955"/>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Google Shape;310;p34">
                <a:extLst>
                  <a:ext uri="{FF2B5EF4-FFF2-40B4-BE49-F238E27FC236}">
                    <a16:creationId xmlns:a16="http://schemas.microsoft.com/office/drawing/2014/main" id="{7345F937-3F53-4D54-9B8D-7DE46D7B4108}"/>
                  </a:ext>
                </a:extLst>
              </p:cNvPr>
              <p:cNvSpPr txBox="1">
                <a:spLocks/>
              </p:cNvSpPr>
              <p:nvPr/>
            </p:nvSpPr>
            <p:spPr>
              <a:xfrm>
                <a:off x="759219" y="2686666"/>
                <a:ext cx="11304962" cy="14846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2"/>
                </a:pPr>
                <a:r>
                  <a:rPr lang="es-MX" sz="1800" b="1" dirty="0"/>
                  <a:t>Índice denso sobre </a:t>
                </a:r>
                <a:r>
                  <a:rPr lang="es-MX" sz="1800" b="1" dirty="0">
                    <a:latin typeface="Consolas" panose="020B0609020204030204" pitchFamily="49" charset="0"/>
                  </a:rPr>
                  <a:t>Carrera (Carrera, puntero </a:t>
                </a:r>
                <a:r>
                  <a:rPr lang="es-MX" sz="1800" b="1" dirty="0">
                    <a:latin typeface="Consolas" panose="020B0609020204030204" pitchFamily="49" charset="0"/>
                    <a:sym typeface="Wingdings" panose="05000000000000000000" pitchFamily="2" charset="2"/>
                  </a:rPr>
                  <a:t></a:t>
                </a:r>
                <a:r>
                  <a:rPr lang="es-MX" sz="1800" b="1" dirty="0">
                    <a:latin typeface="Consolas" panose="020B0609020204030204" pitchFamily="49" charset="0"/>
                  </a:rPr>
                  <a:t>)</a:t>
                </a:r>
                <a:r>
                  <a:rPr lang="es-MX" sz="1800" dirty="0"/>
                  <a:t>: Aunque Carrera solo tenga 4 valores distintos en un índice denso sigue habiendo una entrada por registro.</a:t>
                </a:r>
              </a:p>
              <a:p>
                <a:pPr marL="469900" indent="-342900">
                  <a:buFont typeface="+mj-lt"/>
                  <a:buAutoNum type="arabicPeriod" startAt="2"/>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𝐼</m:t>
                          </m:r>
                        </m:sub>
                      </m:sSub>
                      <m:r>
                        <a:rPr lang="es-MX" sz="1800" b="0" i="1" smtClean="0">
                          <a:latin typeface="Cambria Math" panose="02040503050406030204" pitchFamily="18" charset="0"/>
                        </a:rPr>
                        <m:t>=</m:t>
                      </m:r>
                      <m:r>
                        <a:rPr lang="es-MX" sz="1800" b="0" i="1" smtClean="0">
                          <a:latin typeface="Cambria Math" panose="02040503050406030204" pitchFamily="18" charset="0"/>
                        </a:rPr>
                        <m:t>𝑁</m:t>
                      </m:r>
                      <m:r>
                        <a:rPr lang="es-MX" sz="1800" b="0" i="1" smtClean="0">
                          <a:latin typeface="Cambria Math" panose="02040503050406030204" pitchFamily="18" charset="0"/>
                        </a:rPr>
                        <m:t>=1000000</m:t>
                      </m:r>
                    </m:oMath>
                  </m:oMathPara>
                </a14:m>
                <a:endParaRPr lang="es-MX" sz="2000" dirty="0"/>
              </a:p>
              <a:p>
                <a:pPr marL="127000" indent="0">
                  <a:buNone/>
                </a:pPr>
                <a:endParaRPr lang="es-MX" sz="1800" dirty="0"/>
              </a:p>
            </p:txBody>
          </p:sp>
        </mc:Choice>
        <mc:Fallback xmlns="">
          <p:sp>
            <p:nvSpPr>
              <p:cNvPr id="6" name="Google Shape;310;p34">
                <a:extLst>
                  <a:ext uri="{FF2B5EF4-FFF2-40B4-BE49-F238E27FC236}">
                    <a16:creationId xmlns:a16="http://schemas.microsoft.com/office/drawing/2014/main" id="{7345F937-3F53-4D54-9B8D-7DE46D7B4108}"/>
                  </a:ext>
                </a:extLst>
              </p:cNvPr>
              <p:cNvSpPr txBox="1">
                <a:spLocks noRot="1" noChangeAspect="1" noMove="1" noResize="1" noEditPoints="1" noAdjustHandles="1" noChangeArrowheads="1" noChangeShapeType="1" noTextEdit="1"/>
              </p:cNvSpPr>
              <p:nvPr/>
            </p:nvSpPr>
            <p:spPr>
              <a:xfrm>
                <a:off x="759219" y="2686666"/>
                <a:ext cx="11304962" cy="1484668"/>
              </a:xfrm>
              <a:prstGeom prst="rect">
                <a:avLst/>
              </a:prstGeom>
              <a:blipFill>
                <a:blip r:embed="rId4"/>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759219" y="4714562"/>
                <a:ext cx="11304962" cy="17501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Parte 1: </a:t>
                </a:r>
                <a:r>
                  <a:rPr lang="es-MX" sz="1800" dirty="0"/>
                  <a:t>Cantidad de bloques ocupadas por el índice denso:</a:t>
                </a:r>
              </a:p>
              <a:p>
                <a:pPr marL="469900" indent="-342900">
                  <a:buFont typeface="+mj-lt"/>
                  <a:buAutoNum type="arabicPeriod" startAt="3"/>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r>
                        <a:rPr lang="es-MX" sz="1800" i="1">
                          <a:latin typeface="Cambria Math" panose="02040503050406030204" pitchFamily="18" charset="0"/>
                        </a:rPr>
                        <m:t>=</m:t>
                      </m:r>
                      <m:f>
                        <m:fPr>
                          <m:ctrlPr>
                            <a:rPr lang="es-MX" sz="1800" i="1">
                              <a:latin typeface="Cambria Math" panose="02040503050406030204" pitchFamily="18" charset="0"/>
                            </a:rPr>
                          </m:ctrlPr>
                        </m:fPr>
                        <m:num>
                          <m:r>
                            <a:rPr lang="es-MX" sz="1800" i="1">
                              <a:latin typeface="Cambria Math" panose="02040503050406030204" pitchFamily="18" charset="0"/>
                            </a:rPr>
                            <m:t>𝑁</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sub>
                          </m:sSub>
                        </m:den>
                      </m:f>
                      <m:r>
                        <a:rPr lang="es-MX" sz="1800" i="1">
                          <a:latin typeface="Cambria Math" panose="02040503050406030204" pitchFamily="18" charset="0"/>
                        </a:rPr>
                        <m:t>=</m:t>
                      </m:r>
                      <m:f>
                        <m:fPr>
                          <m:ctrlPr>
                            <a:rPr lang="es-MX" sz="1800" i="1">
                              <a:latin typeface="Cambria Math" panose="02040503050406030204" pitchFamily="18" charset="0"/>
                            </a:rPr>
                          </m:ctrlPr>
                        </m:fPr>
                        <m:num>
                          <m:r>
                            <a:rPr lang="es-MX" sz="1800" i="1">
                              <a:latin typeface="Cambria Math" panose="02040503050406030204" pitchFamily="18" charset="0"/>
                            </a:rPr>
                            <m:t>1000000</m:t>
                          </m:r>
                        </m:num>
                        <m:den>
                          <m:r>
                            <a:rPr lang="es-MX" sz="1800" b="0" i="1" smtClean="0">
                              <a:latin typeface="Cambria Math" panose="02040503050406030204" pitchFamily="18" charset="0"/>
                            </a:rPr>
                            <m:t>1</m:t>
                          </m:r>
                          <m:r>
                            <a:rPr lang="es-MX" sz="1800" i="1">
                              <a:latin typeface="Cambria Math" panose="02040503050406030204" pitchFamily="18" charset="0"/>
                            </a:rPr>
                            <m:t>00</m:t>
                          </m:r>
                        </m:den>
                      </m:f>
                      <m:r>
                        <a:rPr lang="es-MX" sz="1800" i="1">
                          <a:latin typeface="Cambria Math" panose="02040503050406030204" pitchFamily="18" charset="0"/>
                        </a:rPr>
                        <m:t>=</m:t>
                      </m:r>
                      <m:r>
                        <a:rPr lang="es-MX" sz="1800" b="0" i="1" smtClean="0">
                          <a:latin typeface="Cambria Math" panose="02040503050406030204" pitchFamily="18" charset="0"/>
                        </a:rPr>
                        <m:t>10000 </m:t>
                      </m:r>
                      <m:r>
                        <a:rPr lang="es-MX" sz="1800" b="0" i="1" smtClean="0">
                          <a:latin typeface="Cambria Math" panose="02040503050406030204" pitchFamily="18" charset="0"/>
                        </a:rPr>
                        <m:t>𝑏𝑙𝑜𝑞𝑢𝑒𝑠</m:t>
                      </m:r>
                    </m:oMath>
                  </m:oMathPara>
                </a14:m>
                <a:endParaRPr lang="es-MX" sz="1800" dirty="0"/>
              </a:p>
              <a:p>
                <a:pPr marL="127000" indent="0">
                  <a:buNone/>
                </a:pPr>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759219" y="4714562"/>
                <a:ext cx="11304962" cy="1750143"/>
              </a:xfrm>
              <a:prstGeom prst="rect">
                <a:avLst/>
              </a:prstGeom>
              <a:blipFill>
                <a:blip r:embed="rId5"/>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657634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2 – Costo con índice denso</a:t>
            </a:r>
            <a:endParaRPr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887038" y="809564"/>
                <a:ext cx="11304962" cy="40869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Parte 2. Costo total de acceso</a:t>
                </a:r>
                <a:r>
                  <a:rPr lang="es-MX" sz="1800" dirty="0"/>
                  <a:t>: El costo total se debe al costo de la búsqueda binaria (para encontrar el indice) y el costo de acceso al registro de interés una vez este ha encontrado.</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r>
                            <a:rPr lang="es-MX" sz="1800" b="0" i="1" smtClean="0">
                              <a:latin typeface="Cambria Math" panose="02040503050406030204" pitchFamily="18" charset="0"/>
                            </a:rPr>
                            <m:t>𝑂</m:t>
                          </m:r>
                        </m:den>
                      </m:f>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𝑟𝑒𝑔</m:t>
                          </m:r>
                        </m:sub>
                      </m:sSub>
                    </m:oMath>
                  </m:oMathPara>
                </a14:m>
                <a:endParaRPr lang="es-MX" sz="1800" b="1"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d>
                        <m:dPr>
                          <m:begChr m:val="⌈"/>
                          <m:endChr m:val="⌉"/>
                          <m:ctrlPr>
                            <a:rPr lang="es-MX" sz="1800" b="0" i="1" smtClean="0">
                              <a:latin typeface="Cambria Math" panose="02040503050406030204" pitchFamily="18" charset="0"/>
                            </a:rPr>
                          </m:ctrlPr>
                        </m:dPr>
                        <m:e>
                          <m:func>
                            <m:funcPr>
                              <m:ctrlPr>
                                <a:rPr lang="es-MX" sz="1800" b="0" i="1" smtClean="0">
                                  <a:latin typeface="Cambria Math" panose="02040503050406030204" pitchFamily="18" charset="0"/>
                                </a:rPr>
                              </m:ctrlPr>
                            </m:funcPr>
                            <m:fName>
                              <m:sSub>
                                <m:sSubPr>
                                  <m:ctrlPr>
                                    <a:rPr lang="es-MX" sz="1800" b="0" i="1" smtClean="0">
                                      <a:latin typeface="Cambria Math" panose="02040503050406030204" pitchFamily="18" charset="0"/>
                                    </a:rPr>
                                  </m:ctrlPr>
                                </m:sSubPr>
                                <m:e>
                                  <m:r>
                                    <m:rPr>
                                      <m:sty m:val="p"/>
                                    </m:rPr>
                                    <a:rPr lang="es-MX" sz="1800" b="0" i="0" smtClean="0">
                                      <a:latin typeface="Cambria Math" panose="02040503050406030204" pitchFamily="18" charset="0"/>
                                    </a:rPr>
                                    <m:t>log</m:t>
                                  </m:r>
                                </m:e>
                                <m:sub>
                                  <m:r>
                                    <a:rPr lang="es-MX" sz="1800" b="0" i="1" smtClean="0">
                                      <a:latin typeface="Cambria Math" panose="02040503050406030204" pitchFamily="18" charset="0"/>
                                    </a:rPr>
                                    <m:t>2</m:t>
                                  </m:r>
                                </m:sub>
                              </m:sSub>
                            </m:fName>
                            <m:e>
                              <m:r>
                                <a:rPr lang="es-MX" sz="1800" b="0" i="1" smtClean="0">
                                  <a:latin typeface="Cambria Math" panose="02040503050406030204" pitchFamily="18" charset="0"/>
                                </a:rPr>
                                <m:t>𝐵</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func>
                            <m:funcPr>
                              <m:ctrlPr>
                                <a:rPr lang="es-MX" sz="1800" i="1">
                                  <a:latin typeface="Cambria Math" panose="02040503050406030204" pitchFamily="18" charset="0"/>
                                </a:rPr>
                              </m:ctrlPr>
                            </m:funcPr>
                            <m:fName>
                              <m:sSub>
                                <m:sSubPr>
                                  <m:ctrlPr>
                                    <a:rPr lang="es-MX" sz="1800" i="1">
                                      <a:latin typeface="Cambria Math" panose="02040503050406030204" pitchFamily="18" charset="0"/>
                                    </a:rPr>
                                  </m:ctrlPr>
                                </m:sSubPr>
                                <m:e>
                                  <m:r>
                                    <m:rPr>
                                      <m:sty m:val="p"/>
                                    </m:rPr>
                                    <a:rPr lang="es-MX" sz="1800">
                                      <a:latin typeface="Cambria Math" panose="02040503050406030204" pitchFamily="18" charset="0"/>
                                    </a:rPr>
                                    <m:t>log</m:t>
                                  </m:r>
                                </m:e>
                                <m:sub>
                                  <m:r>
                                    <a:rPr lang="es-MX" sz="1800" i="1">
                                      <a:latin typeface="Cambria Math" panose="02040503050406030204" pitchFamily="18" charset="0"/>
                                    </a:rPr>
                                    <m:t>2</m:t>
                                  </m:r>
                                </m:sub>
                              </m:sSub>
                            </m:fName>
                            <m:e>
                              <m:r>
                                <a:rPr lang="es-MX" sz="1800" b="0" i="1" smtClean="0">
                                  <a:latin typeface="Cambria Math" panose="02040503050406030204" pitchFamily="18" charset="0"/>
                                </a:rPr>
                                <m:t>10000</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r>
                            <a:rPr lang="es-MX" sz="1800" b="0" i="1" smtClean="0">
                              <a:latin typeface="Cambria Math" panose="02040503050406030204" pitchFamily="18" charset="0"/>
                            </a:rPr>
                            <m:t>13.28</m:t>
                          </m:r>
                        </m:e>
                      </m:d>
                      <m:r>
                        <a:rPr lang="es-MX" sz="1800" b="0" i="1" smtClean="0">
                          <a:latin typeface="Cambria Math" panose="02040503050406030204" pitchFamily="18" charset="0"/>
                        </a:rPr>
                        <m:t>=14</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𝑟𝑒𝑔</m:t>
                          </m:r>
                        </m:sub>
                      </m:sSub>
                      <m:r>
                        <a:rPr lang="es-MX" sz="1800" b="0" i="1" smtClean="0">
                          <a:latin typeface="Cambria Math" panose="02040503050406030204" pitchFamily="18" charset="0"/>
                        </a:rPr>
                        <m:t>=1</m:t>
                      </m:r>
                    </m:oMath>
                  </m:oMathPara>
                </a14:m>
                <a:endParaRPr lang="es-MX" sz="1800" b="1"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r>
                            <a:rPr lang="es-MX" sz="1800" b="0" i="1" smtClean="0">
                              <a:latin typeface="Cambria Math" panose="02040503050406030204" pitchFamily="18" charset="0"/>
                            </a:rPr>
                            <m:t>𝑂</m:t>
                          </m:r>
                        </m:den>
                      </m:f>
                      <m:r>
                        <a:rPr lang="es-MX" sz="1800" b="0" i="1" smtClean="0">
                          <a:latin typeface="Cambria Math" panose="02040503050406030204" pitchFamily="18" charset="0"/>
                        </a:rPr>
                        <m:t>=14+1=15</m:t>
                      </m:r>
                    </m:oMath>
                  </m:oMathPara>
                </a14:m>
                <a:endParaRPr lang="es-MX" sz="1800" b="1"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𝑇</m:t>
                          </m:r>
                        </m:e>
                        <m:sub>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sub>
                      </m:sSub>
                      <m:r>
                        <a:rPr lang="es-MX" sz="1800" b="0" i="1" smtClean="0">
                          <a:latin typeface="Cambria Math" panose="02040503050406030204" pitchFamily="18" charset="0"/>
                        </a:rPr>
                        <m:t>=15×10 </m:t>
                      </m:r>
                      <m:r>
                        <a:rPr lang="es-MX" sz="1800" b="0" i="1" smtClean="0">
                          <a:latin typeface="Cambria Math" panose="02040503050406030204" pitchFamily="18" charset="0"/>
                        </a:rPr>
                        <m:t>𝑚𝑠</m:t>
                      </m:r>
                      <m:r>
                        <a:rPr lang="es-MX" sz="1800" b="0" i="1" smtClean="0">
                          <a:latin typeface="Cambria Math" panose="02040503050406030204" pitchFamily="18" charset="0"/>
                        </a:rPr>
                        <m:t>=150 </m:t>
                      </m:r>
                      <m:r>
                        <a:rPr lang="es-MX" sz="1800" b="0" i="1" smtClean="0">
                          <a:latin typeface="Cambria Math" panose="02040503050406030204" pitchFamily="18" charset="0"/>
                        </a:rPr>
                        <m:t>𝑚𝑠</m:t>
                      </m:r>
                    </m:oMath>
                  </m:oMathPara>
                </a14:m>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887038" y="809564"/>
                <a:ext cx="11304962" cy="4086901"/>
              </a:xfrm>
              <a:prstGeom prst="rect">
                <a:avLst/>
              </a:prstGeom>
              <a:blipFill>
                <a:blip r:embed="rId3"/>
                <a:stretch>
                  <a:fillRect b="-8806"/>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431961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2 – Costo con índice denso</a:t>
            </a:r>
            <a:endParaRPr dirty="0"/>
          </a:p>
        </p:txBody>
      </p:sp>
      <p:pic>
        <p:nvPicPr>
          <p:cNvPr id="20" name="Imagen 19">
            <a:extLst>
              <a:ext uri="{FF2B5EF4-FFF2-40B4-BE49-F238E27FC236}">
                <a16:creationId xmlns:a16="http://schemas.microsoft.com/office/drawing/2014/main" id="{33D4AC5F-91D6-4988-BEA8-A88D949D30BE}"/>
              </a:ext>
            </a:extLst>
          </p:cNvPr>
          <p:cNvPicPr>
            <a:picLocks noChangeAspect="1"/>
          </p:cNvPicPr>
          <p:nvPr/>
        </p:nvPicPr>
        <p:blipFill>
          <a:blip r:embed="rId3"/>
          <a:stretch>
            <a:fillRect/>
          </a:stretch>
        </p:blipFill>
        <p:spPr>
          <a:xfrm>
            <a:off x="3646807" y="1704027"/>
            <a:ext cx="4898386" cy="4400246"/>
          </a:xfrm>
          <a:prstGeom prst="rect">
            <a:avLst/>
          </a:prstGeom>
        </p:spPr>
      </p:pic>
      <p:sp>
        <p:nvSpPr>
          <p:cNvPr id="22" name="Google Shape;310;p34">
            <a:extLst>
              <a:ext uri="{FF2B5EF4-FFF2-40B4-BE49-F238E27FC236}">
                <a16:creationId xmlns:a16="http://schemas.microsoft.com/office/drawing/2014/main" id="{AC556F28-CB7D-47AF-ACA2-E56AC67FC277}"/>
              </a:ext>
            </a:extLst>
          </p:cNvPr>
          <p:cNvSpPr txBox="1">
            <a:spLocks/>
          </p:cNvSpPr>
          <p:nvPr/>
        </p:nvSpPr>
        <p:spPr>
          <a:xfrm>
            <a:off x="773967" y="948751"/>
            <a:ext cx="11024743" cy="5071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lgn="l">
              <a:buNone/>
            </a:pPr>
            <a:r>
              <a:rPr lang="es-CO" sz="2000" b="1" i="0" dirty="0">
                <a:solidFill>
                  <a:srgbClr val="141413"/>
                </a:solidFill>
                <a:effectLst/>
                <a:latin typeface="Roboto" panose="02000000000000000000" pitchFamily="2" charset="0"/>
                <a:ea typeface="Roboto" panose="02000000000000000000" pitchFamily="2" charset="0"/>
              </a:rPr>
              <a:t>Índice denso — 15 entradas (1 por registro, 5 registros por bloque)</a:t>
            </a:r>
            <a:br>
              <a:rPr lang="es-CO" sz="1600" dirty="0"/>
            </a:br>
            <a:endParaRPr lang="es-MX" sz="1800" dirty="0"/>
          </a:p>
          <a:p>
            <a:pPr marL="127000" indent="0">
              <a:buNone/>
            </a:pPr>
            <a:endParaRPr lang="es-MX" sz="2400" dirty="0"/>
          </a:p>
        </p:txBody>
      </p:sp>
    </p:spTree>
    <p:extLst>
      <p:ext uri="{BB962C8B-B14F-4D97-AF65-F5344CB8AC3E}">
        <p14:creationId xmlns:p14="http://schemas.microsoft.com/office/powerpoint/2010/main" val="283977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49" y="96038"/>
            <a:ext cx="90385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sz="2800" dirty="0"/>
              <a:t>Ejemplo 2 – Costo con índice denso</a:t>
            </a:r>
            <a:endParaRPr lang="es-CO" sz="2800"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1" y="975743"/>
            <a:ext cx="10793570" cy="5728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4"/>
            </a:pPr>
            <a:r>
              <a:rPr lang="es-MX" sz="2000" b="1" dirty="0"/>
              <a:t>Comparación</a:t>
            </a:r>
            <a:r>
              <a:rPr lang="es-MX" sz="2000" dirty="0"/>
              <a:t>: La siguiente tabla resume los resultados:</a:t>
            </a:r>
            <a:endParaRPr lang="es-MX" sz="2000" b="1" dirty="0"/>
          </a:p>
          <a:p>
            <a:pPr lvl="1"/>
            <a:endParaRPr lang="es-MX" sz="1800" dirty="0"/>
          </a:p>
          <a:p>
            <a:pPr lvl="1"/>
            <a:endParaRPr lang="es-MX" sz="1800" dirty="0"/>
          </a:p>
          <a:p>
            <a:pPr lvl="1"/>
            <a:endParaRPr lang="es-MX" sz="1800" dirty="0"/>
          </a:p>
          <a:p>
            <a:pPr lvl="1"/>
            <a:endParaRPr lang="es-MX" sz="1800" dirty="0"/>
          </a:p>
          <a:p>
            <a:pPr lvl="1"/>
            <a:endParaRPr lang="es-MX" sz="1800" dirty="0"/>
          </a:p>
          <a:p>
            <a:pPr lvl="1"/>
            <a:endParaRPr lang="es-MX" sz="1800" dirty="0"/>
          </a:p>
          <a:p>
            <a:pPr marL="584200" lvl="1" indent="0">
              <a:buNone/>
            </a:pPr>
            <a:endParaRPr lang="es-MX" sz="1800" dirty="0"/>
          </a:p>
          <a:p>
            <a:pPr marL="584200" lvl="1" indent="0">
              <a:buNone/>
            </a:pPr>
            <a:endParaRPr lang="es-MX" sz="1800" dirty="0"/>
          </a:p>
          <a:p>
            <a:pPr lvl="1"/>
            <a:endParaRPr lang="es-MX" sz="1800" dirty="0"/>
          </a:p>
          <a:p>
            <a:pPr marL="342900" indent="-342900"/>
            <a:endParaRPr lang="es-MX" sz="2000" dirty="0">
              <a:latin typeface="Roboto" panose="02000000000000000000" pitchFamily="2" charset="0"/>
              <a:ea typeface="Roboto" panose="02000000000000000000" pitchFamily="2" charset="0"/>
            </a:endParaRPr>
          </a:p>
        </p:txBody>
      </p:sp>
      <p:graphicFrame>
        <p:nvGraphicFramePr>
          <p:cNvPr id="3" name="Tabla 2">
            <a:extLst>
              <a:ext uri="{FF2B5EF4-FFF2-40B4-BE49-F238E27FC236}">
                <a16:creationId xmlns:a16="http://schemas.microsoft.com/office/drawing/2014/main" id="{CC30C859-8308-48F6-8B43-540DFE624BEA}"/>
              </a:ext>
            </a:extLst>
          </p:cNvPr>
          <p:cNvGraphicFramePr>
            <a:graphicFrameLocks noGrp="1"/>
          </p:cNvGraphicFramePr>
          <p:nvPr>
            <p:extLst>
              <p:ext uri="{D42A27DB-BD31-4B8C-83A1-F6EECF244321}">
                <p14:modId xmlns:p14="http://schemas.microsoft.com/office/powerpoint/2010/main" val="4224234149"/>
              </p:ext>
            </p:extLst>
          </p:nvPr>
        </p:nvGraphicFramePr>
        <p:xfrm>
          <a:off x="2289554" y="1774723"/>
          <a:ext cx="8047763" cy="914400"/>
        </p:xfrm>
        <a:graphic>
          <a:graphicData uri="http://schemas.openxmlformats.org/drawingml/2006/table">
            <a:tbl>
              <a:tblPr/>
              <a:tblGrid>
                <a:gridCol w="1430655">
                  <a:extLst>
                    <a:ext uri="{9D8B030D-6E8A-4147-A177-3AD203B41FA5}">
                      <a16:colId xmlns:a16="http://schemas.microsoft.com/office/drawing/2014/main" val="2390759613"/>
                    </a:ext>
                  </a:extLst>
                </a:gridCol>
                <a:gridCol w="1654277">
                  <a:extLst>
                    <a:ext uri="{9D8B030D-6E8A-4147-A177-3AD203B41FA5}">
                      <a16:colId xmlns:a16="http://schemas.microsoft.com/office/drawing/2014/main" val="1911994780"/>
                    </a:ext>
                  </a:extLst>
                </a:gridCol>
                <a:gridCol w="1654277">
                  <a:extLst>
                    <a:ext uri="{9D8B030D-6E8A-4147-A177-3AD203B41FA5}">
                      <a16:colId xmlns:a16="http://schemas.microsoft.com/office/drawing/2014/main" val="681296000"/>
                    </a:ext>
                  </a:extLst>
                </a:gridCol>
                <a:gridCol w="1654277">
                  <a:extLst>
                    <a:ext uri="{9D8B030D-6E8A-4147-A177-3AD203B41FA5}">
                      <a16:colId xmlns:a16="http://schemas.microsoft.com/office/drawing/2014/main" val="1289567608"/>
                    </a:ext>
                  </a:extLst>
                </a:gridCol>
                <a:gridCol w="1654277">
                  <a:extLst>
                    <a:ext uri="{9D8B030D-6E8A-4147-A177-3AD203B41FA5}">
                      <a16:colId xmlns:a16="http://schemas.microsoft.com/office/drawing/2014/main" val="2636416250"/>
                    </a:ext>
                  </a:extLst>
                </a:gridCol>
              </a:tblGrid>
              <a:tr h="0">
                <a:tc>
                  <a:txBody>
                    <a:bodyPr/>
                    <a:lstStyle/>
                    <a:p>
                      <a:endParaRPr lang="es-CO">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b="1" dirty="0">
                          <a:latin typeface="Roboto" panose="02000000000000000000" pitchFamily="2" charset="0"/>
                          <a:ea typeface="Roboto" panose="02000000000000000000" pitchFamily="2" charset="0"/>
                        </a:rPr>
                        <a:t>Entradas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a:latin typeface="Roboto" panose="02000000000000000000" pitchFamily="2" charset="0"/>
                          <a:ea typeface="Roboto" panose="02000000000000000000" pitchFamily="2" charset="0"/>
                        </a:rPr>
                        <a:t>Bloques del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a:latin typeface="Roboto" panose="02000000000000000000" pitchFamily="2" charset="0"/>
                          <a:ea typeface="Roboto" panose="02000000000000000000" pitchFamily="2" charset="0"/>
                        </a:rPr>
                        <a:t>Costo búsqueda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dirty="0">
                          <a:latin typeface="Roboto" panose="02000000000000000000" pitchFamily="2" charset="0"/>
                          <a:ea typeface="Roboto" panose="02000000000000000000" pitchFamily="2" charset="0"/>
                        </a:rPr>
                        <a:t>Costo tiempo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332653248"/>
                  </a:ext>
                </a:extLst>
              </a:tr>
              <a:tr h="0">
                <a:tc>
                  <a:txBody>
                    <a:bodyPr/>
                    <a:lstStyle/>
                    <a:p>
                      <a:r>
                        <a:rPr lang="es-CO" b="1" dirty="0">
                          <a:latin typeface="Roboto" panose="02000000000000000000" pitchFamily="2" charset="0"/>
                          <a:ea typeface="Roboto" panose="02000000000000000000" pitchFamily="2" charset="0"/>
                        </a:rPr>
                        <a:t>Índice denso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15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150ms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052162"/>
                  </a:ext>
                </a:extLst>
              </a:tr>
              <a:tr h="0">
                <a:tc>
                  <a:txBody>
                    <a:bodyPr/>
                    <a:lstStyle/>
                    <a:p>
                      <a:r>
                        <a:rPr lang="es-CO" b="1" dirty="0">
                          <a:latin typeface="Roboto" panose="02000000000000000000" pitchFamily="2" charset="0"/>
                          <a:ea typeface="Roboto" panose="02000000000000000000" pitchFamily="2" charset="0"/>
                        </a:rPr>
                        <a:t>Sin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200000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~33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4337973"/>
                  </a:ext>
                </a:extLst>
              </a:tr>
            </a:tbl>
          </a:graphicData>
        </a:graphic>
      </p:graphicFrame>
    </p:spTree>
    <p:extLst>
      <p:ext uri="{BB962C8B-B14F-4D97-AF65-F5344CB8AC3E}">
        <p14:creationId xmlns:p14="http://schemas.microsoft.com/office/powerpoint/2010/main" val="3792430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Costo con índice disperso</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685477" y="876426"/>
            <a:ext cx="11304962" cy="24272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Usando la misma tabla de Estudiantes, ahora se construye un </a:t>
            </a:r>
            <a:r>
              <a:rPr lang="es-MX" sz="2000" b="1" dirty="0"/>
              <a:t>índice disperso</a:t>
            </a:r>
            <a:r>
              <a:rPr lang="es-MX" sz="2000" dirty="0"/>
              <a:t> sobre el ID, con una entrada por cada bloque del archivo.</a:t>
            </a:r>
          </a:p>
          <a:p>
            <a:pPr>
              <a:buFont typeface="+mj-lt"/>
              <a:buAutoNum type="arabicPeriod"/>
            </a:pPr>
            <a:r>
              <a:rPr lang="es-MX" sz="2000" dirty="0"/>
              <a:t>¿Cuántas entradas tiene este índice?</a:t>
            </a:r>
          </a:p>
          <a:p>
            <a:pPr>
              <a:buFont typeface="+mj-lt"/>
              <a:buAutoNum type="arabicPeriod"/>
            </a:pPr>
            <a:r>
              <a:rPr lang="es-MX" sz="2000" dirty="0"/>
              <a:t>¿Cuántos bloques ocupa el índice si cada bloque almacena 100 entradas?</a:t>
            </a:r>
          </a:p>
          <a:p>
            <a:pPr>
              <a:buFont typeface="+mj-lt"/>
              <a:buAutoNum type="arabicPeriod"/>
            </a:pPr>
            <a:r>
              <a:rPr lang="es-MX" sz="2000" dirty="0"/>
              <a:t>¿Cuál es el costo en I/O para recuperar el registro con ID = 45565?</a:t>
            </a:r>
          </a:p>
          <a:p>
            <a:pPr>
              <a:buFont typeface="+mj-lt"/>
              <a:buAutoNum type="arabicPeriod"/>
            </a:pPr>
            <a:r>
              <a:rPr lang="es-MX" sz="2000" dirty="0"/>
              <a:t>Compara el espacio ocupado por el índice denso vs el disperso. ¿Qué concluyes?</a:t>
            </a:r>
          </a:p>
          <a:p>
            <a:pPr marL="127000" indent="0">
              <a:buNone/>
            </a:pPr>
            <a:endParaRPr lang="es-MX" sz="2000" b="1" dirty="0"/>
          </a:p>
          <a:p>
            <a:pPr marL="127000" indent="0">
              <a:buNone/>
            </a:pPr>
            <a:endParaRPr lang="es-MX" sz="2000" dirty="0"/>
          </a:p>
        </p:txBody>
      </p:sp>
    </p:spTree>
    <p:extLst>
      <p:ext uri="{BB962C8B-B14F-4D97-AF65-F5344CB8AC3E}">
        <p14:creationId xmlns:p14="http://schemas.microsoft.com/office/powerpoint/2010/main" val="1069163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Costo con índice disperso</a:t>
            </a:r>
            <a:endParaRPr dirty="0"/>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8"/>
                <a:ext cx="11304962" cy="22138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a:pPr>
                <a:r>
                  <a:rPr lang="es-MX" sz="1800" b="1" dirty="0"/>
                  <a:t>Índice disperso sobre </a:t>
                </a:r>
                <a:r>
                  <a:rPr lang="es-MX" sz="1800" b="1" dirty="0">
                    <a:latin typeface="Consolas" panose="020B0609020204030204" pitchFamily="49" charset="0"/>
                  </a:rPr>
                  <a:t>ID (</a:t>
                </a:r>
                <a:r>
                  <a:rPr lang="es-MX" sz="1800" b="1" dirty="0" err="1">
                    <a:latin typeface="Consolas" panose="020B0609020204030204" pitchFamily="49" charset="0"/>
                  </a:rPr>
                  <a:t>ID,puntero</a:t>
                </a:r>
                <a:r>
                  <a:rPr lang="es-MX" sz="1800" b="1" dirty="0">
                    <a:latin typeface="Consolas" panose="020B0609020204030204" pitchFamily="49" charset="0"/>
                  </a:rPr>
                  <a:t> </a:t>
                </a:r>
                <a:r>
                  <a:rPr lang="es-MX" sz="1800" b="1" dirty="0">
                    <a:latin typeface="Consolas" panose="020B0609020204030204" pitchFamily="49" charset="0"/>
                    <a:sym typeface="Wingdings" panose="05000000000000000000" pitchFamily="2" charset="2"/>
                  </a:rPr>
                  <a:t></a:t>
                </a:r>
                <a:r>
                  <a:rPr lang="es-MX" sz="1800" b="1" dirty="0">
                    <a:latin typeface="Consolas" panose="020B0609020204030204" pitchFamily="49" charset="0"/>
                  </a:rPr>
                  <a:t>)</a:t>
                </a:r>
                <a:r>
                  <a:rPr lang="es-MX" sz="1800" dirty="0"/>
                  <a:t>: En un índice disperso hay una entrada por bloque del archivo de datos, no una por registro.</a:t>
                </a:r>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𝐼𝑛𝑑𝑒𝑥</m:t>
                          </m:r>
                        </m:sub>
                      </m:sSub>
                      <m:r>
                        <a:rPr lang="es-MX" sz="1800" b="0" i="1" smtClean="0">
                          <a:latin typeface="Cambria Math" panose="02040503050406030204" pitchFamily="18" charset="0"/>
                        </a:rPr>
                        <m:t>=</m:t>
                      </m:r>
                      <m:r>
                        <a:rPr lang="es-MX" sz="1800" b="0" i="1" smtClean="0">
                          <a:latin typeface="Cambria Math" panose="02040503050406030204" pitchFamily="18" charset="0"/>
                        </a:rPr>
                        <m:t>𝐵</m:t>
                      </m:r>
                      <m:r>
                        <a:rPr lang="es-MX" sz="1800" b="0" i="1" smtClean="0">
                          <a:latin typeface="Cambria Math" panose="02040503050406030204" pitchFamily="18" charset="0"/>
                        </a:rPr>
                        <m:t>=200000</m:t>
                      </m:r>
                    </m:oMath>
                  </m:oMathPara>
                </a14:m>
                <a:endParaRPr lang="es-MX" sz="2000" dirty="0"/>
              </a:p>
              <a:p>
                <a:pPr marL="127000" indent="0">
                  <a:buNone/>
                </a:pPr>
                <a:endParaRPr lang="es-MX" sz="1800" dirty="0"/>
              </a:p>
              <a:p>
                <a:pPr marL="127000" indent="0">
                  <a:buNone/>
                </a:pPr>
                <a:r>
                  <a:rPr lang="es-MX" sz="1800" dirty="0"/>
                  <a:t>Comparado con el índice denso (1000000 entradas), el indice denso tiene 5 veces menos entradas.</a:t>
                </a:r>
              </a:p>
            </p:txBody>
          </p:sp>
        </mc:Choice>
        <mc:Fallback xmlns="">
          <p:sp>
            <p:nvSpPr>
              <p:cNvPr id="7" name="Google Shape;310;p34">
                <a:extLst>
                  <a:ext uri="{FF2B5EF4-FFF2-40B4-BE49-F238E27FC236}">
                    <a16:creationId xmlns:a16="http://schemas.microsoft.com/office/drawing/2014/main" id="{70DEFA27-6AC4-4939-80A7-2BA081AB3D70}"/>
                  </a:ext>
                </a:extLst>
              </p:cNvPr>
              <p:cNvSpPr txBox="1">
                <a:spLocks noRot="1" noChangeAspect="1" noMove="1" noResize="1" noEditPoints="1" noAdjustHandles="1" noChangeArrowheads="1" noChangeShapeType="1" noTextEdit="1"/>
              </p:cNvSpPr>
              <p:nvPr/>
            </p:nvSpPr>
            <p:spPr>
              <a:xfrm>
                <a:off x="759219" y="1045538"/>
                <a:ext cx="11304962" cy="2213855"/>
              </a:xfrm>
              <a:prstGeom prst="rect">
                <a:avLst/>
              </a:prstGeom>
              <a:blipFill>
                <a:blip r:embed="rId3"/>
                <a:stretch>
                  <a:fillRect/>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655980" y="3429000"/>
                <a:ext cx="11304962" cy="17501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2"/>
                </a:pPr>
                <a:r>
                  <a:rPr lang="es-MX" sz="1800" dirty="0"/>
                  <a:t>Cantidad de bloques ocupadas por el índice denso:</a:t>
                </a:r>
              </a:p>
              <a:p>
                <a:pPr marL="469900" indent="-342900">
                  <a:buFont typeface="+mj-lt"/>
                  <a:buAutoNum type="arabicPeriod" startAt="2"/>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r>
                        <a:rPr lang="es-MX" sz="1800" i="1">
                          <a:latin typeface="Cambria Math" panose="02040503050406030204" pitchFamily="18" charset="0"/>
                        </a:rPr>
                        <m:t>=</m:t>
                      </m:r>
                      <m:f>
                        <m:fPr>
                          <m:ctrlPr>
                            <a:rPr lang="es-MX" sz="1800" i="1">
                              <a:latin typeface="Cambria Math" panose="02040503050406030204" pitchFamily="18" charset="0"/>
                            </a:rPr>
                          </m:ctrlPr>
                        </m:fPr>
                        <m:num>
                          <m:r>
                            <a:rPr lang="es-MX" sz="1800" i="1">
                              <a:latin typeface="Cambria Math" panose="02040503050406030204" pitchFamily="18" charset="0"/>
                            </a:rPr>
                            <m:t>𝑁</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sub>
                          </m:sSub>
                        </m:den>
                      </m:f>
                      <m:r>
                        <a:rPr lang="es-MX" sz="1800" i="1">
                          <a:latin typeface="Cambria Math" panose="02040503050406030204" pitchFamily="18" charset="0"/>
                        </a:rPr>
                        <m:t>=</m:t>
                      </m:r>
                      <m:f>
                        <m:fPr>
                          <m:ctrlPr>
                            <a:rPr lang="es-MX" sz="1800" i="1">
                              <a:latin typeface="Cambria Math" panose="02040503050406030204" pitchFamily="18" charset="0"/>
                            </a:rPr>
                          </m:ctrlPr>
                        </m:fPr>
                        <m:num>
                          <m:r>
                            <a:rPr lang="es-MX" sz="1800" b="0" i="1" smtClean="0">
                              <a:latin typeface="Cambria Math" panose="02040503050406030204" pitchFamily="18" charset="0"/>
                            </a:rPr>
                            <m:t>2</m:t>
                          </m:r>
                          <m:r>
                            <a:rPr lang="es-MX" sz="1800" i="1">
                              <a:latin typeface="Cambria Math" panose="02040503050406030204" pitchFamily="18" charset="0"/>
                            </a:rPr>
                            <m:t>00000</m:t>
                          </m:r>
                        </m:num>
                        <m:den>
                          <m:r>
                            <a:rPr lang="es-MX" sz="1800" b="0" i="1" smtClean="0">
                              <a:latin typeface="Cambria Math" panose="02040503050406030204" pitchFamily="18" charset="0"/>
                            </a:rPr>
                            <m:t>1</m:t>
                          </m:r>
                          <m:r>
                            <a:rPr lang="es-MX" sz="1800" i="1">
                              <a:latin typeface="Cambria Math" panose="02040503050406030204" pitchFamily="18" charset="0"/>
                            </a:rPr>
                            <m:t>00</m:t>
                          </m:r>
                        </m:den>
                      </m:f>
                      <m:r>
                        <a:rPr lang="es-MX" sz="1800" i="1">
                          <a:latin typeface="Cambria Math" panose="02040503050406030204" pitchFamily="18" charset="0"/>
                        </a:rPr>
                        <m:t>=</m:t>
                      </m:r>
                      <m:r>
                        <a:rPr lang="es-MX" sz="1800" b="0" i="1" smtClean="0">
                          <a:latin typeface="Cambria Math" panose="02040503050406030204" pitchFamily="18" charset="0"/>
                        </a:rPr>
                        <m:t>2000 </m:t>
                      </m:r>
                      <m:r>
                        <a:rPr lang="es-MX" sz="1800" b="0" i="1" smtClean="0">
                          <a:latin typeface="Cambria Math" panose="02040503050406030204" pitchFamily="18" charset="0"/>
                        </a:rPr>
                        <m:t>𝑏𝑙𝑜𝑞𝑢𝑒𝑠</m:t>
                      </m:r>
                    </m:oMath>
                  </m:oMathPara>
                </a14:m>
                <a:endParaRPr lang="es-MX" sz="1800" dirty="0"/>
              </a:p>
              <a:p>
                <a:pPr marL="127000" indent="0">
                  <a:buNone/>
                </a:pPr>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655980" y="3429000"/>
                <a:ext cx="11304962" cy="1750143"/>
              </a:xfrm>
              <a:prstGeom prst="rect">
                <a:avLst/>
              </a:prstGeom>
              <a:blipFill>
                <a:blip r:embed="rId4"/>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699265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7135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Costo con índice disperso</a:t>
            </a:r>
            <a:endParaRPr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887038" y="809564"/>
                <a:ext cx="11304962" cy="408690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dirty="0"/>
                  <a:t>Costo I/O para recuperar el </a:t>
                </a:r>
                <a:r>
                  <a:rPr lang="es-MX" sz="1800" b="1" dirty="0">
                    <a:latin typeface="Consolas" panose="020B0609020204030204" pitchFamily="49" charset="0"/>
                  </a:rPr>
                  <a:t>ID = 45565</a:t>
                </a:r>
                <a:r>
                  <a:rPr lang="es-MX" sz="1800" dirty="0"/>
                  <a:t>.</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r>
                            <a:rPr lang="es-MX" sz="1800" b="0" i="1" smtClean="0">
                              <a:latin typeface="Cambria Math" panose="02040503050406030204" pitchFamily="18" charset="0"/>
                            </a:rPr>
                            <m:t>𝑂</m:t>
                          </m:r>
                        </m:den>
                      </m:f>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𝑟𝑒𝑔</m:t>
                          </m:r>
                        </m:sub>
                      </m:sSub>
                    </m:oMath>
                  </m:oMathPara>
                </a14:m>
                <a:endParaRPr lang="es-MX" sz="1800" b="1"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d>
                        <m:dPr>
                          <m:begChr m:val="⌈"/>
                          <m:endChr m:val="⌉"/>
                          <m:ctrlPr>
                            <a:rPr lang="es-MX" sz="1800" b="0" i="1" smtClean="0">
                              <a:latin typeface="Cambria Math" panose="02040503050406030204" pitchFamily="18" charset="0"/>
                            </a:rPr>
                          </m:ctrlPr>
                        </m:dPr>
                        <m:e>
                          <m:func>
                            <m:funcPr>
                              <m:ctrlPr>
                                <a:rPr lang="es-MX" sz="1800" b="0" i="1" smtClean="0">
                                  <a:latin typeface="Cambria Math" panose="02040503050406030204" pitchFamily="18" charset="0"/>
                                </a:rPr>
                              </m:ctrlPr>
                            </m:funcPr>
                            <m:fName>
                              <m:sSub>
                                <m:sSubPr>
                                  <m:ctrlPr>
                                    <a:rPr lang="es-MX" sz="1800" b="0" i="1" smtClean="0">
                                      <a:latin typeface="Cambria Math" panose="02040503050406030204" pitchFamily="18" charset="0"/>
                                    </a:rPr>
                                  </m:ctrlPr>
                                </m:sSubPr>
                                <m:e>
                                  <m:r>
                                    <m:rPr>
                                      <m:sty m:val="p"/>
                                    </m:rPr>
                                    <a:rPr lang="es-MX" sz="1800" b="0" i="0" smtClean="0">
                                      <a:latin typeface="Cambria Math" panose="02040503050406030204" pitchFamily="18" charset="0"/>
                                    </a:rPr>
                                    <m:t>log</m:t>
                                  </m:r>
                                </m:e>
                                <m:sub>
                                  <m:r>
                                    <a:rPr lang="es-MX" sz="1800" b="0" i="1" smtClean="0">
                                      <a:latin typeface="Cambria Math" panose="02040503050406030204" pitchFamily="18" charset="0"/>
                                    </a:rPr>
                                    <m:t>2</m:t>
                                  </m:r>
                                </m:sub>
                              </m:sSub>
                            </m:fName>
                            <m:e>
                              <m:r>
                                <a:rPr lang="es-MX" sz="1800" b="0" i="1" smtClean="0">
                                  <a:latin typeface="Cambria Math" panose="02040503050406030204" pitchFamily="18" charset="0"/>
                                </a:rPr>
                                <m:t>𝐵</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func>
                            <m:funcPr>
                              <m:ctrlPr>
                                <a:rPr lang="es-MX" sz="1800" i="1">
                                  <a:latin typeface="Cambria Math" panose="02040503050406030204" pitchFamily="18" charset="0"/>
                                </a:rPr>
                              </m:ctrlPr>
                            </m:funcPr>
                            <m:fName>
                              <m:sSub>
                                <m:sSubPr>
                                  <m:ctrlPr>
                                    <a:rPr lang="es-MX" sz="1800" i="1">
                                      <a:latin typeface="Cambria Math" panose="02040503050406030204" pitchFamily="18" charset="0"/>
                                    </a:rPr>
                                  </m:ctrlPr>
                                </m:sSubPr>
                                <m:e>
                                  <m:r>
                                    <m:rPr>
                                      <m:sty m:val="p"/>
                                    </m:rPr>
                                    <a:rPr lang="es-MX" sz="1800">
                                      <a:latin typeface="Cambria Math" panose="02040503050406030204" pitchFamily="18" charset="0"/>
                                    </a:rPr>
                                    <m:t>log</m:t>
                                  </m:r>
                                </m:e>
                                <m:sub>
                                  <m:r>
                                    <a:rPr lang="es-MX" sz="1800" i="1">
                                      <a:latin typeface="Cambria Math" panose="02040503050406030204" pitchFamily="18" charset="0"/>
                                    </a:rPr>
                                    <m:t>2</m:t>
                                  </m:r>
                                </m:sub>
                              </m:sSub>
                            </m:fName>
                            <m:e>
                              <m:r>
                                <a:rPr lang="es-MX" sz="1800" b="0" i="1" smtClean="0">
                                  <a:latin typeface="Cambria Math" panose="02040503050406030204" pitchFamily="18" charset="0"/>
                                </a:rPr>
                                <m:t>2000</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r>
                            <a:rPr lang="es-MX" sz="1800" b="0" i="1" smtClean="0">
                              <a:latin typeface="Cambria Math" panose="02040503050406030204" pitchFamily="18" charset="0"/>
                            </a:rPr>
                            <m:t>10.96</m:t>
                          </m:r>
                        </m:e>
                      </m:d>
                      <m:r>
                        <a:rPr lang="es-MX" sz="1800" b="0" i="1" smtClean="0">
                          <a:latin typeface="Cambria Math" panose="02040503050406030204" pitchFamily="18" charset="0"/>
                        </a:rPr>
                        <m:t>=11</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𝑟𝑒𝑔</m:t>
                          </m:r>
                        </m:sub>
                      </m:sSub>
                      <m:r>
                        <a:rPr lang="es-MX" sz="1800" b="0" i="1" smtClean="0">
                          <a:latin typeface="Cambria Math" panose="02040503050406030204" pitchFamily="18" charset="0"/>
                        </a:rPr>
                        <m:t>=1</m:t>
                      </m:r>
                    </m:oMath>
                  </m:oMathPara>
                </a14:m>
                <a:endParaRPr lang="es-MX" sz="1800" b="1"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r>
                            <a:rPr lang="es-MX" sz="1800" b="0" i="1" smtClean="0">
                              <a:latin typeface="Cambria Math" panose="02040503050406030204" pitchFamily="18" charset="0"/>
                            </a:rPr>
                            <m:t>𝑂</m:t>
                          </m:r>
                        </m:den>
                      </m:f>
                      <m:r>
                        <a:rPr lang="es-MX" sz="1800" b="0" i="1" smtClean="0">
                          <a:latin typeface="Cambria Math" panose="02040503050406030204" pitchFamily="18" charset="0"/>
                        </a:rPr>
                        <m:t>=11+1=12</m:t>
                      </m:r>
                    </m:oMath>
                  </m:oMathPara>
                </a14:m>
                <a:endParaRPr lang="es-MX" sz="1800" b="1"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𝑇</m:t>
                          </m:r>
                        </m:e>
                        <m:sub>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sub>
                      </m:sSub>
                      <m:r>
                        <a:rPr lang="es-MX" sz="1800" b="0" i="1" smtClean="0">
                          <a:latin typeface="Cambria Math" panose="02040503050406030204" pitchFamily="18" charset="0"/>
                        </a:rPr>
                        <m:t>=12×10 </m:t>
                      </m:r>
                      <m:r>
                        <a:rPr lang="es-MX" sz="1800" b="0" i="1" smtClean="0">
                          <a:latin typeface="Cambria Math" panose="02040503050406030204" pitchFamily="18" charset="0"/>
                        </a:rPr>
                        <m:t>𝑚𝑠</m:t>
                      </m:r>
                      <m:r>
                        <a:rPr lang="es-MX" sz="1800" b="0" i="1" smtClean="0">
                          <a:latin typeface="Cambria Math" panose="02040503050406030204" pitchFamily="18" charset="0"/>
                        </a:rPr>
                        <m:t>=120 </m:t>
                      </m:r>
                      <m:r>
                        <a:rPr lang="es-MX" sz="1800" b="0" i="1" smtClean="0">
                          <a:latin typeface="Cambria Math" panose="02040503050406030204" pitchFamily="18" charset="0"/>
                        </a:rPr>
                        <m:t>𝑚𝑠</m:t>
                      </m:r>
                    </m:oMath>
                  </m:oMathPara>
                </a14:m>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887038" y="809564"/>
                <a:ext cx="11304962" cy="4086901"/>
              </a:xfrm>
              <a:prstGeom prst="rect">
                <a:avLst/>
              </a:prstGeom>
              <a:blipFill>
                <a:blip r:embed="rId3"/>
                <a:stretch>
                  <a:fillRect b="-2836"/>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577555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7135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Costo con índice disperso</a:t>
            </a:r>
            <a:endParaRPr dirty="0"/>
          </a:p>
        </p:txBody>
      </p:sp>
      <p:pic>
        <p:nvPicPr>
          <p:cNvPr id="4" name="Imagen 3">
            <a:extLst>
              <a:ext uri="{FF2B5EF4-FFF2-40B4-BE49-F238E27FC236}">
                <a16:creationId xmlns:a16="http://schemas.microsoft.com/office/drawing/2014/main" id="{A16AEF66-DAE7-4847-A8D9-B08CAA13A23F}"/>
              </a:ext>
            </a:extLst>
          </p:cNvPr>
          <p:cNvPicPr>
            <a:picLocks noChangeAspect="1"/>
          </p:cNvPicPr>
          <p:nvPr/>
        </p:nvPicPr>
        <p:blipFill>
          <a:blip r:embed="rId3"/>
          <a:stretch>
            <a:fillRect/>
          </a:stretch>
        </p:blipFill>
        <p:spPr>
          <a:xfrm>
            <a:off x="3327967" y="1595085"/>
            <a:ext cx="5536065" cy="4920947"/>
          </a:xfrm>
          <a:prstGeom prst="rect">
            <a:avLst/>
          </a:prstGeom>
        </p:spPr>
      </p:pic>
      <p:sp>
        <p:nvSpPr>
          <p:cNvPr id="5" name="Google Shape;310;p34">
            <a:extLst>
              <a:ext uri="{FF2B5EF4-FFF2-40B4-BE49-F238E27FC236}">
                <a16:creationId xmlns:a16="http://schemas.microsoft.com/office/drawing/2014/main" id="{44FB57C0-3B7D-493A-8B2E-F27E0AEB725A}"/>
              </a:ext>
            </a:extLst>
          </p:cNvPr>
          <p:cNvSpPr txBox="1">
            <a:spLocks/>
          </p:cNvSpPr>
          <p:nvPr/>
        </p:nvSpPr>
        <p:spPr>
          <a:xfrm>
            <a:off x="773967" y="948751"/>
            <a:ext cx="11024743" cy="5071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lgn="l">
              <a:buNone/>
            </a:pPr>
            <a:r>
              <a:rPr lang="es-CO" sz="2000" b="1" i="0" dirty="0">
                <a:solidFill>
                  <a:srgbClr val="141413"/>
                </a:solidFill>
                <a:effectLst/>
                <a:latin typeface="Roboto" panose="02000000000000000000" pitchFamily="2" charset="0"/>
                <a:ea typeface="Roboto" panose="02000000000000000000" pitchFamily="2" charset="0"/>
              </a:rPr>
              <a:t>Índice disperso — 3 entradas (1 por bloque, 5 registros/bloque)</a:t>
            </a:r>
          </a:p>
        </p:txBody>
      </p:sp>
    </p:spTree>
    <p:extLst>
      <p:ext uri="{BB962C8B-B14F-4D97-AF65-F5344CB8AC3E}">
        <p14:creationId xmlns:p14="http://schemas.microsoft.com/office/powerpoint/2010/main" val="3104455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49" y="96038"/>
            <a:ext cx="903851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sz="2800" dirty="0"/>
              <a:t>Ejemplo 3 – Costo con índice disperso</a:t>
            </a:r>
            <a:endParaRPr lang="es-CO" sz="2800"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1" y="975743"/>
            <a:ext cx="10793570" cy="5728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84200" indent="-457200">
              <a:buFont typeface="+mj-lt"/>
              <a:buAutoNum type="arabicPeriod" startAt="4"/>
            </a:pPr>
            <a:r>
              <a:rPr lang="es-MX" sz="2000" b="1" dirty="0"/>
              <a:t>Comparación</a:t>
            </a:r>
            <a:r>
              <a:rPr lang="es-MX" sz="2000" dirty="0"/>
              <a:t>: La siguiente tabla resume los resultados:</a:t>
            </a:r>
            <a:endParaRPr lang="es-MX" sz="2000" b="1" dirty="0"/>
          </a:p>
        </p:txBody>
      </p:sp>
      <p:graphicFrame>
        <p:nvGraphicFramePr>
          <p:cNvPr id="3" name="Tabla 2">
            <a:extLst>
              <a:ext uri="{FF2B5EF4-FFF2-40B4-BE49-F238E27FC236}">
                <a16:creationId xmlns:a16="http://schemas.microsoft.com/office/drawing/2014/main" id="{CC30C859-8308-48F6-8B43-540DFE624BEA}"/>
              </a:ext>
            </a:extLst>
          </p:cNvPr>
          <p:cNvGraphicFramePr>
            <a:graphicFrameLocks noGrp="1"/>
          </p:cNvGraphicFramePr>
          <p:nvPr>
            <p:extLst>
              <p:ext uri="{D42A27DB-BD31-4B8C-83A1-F6EECF244321}">
                <p14:modId xmlns:p14="http://schemas.microsoft.com/office/powerpoint/2010/main" val="3961166581"/>
              </p:ext>
            </p:extLst>
          </p:nvPr>
        </p:nvGraphicFramePr>
        <p:xfrm>
          <a:off x="2475270" y="1630276"/>
          <a:ext cx="8047763" cy="1219200"/>
        </p:xfrm>
        <a:graphic>
          <a:graphicData uri="http://schemas.openxmlformats.org/drawingml/2006/table">
            <a:tbl>
              <a:tblPr/>
              <a:tblGrid>
                <a:gridCol w="1430655">
                  <a:extLst>
                    <a:ext uri="{9D8B030D-6E8A-4147-A177-3AD203B41FA5}">
                      <a16:colId xmlns:a16="http://schemas.microsoft.com/office/drawing/2014/main" val="2390759613"/>
                    </a:ext>
                  </a:extLst>
                </a:gridCol>
                <a:gridCol w="1654277">
                  <a:extLst>
                    <a:ext uri="{9D8B030D-6E8A-4147-A177-3AD203B41FA5}">
                      <a16:colId xmlns:a16="http://schemas.microsoft.com/office/drawing/2014/main" val="1911994780"/>
                    </a:ext>
                  </a:extLst>
                </a:gridCol>
                <a:gridCol w="1654277">
                  <a:extLst>
                    <a:ext uri="{9D8B030D-6E8A-4147-A177-3AD203B41FA5}">
                      <a16:colId xmlns:a16="http://schemas.microsoft.com/office/drawing/2014/main" val="681296000"/>
                    </a:ext>
                  </a:extLst>
                </a:gridCol>
                <a:gridCol w="1654277">
                  <a:extLst>
                    <a:ext uri="{9D8B030D-6E8A-4147-A177-3AD203B41FA5}">
                      <a16:colId xmlns:a16="http://schemas.microsoft.com/office/drawing/2014/main" val="1289567608"/>
                    </a:ext>
                  </a:extLst>
                </a:gridCol>
                <a:gridCol w="1654277">
                  <a:extLst>
                    <a:ext uri="{9D8B030D-6E8A-4147-A177-3AD203B41FA5}">
                      <a16:colId xmlns:a16="http://schemas.microsoft.com/office/drawing/2014/main" val="2636416250"/>
                    </a:ext>
                  </a:extLst>
                </a:gridCol>
              </a:tblGrid>
              <a:tr h="0">
                <a:tc>
                  <a:txBody>
                    <a:bodyPr/>
                    <a:lstStyle/>
                    <a:p>
                      <a:endParaRPr lang="es-CO">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b="1" dirty="0">
                          <a:latin typeface="Roboto" panose="02000000000000000000" pitchFamily="2" charset="0"/>
                          <a:ea typeface="Roboto" panose="02000000000000000000" pitchFamily="2" charset="0"/>
                        </a:rPr>
                        <a:t>Entradas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a:latin typeface="Roboto" panose="02000000000000000000" pitchFamily="2" charset="0"/>
                          <a:ea typeface="Roboto" panose="02000000000000000000" pitchFamily="2" charset="0"/>
                        </a:rPr>
                        <a:t>Bloques del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a:latin typeface="Roboto" panose="02000000000000000000" pitchFamily="2" charset="0"/>
                          <a:ea typeface="Roboto" panose="02000000000000000000" pitchFamily="2" charset="0"/>
                        </a:rPr>
                        <a:t>Costo búsqueda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b="1" dirty="0">
                          <a:latin typeface="Roboto" panose="02000000000000000000" pitchFamily="2" charset="0"/>
                          <a:ea typeface="Roboto" panose="02000000000000000000" pitchFamily="2" charset="0"/>
                        </a:rPr>
                        <a:t>Costo tiempo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332653248"/>
                  </a:ext>
                </a:extLst>
              </a:tr>
              <a:tr h="0">
                <a:tc>
                  <a:txBody>
                    <a:bodyPr/>
                    <a:lstStyle/>
                    <a:p>
                      <a:r>
                        <a:rPr lang="es-CO" b="1" dirty="0">
                          <a:latin typeface="Roboto" panose="02000000000000000000" pitchFamily="2" charset="0"/>
                          <a:ea typeface="Roboto" panose="02000000000000000000" pitchFamily="2" charset="0"/>
                        </a:rPr>
                        <a:t>Índice denso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15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150ms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052162"/>
                  </a:ext>
                </a:extLst>
              </a:tr>
              <a:tr h="0">
                <a:tc>
                  <a:txBody>
                    <a:bodyPr/>
                    <a:lstStyle/>
                    <a:p>
                      <a:r>
                        <a:rPr lang="es-CO" b="1" dirty="0">
                          <a:latin typeface="Roboto" panose="02000000000000000000" pitchFamily="2" charset="0"/>
                          <a:ea typeface="Roboto" panose="02000000000000000000" pitchFamily="2" charset="0"/>
                        </a:rPr>
                        <a:t>Índice disperso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12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120ms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608634"/>
                  </a:ext>
                </a:extLst>
              </a:tr>
              <a:tr h="0">
                <a:tc>
                  <a:txBody>
                    <a:bodyPr/>
                    <a:lstStyle/>
                    <a:p>
                      <a:r>
                        <a:rPr lang="es-CO" b="1" dirty="0">
                          <a:latin typeface="Roboto" panose="02000000000000000000" pitchFamily="2" charset="0"/>
                          <a:ea typeface="Roboto" panose="02000000000000000000" pitchFamily="2" charset="0"/>
                        </a:rPr>
                        <a:t>Sin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200000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~33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4337973"/>
                  </a:ext>
                </a:extLst>
              </a:tr>
            </a:tbl>
          </a:graphicData>
        </a:graphic>
      </p:graphicFrame>
      <p:sp>
        <p:nvSpPr>
          <p:cNvPr id="5" name="CuadroTexto 4">
            <a:extLst>
              <a:ext uri="{FF2B5EF4-FFF2-40B4-BE49-F238E27FC236}">
                <a16:creationId xmlns:a16="http://schemas.microsoft.com/office/drawing/2014/main" id="{905E21EF-5143-463D-830B-3F5E5817D6F5}"/>
              </a:ext>
            </a:extLst>
          </p:cNvPr>
          <p:cNvSpPr txBox="1"/>
          <p:nvPr/>
        </p:nvSpPr>
        <p:spPr>
          <a:xfrm>
            <a:off x="1102366" y="3042520"/>
            <a:ext cx="10793570" cy="3416320"/>
          </a:xfrm>
          <a:prstGeom prst="rect">
            <a:avLst/>
          </a:prstGeom>
          <a:noFill/>
        </p:spPr>
        <p:txBody>
          <a:bodyPr wrap="square" rtlCol="0">
            <a:spAutoFit/>
          </a:bodyPr>
          <a:lstStyle/>
          <a:p>
            <a:r>
              <a:rPr lang="es-MX" sz="2000" b="1" dirty="0">
                <a:latin typeface="Roboto" panose="02000000000000000000" pitchFamily="2" charset="0"/>
                <a:ea typeface="Roboto" panose="02000000000000000000" pitchFamily="2" charset="0"/>
              </a:rPr>
              <a:t>Conclusiones</a:t>
            </a:r>
            <a:r>
              <a:rPr lang="es-MX" sz="2000" dirty="0">
                <a:latin typeface="Roboto" panose="02000000000000000000" pitchFamily="2" charset="0"/>
                <a:ea typeface="Roboto" panose="02000000000000000000" pitchFamily="2" charset="0"/>
              </a:rPr>
              <a:t>:</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El índice disperso ocupa 5 veces menos espacio que el denso (2,000 bloques </a:t>
            </a:r>
            <a:r>
              <a:rPr lang="es-MX" sz="1800" b="1" dirty="0">
                <a:latin typeface="Roboto" panose="02000000000000000000" pitchFamily="2" charset="0"/>
                <a:ea typeface="Roboto" panose="02000000000000000000" pitchFamily="2" charset="0"/>
              </a:rPr>
              <a:t>vs</a:t>
            </a:r>
            <a:r>
              <a:rPr lang="es-MX" sz="1800" dirty="0">
                <a:latin typeface="Roboto" panose="02000000000000000000" pitchFamily="2" charset="0"/>
                <a:ea typeface="Roboto" panose="02000000000000000000" pitchFamily="2" charset="0"/>
              </a:rPr>
              <a:t> 10,000 bloques).</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En este caso el índice disperso es ligeramente más rápido (12 I/Os </a:t>
            </a:r>
            <a:r>
              <a:rPr lang="es-MX" sz="1800" b="1" dirty="0">
                <a:latin typeface="Roboto" panose="02000000000000000000" pitchFamily="2" charset="0"/>
                <a:ea typeface="Roboto" panose="02000000000000000000" pitchFamily="2" charset="0"/>
              </a:rPr>
              <a:t>vs</a:t>
            </a:r>
            <a:r>
              <a:rPr lang="es-MX" sz="1800" dirty="0">
                <a:latin typeface="Roboto" panose="02000000000000000000" pitchFamily="2" charset="0"/>
                <a:ea typeface="Roboto" panose="02000000000000000000" pitchFamily="2" charset="0"/>
              </a:rPr>
              <a:t> 15 I/Os), porque su índice tiene menos bloques y la búsqueda binaria requiere menos pasos. </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Sin embargo, el índice disperso requiere que el archivo esté ordenado por la clave de búsqueda — sin ese orden, no puede funcionar.</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Además, el índice disperso obliga a una búsqueda secuencial dentro del bloque al final, lo que agrega cómputo extra sin costo de disco adicional.</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El índice denso garantiza acceso directo al registro exacto sin ninguna búsqueda adicional, a cambio de mayor espacio.</a:t>
            </a:r>
          </a:p>
          <a:p>
            <a:pPr marL="285750" indent="-285750">
              <a:buFont typeface="Arial" panose="020B0604020202020204" pitchFamily="34" charset="0"/>
              <a:buChar char="•"/>
            </a:pPr>
            <a:r>
              <a:rPr lang="es-MX" sz="1800" dirty="0">
                <a:latin typeface="Roboto" panose="02000000000000000000" pitchFamily="2" charset="0"/>
                <a:ea typeface="Roboto" panose="02000000000000000000" pitchFamily="2" charset="0"/>
              </a:rPr>
              <a:t>Ninguno es universalmente mejor: la elección depende del espacio disponible, el patrón de consultas y si el archivo está ordenado.</a:t>
            </a:r>
            <a:endParaRPr lang="es-CO" sz="18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56699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¿El índice sigue el orden del archivo?</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1005226"/>
            <a:ext cx="10538750" cy="144300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Una segunda dimensión fundamental de los índices ordenados es su relación con el </a:t>
            </a:r>
            <a:r>
              <a:rPr lang="es-MX" sz="2000" b="1" dirty="0"/>
              <a:t>orden físico del archivo</a:t>
            </a:r>
            <a:r>
              <a:rPr lang="es-MX" sz="2000" dirty="0"/>
              <a:t>.</a:t>
            </a:r>
          </a:p>
          <a:p>
            <a:r>
              <a:rPr lang="es-MX" sz="2000" b="1" dirty="0"/>
              <a:t>La pregunta clave es</a:t>
            </a:r>
            <a:r>
              <a:rPr lang="es-MX" sz="2000" dirty="0"/>
              <a:t>: ¿el orden de las entradas del índice coincide con el orden en que los registros están almacenados físicamente en disco?</a:t>
            </a:r>
          </a:p>
          <a:p>
            <a:endParaRPr lang="es-MX" sz="1800" dirty="0"/>
          </a:p>
        </p:txBody>
      </p:sp>
      <p:sp>
        <p:nvSpPr>
          <p:cNvPr id="39" name="CuadroTexto 38">
            <a:extLst>
              <a:ext uri="{FF2B5EF4-FFF2-40B4-BE49-F238E27FC236}">
                <a16:creationId xmlns:a16="http://schemas.microsoft.com/office/drawing/2014/main" id="{A1328C56-5C5F-4F75-95E0-71D18628ED22}"/>
              </a:ext>
            </a:extLst>
          </p:cNvPr>
          <p:cNvSpPr txBox="1"/>
          <p:nvPr/>
        </p:nvSpPr>
        <p:spPr>
          <a:xfrm>
            <a:off x="1224048" y="5974279"/>
            <a:ext cx="10538750" cy="646331"/>
          </a:xfrm>
          <a:prstGeom prst="rect">
            <a:avLst/>
          </a:prstGeom>
          <a:solidFill>
            <a:schemeClr val="tx2"/>
          </a:solidFill>
        </p:spPr>
        <p:txBody>
          <a:bodyPr wrap="square">
            <a:spAutoFit/>
          </a:bodyPr>
          <a:lstStyle/>
          <a:p>
            <a:r>
              <a:rPr lang="es-MX" sz="1800" b="1" i="1" dirty="0">
                <a:latin typeface="Roboto" panose="02000000000000000000" pitchFamily="2" charset="0"/>
                <a:ea typeface="Roboto" panose="02000000000000000000" pitchFamily="2" charset="0"/>
              </a:rPr>
              <a:t>Esta distinción no es menor</a:t>
            </a:r>
            <a:r>
              <a:rPr lang="es-MX" sz="1800" i="1" dirty="0">
                <a:latin typeface="Roboto" panose="02000000000000000000" pitchFamily="2" charset="0"/>
                <a:ea typeface="Roboto" panose="02000000000000000000" pitchFamily="2" charset="0"/>
              </a:rPr>
              <a:t>: define si el DBMS puede aprovechar la proximidad física de los registros para hacer búsquedas más eficientes.</a:t>
            </a:r>
            <a:endParaRPr lang="es-CO" sz="1800" i="1" dirty="0">
              <a:latin typeface="Roboto" panose="02000000000000000000" pitchFamily="2" charset="0"/>
              <a:ea typeface="Roboto" panose="02000000000000000000" pitchFamily="2" charset="0"/>
            </a:endParaRPr>
          </a:p>
        </p:txBody>
      </p:sp>
      <p:grpSp>
        <p:nvGrpSpPr>
          <p:cNvPr id="2" name="Grupo 1">
            <a:extLst>
              <a:ext uri="{FF2B5EF4-FFF2-40B4-BE49-F238E27FC236}">
                <a16:creationId xmlns:a16="http://schemas.microsoft.com/office/drawing/2014/main" id="{623F4F88-78B6-464D-AAB9-2478FCD47381}"/>
              </a:ext>
            </a:extLst>
          </p:cNvPr>
          <p:cNvGrpSpPr/>
          <p:nvPr/>
        </p:nvGrpSpPr>
        <p:grpSpPr>
          <a:xfrm>
            <a:off x="1758487" y="2701201"/>
            <a:ext cx="8855075" cy="2898604"/>
            <a:chOff x="1695900" y="2574782"/>
            <a:chExt cx="8855075" cy="2898604"/>
          </a:xfrm>
        </p:grpSpPr>
        <p:sp>
          <p:nvSpPr>
            <p:cNvPr id="5" name="Rectangle 2">
              <a:extLst>
                <a:ext uri="{FF2B5EF4-FFF2-40B4-BE49-F238E27FC236}">
                  <a16:creationId xmlns:a16="http://schemas.microsoft.com/office/drawing/2014/main" id="{89572B8C-3788-449B-8815-BCA23FB2A811}"/>
                </a:ext>
              </a:extLst>
            </p:cNvPr>
            <p:cNvSpPr>
              <a:spLocks noChangeArrowheads="1"/>
            </p:cNvSpPr>
            <p:nvPr/>
          </p:nvSpPr>
          <p:spPr bwMode="auto">
            <a:xfrm>
              <a:off x="2245175" y="5013182"/>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 name="Rectangle 3">
              <a:extLst>
                <a:ext uri="{FF2B5EF4-FFF2-40B4-BE49-F238E27FC236}">
                  <a16:creationId xmlns:a16="http://schemas.microsoft.com/office/drawing/2014/main" id="{7A41EA75-D127-4F46-BA8E-D3995741080E}"/>
                </a:ext>
              </a:extLst>
            </p:cNvPr>
            <p:cNvSpPr>
              <a:spLocks noChangeArrowheads="1"/>
            </p:cNvSpPr>
            <p:nvPr/>
          </p:nvSpPr>
          <p:spPr bwMode="auto">
            <a:xfrm>
              <a:off x="4683575" y="5013182"/>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 name="Rectangle 6">
              <a:extLst>
                <a:ext uri="{FF2B5EF4-FFF2-40B4-BE49-F238E27FC236}">
                  <a16:creationId xmlns:a16="http://schemas.microsoft.com/office/drawing/2014/main" id="{9B217937-E2C2-4F22-9776-7BFEBEAB401D}"/>
                </a:ext>
              </a:extLst>
            </p:cNvPr>
            <p:cNvSpPr>
              <a:spLocks noChangeArrowheads="1"/>
            </p:cNvSpPr>
            <p:nvPr/>
          </p:nvSpPr>
          <p:spPr bwMode="auto">
            <a:xfrm>
              <a:off x="2245175" y="5013182"/>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9D94D196-4063-4197-A36F-5CB447AE35C7}"/>
                </a:ext>
              </a:extLst>
            </p:cNvPr>
            <p:cNvSpPr>
              <a:spLocks noChangeArrowheads="1"/>
            </p:cNvSpPr>
            <p:nvPr/>
          </p:nvSpPr>
          <p:spPr bwMode="auto">
            <a:xfrm>
              <a:off x="4683575" y="5013182"/>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 name="Freeform 8">
              <a:extLst>
                <a:ext uri="{FF2B5EF4-FFF2-40B4-BE49-F238E27FC236}">
                  <a16:creationId xmlns:a16="http://schemas.microsoft.com/office/drawing/2014/main" id="{270769D5-CFDA-45EC-8B26-EA3FE94C6B29}"/>
                </a:ext>
              </a:extLst>
            </p:cNvPr>
            <p:cNvSpPr>
              <a:spLocks/>
            </p:cNvSpPr>
            <p:nvPr/>
          </p:nvSpPr>
          <p:spPr bwMode="auto">
            <a:xfrm>
              <a:off x="1840363" y="4860782"/>
              <a:ext cx="398462" cy="328613"/>
            </a:xfrm>
            <a:custGeom>
              <a:avLst/>
              <a:gdLst>
                <a:gd name="T0" fmla="*/ 0 w 251"/>
                <a:gd name="T1" fmla="*/ 2147483647 h 207"/>
                <a:gd name="T2" fmla="*/ 0 w 251"/>
                <a:gd name="T3" fmla="*/ 0 h 207"/>
                <a:gd name="T4" fmla="*/ 2147483647 w 251"/>
                <a:gd name="T5" fmla="*/ 0 h 207"/>
                <a:gd name="T6" fmla="*/ 2147483647 w 251"/>
                <a:gd name="T7" fmla="*/ 2147483647 h 207"/>
                <a:gd name="T8" fmla="*/ 0 w 251"/>
                <a:gd name="T9" fmla="*/ 2147483647 h 207"/>
                <a:gd name="T10" fmla="*/ 0 60000 65536"/>
                <a:gd name="T11" fmla="*/ 0 60000 65536"/>
                <a:gd name="T12" fmla="*/ 0 60000 65536"/>
                <a:gd name="T13" fmla="*/ 0 60000 65536"/>
                <a:gd name="T14" fmla="*/ 0 60000 65536"/>
                <a:gd name="T15" fmla="*/ 0 w 251"/>
                <a:gd name="T16" fmla="*/ 0 h 207"/>
                <a:gd name="T17" fmla="*/ 251 w 251"/>
                <a:gd name="T18" fmla="*/ 207 h 207"/>
              </a:gdLst>
              <a:ahLst/>
              <a:cxnLst>
                <a:cxn ang="T10">
                  <a:pos x="T0" y="T1"/>
                </a:cxn>
                <a:cxn ang="T11">
                  <a:pos x="T2" y="T3"/>
                </a:cxn>
                <a:cxn ang="T12">
                  <a:pos x="T4" y="T5"/>
                </a:cxn>
                <a:cxn ang="T13">
                  <a:pos x="T6" y="T7"/>
                </a:cxn>
                <a:cxn ang="T14">
                  <a:pos x="T8" y="T9"/>
                </a:cxn>
              </a:cxnLst>
              <a:rect l="T15" t="T16" r="T17" b="T18"/>
              <a:pathLst>
                <a:path w="251" h="207">
                  <a:moveTo>
                    <a:pt x="0" y="206"/>
                  </a:moveTo>
                  <a:lnTo>
                    <a:pt x="0" y="0"/>
                  </a:lnTo>
                  <a:lnTo>
                    <a:pt x="250" y="0"/>
                  </a:lnTo>
                  <a:lnTo>
                    <a:pt x="250"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 name="Freeform 9">
              <a:extLst>
                <a:ext uri="{FF2B5EF4-FFF2-40B4-BE49-F238E27FC236}">
                  <a16:creationId xmlns:a16="http://schemas.microsoft.com/office/drawing/2014/main" id="{A98A7C40-6607-4045-9C89-032C00764343}"/>
                </a:ext>
              </a:extLst>
            </p:cNvPr>
            <p:cNvSpPr>
              <a:spLocks/>
            </p:cNvSpPr>
            <p:nvPr/>
          </p:nvSpPr>
          <p:spPr bwMode="auto">
            <a:xfrm>
              <a:off x="2369000" y="4860782"/>
              <a:ext cx="396875" cy="328613"/>
            </a:xfrm>
            <a:custGeom>
              <a:avLst/>
              <a:gdLst>
                <a:gd name="T0" fmla="*/ 0 w 250"/>
                <a:gd name="T1" fmla="*/ 2147483647 h 207"/>
                <a:gd name="T2" fmla="*/ 0 w 250"/>
                <a:gd name="T3" fmla="*/ 0 h 207"/>
                <a:gd name="T4" fmla="*/ 2147483647 w 250"/>
                <a:gd name="T5" fmla="*/ 0 h 207"/>
                <a:gd name="T6" fmla="*/ 2147483647 w 250"/>
                <a:gd name="T7" fmla="*/ 2147483647 h 207"/>
                <a:gd name="T8" fmla="*/ 0 w 250"/>
                <a:gd name="T9" fmla="*/ 2147483647 h 207"/>
                <a:gd name="T10" fmla="*/ 0 60000 65536"/>
                <a:gd name="T11" fmla="*/ 0 60000 65536"/>
                <a:gd name="T12" fmla="*/ 0 60000 65536"/>
                <a:gd name="T13" fmla="*/ 0 60000 65536"/>
                <a:gd name="T14" fmla="*/ 0 60000 65536"/>
                <a:gd name="T15" fmla="*/ 0 w 250"/>
                <a:gd name="T16" fmla="*/ 0 h 207"/>
                <a:gd name="T17" fmla="*/ 250 w 250"/>
                <a:gd name="T18" fmla="*/ 207 h 207"/>
              </a:gdLst>
              <a:ahLst/>
              <a:cxnLst>
                <a:cxn ang="T10">
                  <a:pos x="T0" y="T1"/>
                </a:cxn>
                <a:cxn ang="T11">
                  <a:pos x="T2" y="T3"/>
                </a:cxn>
                <a:cxn ang="T12">
                  <a:pos x="T4" y="T5"/>
                </a:cxn>
                <a:cxn ang="T13">
                  <a:pos x="T6" y="T7"/>
                </a:cxn>
                <a:cxn ang="T14">
                  <a:pos x="T8" y="T9"/>
                </a:cxn>
              </a:cxnLst>
              <a:rect l="T15" t="T16" r="T17" b="T18"/>
              <a:pathLst>
                <a:path w="250" h="207">
                  <a:moveTo>
                    <a:pt x="0" y="206"/>
                  </a:moveTo>
                  <a:lnTo>
                    <a:pt x="0" y="0"/>
                  </a:lnTo>
                  <a:lnTo>
                    <a:pt x="249" y="0"/>
                  </a:lnTo>
                  <a:lnTo>
                    <a:pt x="249"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 name="Freeform 10">
              <a:extLst>
                <a:ext uri="{FF2B5EF4-FFF2-40B4-BE49-F238E27FC236}">
                  <a16:creationId xmlns:a16="http://schemas.microsoft.com/office/drawing/2014/main" id="{17E3420B-2217-41CD-AF58-0E55D820470E}"/>
                </a:ext>
              </a:extLst>
            </p:cNvPr>
            <p:cNvSpPr>
              <a:spLocks/>
            </p:cNvSpPr>
            <p:nvPr/>
          </p:nvSpPr>
          <p:spPr bwMode="auto">
            <a:xfrm>
              <a:off x="2896050" y="4860782"/>
              <a:ext cx="400050" cy="328613"/>
            </a:xfrm>
            <a:custGeom>
              <a:avLst/>
              <a:gdLst>
                <a:gd name="T0" fmla="*/ 0 w 252"/>
                <a:gd name="T1" fmla="*/ 2147483647 h 207"/>
                <a:gd name="T2" fmla="*/ 0 w 252"/>
                <a:gd name="T3" fmla="*/ 0 h 207"/>
                <a:gd name="T4" fmla="*/ 2147483647 w 252"/>
                <a:gd name="T5" fmla="*/ 0 h 207"/>
                <a:gd name="T6" fmla="*/ 2147483647 w 252"/>
                <a:gd name="T7" fmla="*/ 2147483647 h 207"/>
                <a:gd name="T8" fmla="*/ 0 w 252"/>
                <a:gd name="T9" fmla="*/ 2147483647 h 207"/>
                <a:gd name="T10" fmla="*/ 0 60000 65536"/>
                <a:gd name="T11" fmla="*/ 0 60000 65536"/>
                <a:gd name="T12" fmla="*/ 0 60000 65536"/>
                <a:gd name="T13" fmla="*/ 0 60000 65536"/>
                <a:gd name="T14" fmla="*/ 0 60000 65536"/>
                <a:gd name="T15" fmla="*/ 0 w 252"/>
                <a:gd name="T16" fmla="*/ 0 h 207"/>
                <a:gd name="T17" fmla="*/ 252 w 252"/>
                <a:gd name="T18" fmla="*/ 207 h 207"/>
              </a:gdLst>
              <a:ahLst/>
              <a:cxnLst>
                <a:cxn ang="T10">
                  <a:pos x="T0" y="T1"/>
                </a:cxn>
                <a:cxn ang="T11">
                  <a:pos x="T2" y="T3"/>
                </a:cxn>
                <a:cxn ang="T12">
                  <a:pos x="T4" y="T5"/>
                </a:cxn>
                <a:cxn ang="T13">
                  <a:pos x="T6" y="T7"/>
                </a:cxn>
                <a:cxn ang="T14">
                  <a:pos x="T8" y="T9"/>
                </a:cxn>
              </a:cxnLst>
              <a:rect l="T15" t="T16" r="T17" b="T18"/>
              <a:pathLst>
                <a:path w="252" h="207">
                  <a:moveTo>
                    <a:pt x="0" y="206"/>
                  </a:moveTo>
                  <a:lnTo>
                    <a:pt x="0" y="0"/>
                  </a:lnTo>
                  <a:lnTo>
                    <a:pt x="251" y="0"/>
                  </a:lnTo>
                  <a:lnTo>
                    <a:pt x="251"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 name="Freeform 11">
              <a:extLst>
                <a:ext uri="{FF2B5EF4-FFF2-40B4-BE49-F238E27FC236}">
                  <a16:creationId xmlns:a16="http://schemas.microsoft.com/office/drawing/2014/main" id="{29B787F1-6565-402C-9B37-545AE6738F9D}"/>
                </a:ext>
              </a:extLst>
            </p:cNvPr>
            <p:cNvSpPr>
              <a:spLocks/>
            </p:cNvSpPr>
            <p:nvPr/>
          </p:nvSpPr>
          <p:spPr bwMode="auto">
            <a:xfrm>
              <a:off x="3426275" y="4860782"/>
              <a:ext cx="396875" cy="328613"/>
            </a:xfrm>
            <a:custGeom>
              <a:avLst/>
              <a:gdLst>
                <a:gd name="T0" fmla="*/ 0 w 250"/>
                <a:gd name="T1" fmla="*/ 2147483647 h 207"/>
                <a:gd name="T2" fmla="*/ 0 w 250"/>
                <a:gd name="T3" fmla="*/ 0 h 207"/>
                <a:gd name="T4" fmla="*/ 2147483647 w 250"/>
                <a:gd name="T5" fmla="*/ 0 h 207"/>
                <a:gd name="T6" fmla="*/ 2147483647 w 250"/>
                <a:gd name="T7" fmla="*/ 2147483647 h 207"/>
                <a:gd name="T8" fmla="*/ 0 w 250"/>
                <a:gd name="T9" fmla="*/ 2147483647 h 207"/>
                <a:gd name="T10" fmla="*/ 0 60000 65536"/>
                <a:gd name="T11" fmla="*/ 0 60000 65536"/>
                <a:gd name="T12" fmla="*/ 0 60000 65536"/>
                <a:gd name="T13" fmla="*/ 0 60000 65536"/>
                <a:gd name="T14" fmla="*/ 0 60000 65536"/>
                <a:gd name="T15" fmla="*/ 0 w 250"/>
                <a:gd name="T16" fmla="*/ 0 h 207"/>
                <a:gd name="T17" fmla="*/ 250 w 250"/>
                <a:gd name="T18" fmla="*/ 207 h 207"/>
              </a:gdLst>
              <a:ahLst/>
              <a:cxnLst>
                <a:cxn ang="T10">
                  <a:pos x="T0" y="T1"/>
                </a:cxn>
                <a:cxn ang="T11">
                  <a:pos x="T2" y="T3"/>
                </a:cxn>
                <a:cxn ang="T12">
                  <a:pos x="T4" y="T5"/>
                </a:cxn>
                <a:cxn ang="T13">
                  <a:pos x="T6" y="T7"/>
                </a:cxn>
                <a:cxn ang="T14">
                  <a:pos x="T8" y="T9"/>
                </a:cxn>
              </a:cxnLst>
              <a:rect l="T15" t="T16" r="T17" b="T18"/>
              <a:pathLst>
                <a:path w="250" h="207">
                  <a:moveTo>
                    <a:pt x="0" y="206"/>
                  </a:moveTo>
                  <a:lnTo>
                    <a:pt x="0" y="0"/>
                  </a:lnTo>
                  <a:lnTo>
                    <a:pt x="249" y="0"/>
                  </a:lnTo>
                  <a:lnTo>
                    <a:pt x="249"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3" name="Freeform 12">
              <a:extLst>
                <a:ext uri="{FF2B5EF4-FFF2-40B4-BE49-F238E27FC236}">
                  <a16:creationId xmlns:a16="http://schemas.microsoft.com/office/drawing/2014/main" id="{AA4AF25F-49E4-41CE-888B-BD6F8169F55B}"/>
                </a:ext>
              </a:extLst>
            </p:cNvPr>
            <p:cNvSpPr>
              <a:spLocks/>
            </p:cNvSpPr>
            <p:nvPr/>
          </p:nvSpPr>
          <p:spPr bwMode="auto">
            <a:xfrm>
              <a:off x="3954913" y="4860782"/>
              <a:ext cx="396875" cy="328613"/>
            </a:xfrm>
            <a:custGeom>
              <a:avLst/>
              <a:gdLst>
                <a:gd name="T0" fmla="*/ 0 w 250"/>
                <a:gd name="T1" fmla="*/ 2147483647 h 207"/>
                <a:gd name="T2" fmla="*/ 0 w 250"/>
                <a:gd name="T3" fmla="*/ 0 h 207"/>
                <a:gd name="T4" fmla="*/ 2147483647 w 250"/>
                <a:gd name="T5" fmla="*/ 0 h 207"/>
                <a:gd name="T6" fmla="*/ 2147483647 w 250"/>
                <a:gd name="T7" fmla="*/ 2147483647 h 207"/>
                <a:gd name="T8" fmla="*/ 0 w 250"/>
                <a:gd name="T9" fmla="*/ 2147483647 h 207"/>
                <a:gd name="T10" fmla="*/ 0 60000 65536"/>
                <a:gd name="T11" fmla="*/ 0 60000 65536"/>
                <a:gd name="T12" fmla="*/ 0 60000 65536"/>
                <a:gd name="T13" fmla="*/ 0 60000 65536"/>
                <a:gd name="T14" fmla="*/ 0 60000 65536"/>
                <a:gd name="T15" fmla="*/ 0 w 250"/>
                <a:gd name="T16" fmla="*/ 0 h 207"/>
                <a:gd name="T17" fmla="*/ 250 w 250"/>
                <a:gd name="T18" fmla="*/ 207 h 207"/>
              </a:gdLst>
              <a:ahLst/>
              <a:cxnLst>
                <a:cxn ang="T10">
                  <a:pos x="T0" y="T1"/>
                </a:cxn>
                <a:cxn ang="T11">
                  <a:pos x="T2" y="T3"/>
                </a:cxn>
                <a:cxn ang="T12">
                  <a:pos x="T4" y="T5"/>
                </a:cxn>
                <a:cxn ang="T13">
                  <a:pos x="T6" y="T7"/>
                </a:cxn>
                <a:cxn ang="T14">
                  <a:pos x="T8" y="T9"/>
                </a:cxn>
              </a:cxnLst>
              <a:rect l="T15" t="T16" r="T17" b="T18"/>
              <a:pathLst>
                <a:path w="250" h="207">
                  <a:moveTo>
                    <a:pt x="0" y="206"/>
                  </a:moveTo>
                  <a:lnTo>
                    <a:pt x="0" y="0"/>
                  </a:lnTo>
                  <a:lnTo>
                    <a:pt x="249" y="0"/>
                  </a:lnTo>
                  <a:lnTo>
                    <a:pt x="249"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4" name="Freeform 13">
              <a:extLst>
                <a:ext uri="{FF2B5EF4-FFF2-40B4-BE49-F238E27FC236}">
                  <a16:creationId xmlns:a16="http://schemas.microsoft.com/office/drawing/2014/main" id="{D4F3929B-E8CA-4C1D-A380-03C69697B9F8}"/>
                </a:ext>
              </a:extLst>
            </p:cNvPr>
            <p:cNvSpPr>
              <a:spLocks/>
            </p:cNvSpPr>
            <p:nvPr/>
          </p:nvSpPr>
          <p:spPr bwMode="auto">
            <a:xfrm>
              <a:off x="4481963" y="4860782"/>
              <a:ext cx="398462" cy="328613"/>
            </a:xfrm>
            <a:custGeom>
              <a:avLst/>
              <a:gdLst>
                <a:gd name="T0" fmla="*/ 0 w 251"/>
                <a:gd name="T1" fmla="*/ 2147483647 h 207"/>
                <a:gd name="T2" fmla="*/ 0 w 251"/>
                <a:gd name="T3" fmla="*/ 0 h 207"/>
                <a:gd name="T4" fmla="*/ 2147483647 w 251"/>
                <a:gd name="T5" fmla="*/ 0 h 207"/>
                <a:gd name="T6" fmla="*/ 2147483647 w 251"/>
                <a:gd name="T7" fmla="*/ 2147483647 h 207"/>
                <a:gd name="T8" fmla="*/ 0 w 251"/>
                <a:gd name="T9" fmla="*/ 2147483647 h 207"/>
                <a:gd name="T10" fmla="*/ 0 60000 65536"/>
                <a:gd name="T11" fmla="*/ 0 60000 65536"/>
                <a:gd name="T12" fmla="*/ 0 60000 65536"/>
                <a:gd name="T13" fmla="*/ 0 60000 65536"/>
                <a:gd name="T14" fmla="*/ 0 60000 65536"/>
                <a:gd name="T15" fmla="*/ 0 w 251"/>
                <a:gd name="T16" fmla="*/ 0 h 207"/>
                <a:gd name="T17" fmla="*/ 251 w 251"/>
                <a:gd name="T18" fmla="*/ 207 h 207"/>
              </a:gdLst>
              <a:ahLst/>
              <a:cxnLst>
                <a:cxn ang="T10">
                  <a:pos x="T0" y="T1"/>
                </a:cxn>
                <a:cxn ang="T11">
                  <a:pos x="T2" y="T3"/>
                </a:cxn>
                <a:cxn ang="T12">
                  <a:pos x="T4" y="T5"/>
                </a:cxn>
                <a:cxn ang="T13">
                  <a:pos x="T6" y="T7"/>
                </a:cxn>
                <a:cxn ang="T14">
                  <a:pos x="T8" y="T9"/>
                </a:cxn>
              </a:cxnLst>
              <a:rect l="T15" t="T16" r="T17" b="T18"/>
              <a:pathLst>
                <a:path w="251" h="207">
                  <a:moveTo>
                    <a:pt x="0" y="206"/>
                  </a:moveTo>
                  <a:lnTo>
                    <a:pt x="0" y="0"/>
                  </a:lnTo>
                  <a:lnTo>
                    <a:pt x="250" y="0"/>
                  </a:lnTo>
                  <a:lnTo>
                    <a:pt x="250"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5" name="Freeform 14">
              <a:extLst>
                <a:ext uri="{FF2B5EF4-FFF2-40B4-BE49-F238E27FC236}">
                  <a16:creationId xmlns:a16="http://schemas.microsoft.com/office/drawing/2014/main" id="{27EDFA97-5C11-4D31-B399-0D68A8FC9E4C}"/>
                </a:ext>
              </a:extLst>
            </p:cNvPr>
            <p:cNvSpPr>
              <a:spLocks/>
            </p:cNvSpPr>
            <p:nvPr/>
          </p:nvSpPr>
          <p:spPr bwMode="auto">
            <a:xfrm>
              <a:off x="5010600" y="4860782"/>
              <a:ext cx="398463" cy="328613"/>
            </a:xfrm>
            <a:custGeom>
              <a:avLst/>
              <a:gdLst>
                <a:gd name="T0" fmla="*/ 0 w 251"/>
                <a:gd name="T1" fmla="*/ 2147483647 h 207"/>
                <a:gd name="T2" fmla="*/ 0 w 251"/>
                <a:gd name="T3" fmla="*/ 0 h 207"/>
                <a:gd name="T4" fmla="*/ 2147483647 w 251"/>
                <a:gd name="T5" fmla="*/ 0 h 207"/>
                <a:gd name="T6" fmla="*/ 2147483647 w 251"/>
                <a:gd name="T7" fmla="*/ 2147483647 h 207"/>
                <a:gd name="T8" fmla="*/ 0 w 251"/>
                <a:gd name="T9" fmla="*/ 2147483647 h 207"/>
                <a:gd name="T10" fmla="*/ 0 60000 65536"/>
                <a:gd name="T11" fmla="*/ 0 60000 65536"/>
                <a:gd name="T12" fmla="*/ 0 60000 65536"/>
                <a:gd name="T13" fmla="*/ 0 60000 65536"/>
                <a:gd name="T14" fmla="*/ 0 60000 65536"/>
                <a:gd name="T15" fmla="*/ 0 w 251"/>
                <a:gd name="T16" fmla="*/ 0 h 207"/>
                <a:gd name="T17" fmla="*/ 251 w 251"/>
                <a:gd name="T18" fmla="*/ 207 h 207"/>
              </a:gdLst>
              <a:ahLst/>
              <a:cxnLst>
                <a:cxn ang="T10">
                  <a:pos x="T0" y="T1"/>
                </a:cxn>
                <a:cxn ang="T11">
                  <a:pos x="T2" y="T3"/>
                </a:cxn>
                <a:cxn ang="T12">
                  <a:pos x="T4" y="T5"/>
                </a:cxn>
                <a:cxn ang="T13">
                  <a:pos x="T6" y="T7"/>
                </a:cxn>
                <a:cxn ang="T14">
                  <a:pos x="T8" y="T9"/>
                </a:cxn>
              </a:cxnLst>
              <a:rect l="T15" t="T16" r="T17" b="T18"/>
              <a:pathLst>
                <a:path w="251" h="207">
                  <a:moveTo>
                    <a:pt x="0" y="206"/>
                  </a:moveTo>
                  <a:lnTo>
                    <a:pt x="0" y="0"/>
                  </a:lnTo>
                  <a:lnTo>
                    <a:pt x="250" y="0"/>
                  </a:lnTo>
                  <a:lnTo>
                    <a:pt x="250" y="206"/>
                  </a:lnTo>
                  <a:lnTo>
                    <a:pt x="0" y="206"/>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6" name="Freeform 15">
              <a:extLst>
                <a:ext uri="{FF2B5EF4-FFF2-40B4-BE49-F238E27FC236}">
                  <a16:creationId xmlns:a16="http://schemas.microsoft.com/office/drawing/2014/main" id="{36AFB1C1-F50E-474F-8724-5EDCC4F0EFAB}"/>
                </a:ext>
              </a:extLst>
            </p:cNvPr>
            <p:cNvSpPr>
              <a:spLocks/>
            </p:cNvSpPr>
            <p:nvPr/>
          </p:nvSpPr>
          <p:spPr bwMode="auto">
            <a:xfrm>
              <a:off x="2600775" y="3779695"/>
              <a:ext cx="1724025" cy="1587"/>
            </a:xfrm>
            <a:custGeom>
              <a:avLst/>
              <a:gdLst>
                <a:gd name="T0" fmla="*/ 0 w 1086"/>
                <a:gd name="T1" fmla="*/ 0 h 1"/>
                <a:gd name="T2" fmla="*/ 2147483647 w 1086"/>
                <a:gd name="T3" fmla="*/ 0 h 1"/>
                <a:gd name="T4" fmla="*/ 0 w 1086"/>
                <a:gd name="T5" fmla="*/ 0 h 1"/>
                <a:gd name="T6" fmla="*/ 0 60000 65536"/>
                <a:gd name="T7" fmla="*/ 0 60000 65536"/>
                <a:gd name="T8" fmla="*/ 0 60000 65536"/>
                <a:gd name="T9" fmla="*/ 0 w 1086"/>
                <a:gd name="T10" fmla="*/ 0 h 1"/>
                <a:gd name="T11" fmla="*/ 1086 w 1086"/>
                <a:gd name="T12" fmla="*/ 1 h 1"/>
              </a:gdLst>
              <a:ahLst/>
              <a:cxnLst>
                <a:cxn ang="T6">
                  <a:pos x="T0" y="T1"/>
                </a:cxn>
                <a:cxn ang="T7">
                  <a:pos x="T2" y="T3"/>
                </a:cxn>
                <a:cxn ang="T8">
                  <a:pos x="T4" y="T5"/>
                </a:cxn>
              </a:cxnLst>
              <a:rect l="T9" t="T10" r="T11" b="T12"/>
              <a:pathLst>
                <a:path w="1086" h="1">
                  <a:moveTo>
                    <a:pt x="0" y="0"/>
                  </a:moveTo>
                  <a:lnTo>
                    <a:pt x="1085" y="0"/>
                  </a:lnTo>
                  <a:lnTo>
                    <a:pt x="0" y="0"/>
                  </a:lnTo>
                </a:path>
              </a:pathLst>
            </a:custGeom>
            <a:noFill/>
            <a:ln w="12700" cap="rnd">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7" name="Freeform 16">
              <a:extLst>
                <a:ext uri="{FF2B5EF4-FFF2-40B4-BE49-F238E27FC236}">
                  <a16:creationId xmlns:a16="http://schemas.microsoft.com/office/drawing/2014/main" id="{D23D1A17-A610-46AA-8513-46CE212178E8}"/>
                </a:ext>
              </a:extLst>
            </p:cNvPr>
            <p:cNvSpPr>
              <a:spLocks/>
            </p:cNvSpPr>
            <p:nvPr/>
          </p:nvSpPr>
          <p:spPr bwMode="auto">
            <a:xfrm>
              <a:off x="2600775" y="2804970"/>
              <a:ext cx="909638" cy="976312"/>
            </a:xfrm>
            <a:custGeom>
              <a:avLst/>
              <a:gdLst>
                <a:gd name="T0" fmla="*/ 0 w 573"/>
                <a:gd name="T1" fmla="*/ 2147483647 h 615"/>
                <a:gd name="T2" fmla="*/ 2147483647 w 573"/>
                <a:gd name="T3" fmla="*/ 0 h 615"/>
                <a:gd name="T4" fmla="*/ 0 w 573"/>
                <a:gd name="T5" fmla="*/ 2147483647 h 615"/>
                <a:gd name="T6" fmla="*/ 0 60000 65536"/>
                <a:gd name="T7" fmla="*/ 0 60000 65536"/>
                <a:gd name="T8" fmla="*/ 0 60000 65536"/>
                <a:gd name="T9" fmla="*/ 0 w 573"/>
                <a:gd name="T10" fmla="*/ 0 h 615"/>
                <a:gd name="T11" fmla="*/ 573 w 573"/>
                <a:gd name="T12" fmla="*/ 615 h 615"/>
              </a:gdLst>
              <a:ahLst/>
              <a:cxnLst>
                <a:cxn ang="T6">
                  <a:pos x="T0" y="T1"/>
                </a:cxn>
                <a:cxn ang="T7">
                  <a:pos x="T2" y="T3"/>
                </a:cxn>
                <a:cxn ang="T8">
                  <a:pos x="T4" y="T5"/>
                </a:cxn>
              </a:cxnLst>
              <a:rect l="T9" t="T10" r="T11" b="T12"/>
              <a:pathLst>
                <a:path w="573" h="615">
                  <a:moveTo>
                    <a:pt x="0" y="614"/>
                  </a:moveTo>
                  <a:lnTo>
                    <a:pt x="572" y="0"/>
                  </a:lnTo>
                  <a:lnTo>
                    <a:pt x="0" y="614"/>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8" name="Freeform 17">
              <a:extLst>
                <a:ext uri="{FF2B5EF4-FFF2-40B4-BE49-F238E27FC236}">
                  <a16:creationId xmlns:a16="http://schemas.microsoft.com/office/drawing/2014/main" id="{1EF854E5-CBAC-4888-82F5-D98A34ED4E4C}"/>
                </a:ext>
              </a:extLst>
            </p:cNvPr>
            <p:cNvSpPr>
              <a:spLocks/>
            </p:cNvSpPr>
            <p:nvPr/>
          </p:nvSpPr>
          <p:spPr bwMode="auto">
            <a:xfrm>
              <a:off x="3508825" y="2804970"/>
              <a:ext cx="825500" cy="976312"/>
            </a:xfrm>
            <a:custGeom>
              <a:avLst/>
              <a:gdLst>
                <a:gd name="T0" fmla="*/ 0 w 520"/>
                <a:gd name="T1" fmla="*/ 0 h 615"/>
                <a:gd name="T2" fmla="*/ 2147483647 w 520"/>
                <a:gd name="T3" fmla="*/ 2147483647 h 615"/>
                <a:gd name="T4" fmla="*/ 0 w 520"/>
                <a:gd name="T5" fmla="*/ 0 h 615"/>
                <a:gd name="T6" fmla="*/ 0 60000 65536"/>
                <a:gd name="T7" fmla="*/ 0 60000 65536"/>
                <a:gd name="T8" fmla="*/ 0 60000 65536"/>
                <a:gd name="T9" fmla="*/ 0 w 520"/>
                <a:gd name="T10" fmla="*/ 0 h 615"/>
                <a:gd name="T11" fmla="*/ 520 w 520"/>
                <a:gd name="T12" fmla="*/ 615 h 615"/>
              </a:gdLst>
              <a:ahLst/>
              <a:cxnLst>
                <a:cxn ang="T6">
                  <a:pos x="T0" y="T1"/>
                </a:cxn>
                <a:cxn ang="T7">
                  <a:pos x="T2" y="T3"/>
                </a:cxn>
                <a:cxn ang="T8">
                  <a:pos x="T4" y="T5"/>
                </a:cxn>
              </a:cxnLst>
              <a:rect l="T9" t="T10" r="T11" b="T12"/>
              <a:pathLst>
                <a:path w="520" h="615">
                  <a:moveTo>
                    <a:pt x="0" y="0"/>
                  </a:moveTo>
                  <a:lnTo>
                    <a:pt x="519" y="614"/>
                  </a:lnTo>
                  <a:lnTo>
                    <a:pt x="0"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9" name="Freeform 18">
              <a:extLst>
                <a:ext uri="{FF2B5EF4-FFF2-40B4-BE49-F238E27FC236}">
                  <a16:creationId xmlns:a16="http://schemas.microsoft.com/office/drawing/2014/main" id="{6788235F-9420-4CAF-A434-6DA67422162A}"/>
                </a:ext>
              </a:extLst>
            </p:cNvPr>
            <p:cNvSpPr>
              <a:spLocks/>
            </p:cNvSpPr>
            <p:nvPr/>
          </p:nvSpPr>
          <p:spPr bwMode="auto">
            <a:xfrm>
              <a:off x="3175450" y="2719245"/>
              <a:ext cx="334963" cy="87312"/>
            </a:xfrm>
            <a:custGeom>
              <a:avLst/>
              <a:gdLst>
                <a:gd name="T0" fmla="*/ 0 w 211"/>
                <a:gd name="T1" fmla="*/ 0 h 55"/>
                <a:gd name="T2" fmla="*/ 2147483647 w 211"/>
                <a:gd name="T3" fmla="*/ 2147483647 h 55"/>
                <a:gd name="T4" fmla="*/ 2147483647 w 211"/>
                <a:gd name="T5" fmla="*/ 2147483647 h 55"/>
                <a:gd name="T6" fmla="*/ 0 w 211"/>
                <a:gd name="T7" fmla="*/ 0 h 55"/>
                <a:gd name="T8" fmla="*/ 0 60000 65536"/>
                <a:gd name="T9" fmla="*/ 0 60000 65536"/>
                <a:gd name="T10" fmla="*/ 0 60000 65536"/>
                <a:gd name="T11" fmla="*/ 0 60000 65536"/>
                <a:gd name="T12" fmla="*/ 0 w 211"/>
                <a:gd name="T13" fmla="*/ 0 h 55"/>
                <a:gd name="T14" fmla="*/ 211 w 211"/>
                <a:gd name="T15" fmla="*/ 55 h 55"/>
              </a:gdLst>
              <a:ahLst/>
              <a:cxnLst>
                <a:cxn ang="T8">
                  <a:pos x="T0" y="T1"/>
                </a:cxn>
                <a:cxn ang="T9">
                  <a:pos x="T2" y="T3"/>
                </a:cxn>
                <a:cxn ang="T10">
                  <a:pos x="T4" y="T5"/>
                </a:cxn>
                <a:cxn ang="T11">
                  <a:pos x="T6" y="T7"/>
                </a:cxn>
              </a:cxnLst>
              <a:rect l="T12" t="T13" r="T14" b="T15"/>
              <a:pathLst>
                <a:path w="211" h="55">
                  <a:moveTo>
                    <a:pt x="0" y="0"/>
                  </a:moveTo>
                  <a:lnTo>
                    <a:pt x="35" y="8"/>
                  </a:lnTo>
                  <a:lnTo>
                    <a:pt x="210" y="54"/>
                  </a:lnTo>
                  <a:lnTo>
                    <a:pt x="0"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0" name="Freeform 19">
              <a:extLst>
                <a:ext uri="{FF2B5EF4-FFF2-40B4-BE49-F238E27FC236}">
                  <a16:creationId xmlns:a16="http://schemas.microsoft.com/office/drawing/2014/main" id="{DE6A5F08-6AE1-4FB1-9027-BD45744BF00F}"/>
                </a:ext>
              </a:extLst>
            </p:cNvPr>
            <p:cNvSpPr>
              <a:spLocks/>
            </p:cNvSpPr>
            <p:nvPr/>
          </p:nvSpPr>
          <p:spPr bwMode="auto">
            <a:xfrm>
              <a:off x="3411988" y="2757345"/>
              <a:ext cx="98425" cy="49212"/>
            </a:xfrm>
            <a:custGeom>
              <a:avLst/>
              <a:gdLst>
                <a:gd name="T0" fmla="*/ 2147483647 w 62"/>
                <a:gd name="T1" fmla="*/ 0 h 31"/>
                <a:gd name="T2" fmla="*/ 2147483647 w 62"/>
                <a:gd name="T3" fmla="*/ 2147483647 h 31"/>
                <a:gd name="T4" fmla="*/ 0 w 62"/>
                <a:gd name="T5" fmla="*/ 2147483647 h 31"/>
                <a:gd name="T6" fmla="*/ 2147483647 w 62"/>
                <a:gd name="T7" fmla="*/ 0 h 31"/>
                <a:gd name="T8" fmla="*/ 0 60000 65536"/>
                <a:gd name="T9" fmla="*/ 0 60000 65536"/>
                <a:gd name="T10" fmla="*/ 0 60000 65536"/>
                <a:gd name="T11" fmla="*/ 0 60000 65536"/>
                <a:gd name="T12" fmla="*/ 0 w 62"/>
                <a:gd name="T13" fmla="*/ 0 h 31"/>
                <a:gd name="T14" fmla="*/ 62 w 62"/>
                <a:gd name="T15" fmla="*/ 31 h 31"/>
              </a:gdLst>
              <a:ahLst/>
              <a:cxnLst>
                <a:cxn ang="T8">
                  <a:pos x="T0" y="T1"/>
                </a:cxn>
                <a:cxn ang="T9">
                  <a:pos x="T2" y="T3"/>
                </a:cxn>
                <a:cxn ang="T10">
                  <a:pos x="T4" y="T5"/>
                </a:cxn>
                <a:cxn ang="T11">
                  <a:pos x="T6" y="T7"/>
                </a:cxn>
              </a:cxnLst>
              <a:rect l="T12" t="T13" r="T14" b="T15"/>
              <a:pathLst>
                <a:path w="62" h="31">
                  <a:moveTo>
                    <a:pt x="7" y="0"/>
                  </a:moveTo>
                  <a:lnTo>
                    <a:pt x="61" y="30"/>
                  </a:lnTo>
                  <a:lnTo>
                    <a:pt x="0" y="29"/>
                  </a:lnTo>
                  <a:lnTo>
                    <a:pt x="7"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1" name="Freeform 20">
              <a:extLst>
                <a:ext uri="{FF2B5EF4-FFF2-40B4-BE49-F238E27FC236}">
                  <a16:creationId xmlns:a16="http://schemas.microsoft.com/office/drawing/2014/main" id="{128B2E0B-8CD0-45E4-B917-F4DB894E7DDA}"/>
                </a:ext>
              </a:extLst>
            </p:cNvPr>
            <p:cNvSpPr>
              <a:spLocks/>
            </p:cNvSpPr>
            <p:nvPr/>
          </p:nvSpPr>
          <p:spPr bwMode="auto">
            <a:xfrm>
              <a:off x="2183263" y="4038457"/>
              <a:ext cx="468312" cy="323850"/>
            </a:xfrm>
            <a:custGeom>
              <a:avLst/>
              <a:gdLst>
                <a:gd name="T0" fmla="*/ 0 w 295"/>
                <a:gd name="T1" fmla="*/ 0 h 204"/>
                <a:gd name="T2" fmla="*/ 2147483647 w 295"/>
                <a:gd name="T3" fmla="*/ 0 h 204"/>
                <a:gd name="T4" fmla="*/ 2147483647 w 295"/>
                <a:gd name="T5" fmla="*/ 2147483647 h 204"/>
                <a:gd name="T6" fmla="*/ 0 w 295"/>
                <a:gd name="T7" fmla="*/ 2147483647 h 204"/>
                <a:gd name="T8" fmla="*/ 0 w 295"/>
                <a:gd name="T9" fmla="*/ 0 h 204"/>
                <a:gd name="T10" fmla="*/ 0 60000 65536"/>
                <a:gd name="T11" fmla="*/ 0 60000 65536"/>
                <a:gd name="T12" fmla="*/ 0 60000 65536"/>
                <a:gd name="T13" fmla="*/ 0 60000 65536"/>
                <a:gd name="T14" fmla="*/ 0 60000 65536"/>
                <a:gd name="T15" fmla="*/ 0 w 295"/>
                <a:gd name="T16" fmla="*/ 0 h 204"/>
                <a:gd name="T17" fmla="*/ 295 w 295"/>
                <a:gd name="T18" fmla="*/ 204 h 204"/>
              </a:gdLst>
              <a:ahLst/>
              <a:cxnLst>
                <a:cxn ang="T10">
                  <a:pos x="T0" y="T1"/>
                </a:cxn>
                <a:cxn ang="T11">
                  <a:pos x="T2" y="T3"/>
                </a:cxn>
                <a:cxn ang="T12">
                  <a:pos x="T4" y="T5"/>
                </a:cxn>
                <a:cxn ang="T13">
                  <a:pos x="T6" y="T7"/>
                </a:cxn>
                <a:cxn ang="T14">
                  <a:pos x="T8" y="T9"/>
                </a:cxn>
              </a:cxnLst>
              <a:rect l="T15" t="T16" r="T17" b="T18"/>
              <a:pathLst>
                <a:path w="295" h="204">
                  <a:moveTo>
                    <a:pt x="0" y="0"/>
                  </a:moveTo>
                  <a:lnTo>
                    <a:pt x="294" y="0"/>
                  </a:lnTo>
                  <a:lnTo>
                    <a:pt x="294" y="203"/>
                  </a:lnTo>
                  <a:lnTo>
                    <a:pt x="0" y="203"/>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2" name="Freeform 21">
              <a:extLst>
                <a:ext uri="{FF2B5EF4-FFF2-40B4-BE49-F238E27FC236}">
                  <a16:creationId xmlns:a16="http://schemas.microsoft.com/office/drawing/2014/main" id="{97CCB333-45AD-4733-93DA-C4E88B47C0CA}"/>
                </a:ext>
              </a:extLst>
            </p:cNvPr>
            <p:cNvSpPr>
              <a:spLocks/>
            </p:cNvSpPr>
            <p:nvPr/>
          </p:nvSpPr>
          <p:spPr bwMode="auto">
            <a:xfrm>
              <a:off x="2649988" y="4157520"/>
              <a:ext cx="74612" cy="38100"/>
            </a:xfrm>
            <a:custGeom>
              <a:avLst/>
              <a:gdLst>
                <a:gd name="T0" fmla="*/ 2147483647 w 47"/>
                <a:gd name="T1" fmla="*/ 2147483647 h 24"/>
                <a:gd name="T2" fmla="*/ 0 w 47"/>
                <a:gd name="T3" fmla="*/ 2147483647 h 24"/>
                <a:gd name="T4" fmla="*/ 2147483647 w 47"/>
                <a:gd name="T5" fmla="*/ 0 h 24"/>
                <a:gd name="T6" fmla="*/ 0 60000 65536"/>
                <a:gd name="T7" fmla="*/ 0 60000 65536"/>
                <a:gd name="T8" fmla="*/ 0 60000 65536"/>
                <a:gd name="T9" fmla="*/ 0 w 47"/>
                <a:gd name="T10" fmla="*/ 0 h 24"/>
                <a:gd name="T11" fmla="*/ 47 w 47"/>
                <a:gd name="T12" fmla="*/ 24 h 24"/>
              </a:gdLst>
              <a:ahLst/>
              <a:cxnLst>
                <a:cxn ang="T6">
                  <a:pos x="T0" y="T1"/>
                </a:cxn>
                <a:cxn ang="T7">
                  <a:pos x="T2" y="T3"/>
                </a:cxn>
                <a:cxn ang="T8">
                  <a:pos x="T4" y="T5"/>
                </a:cxn>
              </a:cxnLst>
              <a:rect l="T9" t="T10" r="T11" b="T12"/>
              <a:pathLst>
                <a:path w="47" h="24">
                  <a:moveTo>
                    <a:pt x="46" y="23"/>
                  </a:moveTo>
                  <a:lnTo>
                    <a:pt x="0" y="12"/>
                  </a:lnTo>
                  <a:lnTo>
                    <a:pt x="46"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3" name="Freeform 22">
              <a:extLst>
                <a:ext uri="{FF2B5EF4-FFF2-40B4-BE49-F238E27FC236}">
                  <a16:creationId xmlns:a16="http://schemas.microsoft.com/office/drawing/2014/main" id="{A4FB2807-F28D-41AA-8CEC-9D0F3425DAB7}"/>
                </a:ext>
              </a:extLst>
            </p:cNvPr>
            <p:cNvSpPr>
              <a:spLocks/>
            </p:cNvSpPr>
            <p:nvPr/>
          </p:nvSpPr>
          <p:spPr bwMode="auto">
            <a:xfrm>
              <a:off x="2649988" y="4176570"/>
              <a:ext cx="280987" cy="1587"/>
            </a:xfrm>
            <a:custGeom>
              <a:avLst/>
              <a:gdLst>
                <a:gd name="T0" fmla="*/ 0 w 177"/>
                <a:gd name="T1" fmla="*/ 0 h 1"/>
                <a:gd name="T2" fmla="*/ 2147483647 w 177"/>
                <a:gd name="T3" fmla="*/ 0 h 1"/>
                <a:gd name="T4" fmla="*/ 0 w 177"/>
                <a:gd name="T5" fmla="*/ 0 h 1"/>
                <a:gd name="T6" fmla="*/ 0 60000 65536"/>
                <a:gd name="T7" fmla="*/ 0 60000 65536"/>
                <a:gd name="T8" fmla="*/ 0 60000 65536"/>
                <a:gd name="T9" fmla="*/ 0 w 177"/>
                <a:gd name="T10" fmla="*/ 0 h 1"/>
                <a:gd name="T11" fmla="*/ 177 w 177"/>
                <a:gd name="T12" fmla="*/ 1 h 1"/>
              </a:gdLst>
              <a:ahLst/>
              <a:cxnLst>
                <a:cxn ang="T6">
                  <a:pos x="T0" y="T1"/>
                </a:cxn>
                <a:cxn ang="T7">
                  <a:pos x="T2" y="T3"/>
                </a:cxn>
                <a:cxn ang="T8">
                  <a:pos x="T4" y="T5"/>
                </a:cxn>
              </a:cxnLst>
              <a:rect l="T9" t="T10" r="T11" b="T12"/>
              <a:pathLst>
                <a:path w="177" h="1">
                  <a:moveTo>
                    <a:pt x="0" y="0"/>
                  </a:moveTo>
                  <a:lnTo>
                    <a:pt x="176"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4" name="Freeform 23">
              <a:extLst>
                <a:ext uri="{FF2B5EF4-FFF2-40B4-BE49-F238E27FC236}">
                  <a16:creationId xmlns:a16="http://schemas.microsoft.com/office/drawing/2014/main" id="{8AF2505C-2C52-451C-A686-9FC2BB6E611A}"/>
                </a:ext>
              </a:extLst>
            </p:cNvPr>
            <p:cNvSpPr>
              <a:spLocks/>
            </p:cNvSpPr>
            <p:nvPr/>
          </p:nvSpPr>
          <p:spPr bwMode="auto">
            <a:xfrm>
              <a:off x="2854775" y="4157520"/>
              <a:ext cx="76200" cy="38100"/>
            </a:xfrm>
            <a:custGeom>
              <a:avLst/>
              <a:gdLst>
                <a:gd name="T0" fmla="*/ 0 w 48"/>
                <a:gd name="T1" fmla="*/ 0 h 24"/>
                <a:gd name="T2" fmla="*/ 2147483647 w 48"/>
                <a:gd name="T3" fmla="*/ 2147483647 h 24"/>
                <a:gd name="T4" fmla="*/ 0 w 48"/>
                <a:gd name="T5" fmla="*/ 2147483647 h 24"/>
                <a:gd name="T6" fmla="*/ 0 60000 65536"/>
                <a:gd name="T7" fmla="*/ 0 60000 65536"/>
                <a:gd name="T8" fmla="*/ 0 60000 65536"/>
                <a:gd name="T9" fmla="*/ 0 w 48"/>
                <a:gd name="T10" fmla="*/ 0 h 24"/>
                <a:gd name="T11" fmla="*/ 48 w 48"/>
                <a:gd name="T12" fmla="*/ 24 h 24"/>
              </a:gdLst>
              <a:ahLst/>
              <a:cxnLst>
                <a:cxn ang="T6">
                  <a:pos x="T0" y="T1"/>
                </a:cxn>
                <a:cxn ang="T7">
                  <a:pos x="T2" y="T3"/>
                </a:cxn>
                <a:cxn ang="T8">
                  <a:pos x="T4" y="T5"/>
                </a:cxn>
              </a:cxnLst>
              <a:rect l="T9" t="T10" r="T11" b="T12"/>
              <a:pathLst>
                <a:path w="48" h="24">
                  <a:moveTo>
                    <a:pt x="0" y="0"/>
                  </a:moveTo>
                  <a:lnTo>
                    <a:pt x="47" y="12"/>
                  </a:lnTo>
                  <a:lnTo>
                    <a:pt x="0" y="23"/>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5" name="Freeform 24">
              <a:extLst>
                <a:ext uri="{FF2B5EF4-FFF2-40B4-BE49-F238E27FC236}">
                  <a16:creationId xmlns:a16="http://schemas.microsoft.com/office/drawing/2014/main" id="{04A4540D-B2C4-4114-9449-82EED68172A0}"/>
                </a:ext>
              </a:extLst>
            </p:cNvPr>
            <p:cNvSpPr>
              <a:spLocks/>
            </p:cNvSpPr>
            <p:nvPr/>
          </p:nvSpPr>
          <p:spPr bwMode="auto">
            <a:xfrm>
              <a:off x="2929388" y="4038457"/>
              <a:ext cx="468312" cy="323850"/>
            </a:xfrm>
            <a:custGeom>
              <a:avLst/>
              <a:gdLst>
                <a:gd name="T0" fmla="*/ 0 w 295"/>
                <a:gd name="T1" fmla="*/ 0 h 204"/>
                <a:gd name="T2" fmla="*/ 2147483647 w 295"/>
                <a:gd name="T3" fmla="*/ 0 h 204"/>
                <a:gd name="T4" fmla="*/ 2147483647 w 295"/>
                <a:gd name="T5" fmla="*/ 2147483647 h 204"/>
                <a:gd name="T6" fmla="*/ 0 w 295"/>
                <a:gd name="T7" fmla="*/ 2147483647 h 204"/>
                <a:gd name="T8" fmla="*/ 0 w 295"/>
                <a:gd name="T9" fmla="*/ 0 h 204"/>
                <a:gd name="T10" fmla="*/ 0 60000 65536"/>
                <a:gd name="T11" fmla="*/ 0 60000 65536"/>
                <a:gd name="T12" fmla="*/ 0 60000 65536"/>
                <a:gd name="T13" fmla="*/ 0 60000 65536"/>
                <a:gd name="T14" fmla="*/ 0 60000 65536"/>
                <a:gd name="T15" fmla="*/ 0 w 295"/>
                <a:gd name="T16" fmla="*/ 0 h 204"/>
                <a:gd name="T17" fmla="*/ 295 w 295"/>
                <a:gd name="T18" fmla="*/ 204 h 204"/>
              </a:gdLst>
              <a:ahLst/>
              <a:cxnLst>
                <a:cxn ang="T10">
                  <a:pos x="T0" y="T1"/>
                </a:cxn>
                <a:cxn ang="T11">
                  <a:pos x="T2" y="T3"/>
                </a:cxn>
                <a:cxn ang="T12">
                  <a:pos x="T4" y="T5"/>
                </a:cxn>
                <a:cxn ang="T13">
                  <a:pos x="T6" y="T7"/>
                </a:cxn>
                <a:cxn ang="T14">
                  <a:pos x="T8" y="T9"/>
                </a:cxn>
              </a:cxnLst>
              <a:rect l="T15" t="T16" r="T17" b="T18"/>
              <a:pathLst>
                <a:path w="295" h="204">
                  <a:moveTo>
                    <a:pt x="0" y="0"/>
                  </a:moveTo>
                  <a:lnTo>
                    <a:pt x="294" y="0"/>
                  </a:lnTo>
                  <a:lnTo>
                    <a:pt x="294" y="203"/>
                  </a:lnTo>
                  <a:lnTo>
                    <a:pt x="0" y="203"/>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6" name="Freeform 25">
              <a:extLst>
                <a:ext uri="{FF2B5EF4-FFF2-40B4-BE49-F238E27FC236}">
                  <a16:creationId xmlns:a16="http://schemas.microsoft.com/office/drawing/2014/main" id="{225E194B-0577-4817-BF36-6A84350028D8}"/>
                </a:ext>
              </a:extLst>
            </p:cNvPr>
            <p:cNvSpPr>
              <a:spLocks/>
            </p:cNvSpPr>
            <p:nvPr/>
          </p:nvSpPr>
          <p:spPr bwMode="auto">
            <a:xfrm>
              <a:off x="3396113" y="4157520"/>
              <a:ext cx="76200" cy="38100"/>
            </a:xfrm>
            <a:custGeom>
              <a:avLst/>
              <a:gdLst>
                <a:gd name="T0" fmla="*/ 2147483647 w 48"/>
                <a:gd name="T1" fmla="*/ 2147483647 h 24"/>
                <a:gd name="T2" fmla="*/ 0 w 48"/>
                <a:gd name="T3" fmla="*/ 2147483647 h 24"/>
                <a:gd name="T4" fmla="*/ 2147483647 w 48"/>
                <a:gd name="T5" fmla="*/ 0 h 24"/>
                <a:gd name="T6" fmla="*/ 0 60000 65536"/>
                <a:gd name="T7" fmla="*/ 0 60000 65536"/>
                <a:gd name="T8" fmla="*/ 0 60000 65536"/>
                <a:gd name="T9" fmla="*/ 0 w 48"/>
                <a:gd name="T10" fmla="*/ 0 h 24"/>
                <a:gd name="T11" fmla="*/ 48 w 48"/>
                <a:gd name="T12" fmla="*/ 24 h 24"/>
              </a:gdLst>
              <a:ahLst/>
              <a:cxnLst>
                <a:cxn ang="T6">
                  <a:pos x="T0" y="T1"/>
                </a:cxn>
                <a:cxn ang="T7">
                  <a:pos x="T2" y="T3"/>
                </a:cxn>
                <a:cxn ang="T8">
                  <a:pos x="T4" y="T5"/>
                </a:cxn>
              </a:cxnLst>
              <a:rect l="T9" t="T10" r="T11" b="T12"/>
              <a:pathLst>
                <a:path w="48" h="24">
                  <a:moveTo>
                    <a:pt x="47" y="23"/>
                  </a:moveTo>
                  <a:lnTo>
                    <a:pt x="0" y="12"/>
                  </a:lnTo>
                  <a:lnTo>
                    <a:pt x="47"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7" name="Freeform 26">
              <a:extLst>
                <a:ext uri="{FF2B5EF4-FFF2-40B4-BE49-F238E27FC236}">
                  <a16:creationId xmlns:a16="http://schemas.microsoft.com/office/drawing/2014/main" id="{FA2ADBB5-12EA-40C6-915A-0C0FB64BFB89}"/>
                </a:ext>
              </a:extLst>
            </p:cNvPr>
            <p:cNvSpPr>
              <a:spLocks/>
            </p:cNvSpPr>
            <p:nvPr/>
          </p:nvSpPr>
          <p:spPr bwMode="auto">
            <a:xfrm>
              <a:off x="3396113" y="4176570"/>
              <a:ext cx="233362" cy="1587"/>
            </a:xfrm>
            <a:custGeom>
              <a:avLst/>
              <a:gdLst>
                <a:gd name="T0" fmla="*/ 0 w 147"/>
                <a:gd name="T1" fmla="*/ 0 h 1"/>
                <a:gd name="T2" fmla="*/ 2147483647 w 147"/>
                <a:gd name="T3" fmla="*/ 0 h 1"/>
                <a:gd name="T4" fmla="*/ 0 w 147"/>
                <a:gd name="T5" fmla="*/ 0 h 1"/>
                <a:gd name="T6" fmla="*/ 0 60000 65536"/>
                <a:gd name="T7" fmla="*/ 0 60000 65536"/>
                <a:gd name="T8" fmla="*/ 0 60000 65536"/>
                <a:gd name="T9" fmla="*/ 0 w 147"/>
                <a:gd name="T10" fmla="*/ 0 h 1"/>
                <a:gd name="T11" fmla="*/ 147 w 147"/>
                <a:gd name="T12" fmla="*/ 1 h 1"/>
              </a:gdLst>
              <a:ahLst/>
              <a:cxnLst>
                <a:cxn ang="T6">
                  <a:pos x="T0" y="T1"/>
                </a:cxn>
                <a:cxn ang="T7">
                  <a:pos x="T2" y="T3"/>
                </a:cxn>
                <a:cxn ang="T8">
                  <a:pos x="T4" y="T5"/>
                </a:cxn>
              </a:cxnLst>
              <a:rect l="T9" t="T10" r="T11" b="T12"/>
              <a:pathLst>
                <a:path w="147" h="1">
                  <a:moveTo>
                    <a:pt x="0" y="0"/>
                  </a:moveTo>
                  <a:lnTo>
                    <a:pt x="146"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8" name="Freeform 27">
              <a:extLst>
                <a:ext uri="{FF2B5EF4-FFF2-40B4-BE49-F238E27FC236}">
                  <a16:creationId xmlns:a16="http://schemas.microsoft.com/office/drawing/2014/main" id="{34265EAC-C8EB-48BE-8254-83C164FA89C8}"/>
                </a:ext>
              </a:extLst>
            </p:cNvPr>
            <p:cNvSpPr>
              <a:spLocks/>
            </p:cNvSpPr>
            <p:nvPr/>
          </p:nvSpPr>
          <p:spPr bwMode="auto">
            <a:xfrm>
              <a:off x="3553275" y="4157520"/>
              <a:ext cx="76200" cy="38100"/>
            </a:xfrm>
            <a:custGeom>
              <a:avLst/>
              <a:gdLst>
                <a:gd name="T0" fmla="*/ 0 w 48"/>
                <a:gd name="T1" fmla="*/ 0 h 24"/>
                <a:gd name="T2" fmla="*/ 2147483647 w 48"/>
                <a:gd name="T3" fmla="*/ 2147483647 h 24"/>
                <a:gd name="T4" fmla="*/ 0 w 48"/>
                <a:gd name="T5" fmla="*/ 2147483647 h 24"/>
                <a:gd name="T6" fmla="*/ 0 60000 65536"/>
                <a:gd name="T7" fmla="*/ 0 60000 65536"/>
                <a:gd name="T8" fmla="*/ 0 60000 65536"/>
                <a:gd name="T9" fmla="*/ 0 w 48"/>
                <a:gd name="T10" fmla="*/ 0 h 24"/>
                <a:gd name="T11" fmla="*/ 48 w 48"/>
                <a:gd name="T12" fmla="*/ 24 h 24"/>
              </a:gdLst>
              <a:ahLst/>
              <a:cxnLst>
                <a:cxn ang="T6">
                  <a:pos x="T0" y="T1"/>
                </a:cxn>
                <a:cxn ang="T7">
                  <a:pos x="T2" y="T3"/>
                </a:cxn>
                <a:cxn ang="T8">
                  <a:pos x="T4" y="T5"/>
                </a:cxn>
              </a:cxnLst>
              <a:rect l="T9" t="T10" r="T11" b="T12"/>
              <a:pathLst>
                <a:path w="48" h="24">
                  <a:moveTo>
                    <a:pt x="0" y="0"/>
                  </a:moveTo>
                  <a:lnTo>
                    <a:pt x="47" y="12"/>
                  </a:lnTo>
                  <a:lnTo>
                    <a:pt x="0" y="23"/>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29" name="Freeform 28">
              <a:extLst>
                <a:ext uri="{FF2B5EF4-FFF2-40B4-BE49-F238E27FC236}">
                  <a16:creationId xmlns:a16="http://schemas.microsoft.com/office/drawing/2014/main" id="{F89F037C-C214-4FD6-A3F0-C5CD5C5CCEC1}"/>
                </a:ext>
              </a:extLst>
            </p:cNvPr>
            <p:cNvSpPr>
              <a:spLocks/>
            </p:cNvSpPr>
            <p:nvPr/>
          </p:nvSpPr>
          <p:spPr bwMode="auto">
            <a:xfrm>
              <a:off x="2508700" y="3760645"/>
              <a:ext cx="188913" cy="279400"/>
            </a:xfrm>
            <a:custGeom>
              <a:avLst/>
              <a:gdLst>
                <a:gd name="T0" fmla="*/ 2147483647 w 119"/>
                <a:gd name="T1" fmla="*/ 0 h 176"/>
                <a:gd name="T2" fmla="*/ 0 w 119"/>
                <a:gd name="T3" fmla="*/ 2147483647 h 176"/>
                <a:gd name="T4" fmla="*/ 2147483647 w 119"/>
                <a:gd name="T5" fmla="*/ 0 h 176"/>
                <a:gd name="T6" fmla="*/ 0 60000 65536"/>
                <a:gd name="T7" fmla="*/ 0 60000 65536"/>
                <a:gd name="T8" fmla="*/ 0 60000 65536"/>
                <a:gd name="T9" fmla="*/ 0 w 119"/>
                <a:gd name="T10" fmla="*/ 0 h 176"/>
                <a:gd name="T11" fmla="*/ 119 w 119"/>
                <a:gd name="T12" fmla="*/ 176 h 176"/>
              </a:gdLst>
              <a:ahLst/>
              <a:cxnLst>
                <a:cxn ang="T6">
                  <a:pos x="T0" y="T1"/>
                </a:cxn>
                <a:cxn ang="T7">
                  <a:pos x="T2" y="T3"/>
                </a:cxn>
                <a:cxn ang="T8">
                  <a:pos x="T4" y="T5"/>
                </a:cxn>
              </a:cxnLst>
              <a:rect l="T9" t="T10" r="T11" b="T12"/>
              <a:pathLst>
                <a:path w="119" h="176">
                  <a:moveTo>
                    <a:pt x="118" y="0"/>
                  </a:moveTo>
                  <a:lnTo>
                    <a:pt x="0" y="175"/>
                  </a:lnTo>
                  <a:lnTo>
                    <a:pt x="118"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0" name="Freeform 29">
              <a:extLst>
                <a:ext uri="{FF2B5EF4-FFF2-40B4-BE49-F238E27FC236}">
                  <a16:creationId xmlns:a16="http://schemas.microsoft.com/office/drawing/2014/main" id="{9DFFCEC4-0CAF-44F1-87F3-8C00371ABE95}"/>
                </a:ext>
              </a:extLst>
            </p:cNvPr>
            <p:cNvSpPr>
              <a:spLocks/>
            </p:cNvSpPr>
            <p:nvPr/>
          </p:nvSpPr>
          <p:spPr bwMode="auto">
            <a:xfrm>
              <a:off x="2508700" y="3965432"/>
              <a:ext cx="60325" cy="74613"/>
            </a:xfrm>
            <a:custGeom>
              <a:avLst/>
              <a:gdLst>
                <a:gd name="T0" fmla="*/ 2147483647 w 38"/>
                <a:gd name="T1" fmla="*/ 2147483647 h 47"/>
                <a:gd name="T2" fmla="*/ 0 w 38"/>
                <a:gd name="T3" fmla="*/ 2147483647 h 47"/>
                <a:gd name="T4" fmla="*/ 2147483647 w 38"/>
                <a:gd name="T5" fmla="*/ 0 h 47"/>
                <a:gd name="T6" fmla="*/ 0 60000 65536"/>
                <a:gd name="T7" fmla="*/ 0 60000 65536"/>
                <a:gd name="T8" fmla="*/ 0 60000 65536"/>
                <a:gd name="T9" fmla="*/ 0 w 38"/>
                <a:gd name="T10" fmla="*/ 0 h 47"/>
                <a:gd name="T11" fmla="*/ 38 w 38"/>
                <a:gd name="T12" fmla="*/ 47 h 47"/>
              </a:gdLst>
              <a:ahLst/>
              <a:cxnLst>
                <a:cxn ang="T6">
                  <a:pos x="T0" y="T1"/>
                </a:cxn>
                <a:cxn ang="T7">
                  <a:pos x="T2" y="T3"/>
                </a:cxn>
                <a:cxn ang="T8">
                  <a:pos x="T4" y="T5"/>
                </a:cxn>
              </a:cxnLst>
              <a:rect l="T9" t="T10" r="T11" b="T12"/>
              <a:pathLst>
                <a:path w="38" h="47">
                  <a:moveTo>
                    <a:pt x="37" y="14"/>
                  </a:moveTo>
                  <a:lnTo>
                    <a:pt x="0" y="46"/>
                  </a:lnTo>
                  <a:lnTo>
                    <a:pt x="16"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1" name="Freeform 30">
              <a:extLst>
                <a:ext uri="{FF2B5EF4-FFF2-40B4-BE49-F238E27FC236}">
                  <a16:creationId xmlns:a16="http://schemas.microsoft.com/office/drawing/2014/main" id="{D2B9E979-6948-4D45-9970-E0C4EB3F6FB3}"/>
                </a:ext>
              </a:extLst>
            </p:cNvPr>
            <p:cNvSpPr>
              <a:spLocks/>
            </p:cNvSpPr>
            <p:nvPr/>
          </p:nvSpPr>
          <p:spPr bwMode="auto">
            <a:xfrm>
              <a:off x="3161163" y="3760645"/>
              <a:ext cx="1587" cy="279400"/>
            </a:xfrm>
            <a:custGeom>
              <a:avLst/>
              <a:gdLst>
                <a:gd name="T0" fmla="*/ 0 w 1"/>
                <a:gd name="T1" fmla="*/ 0 h 176"/>
                <a:gd name="T2" fmla="*/ 0 w 1"/>
                <a:gd name="T3" fmla="*/ 2147483647 h 176"/>
                <a:gd name="T4" fmla="*/ 0 w 1"/>
                <a:gd name="T5" fmla="*/ 0 h 176"/>
                <a:gd name="T6" fmla="*/ 0 60000 65536"/>
                <a:gd name="T7" fmla="*/ 0 60000 65536"/>
                <a:gd name="T8" fmla="*/ 0 60000 65536"/>
                <a:gd name="T9" fmla="*/ 0 w 1"/>
                <a:gd name="T10" fmla="*/ 0 h 176"/>
                <a:gd name="T11" fmla="*/ 1 w 1"/>
                <a:gd name="T12" fmla="*/ 176 h 176"/>
              </a:gdLst>
              <a:ahLst/>
              <a:cxnLst>
                <a:cxn ang="T6">
                  <a:pos x="T0" y="T1"/>
                </a:cxn>
                <a:cxn ang="T7">
                  <a:pos x="T2" y="T3"/>
                </a:cxn>
                <a:cxn ang="T8">
                  <a:pos x="T4" y="T5"/>
                </a:cxn>
              </a:cxnLst>
              <a:rect l="T9" t="T10" r="T11" b="T12"/>
              <a:pathLst>
                <a:path w="1" h="176">
                  <a:moveTo>
                    <a:pt x="0" y="0"/>
                  </a:moveTo>
                  <a:lnTo>
                    <a:pt x="0" y="175"/>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2" name="Freeform 31">
              <a:extLst>
                <a:ext uri="{FF2B5EF4-FFF2-40B4-BE49-F238E27FC236}">
                  <a16:creationId xmlns:a16="http://schemas.microsoft.com/office/drawing/2014/main" id="{8DE7508C-3E3B-4A15-A742-633142F86468}"/>
                </a:ext>
              </a:extLst>
            </p:cNvPr>
            <p:cNvSpPr>
              <a:spLocks/>
            </p:cNvSpPr>
            <p:nvPr/>
          </p:nvSpPr>
          <p:spPr bwMode="auto">
            <a:xfrm>
              <a:off x="3143700" y="3963845"/>
              <a:ext cx="38100" cy="76200"/>
            </a:xfrm>
            <a:custGeom>
              <a:avLst/>
              <a:gdLst>
                <a:gd name="T0" fmla="*/ 2147483647 w 24"/>
                <a:gd name="T1" fmla="*/ 0 h 48"/>
                <a:gd name="T2" fmla="*/ 2147483647 w 24"/>
                <a:gd name="T3" fmla="*/ 2147483647 h 48"/>
                <a:gd name="T4" fmla="*/ 0 w 24"/>
                <a:gd name="T5" fmla="*/ 0 h 48"/>
                <a:gd name="T6" fmla="*/ 0 60000 65536"/>
                <a:gd name="T7" fmla="*/ 0 60000 65536"/>
                <a:gd name="T8" fmla="*/ 0 60000 65536"/>
                <a:gd name="T9" fmla="*/ 0 w 24"/>
                <a:gd name="T10" fmla="*/ 0 h 48"/>
                <a:gd name="T11" fmla="*/ 24 w 24"/>
                <a:gd name="T12" fmla="*/ 48 h 48"/>
              </a:gdLst>
              <a:ahLst/>
              <a:cxnLst>
                <a:cxn ang="T6">
                  <a:pos x="T0" y="T1"/>
                </a:cxn>
                <a:cxn ang="T7">
                  <a:pos x="T2" y="T3"/>
                </a:cxn>
                <a:cxn ang="T8">
                  <a:pos x="T4" y="T5"/>
                </a:cxn>
              </a:cxnLst>
              <a:rect l="T9" t="T10" r="T11" b="T12"/>
              <a:pathLst>
                <a:path w="24" h="48">
                  <a:moveTo>
                    <a:pt x="23" y="0"/>
                  </a:moveTo>
                  <a:lnTo>
                    <a:pt x="11" y="47"/>
                  </a:lnTo>
                  <a:lnTo>
                    <a:pt x="0"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3" name="Freeform 32">
              <a:extLst>
                <a:ext uri="{FF2B5EF4-FFF2-40B4-BE49-F238E27FC236}">
                  <a16:creationId xmlns:a16="http://schemas.microsoft.com/office/drawing/2014/main" id="{7C1DC237-9350-489B-85A0-79313D7E7880}"/>
                </a:ext>
              </a:extLst>
            </p:cNvPr>
            <p:cNvSpPr>
              <a:spLocks/>
            </p:cNvSpPr>
            <p:nvPr/>
          </p:nvSpPr>
          <p:spPr bwMode="auto">
            <a:xfrm>
              <a:off x="4188275" y="4038457"/>
              <a:ext cx="466725" cy="323850"/>
            </a:xfrm>
            <a:custGeom>
              <a:avLst/>
              <a:gdLst>
                <a:gd name="T0" fmla="*/ 0 w 294"/>
                <a:gd name="T1" fmla="*/ 0 h 204"/>
                <a:gd name="T2" fmla="*/ 2147483647 w 294"/>
                <a:gd name="T3" fmla="*/ 0 h 204"/>
                <a:gd name="T4" fmla="*/ 2147483647 w 294"/>
                <a:gd name="T5" fmla="*/ 2147483647 h 204"/>
                <a:gd name="T6" fmla="*/ 0 w 294"/>
                <a:gd name="T7" fmla="*/ 2147483647 h 204"/>
                <a:gd name="T8" fmla="*/ 0 w 294"/>
                <a:gd name="T9" fmla="*/ 0 h 204"/>
                <a:gd name="T10" fmla="*/ 0 60000 65536"/>
                <a:gd name="T11" fmla="*/ 0 60000 65536"/>
                <a:gd name="T12" fmla="*/ 0 60000 65536"/>
                <a:gd name="T13" fmla="*/ 0 60000 65536"/>
                <a:gd name="T14" fmla="*/ 0 60000 65536"/>
                <a:gd name="T15" fmla="*/ 0 w 294"/>
                <a:gd name="T16" fmla="*/ 0 h 204"/>
                <a:gd name="T17" fmla="*/ 294 w 294"/>
                <a:gd name="T18" fmla="*/ 204 h 204"/>
              </a:gdLst>
              <a:ahLst/>
              <a:cxnLst>
                <a:cxn ang="T10">
                  <a:pos x="T0" y="T1"/>
                </a:cxn>
                <a:cxn ang="T11">
                  <a:pos x="T2" y="T3"/>
                </a:cxn>
                <a:cxn ang="T12">
                  <a:pos x="T4" y="T5"/>
                </a:cxn>
                <a:cxn ang="T13">
                  <a:pos x="T6" y="T7"/>
                </a:cxn>
                <a:cxn ang="T14">
                  <a:pos x="T8" y="T9"/>
                </a:cxn>
              </a:cxnLst>
              <a:rect l="T15" t="T16" r="T17" b="T18"/>
              <a:pathLst>
                <a:path w="294" h="204">
                  <a:moveTo>
                    <a:pt x="0" y="0"/>
                  </a:moveTo>
                  <a:lnTo>
                    <a:pt x="293" y="0"/>
                  </a:lnTo>
                  <a:lnTo>
                    <a:pt x="293" y="203"/>
                  </a:lnTo>
                  <a:lnTo>
                    <a:pt x="0" y="203"/>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4" name="Freeform 33">
              <a:extLst>
                <a:ext uri="{FF2B5EF4-FFF2-40B4-BE49-F238E27FC236}">
                  <a16:creationId xmlns:a16="http://schemas.microsoft.com/office/drawing/2014/main" id="{B829D803-E5BA-4018-B06A-C4198E184445}"/>
                </a:ext>
              </a:extLst>
            </p:cNvPr>
            <p:cNvSpPr>
              <a:spLocks/>
            </p:cNvSpPr>
            <p:nvPr/>
          </p:nvSpPr>
          <p:spPr bwMode="auto">
            <a:xfrm>
              <a:off x="3956500" y="4157520"/>
              <a:ext cx="74613" cy="38100"/>
            </a:xfrm>
            <a:custGeom>
              <a:avLst/>
              <a:gdLst>
                <a:gd name="T0" fmla="*/ 2147483647 w 47"/>
                <a:gd name="T1" fmla="*/ 2147483647 h 24"/>
                <a:gd name="T2" fmla="*/ 0 w 47"/>
                <a:gd name="T3" fmla="*/ 2147483647 h 24"/>
                <a:gd name="T4" fmla="*/ 2147483647 w 47"/>
                <a:gd name="T5" fmla="*/ 0 h 24"/>
                <a:gd name="T6" fmla="*/ 0 60000 65536"/>
                <a:gd name="T7" fmla="*/ 0 60000 65536"/>
                <a:gd name="T8" fmla="*/ 0 60000 65536"/>
                <a:gd name="T9" fmla="*/ 0 w 47"/>
                <a:gd name="T10" fmla="*/ 0 h 24"/>
                <a:gd name="T11" fmla="*/ 47 w 47"/>
                <a:gd name="T12" fmla="*/ 24 h 24"/>
              </a:gdLst>
              <a:ahLst/>
              <a:cxnLst>
                <a:cxn ang="T6">
                  <a:pos x="T0" y="T1"/>
                </a:cxn>
                <a:cxn ang="T7">
                  <a:pos x="T2" y="T3"/>
                </a:cxn>
                <a:cxn ang="T8">
                  <a:pos x="T4" y="T5"/>
                </a:cxn>
              </a:cxnLst>
              <a:rect l="T9" t="T10" r="T11" b="T12"/>
              <a:pathLst>
                <a:path w="47" h="24">
                  <a:moveTo>
                    <a:pt x="46" y="23"/>
                  </a:moveTo>
                  <a:lnTo>
                    <a:pt x="0" y="12"/>
                  </a:lnTo>
                  <a:lnTo>
                    <a:pt x="46"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5" name="Freeform 34">
              <a:extLst>
                <a:ext uri="{FF2B5EF4-FFF2-40B4-BE49-F238E27FC236}">
                  <a16:creationId xmlns:a16="http://schemas.microsoft.com/office/drawing/2014/main" id="{D9E09858-7B9D-4535-931E-A6D6992AD015}"/>
                </a:ext>
              </a:extLst>
            </p:cNvPr>
            <p:cNvSpPr>
              <a:spLocks/>
            </p:cNvSpPr>
            <p:nvPr/>
          </p:nvSpPr>
          <p:spPr bwMode="auto">
            <a:xfrm>
              <a:off x="3956500" y="4176570"/>
              <a:ext cx="233363" cy="1587"/>
            </a:xfrm>
            <a:custGeom>
              <a:avLst/>
              <a:gdLst>
                <a:gd name="T0" fmla="*/ 0 w 147"/>
                <a:gd name="T1" fmla="*/ 0 h 1"/>
                <a:gd name="T2" fmla="*/ 2147483647 w 147"/>
                <a:gd name="T3" fmla="*/ 0 h 1"/>
                <a:gd name="T4" fmla="*/ 0 w 147"/>
                <a:gd name="T5" fmla="*/ 0 h 1"/>
                <a:gd name="T6" fmla="*/ 0 60000 65536"/>
                <a:gd name="T7" fmla="*/ 0 60000 65536"/>
                <a:gd name="T8" fmla="*/ 0 60000 65536"/>
                <a:gd name="T9" fmla="*/ 0 w 147"/>
                <a:gd name="T10" fmla="*/ 0 h 1"/>
                <a:gd name="T11" fmla="*/ 147 w 147"/>
                <a:gd name="T12" fmla="*/ 1 h 1"/>
              </a:gdLst>
              <a:ahLst/>
              <a:cxnLst>
                <a:cxn ang="T6">
                  <a:pos x="T0" y="T1"/>
                </a:cxn>
                <a:cxn ang="T7">
                  <a:pos x="T2" y="T3"/>
                </a:cxn>
                <a:cxn ang="T8">
                  <a:pos x="T4" y="T5"/>
                </a:cxn>
              </a:cxnLst>
              <a:rect l="T9" t="T10" r="T11" b="T12"/>
              <a:pathLst>
                <a:path w="147" h="1">
                  <a:moveTo>
                    <a:pt x="0" y="0"/>
                  </a:moveTo>
                  <a:lnTo>
                    <a:pt x="146"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6" name="Freeform 35">
              <a:extLst>
                <a:ext uri="{FF2B5EF4-FFF2-40B4-BE49-F238E27FC236}">
                  <a16:creationId xmlns:a16="http://schemas.microsoft.com/office/drawing/2014/main" id="{225FB7C0-C3B9-44C0-A974-3EFBCE264FB1}"/>
                </a:ext>
              </a:extLst>
            </p:cNvPr>
            <p:cNvSpPr>
              <a:spLocks/>
            </p:cNvSpPr>
            <p:nvPr/>
          </p:nvSpPr>
          <p:spPr bwMode="auto">
            <a:xfrm>
              <a:off x="4113663" y="4157520"/>
              <a:ext cx="76200" cy="38100"/>
            </a:xfrm>
            <a:custGeom>
              <a:avLst/>
              <a:gdLst>
                <a:gd name="T0" fmla="*/ 0 w 48"/>
                <a:gd name="T1" fmla="*/ 0 h 24"/>
                <a:gd name="T2" fmla="*/ 2147483647 w 48"/>
                <a:gd name="T3" fmla="*/ 2147483647 h 24"/>
                <a:gd name="T4" fmla="*/ 0 w 48"/>
                <a:gd name="T5" fmla="*/ 2147483647 h 24"/>
                <a:gd name="T6" fmla="*/ 0 60000 65536"/>
                <a:gd name="T7" fmla="*/ 0 60000 65536"/>
                <a:gd name="T8" fmla="*/ 0 60000 65536"/>
                <a:gd name="T9" fmla="*/ 0 w 48"/>
                <a:gd name="T10" fmla="*/ 0 h 24"/>
                <a:gd name="T11" fmla="*/ 48 w 48"/>
                <a:gd name="T12" fmla="*/ 24 h 24"/>
              </a:gdLst>
              <a:ahLst/>
              <a:cxnLst>
                <a:cxn ang="T6">
                  <a:pos x="T0" y="T1"/>
                </a:cxn>
                <a:cxn ang="T7">
                  <a:pos x="T2" y="T3"/>
                </a:cxn>
                <a:cxn ang="T8">
                  <a:pos x="T4" y="T5"/>
                </a:cxn>
              </a:cxnLst>
              <a:rect l="T9" t="T10" r="T11" b="T12"/>
              <a:pathLst>
                <a:path w="48" h="24">
                  <a:moveTo>
                    <a:pt x="0" y="0"/>
                  </a:moveTo>
                  <a:lnTo>
                    <a:pt x="47" y="12"/>
                  </a:lnTo>
                  <a:lnTo>
                    <a:pt x="0" y="23"/>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7" name="Freeform 36">
              <a:extLst>
                <a:ext uri="{FF2B5EF4-FFF2-40B4-BE49-F238E27FC236}">
                  <a16:creationId xmlns:a16="http://schemas.microsoft.com/office/drawing/2014/main" id="{1A4D4306-03CE-4B72-9900-8FC73758401B}"/>
                </a:ext>
              </a:extLst>
            </p:cNvPr>
            <p:cNvSpPr>
              <a:spLocks/>
            </p:cNvSpPr>
            <p:nvPr/>
          </p:nvSpPr>
          <p:spPr bwMode="auto">
            <a:xfrm>
              <a:off x="4234313" y="3760645"/>
              <a:ext cx="188912" cy="279400"/>
            </a:xfrm>
            <a:custGeom>
              <a:avLst/>
              <a:gdLst>
                <a:gd name="T0" fmla="*/ 0 w 119"/>
                <a:gd name="T1" fmla="*/ 0 h 176"/>
                <a:gd name="T2" fmla="*/ 2147483647 w 119"/>
                <a:gd name="T3" fmla="*/ 2147483647 h 176"/>
                <a:gd name="T4" fmla="*/ 0 w 119"/>
                <a:gd name="T5" fmla="*/ 0 h 176"/>
                <a:gd name="T6" fmla="*/ 0 60000 65536"/>
                <a:gd name="T7" fmla="*/ 0 60000 65536"/>
                <a:gd name="T8" fmla="*/ 0 60000 65536"/>
                <a:gd name="T9" fmla="*/ 0 w 119"/>
                <a:gd name="T10" fmla="*/ 0 h 176"/>
                <a:gd name="T11" fmla="*/ 119 w 119"/>
                <a:gd name="T12" fmla="*/ 176 h 176"/>
              </a:gdLst>
              <a:ahLst/>
              <a:cxnLst>
                <a:cxn ang="T6">
                  <a:pos x="T0" y="T1"/>
                </a:cxn>
                <a:cxn ang="T7">
                  <a:pos x="T2" y="T3"/>
                </a:cxn>
                <a:cxn ang="T8">
                  <a:pos x="T4" y="T5"/>
                </a:cxn>
              </a:cxnLst>
              <a:rect l="T9" t="T10" r="T11" b="T12"/>
              <a:pathLst>
                <a:path w="119" h="176">
                  <a:moveTo>
                    <a:pt x="0" y="0"/>
                  </a:moveTo>
                  <a:lnTo>
                    <a:pt x="118" y="175"/>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38" name="Freeform 37">
              <a:extLst>
                <a:ext uri="{FF2B5EF4-FFF2-40B4-BE49-F238E27FC236}">
                  <a16:creationId xmlns:a16="http://schemas.microsoft.com/office/drawing/2014/main" id="{F29B1533-5AD5-451A-8D1B-BACE56D36F5F}"/>
                </a:ext>
              </a:extLst>
            </p:cNvPr>
            <p:cNvSpPr>
              <a:spLocks/>
            </p:cNvSpPr>
            <p:nvPr/>
          </p:nvSpPr>
          <p:spPr bwMode="auto">
            <a:xfrm>
              <a:off x="4364488" y="3965432"/>
              <a:ext cx="58737" cy="74613"/>
            </a:xfrm>
            <a:custGeom>
              <a:avLst/>
              <a:gdLst>
                <a:gd name="T0" fmla="*/ 2147483647 w 37"/>
                <a:gd name="T1" fmla="*/ 0 h 47"/>
                <a:gd name="T2" fmla="*/ 2147483647 w 37"/>
                <a:gd name="T3" fmla="*/ 2147483647 h 47"/>
                <a:gd name="T4" fmla="*/ 0 w 37"/>
                <a:gd name="T5" fmla="*/ 2147483647 h 47"/>
                <a:gd name="T6" fmla="*/ 0 60000 65536"/>
                <a:gd name="T7" fmla="*/ 0 60000 65536"/>
                <a:gd name="T8" fmla="*/ 0 60000 65536"/>
                <a:gd name="T9" fmla="*/ 0 w 37"/>
                <a:gd name="T10" fmla="*/ 0 h 47"/>
                <a:gd name="T11" fmla="*/ 37 w 37"/>
                <a:gd name="T12" fmla="*/ 47 h 47"/>
              </a:gdLst>
              <a:ahLst/>
              <a:cxnLst>
                <a:cxn ang="T6">
                  <a:pos x="T0" y="T1"/>
                </a:cxn>
                <a:cxn ang="T7">
                  <a:pos x="T2" y="T3"/>
                </a:cxn>
                <a:cxn ang="T8">
                  <a:pos x="T4" y="T5"/>
                </a:cxn>
              </a:cxnLst>
              <a:rect l="T9" t="T10" r="T11" b="T12"/>
              <a:pathLst>
                <a:path w="37" h="47">
                  <a:moveTo>
                    <a:pt x="20" y="0"/>
                  </a:moveTo>
                  <a:lnTo>
                    <a:pt x="36" y="46"/>
                  </a:lnTo>
                  <a:lnTo>
                    <a:pt x="0" y="14"/>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0" name="Freeform 38">
              <a:extLst>
                <a:ext uri="{FF2B5EF4-FFF2-40B4-BE49-F238E27FC236}">
                  <a16:creationId xmlns:a16="http://schemas.microsoft.com/office/drawing/2014/main" id="{51600910-0B59-4ED9-B5A1-5645D8BA729A}"/>
                </a:ext>
              </a:extLst>
            </p:cNvPr>
            <p:cNvSpPr>
              <a:spLocks/>
            </p:cNvSpPr>
            <p:nvPr/>
          </p:nvSpPr>
          <p:spPr bwMode="auto">
            <a:xfrm>
              <a:off x="1856238" y="4360720"/>
              <a:ext cx="374650" cy="509587"/>
            </a:xfrm>
            <a:custGeom>
              <a:avLst/>
              <a:gdLst>
                <a:gd name="T0" fmla="*/ 2147483647 w 236"/>
                <a:gd name="T1" fmla="*/ 0 h 321"/>
                <a:gd name="T2" fmla="*/ 0 w 236"/>
                <a:gd name="T3" fmla="*/ 2147483647 h 321"/>
                <a:gd name="T4" fmla="*/ 2147483647 w 236"/>
                <a:gd name="T5" fmla="*/ 0 h 321"/>
                <a:gd name="T6" fmla="*/ 0 60000 65536"/>
                <a:gd name="T7" fmla="*/ 0 60000 65536"/>
                <a:gd name="T8" fmla="*/ 0 60000 65536"/>
                <a:gd name="T9" fmla="*/ 0 w 236"/>
                <a:gd name="T10" fmla="*/ 0 h 321"/>
                <a:gd name="T11" fmla="*/ 236 w 236"/>
                <a:gd name="T12" fmla="*/ 321 h 321"/>
              </a:gdLst>
              <a:ahLst/>
              <a:cxnLst>
                <a:cxn ang="T6">
                  <a:pos x="T0" y="T1"/>
                </a:cxn>
                <a:cxn ang="T7">
                  <a:pos x="T2" y="T3"/>
                </a:cxn>
                <a:cxn ang="T8">
                  <a:pos x="T4" y="T5"/>
                </a:cxn>
              </a:cxnLst>
              <a:rect l="T9" t="T10" r="T11" b="T12"/>
              <a:pathLst>
                <a:path w="236" h="321">
                  <a:moveTo>
                    <a:pt x="235" y="0"/>
                  </a:moveTo>
                  <a:lnTo>
                    <a:pt x="0" y="320"/>
                  </a:lnTo>
                  <a:lnTo>
                    <a:pt x="235"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1" name="Freeform 39">
              <a:extLst>
                <a:ext uri="{FF2B5EF4-FFF2-40B4-BE49-F238E27FC236}">
                  <a16:creationId xmlns:a16="http://schemas.microsoft.com/office/drawing/2014/main" id="{ECF95B16-ACF4-4571-8523-3785A17CE0BA}"/>
                </a:ext>
              </a:extLst>
            </p:cNvPr>
            <p:cNvSpPr>
              <a:spLocks/>
            </p:cNvSpPr>
            <p:nvPr/>
          </p:nvSpPr>
          <p:spPr bwMode="auto">
            <a:xfrm>
              <a:off x="1856238" y="4798870"/>
              <a:ext cx="60325" cy="71437"/>
            </a:xfrm>
            <a:custGeom>
              <a:avLst/>
              <a:gdLst>
                <a:gd name="T0" fmla="*/ 2147483647 w 38"/>
                <a:gd name="T1" fmla="*/ 2147483647 h 45"/>
                <a:gd name="T2" fmla="*/ 0 w 38"/>
                <a:gd name="T3" fmla="*/ 2147483647 h 45"/>
                <a:gd name="T4" fmla="*/ 2147483647 w 38"/>
                <a:gd name="T5" fmla="*/ 0 h 45"/>
                <a:gd name="T6" fmla="*/ 0 60000 65536"/>
                <a:gd name="T7" fmla="*/ 0 60000 65536"/>
                <a:gd name="T8" fmla="*/ 0 60000 65536"/>
                <a:gd name="T9" fmla="*/ 0 w 38"/>
                <a:gd name="T10" fmla="*/ 0 h 45"/>
                <a:gd name="T11" fmla="*/ 38 w 38"/>
                <a:gd name="T12" fmla="*/ 45 h 45"/>
              </a:gdLst>
              <a:ahLst/>
              <a:cxnLst>
                <a:cxn ang="T6">
                  <a:pos x="T0" y="T1"/>
                </a:cxn>
                <a:cxn ang="T7">
                  <a:pos x="T2" y="T3"/>
                </a:cxn>
                <a:cxn ang="T8">
                  <a:pos x="T4" y="T5"/>
                </a:cxn>
              </a:cxnLst>
              <a:rect l="T9" t="T10" r="T11" b="T12"/>
              <a:pathLst>
                <a:path w="38" h="45">
                  <a:moveTo>
                    <a:pt x="37" y="14"/>
                  </a:moveTo>
                  <a:lnTo>
                    <a:pt x="0" y="44"/>
                  </a:lnTo>
                  <a:lnTo>
                    <a:pt x="18"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2" name="Freeform 40">
              <a:extLst>
                <a:ext uri="{FF2B5EF4-FFF2-40B4-BE49-F238E27FC236}">
                  <a16:creationId xmlns:a16="http://schemas.microsoft.com/office/drawing/2014/main" id="{E36635AB-0236-4259-824C-4D326B0E94A7}"/>
                </a:ext>
              </a:extLst>
            </p:cNvPr>
            <p:cNvSpPr>
              <a:spLocks/>
            </p:cNvSpPr>
            <p:nvPr/>
          </p:nvSpPr>
          <p:spPr bwMode="auto">
            <a:xfrm>
              <a:off x="1997525" y="4360720"/>
              <a:ext cx="280988" cy="509587"/>
            </a:xfrm>
            <a:custGeom>
              <a:avLst/>
              <a:gdLst>
                <a:gd name="T0" fmla="*/ 2147483647 w 177"/>
                <a:gd name="T1" fmla="*/ 0 h 321"/>
                <a:gd name="T2" fmla="*/ 0 w 177"/>
                <a:gd name="T3" fmla="*/ 2147483647 h 321"/>
                <a:gd name="T4" fmla="*/ 2147483647 w 177"/>
                <a:gd name="T5" fmla="*/ 0 h 321"/>
                <a:gd name="T6" fmla="*/ 0 60000 65536"/>
                <a:gd name="T7" fmla="*/ 0 60000 65536"/>
                <a:gd name="T8" fmla="*/ 0 60000 65536"/>
                <a:gd name="T9" fmla="*/ 0 w 177"/>
                <a:gd name="T10" fmla="*/ 0 h 321"/>
                <a:gd name="T11" fmla="*/ 177 w 177"/>
                <a:gd name="T12" fmla="*/ 321 h 321"/>
              </a:gdLst>
              <a:ahLst/>
              <a:cxnLst>
                <a:cxn ang="T6">
                  <a:pos x="T0" y="T1"/>
                </a:cxn>
                <a:cxn ang="T7">
                  <a:pos x="T2" y="T3"/>
                </a:cxn>
                <a:cxn ang="T8">
                  <a:pos x="T4" y="T5"/>
                </a:cxn>
              </a:cxnLst>
              <a:rect l="T9" t="T10" r="T11" b="T12"/>
              <a:pathLst>
                <a:path w="177" h="321">
                  <a:moveTo>
                    <a:pt x="176" y="0"/>
                  </a:moveTo>
                  <a:lnTo>
                    <a:pt x="0" y="320"/>
                  </a:lnTo>
                  <a:lnTo>
                    <a:pt x="176"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3" name="Freeform 41">
              <a:extLst>
                <a:ext uri="{FF2B5EF4-FFF2-40B4-BE49-F238E27FC236}">
                  <a16:creationId xmlns:a16="http://schemas.microsoft.com/office/drawing/2014/main" id="{03968BA3-355A-432D-9521-18D4AD10222B}"/>
                </a:ext>
              </a:extLst>
            </p:cNvPr>
            <p:cNvSpPr>
              <a:spLocks/>
            </p:cNvSpPr>
            <p:nvPr/>
          </p:nvSpPr>
          <p:spPr bwMode="auto">
            <a:xfrm>
              <a:off x="1997525" y="4795695"/>
              <a:ext cx="52388" cy="74612"/>
            </a:xfrm>
            <a:custGeom>
              <a:avLst/>
              <a:gdLst>
                <a:gd name="T0" fmla="*/ 2147483647 w 33"/>
                <a:gd name="T1" fmla="*/ 2147483647 h 47"/>
                <a:gd name="T2" fmla="*/ 0 w 33"/>
                <a:gd name="T3" fmla="*/ 2147483647 h 47"/>
                <a:gd name="T4" fmla="*/ 2147483647 w 33"/>
                <a:gd name="T5" fmla="*/ 0 h 47"/>
                <a:gd name="T6" fmla="*/ 0 60000 65536"/>
                <a:gd name="T7" fmla="*/ 0 60000 65536"/>
                <a:gd name="T8" fmla="*/ 0 60000 65536"/>
                <a:gd name="T9" fmla="*/ 0 w 33"/>
                <a:gd name="T10" fmla="*/ 0 h 47"/>
                <a:gd name="T11" fmla="*/ 33 w 33"/>
                <a:gd name="T12" fmla="*/ 47 h 47"/>
              </a:gdLst>
              <a:ahLst/>
              <a:cxnLst>
                <a:cxn ang="T6">
                  <a:pos x="T0" y="T1"/>
                </a:cxn>
                <a:cxn ang="T7">
                  <a:pos x="T2" y="T3"/>
                </a:cxn>
                <a:cxn ang="T8">
                  <a:pos x="T4" y="T5"/>
                </a:cxn>
              </a:cxnLst>
              <a:rect l="T9" t="T10" r="T11" b="T12"/>
              <a:pathLst>
                <a:path w="33" h="47">
                  <a:moveTo>
                    <a:pt x="32" y="10"/>
                  </a:moveTo>
                  <a:lnTo>
                    <a:pt x="0" y="46"/>
                  </a:lnTo>
                  <a:lnTo>
                    <a:pt x="12"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4" name="Freeform 42">
              <a:extLst>
                <a:ext uri="{FF2B5EF4-FFF2-40B4-BE49-F238E27FC236}">
                  <a16:creationId xmlns:a16="http://schemas.microsoft.com/office/drawing/2014/main" id="{BE576E15-EBE2-429E-B01B-9E5D4021ED63}"/>
                </a:ext>
              </a:extLst>
            </p:cNvPr>
            <p:cNvSpPr>
              <a:spLocks/>
            </p:cNvSpPr>
            <p:nvPr/>
          </p:nvSpPr>
          <p:spPr bwMode="auto">
            <a:xfrm>
              <a:off x="2135638" y="4360720"/>
              <a:ext cx="188912" cy="509587"/>
            </a:xfrm>
            <a:custGeom>
              <a:avLst/>
              <a:gdLst>
                <a:gd name="T0" fmla="*/ 2147483647 w 119"/>
                <a:gd name="T1" fmla="*/ 0 h 321"/>
                <a:gd name="T2" fmla="*/ 0 w 119"/>
                <a:gd name="T3" fmla="*/ 2147483647 h 321"/>
                <a:gd name="T4" fmla="*/ 2147483647 w 119"/>
                <a:gd name="T5" fmla="*/ 0 h 321"/>
                <a:gd name="T6" fmla="*/ 0 60000 65536"/>
                <a:gd name="T7" fmla="*/ 0 60000 65536"/>
                <a:gd name="T8" fmla="*/ 0 60000 65536"/>
                <a:gd name="T9" fmla="*/ 0 w 119"/>
                <a:gd name="T10" fmla="*/ 0 h 321"/>
                <a:gd name="T11" fmla="*/ 119 w 119"/>
                <a:gd name="T12" fmla="*/ 321 h 321"/>
              </a:gdLst>
              <a:ahLst/>
              <a:cxnLst>
                <a:cxn ang="T6">
                  <a:pos x="T0" y="T1"/>
                </a:cxn>
                <a:cxn ang="T7">
                  <a:pos x="T2" y="T3"/>
                </a:cxn>
                <a:cxn ang="T8">
                  <a:pos x="T4" y="T5"/>
                </a:cxn>
              </a:cxnLst>
              <a:rect l="T9" t="T10" r="T11" b="T12"/>
              <a:pathLst>
                <a:path w="119" h="321">
                  <a:moveTo>
                    <a:pt x="118" y="0"/>
                  </a:moveTo>
                  <a:lnTo>
                    <a:pt x="0" y="320"/>
                  </a:lnTo>
                  <a:lnTo>
                    <a:pt x="118"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5" name="Freeform 43">
              <a:extLst>
                <a:ext uri="{FF2B5EF4-FFF2-40B4-BE49-F238E27FC236}">
                  <a16:creationId xmlns:a16="http://schemas.microsoft.com/office/drawing/2014/main" id="{1386C764-2383-4895-A983-0E5B1B146CB7}"/>
                </a:ext>
              </a:extLst>
            </p:cNvPr>
            <p:cNvSpPr>
              <a:spLocks/>
            </p:cNvSpPr>
            <p:nvPr/>
          </p:nvSpPr>
          <p:spPr bwMode="auto">
            <a:xfrm>
              <a:off x="2135638" y="4794107"/>
              <a:ext cx="46037" cy="76200"/>
            </a:xfrm>
            <a:custGeom>
              <a:avLst/>
              <a:gdLst>
                <a:gd name="T0" fmla="*/ 2147483647 w 29"/>
                <a:gd name="T1" fmla="*/ 2147483647 h 48"/>
                <a:gd name="T2" fmla="*/ 0 w 29"/>
                <a:gd name="T3" fmla="*/ 2147483647 h 48"/>
                <a:gd name="T4" fmla="*/ 2147483647 w 29"/>
                <a:gd name="T5" fmla="*/ 0 h 48"/>
                <a:gd name="T6" fmla="*/ 0 60000 65536"/>
                <a:gd name="T7" fmla="*/ 0 60000 65536"/>
                <a:gd name="T8" fmla="*/ 0 60000 65536"/>
                <a:gd name="T9" fmla="*/ 0 w 29"/>
                <a:gd name="T10" fmla="*/ 0 h 48"/>
                <a:gd name="T11" fmla="*/ 29 w 29"/>
                <a:gd name="T12" fmla="*/ 48 h 48"/>
              </a:gdLst>
              <a:ahLst/>
              <a:cxnLst>
                <a:cxn ang="T6">
                  <a:pos x="T0" y="T1"/>
                </a:cxn>
                <a:cxn ang="T7">
                  <a:pos x="T2" y="T3"/>
                </a:cxn>
                <a:cxn ang="T8">
                  <a:pos x="T4" y="T5"/>
                </a:cxn>
              </a:cxnLst>
              <a:rect l="T9" t="T10" r="T11" b="T12"/>
              <a:pathLst>
                <a:path w="29" h="48">
                  <a:moveTo>
                    <a:pt x="28" y="7"/>
                  </a:moveTo>
                  <a:lnTo>
                    <a:pt x="0" y="47"/>
                  </a:lnTo>
                  <a:lnTo>
                    <a:pt x="5"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6" name="Freeform 44">
              <a:extLst>
                <a:ext uri="{FF2B5EF4-FFF2-40B4-BE49-F238E27FC236}">
                  <a16:creationId xmlns:a16="http://schemas.microsoft.com/office/drawing/2014/main" id="{24ED650F-8B7B-4849-B47D-4FEDD0591C45}"/>
                </a:ext>
              </a:extLst>
            </p:cNvPr>
            <p:cNvSpPr>
              <a:spLocks/>
            </p:cNvSpPr>
            <p:nvPr/>
          </p:nvSpPr>
          <p:spPr bwMode="auto">
            <a:xfrm>
              <a:off x="2370588" y="4360720"/>
              <a:ext cx="47625" cy="509587"/>
            </a:xfrm>
            <a:custGeom>
              <a:avLst/>
              <a:gdLst>
                <a:gd name="T0" fmla="*/ 0 w 30"/>
                <a:gd name="T1" fmla="*/ 0 h 321"/>
                <a:gd name="T2" fmla="*/ 2147483647 w 30"/>
                <a:gd name="T3" fmla="*/ 2147483647 h 321"/>
                <a:gd name="T4" fmla="*/ 0 w 30"/>
                <a:gd name="T5" fmla="*/ 0 h 321"/>
                <a:gd name="T6" fmla="*/ 0 60000 65536"/>
                <a:gd name="T7" fmla="*/ 0 60000 65536"/>
                <a:gd name="T8" fmla="*/ 0 60000 65536"/>
                <a:gd name="T9" fmla="*/ 0 w 30"/>
                <a:gd name="T10" fmla="*/ 0 h 321"/>
                <a:gd name="T11" fmla="*/ 30 w 30"/>
                <a:gd name="T12" fmla="*/ 321 h 321"/>
              </a:gdLst>
              <a:ahLst/>
              <a:cxnLst>
                <a:cxn ang="T6">
                  <a:pos x="T0" y="T1"/>
                </a:cxn>
                <a:cxn ang="T7">
                  <a:pos x="T2" y="T3"/>
                </a:cxn>
                <a:cxn ang="T8">
                  <a:pos x="T4" y="T5"/>
                </a:cxn>
              </a:cxnLst>
              <a:rect l="T9" t="T10" r="T11" b="T12"/>
              <a:pathLst>
                <a:path w="30" h="321">
                  <a:moveTo>
                    <a:pt x="0" y="0"/>
                  </a:moveTo>
                  <a:lnTo>
                    <a:pt x="29"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7" name="Freeform 45">
              <a:extLst>
                <a:ext uri="{FF2B5EF4-FFF2-40B4-BE49-F238E27FC236}">
                  <a16:creationId xmlns:a16="http://schemas.microsoft.com/office/drawing/2014/main" id="{A9A2104C-98CE-4E61-8DA4-F1FE97C540FE}"/>
                </a:ext>
              </a:extLst>
            </p:cNvPr>
            <p:cNvSpPr>
              <a:spLocks/>
            </p:cNvSpPr>
            <p:nvPr/>
          </p:nvSpPr>
          <p:spPr bwMode="auto">
            <a:xfrm>
              <a:off x="2391225" y="4794107"/>
              <a:ext cx="38100" cy="76200"/>
            </a:xfrm>
            <a:custGeom>
              <a:avLst/>
              <a:gdLst>
                <a:gd name="T0" fmla="*/ 2147483647 w 24"/>
                <a:gd name="T1" fmla="*/ 0 h 48"/>
                <a:gd name="T2" fmla="*/ 2147483647 w 24"/>
                <a:gd name="T3" fmla="*/ 2147483647 h 48"/>
                <a:gd name="T4" fmla="*/ 0 w 24"/>
                <a:gd name="T5" fmla="*/ 2147483647 h 48"/>
                <a:gd name="T6" fmla="*/ 0 60000 65536"/>
                <a:gd name="T7" fmla="*/ 0 60000 65536"/>
                <a:gd name="T8" fmla="*/ 0 60000 65536"/>
                <a:gd name="T9" fmla="*/ 0 w 24"/>
                <a:gd name="T10" fmla="*/ 0 h 48"/>
                <a:gd name="T11" fmla="*/ 24 w 24"/>
                <a:gd name="T12" fmla="*/ 48 h 48"/>
              </a:gdLst>
              <a:ahLst/>
              <a:cxnLst>
                <a:cxn ang="T6">
                  <a:pos x="T0" y="T1"/>
                </a:cxn>
                <a:cxn ang="T7">
                  <a:pos x="T2" y="T3"/>
                </a:cxn>
                <a:cxn ang="T8">
                  <a:pos x="T4" y="T5"/>
                </a:cxn>
              </a:cxnLst>
              <a:rect l="T9" t="T10" r="T11" b="T12"/>
              <a:pathLst>
                <a:path w="24" h="48">
                  <a:moveTo>
                    <a:pt x="23" y="0"/>
                  </a:moveTo>
                  <a:lnTo>
                    <a:pt x="16" y="47"/>
                  </a:lnTo>
                  <a:lnTo>
                    <a:pt x="0" y="2"/>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8" name="Freeform 46">
              <a:extLst>
                <a:ext uri="{FF2B5EF4-FFF2-40B4-BE49-F238E27FC236}">
                  <a16:creationId xmlns:a16="http://schemas.microsoft.com/office/drawing/2014/main" id="{46A482E9-AF8A-4FCB-B320-5F2C23B4F3C5}"/>
                </a:ext>
              </a:extLst>
            </p:cNvPr>
            <p:cNvSpPr>
              <a:spLocks/>
            </p:cNvSpPr>
            <p:nvPr/>
          </p:nvSpPr>
          <p:spPr bwMode="auto">
            <a:xfrm>
              <a:off x="2977013" y="4360720"/>
              <a:ext cx="1587" cy="509587"/>
            </a:xfrm>
            <a:custGeom>
              <a:avLst/>
              <a:gdLst>
                <a:gd name="T0" fmla="*/ 0 w 1"/>
                <a:gd name="T1" fmla="*/ 0 h 321"/>
                <a:gd name="T2" fmla="*/ 0 w 1"/>
                <a:gd name="T3" fmla="*/ 2147483647 h 321"/>
                <a:gd name="T4" fmla="*/ 0 w 1"/>
                <a:gd name="T5" fmla="*/ 0 h 321"/>
                <a:gd name="T6" fmla="*/ 0 60000 65536"/>
                <a:gd name="T7" fmla="*/ 0 60000 65536"/>
                <a:gd name="T8" fmla="*/ 0 60000 65536"/>
                <a:gd name="T9" fmla="*/ 0 w 1"/>
                <a:gd name="T10" fmla="*/ 0 h 321"/>
                <a:gd name="T11" fmla="*/ 1 w 1"/>
                <a:gd name="T12" fmla="*/ 321 h 321"/>
              </a:gdLst>
              <a:ahLst/>
              <a:cxnLst>
                <a:cxn ang="T6">
                  <a:pos x="T0" y="T1"/>
                </a:cxn>
                <a:cxn ang="T7">
                  <a:pos x="T2" y="T3"/>
                </a:cxn>
                <a:cxn ang="T8">
                  <a:pos x="T4" y="T5"/>
                </a:cxn>
              </a:cxnLst>
              <a:rect l="T9" t="T10" r="T11" b="T12"/>
              <a:pathLst>
                <a:path w="1" h="321">
                  <a:moveTo>
                    <a:pt x="0" y="0"/>
                  </a:moveTo>
                  <a:lnTo>
                    <a:pt x="0"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49" name="Freeform 47">
              <a:extLst>
                <a:ext uri="{FF2B5EF4-FFF2-40B4-BE49-F238E27FC236}">
                  <a16:creationId xmlns:a16="http://schemas.microsoft.com/office/drawing/2014/main" id="{3A9B935D-45CB-4D6A-874E-C27A37334058}"/>
                </a:ext>
              </a:extLst>
            </p:cNvPr>
            <p:cNvSpPr>
              <a:spLocks/>
            </p:cNvSpPr>
            <p:nvPr/>
          </p:nvSpPr>
          <p:spPr bwMode="auto">
            <a:xfrm>
              <a:off x="2957963" y="4795695"/>
              <a:ext cx="38100" cy="74612"/>
            </a:xfrm>
            <a:custGeom>
              <a:avLst/>
              <a:gdLst>
                <a:gd name="T0" fmla="*/ 2147483647 w 24"/>
                <a:gd name="T1" fmla="*/ 0 h 47"/>
                <a:gd name="T2" fmla="*/ 2147483647 w 24"/>
                <a:gd name="T3" fmla="*/ 2147483647 h 47"/>
                <a:gd name="T4" fmla="*/ 0 w 24"/>
                <a:gd name="T5" fmla="*/ 0 h 47"/>
                <a:gd name="T6" fmla="*/ 0 60000 65536"/>
                <a:gd name="T7" fmla="*/ 0 60000 65536"/>
                <a:gd name="T8" fmla="*/ 0 60000 65536"/>
                <a:gd name="T9" fmla="*/ 0 w 24"/>
                <a:gd name="T10" fmla="*/ 0 h 47"/>
                <a:gd name="T11" fmla="*/ 24 w 24"/>
                <a:gd name="T12" fmla="*/ 47 h 47"/>
              </a:gdLst>
              <a:ahLst/>
              <a:cxnLst>
                <a:cxn ang="T6">
                  <a:pos x="T0" y="T1"/>
                </a:cxn>
                <a:cxn ang="T7">
                  <a:pos x="T2" y="T3"/>
                </a:cxn>
                <a:cxn ang="T8">
                  <a:pos x="T4" y="T5"/>
                </a:cxn>
              </a:cxnLst>
              <a:rect l="T9" t="T10" r="T11" b="T12"/>
              <a:pathLst>
                <a:path w="24" h="47">
                  <a:moveTo>
                    <a:pt x="23" y="0"/>
                  </a:moveTo>
                  <a:lnTo>
                    <a:pt x="12" y="46"/>
                  </a:lnTo>
                  <a:lnTo>
                    <a:pt x="0"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0" name="Freeform 48">
              <a:extLst>
                <a:ext uri="{FF2B5EF4-FFF2-40B4-BE49-F238E27FC236}">
                  <a16:creationId xmlns:a16="http://schemas.microsoft.com/office/drawing/2014/main" id="{46285788-2F72-4F99-A018-ADA5EBE31AEE}"/>
                </a:ext>
              </a:extLst>
            </p:cNvPr>
            <p:cNvSpPr>
              <a:spLocks/>
            </p:cNvSpPr>
            <p:nvPr/>
          </p:nvSpPr>
          <p:spPr bwMode="auto">
            <a:xfrm>
              <a:off x="3021463" y="4360720"/>
              <a:ext cx="49212" cy="509587"/>
            </a:xfrm>
            <a:custGeom>
              <a:avLst/>
              <a:gdLst>
                <a:gd name="T0" fmla="*/ 0 w 31"/>
                <a:gd name="T1" fmla="*/ 0 h 321"/>
                <a:gd name="T2" fmla="*/ 2147483647 w 31"/>
                <a:gd name="T3" fmla="*/ 2147483647 h 321"/>
                <a:gd name="T4" fmla="*/ 0 w 31"/>
                <a:gd name="T5" fmla="*/ 0 h 321"/>
                <a:gd name="T6" fmla="*/ 0 60000 65536"/>
                <a:gd name="T7" fmla="*/ 0 60000 65536"/>
                <a:gd name="T8" fmla="*/ 0 60000 65536"/>
                <a:gd name="T9" fmla="*/ 0 w 31"/>
                <a:gd name="T10" fmla="*/ 0 h 321"/>
                <a:gd name="T11" fmla="*/ 31 w 31"/>
                <a:gd name="T12" fmla="*/ 321 h 321"/>
              </a:gdLst>
              <a:ahLst/>
              <a:cxnLst>
                <a:cxn ang="T6">
                  <a:pos x="T0" y="T1"/>
                </a:cxn>
                <a:cxn ang="T7">
                  <a:pos x="T2" y="T3"/>
                </a:cxn>
                <a:cxn ang="T8">
                  <a:pos x="T4" y="T5"/>
                </a:cxn>
              </a:cxnLst>
              <a:rect l="T9" t="T10" r="T11" b="T12"/>
              <a:pathLst>
                <a:path w="31" h="321">
                  <a:moveTo>
                    <a:pt x="0" y="0"/>
                  </a:moveTo>
                  <a:lnTo>
                    <a:pt x="30"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1" name="Freeform 49">
              <a:extLst>
                <a:ext uri="{FF2B5EF4-FFF2-40B4-BE49-F238E27FC236}">
                  <a16:creationId xmlns:a16="http://schemas.microsoft.com/office/drawing/2014/main" id="{8EF44037-ADAA-4CF3-9230-EAA037ACFB41}"/>
                </a:ext>
              </a:extLst>
            </p:cNvPr>
            <p:cNvSpPr>
              <a:spLocks/>
            </p:cNvSpPr>
            <p:nvPr/>
          </p:nvSpPr>
          <p:spPr bwMode="auto">
            <a:xfrm>
              <a:off x="3043688" y="4794107"/>
              <a:ext cx="39687" cy="76200"/>
            </a:xfrm>
            <a:custGeom>
              <a:avLst/>
              <a:gdLst>
                <a:gd name="T0" fmla="*/ 2147483647 w 25"/>
                <a:gd name="T1" fmla="*/ 0 h 48"/>
                <a:gd name="T2" fmla="*/ 2147483647 w 25"/>
                <a:gd name="T3" fmla="*/ 2147483647 h 48"/>
                <a:gd name="T4" fmla="*/ 0 w 25"/>
                <a:gd name="T5" fmla="*/ 2147483647 h 48"/>
                <a:gd name="T6" fmla="*/ 0 60000 65536"/>
                <a:gd name="T7" fmla="*/ 0 60000 65536"/>
                <a:gd name="T8" fmla="*/ 0 60000 65536"/>
                <a:gd name="T9" fmla="*/ 0 w 25"/>
                <a:gd name="T10" fmla="*/ 0 h 48"/>
                <a:gd name="T11" fmla="*/ 25 w 25"/>
                <a:gd name="T12" fmla="*/ 48 h 48"/>
              </a:gdLst>
              <a:ahLst/>
              <a:cxnLst>
                <a:cxn ang="T6">
                  <a:pos x="T0" y="T1"/>
                </a:cxn>
                <a:cxn ang="T7">
                  <a:pos x="T2" y="T3"/>
                </a:cxn>
                <a:cxn ang="T8">
                  <a:pos x="T4" y="T5"/>
                </a:cxn>
              </a:cxnLst>
              <a:rect l="T9" t="T10" r="T11" b="T12"/>
              <a:pathLst>
                <a:path w="25" h="48">
                  <a:moveTo>
                    <a:pt x="24" y="0"/>
                  </a:moveTo>
                  <a:lnTo>
                    <a:pt x="16" y="47"/>
                  </a:lnTo>
                  <a:lnTo>
                    <a:pt x="0" y="2"/>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2" name="Freeform 50">
              <a:extLst>
                <a:ext uri="{FF2B5EF4-FFF2-40B4-BE49-F238E27FC236}">
                  <a16:creationId xmlns:a16="http://schemas.microsoft.com/office/drawing/2014/main" id="{4314929C-2B2A-4D5A-B05E-E4814DD73811}"/>
                </a:ext>
              </a:extLst>
            </p:cNvPr>
            <p:cNvSpPr>
              <a:spLocks/>
            </p:cNvSpPr>
            <p:nvPr/>
          </p:nvSpPr>
          <p:spPr bwMode="auto">
            <a:xfrm>
              <a:off x="3069088" y="4360720"/>
              <a:ext cx="93662" cy="509587"/>
            </a:xfrm>
            <a:custGeom>
              <a:avLst/>
              <a:gdLst>
                <a:gd name="T0" fmla="*/ 0 w 59"/>
                <a:gd name="T1" fmla="*/ 0 h 321"/>
                <a:gd name="T2" fmla="*/ 2147483647 w 59"/>
                <a:gd name="T3" fmla="*/ 2147483647 h 321"/>
                <a:gd name="T4" fmla="*/ 0 w 59"/>
                <a:gd name="T5" fmla="*/ 0 h 321"/>
                <a:gd name="T6" fmla="*/ 0 60000 65536"/>
                <a:gd name="T7" fmla="*/ 0 60000 65536"/>
                <a:gd name="T8" fmla="*/ 0 60000 65536"/>
                <a:gd name="T9" fmla="*/ 0 w 59"/>
                <a:gd name="T10" fmla="*/ 0 h 321"/>
                <a:gd name="T11" fmla="*/ 59 w 59"/>
                <a:gd name="T12" fmla="*/ 321 h 321"/>
              </a:gdLst>
              <a:ahLst/>
              <a:cxnLst>
                <a:cxn ang="T6">
                  <a:pos x="T0" y="T1"/>
                </a:cxn>
                <a:cxn ang="T7">
                  <a:pos x="T2" y="T3"/>
                </a:cxn>
                <a:cxn ang="T8">
                  <a:pos x="T4" y="T5"/>
                </a:cxn>
              </a:cxnLst>
              <a:rect l="T9" t="T10" r="T11" b="T12"/>
              <a:pathLst>
                <a:path w="59" h="321">
                  <a:moveTo>
                    <a:pt x="0" y="0"/>
                  </a:moveTo>
                  <a:lnTo>
                    <a:pt x="58"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3" name="Freeform 51">
              <a:extLst>
                <a:ext uri="{FF2B5EF4-FFF2-40B4-BE49-F238E27FC236}">
                  <a16:creationId xmlns:a16="http://schemas.microsoft.com/office/drawing/2014/main" id="{C590A11D-BD7F-4D6E-ADFB-C88AF739B30A}"/>
                </a:ext>
              </a:extLst>
            </p:cNvPr>
            <p:cNvSpPr>
              <a:spLocks/>
            </p:cNvSpPr>
            <p:nvPr/>
          </p:nvSpPr>
          <p:spPr bwMode="auto">
            <a:xfrm>
              <a:off x="3131000" y="4792520"/>
              <a:ext cx="38100" cy="77787"/>
            </a:xfrm>
            <a:custGeom>
              <a:avLst/>
              <a:gdLst>
                <a:gd name="T0" fmla="*/ 2147483647 w 24"/>
                <a:gd name="T1" fmla="*/ 0 h 49"/>
                <a:gd name="T2" fmla="*/ 2147483647 w 24"/>
                <a:gd name="T3" fmla="*/ 2147483647 h 49"/>
                <a:gd name="T4" fmla="*/ 0 w 24"/>
                <a:gd name="T5" fmla="*/ 2147483647 h 49"/>
                <a:gd name="T6" fmla="*/ 0 60000 65536"/>
                <a:gd name="T7" fmla="*/ 0 60000 65536"/>
                <a:gd name="T8" fmla="*/ 0 60000 65536"/>
                <a:gd name="T9" fmla="*/ 0 w 24"/>
                <a:gd name="T10" fmla="*/ 0 h 49"/>
                <a:gd name="T11" fmla="*/ 24 w 24"/>
                <a:gd name="T12" fmla="*/ 49 h 49"/>
              </a:gdLst>
              <a:ahLst/>
              <a:cxnLst>
                <a:cxn ang="T6">
                  <a:pos x="T0" y="T1"/>
                </a:cxn>
                <a:cxn ang="T7">
                  <a:pos x="T2" y="T3"/>
                </a:cxn>
                <a:cxn ang="T8">
                  <a:pos x="T4" y="T5"/>
                </a:cxn>
              </a:cxnLst>
              <a:rect l="T9" t="T10" r="T11" b="T12"/>
              <a:pathLst>
                <a:path w="24" h="49">
                  <a:moveTo>
                    <a:pt x="23" y="0"/>
                  </a:moveTo>
                  <a:lnTo>
                    <a:pt x="19" y="48"/>
                  </a:lnTo>
                  <a:lnTo>
                    <a:pt x="0" y="5"/>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4" name="Freeform 52">
              <a:extLst>
                <a:ext uri="{FF2B5EF4-FFF2-40B4-BE49-F238E27FC236}">
                  <a16:creationId xmlns:a16="http://schemas.microsoft.com/office/drawing/2014/main" id="{C76594F8-736A-4F42-85FB-8B447A807774}"/>
                </a:ext>
              </a:extLst>
            </p:cNvPr>
            <p:cNvSpPr>
              <a:spLocks/>
            </p:cNvSpPr>
            <p:nvPr/>
          </p:nvSpPr>
          <p:spPr bwMode="auto">
            <a:xfrm>
              <a:off x="3115125" y="4360720"/>
              <a:ext cx="141288" cy="509587"/>
            </a:xfrm>
            <a:custGeom>
              <a:avLst/>
              <a:gdLst>
                <a:gd name="T0" fmla="*/ 0 w 89"/>
                <a:gd name="T1" fmla="*/ 0 h 321"/>
                <a:gd name="T2" fmla="*/ 2147483647 w 89"/>
                <a:gd name="T3" fmla="*/ 2147483647 h 321"/>
                <a:gd name="T4" fmla="*/ 0 w 89"/>
                <a:gd name="T5" fmla="*/ 0 h 321"/>
                <a:gd name="T6" fmla="*/ 0 60000 65536"/>
                <a:gd name="T7" fmla="*/ 0 60000 65536"/>
                <a:gd name="T8" fmla="*/ 0 60000 65536"/>
                <a:gd name="T9" fmla="*/ 0 w 89"/>
                <a:gd name="T10" fmla="*/ 0 h 321"/>
                <a:gd name="T11" fmla="*/ 89 w 89"/>
                <a:gd name="T12" fmla="*/ 321 h 321"/>
              </a:gdLst>
              <a:ahLst/>
              <a:cxnLst>
                <a:cxn ang="T6">
                  <a:pos x="T0" y="T1"/>
                </a:cxn>
                <a:cxn ang="T7">
                  <a:pos x="T2" y="T3"/>
                </a:cxn>
                <a:cxn ang="T8">
                  <a:pos x="T4" y="T5"/>
                </a:cxn>
              </a:cxnLst>
              <a:rect l="T9" t="T10" r="T11" b="T12"/>
              <a:pathLst>
                <a:path w="89" h="321">
                  <a:moveTo>
                    <a:pt x="0" y="0"/>
                  </a:moveTo>
                  <a:lnTo>
                    <a:pt x="88"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5" name="Freeform 53">
              <a:extLst>
                <a:ext uri="{FF2B5EF4-FFF2-40B4-BE49-F238E27FC236}">
                  <a16:creationId xmlns:a16="http://schemas.microsoft.com/office/drawing/2014/main" id="{9D8DEE57-C6A6-417D-9433-34222791294B}"/>
                </a:ext>
              </a:extLst>
            </p:cNvPr>
            <p:cNvSpPr>
              <a:spLocks/>
            </p:cNvSpPr>
            <p:nvPr/>
          </p:nvSpPr>
          <p:spPr bwMode="auto">
            <a:xfrm>
              <a:off x="3216725" y="4792520"/>
              <a:ext cx="39688" cy="77787"/>
            </a:xfrm>
            <a:custGeom>
              <a:avLst/>
              <a:gdLst>
                <a:gd name="T0" fmla="*/ 2147483647 w 25"/>
                <a:gd name="T1" fmla="*/ 0 h 49"/>
                <a:gd name="T2" fmla="*/ 2147483647 w 25"/>
                <a:gd name="T3" fmla="*/ 2147483647 h 49"/>
                <a:gd name="T4" fmla="*/ 0 w 25"/>
                <a:gd name="T5" fmla="*/ 2147483647 h 49"/>
                <a:gd name="T6" fmla="*/ 0 60000 65536"/>
                <a:gd name="T7" fmla="*/ 0 60000 65536"/>
                <a:gd name="T8" fmla="*/ 0 60000 65536"/>
                <a:gd name="T9" fmla="*/ 0 w 25"/>
                <a:gd name="T10" fmla="*/ 0 h 49"/>
                <a:gd name="T11" fmla="*/ 25 w 25"/>
                <a:gd name="T12" fmla="*/ 49 h 49"/>
              </a:gdLst>
              <a:ahLst/>
              <a:cxnLst>
                <a:cxn ang="T6">
                  <a:pos x="T0" y="T1"/>
                </a:cxn>
                <a:cxn ang="T7">
                  <a:pos x="T2" y="T3"/>
                </a:cxn>
                <a:cxn ang="T8">
                  <a:pos x="T4" y="T5"/>
                </a:cxn>
              </a:cxnLst>
              <a:rect l="T9" t="T10" r="T11" b="T12"/>
              <a:pathLst>
                <a:path w="25" h="49">
                  <a:moveTo>
                    <a:pt x="23" y="0"/>
                  </a:moveTo>
                  <a:lnTo>
                    <a:pt x="24" y="48"/>
                  </a:lnTo>
                  <a:lnTo>
                    <a:pt x="0" y="6"/>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6" name="Freeform 54">
              <a:extLst>
                <a:ext uri="{FF2B5EF4-FFF2-40B4-BE49-F238E27FC236}">
                  <a16:creationId xmlns:a16="http://schemas.microsoft.com/office/drawing/2014/main" id="{E5181D26-B8D8-4BCB-8238-A52CC4004AE4}"/>
                </a:ext>
              </a:extLst>
            </p:cNvPr>
            <p:cNvSpPr>
              <a:spLocks/>
            </p:cNvSpPr>
            <p:nvPr/>
          </p:nvSpPr>
          <p:spPr bwMode="auto">
            <a:xfrm>
              <a:off x="4234313" y="4360720"/>
              <a:ext cx="468312" cy="509587"/>
            </a:xfrm>
            <a:custGeom>
              <a:avLst/>
              <a:gdLst>
                <a:gd name="T0" fmla="*/ 0 w 295"/>
                <a:gd name="T1" fmla="*/ 0 h 321"/>
                <a:gd name="T2" fmla="*/ 2147483647 w 295"/>
                <a:gd name="T3" fmla="*/ 2147483647 h 321"/>
                <a:gd name="T4" fmla="*/ 0 w 295"/>
                <a:gd name="T5" fmla="*/ 0 h 321"/>
                <a:gd name="T6" fmla="*/ 0 60000 65536"/>
                <a:gd name="T7" fmla="*/ 0 60000 65536"/>
                <a:gd name="T8" fmla="*/ 0 60000 65536"/>
                <a:gd name="T9" fmla="*/ 0 w 295"/>
                <a:gd name="T10" fmla="*/ 0 h 321"/>
                <a:gd name="T11" fmla="*/ 295 w 295"/>
                <a:gd name="T12" fmla="*/ 321 h 321"/>
              </a:gdLst>
              <a:ahLst/>
              <a:cxnLst>
                <a:cxn ang="T6">
                  <a:pos x="T0" y="T1"/>
                </a:cxn>
                <a:cxn ang="T7">
                  <a:pos x="T2" y="T3"/>
                </a:cxn>
                <a:cxn ang="T8">
                  <a:pos x="T4" y="T5"/>
                </a:cxn>
              </a:cxnLst>
              <a:rect l="T9" t="T10" r="T11" b="T12"/>
              <a:pathLst>
                <a:path w="295" h="321">
                  <a:moveTo>
                    <a:pt x="0" y="0"/>
                  </a:moveTo>
                  <a:lnTo>
                    <a:pt x="294"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7" name="Freeform 55">
              <a:extLst>
                <a:ext uri="{FF2B5EF4-FFF2-40B4-BE49-F238E27FC236}">
                  <a16:creationId xmlns:a16="http://schemas.microsoft.com/office/drawing/2014/main" id="{E5628FE6-22E2-4951-AFA3-DF6713F966B2}"/>
                </a:ext>
              </a:extLst>
            </p:cNvPr>
            <p:cNvSpPr>
              <a:spLocks/>
            </p:cNvSpPr>
            <p:nvPr/>
          </p:nvSpPr>
          <p:spPr bwMode="auto">
            <a:xfrm>
              <a:off x="4635950" y="4802045"/>
              <a:ext cx="66675" cy="68262"/>
            </a:xfrm>
            <a:custGeom>
              <a:avLst/>
              <a:gdLst>
                <a:gd name="T0" fmla="*/ 2147483647 w 42"/>
                <a:gd name="T1" fmla="*/ 0 h 43"/>
                <a:gd name="T2" fmla="*/ 2147483647 w 42"/>
                <a:gd name="T3" fmla="*/ 2147483647 h 43"/>
                <a:gd name="T4" fmla="*/ 0 w 42"/>
                <a:gd name="T5" fmla="*/ 2147483647 h 43"/>
                <a:gd name="T6" fmla="*/ 0 60000 65536"/>
                <a:gd name="T7" fmla="*/ 0 60000 65536"/>
                <a:gd name="T8" fmla="*/ 0 60000 65536"/>
                <a:gd name="T9" fmla="*/ 0 w 42"/>
                <a:gd name="T10" fmla="*/ 0 h 43"/>
                <a:gd name="T11" fmla="*/ 42 w 42"/>
                <a:gd name="T12" fmla="*/ 43 h 43"/>
              </a:gdLst>
              <a:ahLst/>
              <a:cxnLst>
                <a:cxn ang="T6">
                  <a:pos x="T0" y="T1"/>
                </a:cxn>
                <a:cxn ang="T7">
                  <a:pos x="T2" y="T3"/>
                </a:cxn>
                <a:cxn ang="T8">
                  <a:pos x="T4" y="T5"/>
                </a:cxn>
              </a:cxnLst>
              <a:rect l="T9" t="T10" r="T11" b="T12"/>
              <a:pathLst>
                <a:path w="42" h="43">
                  <a:moveTo>
                    <a:pt x="17" y="0"/>
                  </a:moveTo>
                  <a:lnTo>
                    <a:pt x="41" y="42"/>
                  </a:lnTo>
                  <a:lnTo>
                    <a:pt x="0" y="16"/>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8" name="Freeform 56">
              <a:extLst>
                <a:ext uri="{FF2B5EF4-FFF2-40B4-BE49-F238E27FC236}">
                  <a16:creationId xmlns:a16="http://schemas.microsoft.com/office/drawing/2014/main" id="{FA37E755-07C8-4C11-BD64-D0E15FAF5352}"/>
                </a:ext>
              </a:extLst>
            </p:cNvPr>
            <p:cNvSpPr>
              <a:spLocks/>
            </p:cNvSpPr>
            <p:nvPr/>
          </p:nvSpPr>
          <p:spPr bwMode="auto">
            <a:xfrm>
              <a:off x="4327975" y="4360720"/>
              <a:ext cx="514350" cy="509587"/>
            </a:xfrm>
            <a:custGeom>
              <a:avLst/>
              <a:gdLst>
                <a:gd name="T0" fmla="*/ 0 w 324"/>
                <a:gd name="T1" fmla="*/ 0 h 321"/>
                <a:gd name="T2" fmla="*/ 2147483647 w 324"/>
                <a:gd name="T3" fmla="*/ 2147483647 h 321"/>
                <a:gd name="T4" fmla="*/ 0 w 324"/>
                <a:gd name="T5" fmla="*/ 0 h 321"/>
                <a:gd name="T6" fmla="*/ 0 60000 65536"/>
                <a:gd name="T7" fmla="*/ 0 60000 65536"/>
                <a:gd name="T8" fmla="*/ 0 60000 65536"/>
                <a:gd name="T9" fmla="*/ 0 w 324"/>
                <a:gd name="T10" fmla="*/ 0 h 321"/>
                <a:gd name="T11" fmla="*/ 324 w 324"/>
                <a:gd name="T12" fmla="*/ 321 h 321"/>
              </a:gdLst>
              <a:ahLst/>
              <a:cxnLst>
                <a:cxn ang="T6">
                  <a:pos x="T0" y="T1"/>
                </a:cxn>
                <a:cxn ang="T7">
                  <a:pos x="T2" y="T3"/>
                </a:cxn>
                <a:cxn ang="T8">
                  <a:pos x="T4" y="T5"/>
                </a:cxn>
              </a:cxnLst>
              <a:rect l="T9" t="T10" r="T11" b="T12"/>
              <a:pathLst>
                <a:path w="324" h="321">
                  <a:moveTo>
                    <a:pt x="0" y="0"/>
                  </a:moveTo>
                  <a:lnTo>
                    <a:pt x="323"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59" name="Freeform 57">
              <a:extLst>
                <a:ext uri="{FF2B5EF4-FFF2-40B4-BE49-F238E27FC236}">
                  <a16:creationId xmlns:a16="http://schemas.microsoft.com/office/drawing/2014/main" id="{7329C354-A659-425D-8BD3-386197C2DF23}"/>
                </a:ext>
              </a:extLst>
            </p:cNvPr>
            <p:cNvSpPr>
              <a:spLocks/>
            </p:cNvSpPr>
            <p:nvPr/>
          </p:nvSpPr>
          <p:spPr bwMode="auto">
            <a:xfrm>
              <a:off x="4774063" y="4803632"/>
              <a:ext cx="68262" cy="66675"/>
            </a:xfrm>
            <a:custGeom>
              <a:avLst/>
              <a:gdLst>
                <a:gd name="T0" fmla="*/ 2147483647 w 43"/>
                <a:gd name="T1" fmla="*/ 0 h 42"/>
                <a:gd name="T2" fmla="*/ 2147483647 w 43"/>
                <a:gd name="T3" fmla="*/ 2147483647 h 42"/>
                <a:gd name="T4" fmla="*/ 0 w 43"/>
                <a:gd name="T5" fmla="*/ 2147483647 h 42"/>
                <a:gd name="T6" fmla="*/ 0 60000 65536"/>
                <a:gd name="T7" fmla="*/ 0 60000 65536"/>
                <a:gd name="T8" fmla="*/ 0 60000 65536"/>
                <a:gd name="T9" fmla="*/ 0 w 43"/>
                <a:gd name="T10" fmla="*/ 0 h 42"/>
                <a:gd name="T11" fmla="*/ 43 w 43"/>
                <a:gd name="T12" fmla="*/ 42 h 42"/>
              </a:gdLst>
              <a:ahLst/>
              <a:cxnLst>
                <a:cxn ang="T6">
                  <a:pos x="T0" y="T1"/>
                </a:cxn>
                <a:cxn ang="T7">
                  <a:pos x="T2" y="T3"/>
                </a:cxn>
                <a:cxn ang="T8">
                  <a:pos x="T4" y="T5"/>
                </a:cxn>
              </a:cxnLst>
              <a:rect l="T9" t="T10" r="T11" b="T12"/>
              <a:pathLst>
                <a:path w="43" h="42">
                  <a:moveTo>
                    <a:pt x="17" y="0"/>
                  </a:moveTo>
                  <a:lnTo>
                    <a:pt x="42" y="41"/>
                  </a:lnTo>
                  <a:lnTo>
                    <a:pt x="0" y="16"/>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0" name="Freeform 58">
              <a:extLst>
                <a:ext uri="{FF2B5EF4-FFF2-40B4-BE49-F238E27FC236}">
                  <a16:creationId xmlns:a16="http://schemas.microsoft.com/office/drawing/2014/main" id="{FB448A0C-07B1-4B9D-AB65-1C40CF403262}"/>
                </a:ext>
              </a:extLst>
            </p:cNvPr>
            <p:cNvSpPr>
              <a:spLocks/>
            </p:cNvSpPr>
            <p:nvPr/>
          </p:nvSpPr>
          <p:spPr bwMode="auto">
            <a:xfrm>
              <a:off x="4469263" y="4360720"/>
              <a:ext cx="558800" cy="509587"/>
            </a:xfrm>
            <a:custGeom>
              <a:avLst/>
              <a:gdLst>
                <a:gd name="T0" fmla="*/ 0 w 352"/>
                <a:gd name="T1" fmla="*/ 0 h 321"/>
                <a:gd name="T2" fmla="*/ 2147483647 w 352"/>
                <a:gd name="T3" fmla="*/ 2147483647 h 321"/>
                <a:gd name="T4" fmla="*/ 0 w 352"/>
                <a:gd name="T5" fmla="*/ 0 h 321"/>
                <a:gd name="T6" fmla="*/ 0 60000 65536"/>
                <a:gd name="T7" fmla="*/ 0 60000 65536"/>
                <a:gd name="T8" fmla="*/ 0 60000 65536"/>
                <a:gd name="T9" fmla="*/ 0 w 352"/>
                <a:gd name="T10" fmla="*/ 0 h 321"/>
                <a:gd name="T11" fmla="*/ 352 w 352"/>
                <a:gd name="T12" fmla="*/ 321 h 321"/>
              </a:gdLst>
              <a:ahLst/>
              <a:cxnLst>
                <a:cxn ang="T6">
                  <a:pos x="T0" y="T1"/>
                </a:cxn>
                <a:cxn ang="T7">
                  <a:pos x="T2" y="T3"/>
                </a:cxn>
                <a:cxn ang="T8">
                  <a:pos x="T4" y="T5"/>
                </a:cxn>
              </a:cxnLst>
              <a:rect l="T9" t="T10" r="T11" b="T12"/>
              <a:pathLst>
                <a:path w="352" h="321">
                  <a:moveTo>
                    <a:pt x="0" y="0"/>
                  </a:moveTo>
                  <a:lnTo>
                    <a:pt x="351"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1" name="Freeform 59">
              <a:extLst>
                <a:ext uri="{FF2B5EF4-FFF2-40B4-BE49-F238E27FC236}">
                  <a16:creationId xmlns:a16="http://schemas.microsoft.com/office/drawing/2014/main" id="{6AC6B060-F088-4C32-B7C6-E7A5BBEBBF4A}"/>
                </a:ext>
              </a:extLst>
            </p:cNvPr>
            <p:cNvSpPr>
              <a:spLocks/>
            </p:cNvSpPr>
            <p:nvPr/>
          </p:nvSpPr>
          <p:spPr bwMode="auto">
            <a:xfrm>
              <a:off x="4959800" y="4805220"/>
              <a:ext cx="68263" cy="65087"/>
            </a:xfrm>
            <a:custGeom>
              <a:avLst/>
              <a:gdLst>
                <a:gd name="T0" fmla="*/ 2147483647 w 43"/>
                <a:gd name="T1" fmla="*/ 0 h 41"/>
                <a:gd name="T2" fmla="*/ 2147483647 w 43"/>
                <a:gd name="T3" fmla="*/ 2147483647 h 41"/>
                <a:gd name="T4" fmla="*/ 0 w 43"/>
                <a:gd name="T5" fmla="*/ 2147483647 h 41"/>
                <a:gd name="T6" fmla="*/ 0 60000 65536"/>
                <a:gd name="T7" fmla="*/ 0 60000 65536"/>
                <a:gd name="T8" fmla="*/ 0 60000 65536"/>
                <a:gd name="T9" fmla="*/ 0 w 43"/>
                <a:gd name="T10" fmla="*/ 0 h 41"/>
                <a:gd name="T11" fmla="*/ 43 w 43"/>
                <a:gd name="T12" fmla="*/ 41 h 41"/>
              </a:gdLst>
              <a:ahLst/>
              <a:cxnLst>
                <a:cxn ang="T6">
                  <a:pos x="T0" y="T1"/>
                </a:cxn>
                <a:cxn ang="T7">
                  <a:pos x="T2" y="T3"/>
                </a:cxn>
                <a:cxn ang="T8">
                  <a:pos x="T4" y="T5"/>
                </a:cxn>
              </a:cxnLst>
              <a:rect l="T9" t="T10" r="T11" b="T12"/>
              <a:pathLst>
                <a:path w="43" h="41">
                  <a:moveTo>
                    <a:pt x="16" y="0"/>
                  </a:moveTo>
                  <a:lnTo>
                    <a:pt x="42" y="40"/>
                  </a:lnTo>
                  <a:lnTo>
                    <a:pt x="0" y="17"/>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2" name="Freeform 60">
              <a:extLst>
                <a:ext uri="{FF2B5EF4-FFF2-40B4-BE49-F238E27FC236}">
                  <a16:creationId xmlns:a16="http://schemas.microsoft.com/office/drawing/2014/main" id="{BDDE556F-FF29-46C1-A5F3-DFD8F5583AAE}"/>
                </a:ext>
              </a:extLst>
            </p:cNvPr>
            <p:cNvSpPr>
              <a:spLocks/>
            </p:cNvSpPr>
            <p:nvPr/>
          </p:nvSpPr>
          <p:spPr bwMode="auto">
            <a:xfrm>
              <a:off x="4607375" y="4360720"/>
              <a:ext cx="608013" cy="509587"/>
            </a:xfrm>
            <a:custGeom>
              <a:avLst/>
              <a:gdLst>
                <a:gd name="T0" fmla="*/ 0 w 383"/>
                <a:gd name="T1" fmla="*/ 0 h 321"/>
                <a:gd name="T2" fmla="*/ 2147483647 w 383"/>
                <a:gd name="T3" fmla="*/ 2147483647 h 321"/>
                <a:gd name="T4" fmla="*/ 0 w 383"/>
                <a:gd name="T5" fmla="*/ 0 h 321"/>
                <a:gd name="T6" fmla="*/ 0 60000 65536"/>
                <a:gd name="T7" fmla="*/ 0 60000 65536"/>
                <a:gd name="T8" fmla="*/ 0 60000 65536"/>
                <a:gd name="T9" fmla="*/ 0 w 383"/>
                <a:gd name="T10" fmla="*/ 0 h 321"/>
                <a:gd name="T11" fmla="*/ 383 w 383"/>
                <a:gd name="T12" fmla="*/ 321 h 321"/>
              </a:gdLst>
              <a:ahLst/>
              <a:cxnLst>
                <a:cxn ang="T6">
                  <a:pos x="T0" y="T1"/>
                </a:cxn>
                <a:cxn ang="T7">
                  <a:pos x="T2" y="T3"/>
                </a:cxn>
                <a:cxn ang="T8">
                  <a:pos x="T4" y="T5"/>
                </a:cxn>
              </a:cxnLst>
              <a:rect l="T9" t="T10" r="T11" b="T12"/>
              <a:pathLst>
                <a:path w="383" h="321">
                  <a:moveTo>
                    <a:pt x="0" y="0"/>
                  </a:moveTo>
                  <a:lnTo>
                    <a:pt x="382" y="320"/>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3" name="Freeform 61">
              <a:extLst>
                <a:ext uri="{FF2B5EF4-FFF2-40B4-BE49-F238E27FC236}">
                  <a16:creationId xmlns:a16="http://schemas.microsoft.com/office/drawing/2014/main" id="{408F5936-4064-4F9A-AE2B-3A362CFFE775}"/>
                </a:ext>
              </a:extLst>
            </p:cNvPr>
            <p:cNvSpPr>
              <a:spLocks/>
            </p:cNvSpPr>
            <p:nvPr/>
          </p:nvSpPr>
          <p:spPr bwMode="auto">
            <a:xfrm>
              <a:off x="5145538" y="4806807"/>
              <a:ext cx="69850" cy="63500"/>
            </a:xfrm>
            <a:custGeom>
              <a:avLst/>
              <a:gdLst>
                <a:gd name="T0" fmla="*/ 2147483647 w 44"/>
                <a:gd name="T1" fmla="*/ 0 h 40"/>
                <a:gd name="T2" fmla="*/ 2147483647 w 44"/>
                <a:gd name="T3" fmla="*/ 2147483647 h 40"/>
                <a:gd name="T4" fmla="*/ 0 w 44"/>
                <a:gd name="T5" fmla="*/ 2147483647 h 40"/>
                <a:gd name="T6" fmla="*/ 0 60000 65536"/>
                <a:gd name="T7" fmla="*/ 0 60000 65536"/>
                <a:gd name="T8" fmla="*/ 0 60000 65536"/>
                <a:gd name="T9" fmla="*/ 0 w 44"/>
                <a:gd name="T10" fmla="*/ 0 h 40"/>
                <a:gd name="T11" fmla="*/ 44 w 44"/>
                <a:gd name="T12" fmla="*/ 40 h 40"/>
              </a:gdLst>
              <a:ahLst/>
              <a:cxnLst>
                <a:cxn ang="T6">
                  <a:pos x="T0" y="T1"/>
                </a:cxn>
                <a:cxn ang="T7">
                  <a:pos x="T2" y="T3"/>
                </a:cxn>
                <a:cxn ang="T8">
                  <a:pos x="T4" y="T5"/>
                </a:cxn>
              </a:cxnLst>
              <a:rect l="T9" t="T10" r="T11" b="T12"/>
              <a:pathLst>
                <a:path w="44" h="40">
                  <a:moveTo>
                    <a:pt x="15" y="0"/>
                  </a:moveTo>
                  <a:lnTo>
                    <a:pt x="43" y="39"/>
                  </a:lnTo>
                  <a:lnTo>
                    <a:pt x="0" y="18"/>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64" name="Rectangle 62">
              <a:extLst>
                <a:ext uri="{FF2B5EF4-FFF2-40B4-BE49-F238E27FC236}">
                  <a16:creationId xmlns:a16="http://schemas.microsoft.com/office/drawing/2014/main" id="{E45650B4-6B9E-493A-8820-DF6A11C3CC61}"/>
                </a:ext>
              </a:extLst>
            </p:cNvPr>
            <p:cNvSpPr>
              <a:spLocks noChangeArrowheads="1"/>
            </p:cNvSpPr>
            <p:nvPr/>
          </p:nvSpPr>
          <p:spPr bwMode="auto">
            <a:xfrm>
              <a:off x="4796288" y="2836720"/>
              <a:ext cx="108363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latin typeface="Roboto" panose="02000000000000000000" pitchFamily="2" charset="0"/>
                  <a:ea typeface="Roboto" panose="02000000000000000000" pitchFamily="2" charset="0"/>
                </a:rPr>
                <a:t>Index entries</a:t>
              </a:r>
            </a:p>
          </p:txBody>
        </p:sp>
        <p:sp>
          <p:nvSpPr>
            <p:cNvPr id="65" name="Rectangle 63">
              <a:extLst>
                <a:ext uri="{FF2B5EF4-FFF2-40B4-BE49-F238E27FC236}">
                  <a16:creationId xmlns:a16="http://schemas.microsoft.com/office/drawing/2014/main" id="{93D098CA-79D0-4637-9BA4-89EA1C1E942E}"/>
                </a:ext>
              </a:extLst>
            </p:cNvPr>
            <p:cNvSpPr>
              <a:spLocks noChangeArrowheads="1"/>
            </p:cNvSpPr>
            <p:nvPr/>
          </p:nvSpPr>
          <p:spPr bwMode="auto">
            <a:xfrm>
              <a:off x="4796288" y="4033695"/>
              <a:ext cx="1017907"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2"/>
                  </a:solidFill>
                  <a:latin typeface="Roboto" panose="02000000000000000000" pitchFamily="2" charset="0"/>
                  <a:ea typeface="Roboto" panose="02000000000000000000" pitchFamily="2" charset="0"/>
                </a:rPr>
                <a:t>Data entries</a:t>
              </a:r>
            </a:p>
          </p:txBody>
        </p:sp>
        <p:sp>
          <p:nvSpPr>
            <p:cNvPr id="66" name="Rectangle 64">
              <a:extLst>
                <a:ext uri="{FF2B5EF4-FFF2-40B4-BE49-F238E27FC236}">
                  <a16:creationId xmlns:a16="http://schemas.microsoft.com/office/drawing/2014/main" id="{BBB882BC-CDB7-4A66-AEBD-73EACAEDF0F6}"/>
                </a:ext>
              </a:extLst>
            </p:cNvPr>
            <p:cNvSpPr>
              <a:spLocks noChangeArrowheads="1"/>
            </p:cNvSpPr>
            <p:nvPr/>
          </p:nvSpPr>
          <p:spPr bwMode="auto">
            <a:xfrm>
              <a:off x="4796288" y="2989120"/>
              <a:ext cx="136255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dirty="0">
                  <a:latin typeface="Roboto" panose="02000000000000000000" pitchFamily="2" charset="0"/>
                  <a:ea typeface="Roboto" panose="02000000000000000000" pitchFamily="2" charset="0"/>
                </a:rPr>
                <a:t>direct search for </a:t>
              </a:r>
            </a:p>
          </p:txBody>
        </p:sp>
        <p:sp>
          <p:nvSpPr>
            <p:cNvPr id="67" name="Rectangle 67">
              <a:extLst>
                <a:ext uri="{FF2B5EF4-FFF2-40B4-BE49-F238E27FC236}">
                  <a16:creationId xmlns:a16="http://schemas.microsoft.com/office/drawing/2014/main" id="{61518321-0851-4749-B18F-40C4EE7D0A78}"/>
                </a:ext>
              </a:extLst>
            </p:cNvPr>
            <p:cNvSpPr>
              <a:spLocks noChangeArrowheads="1"/>
            </p:cNvSpPr>
            <p:nvPr/>
          </p:nvSpPr>
          <p:spPr bwMode="auto">
            <a:xfrm>
              <a:off x="5921825" y="4314682"/>
              <a:ext cx="96180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folHlink"/>
                  </a:solidFill>
                  <a:latin typeface="Roboto" panose="02000000000000000000" pitchFamily="2" charset="0"/>
                  <a:ea typeface="Roboto" panose="02000000000000000000" pitchFamily="2" charset="0"/>
                </a:rPr>
                <a:t>(Index File)</a:t>
              </a:r>
            </a:p>
          </p:txBody>
        </p:sp>
        <p:sp>
          <p:nvSpPr>
            <p:cNvPr id="68" name="Rectangle 68">
              <a:extLst>
                <a:ext uri="{FF2B5EF4-FFF2-40B4-BE49-F238E27FC236}">
                  <a16:creationId xmlns:a16="http://schemas.microsoft.com/office/drawing/2014/main" id="{13546F0D-0FE8-488A-A263-FB75B4F8B57C}"/>
                </a:ext>
              </a:extLst>
            </p:cNvPr>
            <p:cNvSpPr>
              <a:spLocks noChangeArrowheads="1"/>
            </p:cNvSpPr>
            <p:nvPr/>
          </p:nvSpPr>
          <p:spPr bwMode="auto">
            <a:xfrm>
              <a:off x="5998025" y="4557570"/>
              <a:ext cx="86562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1"/>
                  </a:solidFill>
                  <a:latin typeface="Roboto" panose="02000000000000000000" pitchFamily="2" charset="0"/>
                  <a:ea typeface="Roboto" panose="02000000000000000000" pitchFamily="2" charset="0"/>
                </a:rPr>
                <a:t>(Data file)</a:t>
              </a:r>
            </a:p>
          </p:txBody>
        </p:sp>
        <p:sp>
          <p:nvSpPr>
            <p:cNvPr id="69" name="Rectangle 69">
              <a:extLst>
                <a:ext uri="{FF2B5EF4-FFF2-40B4-BE49-F238E27FC236}">
                  <a16:creationId xmlns:a16="http://schemas.microsoft.com/office/drawing/2014/main" id="{F98177CD-B715-4D8D-8A92-E1F073745C5E}"/>
                </a:ext>
              </a:extLst>
            </p:cNvPr>
            <p:cNvSpPr>
              <a:spLocks noChangeArrowheads="1"/>
            </p:cNvSpPr>
            <p:nvPr/>
          </p:nvSpPr>
          <p:spPr bwMode="auto">
            <a:xfrm>
              <a:off x="4372425" y="5195745"/>
              <a:ext cx="110927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1"/>
                  </a:solidFill>
                  <a:latin typeface="Roboto" panose="02000000000000000000" pitchFamily="2" charset="0"/>
                  <a:ea typeface="Roboto" panose="02000000000000000000" pitchFamily="2" charset="0"/>
                </a:rPr>
                <a:t>Data Records</a:t>
              </a:r>
            </a:p>
          </p:txBody>
        </p:sp>
        <p:sp>
          <p:nvSpPr>
            <p:cNvPr id="70" name="Rectangle 70">
              <a:extLst>
                <a:ext uri="{FF2B5EF4-FFF2-40B4-BE49-F238E27FC236}">
                  <a16:creationId xmlns:a16="http://schemas.microsoft.com/office/drawing/2014/main" id="{96487FCF-5B26-42AB-980E-593AC6D2ECC4}"/>
                </a:ext>
              </a:extLst>
            </p:cNvPr>
            <p:cNvSpPr>
              <a:spLocks noChangeArrowheads="1"/>
            </p:cNvSpPr>
            <p:nvPr/>
          </p:nvSpPr>
          <p:spPr bwMode="auto">
            <a:xfrm>
              <a:off x="4796288" y="3128820"/>
              <a:ext cx="1005083"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2"/>
                  </a:solidFill>
                  <a:latin typeface="Roboto" panose="02000000000000000000" pitchFamily="2" charset="0"/>
                  <a:ea typeface="Roboto" panose="02000000000000000000" pitchFamily="2" charset="0"/>
                </a:rPr>
                <a:t>data entries</a:t>
              </a:r>
            </a:p>
          </p:txBody>
        </p:sp>
        <p:sp>
          <p:nvSpPr>
            <p:cNvPr id="71" name="Freeform 71">
              <a:extLst>
                <a:ext uri="{FF2B5EF4-FFF2-40B4-BE49-F238E27FC236}">
                  <a16:creationId xmlns:a16="http://schemas.microsoft.com/office/drawing/2014/main" id="{88EC0E18-96EC-40C8-A061-936B53667010}"/>
                </a:ext>
              </a:extLst>
            </p:cNvPr>
            <p:cNvSpPr>
              <a:spLocks/>
            </p:cNvSpPr>
            <p:nvPr/>
          </p:nvSpPr>
          <p:spPr bwMode="auto">
            <a:xfrm>
              <a:off x="7396613" y="4881420"/>
              <a:ext cx="342900" cy="350837"/>
            </a:xfrm>
            <a:custGeom>
              <a:avLst/>
              <a:gdLst>
                <a:gd name="T0" fmla="*/ 0 w 216"/>
                <a:gd name="T1" fmla="*/ 2147483647 h 221"/>
                <a:gd name="T2" fmla="*/ 0 w 216"/>
                <a:gd name="T3" fmla="*/ 0 h 221"/>
                <a:gd name="T4" fmla="*/ 2147483647 w 216"/>
                <a:gd name="T5" fmla="*/ 0 h 221"/>
                <a:gd name="T6" fmla="*/ 2147483647 w 216"/>
                <a:gd name="T7" fmla="*/ 2147483647 h 221"/>
                <a:gd name="T8" fmla="*/ 0 w 216"/>
                <a:gd name="T9" fmla="*/ 2147483647 h 221"/>
                <a:gd name="T10" fmla="*/ 0 60000 65536"/>
                <a:gd name="T11" fmla="*/ 0 60000 65536"/>
                <a:gd name="T12" fmla="*/ 0 60000 65536"/>
                <a:gd name="T13" fmla="*/ 0 60000 65536"/>
                <a:gd name="T14" fmla="*/ 0 60000 65536"/>
                <a:gd name="T15" fmla="*/ 0 w 216"/>
                <a:gd name="T16" fmla="*/ 0 h 221"/>
                <a:gd name="T17" fmla="*/ 216 w 216"/>
                <a:gd name="T18" fmla="*/ 221 h 221"/>
              </a:gdLst>
              <a:ahLst/>
              <a:cxnLst>
                <a:cxn ang="T10">
                  <a:pos x="T0" y="T1"/>
                </a:cxn>
                <a:cxn ang="T11">
                  <a:pos x="T2" y="T3"/>
                </a:cxn>
                <a:cxn ang="T12">
                  <a:pos x="T4" y="T5"/>
                </a:cxn>
                <a:cxn ang="T13">
                  <a:pos x="T6" y="T7"/>
                </a:cxn>
                <a:cxn ang="T14">
                  <a:pos x="T8" y="T9"/>
                </a:cxn>
              </a:cxnLst>
              <a:rect l="T15" t="T16" r="T17" b="T18"/>
              <a:pathLst>
                <a:path w="216" h="221">
                  <a:moveTo>
                    <a:pt x="0" y="220"/>
                  </a:moveTo>
                  <a:lnTo>
                    <a:pt x="0" y="0"/>
                  </a:lnTo>
                  <a:lnTo>
                    <a:pt x="215" y="0"/>
                  </a:lnTo>
                  <a:lnTo>
                    <a:pt x="215"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2" name="Freeform 72">
              <a:extLst>
                <a:ext uri="{FF2B5EF4-FFF2-40B4-BE49-F238E27FC236}">
                  <a16:creationId xmlns:a16="http://schemas.microsoft.com/office/drawing/2014/main" id="{794FC109-AA86-4E85-89ED-F6C8AA190396}"/>
                </a:ext>
              </a:extLst>
            </p:cNvPr>
            <p:cNvSpPr>
              <a:spLocks/>
            </p:cNvSpPr>
            <p:nvPr/>
          </p:nvSpPr>
          <p:spPr bwMode="auto">
            <a:xfrm>
              <a:off x="7852225" y="4881420"/>
              <a:ext cx="344488" cy="350837"/>
            </a:xfrm>
            <a:custGeom>
              <a:avLst/>
              <a:gdLst>
                <a:gd name="T0" fmla="*/ 0 w 217"/>
                <a:gd name="T1" fmla="*/ 2147483647 h 221"/>
                <a:gd name="T2" fmla="*/ 0 w 217"/>
                <a:gd name="T3" fmla="*/ 0 h 221"/>
                <a:gd name="T4" fmla="*/ 2147483647 w 217"/>
                <a:gd name="T5" fmla="*/ 0 h 221"/>
                <a:gd name="T6" fmla="*/ 2147483647 w 217"/>
                <a:gd name="T7" fmla="*/ 2147483647 h 221"/>
                <a:gd name="T8" fmla="*/ 0 w 217"/>
                <a:gd name="T9" fmla="*/ 2147483647 h 221"/>
                <a:gd name="T10" fmla="*/ 0 60000 65536"/>
                <a:gd name="T11" fmla="*/ 0 60000 65536"/>
                <a:gd name="T12" fmla="*/ 0 60000 65536"/>
                <a:gd name="T13" fmla="*/ 0 60000 65536"/>
                <a:gd name="T14" fmla="*/ 0 60000 65536"/>
                <a:gd name="T15" fmla="*/ 0 w 217"/>
                <a:gd name="T16" fmla="*/ 0 h 221"/>
                <a:gd name="T17" fmla="*/ 217 w 217"/>
                <a:gd name="T18" fmla="*/ 221 h 221"/>
              </a:gdLst>
              <a:ahLst/>
              <a:cxnLst>
                <a:cxn ang="T10">
                  <a:pos x="T0" y="T1"/>
                </a:cxn>
                <a:cxn ang="T11">
                  <a:pos x="T2" y="T3"/>
                </a:cxn>
                <a:cxn ang="T12">
                  <a:pos x="T4" y="T5"/>
                </a:cxn>
                <a:cxn ang="T13">
                  <a:pos x="T6" y="T7"/>
                </a:cxn>
                <a:cxn ang="T14">
                  <a:pos x="T8" y="T9"/>
                </a:cxn>
              </a:cxnLst>
              <a:rect l="T15" t="T16" r="T17" b="T18"/>
              <a:pathLst>
                <a:path w="217" h="221">
                  <a:moveTo>
                    <a:pt x="0" y="220"/>
                  </a:moveTo>
                  <a:lnTo>
                    <a:pt x="0" y="0"/>
                  </a:lnTo>
                  <a:lnTo>
                    <a:pt x="216" y="0"/>
                  </a:lnTo>
                  <a:lnTo>
                    <a:pt x="216"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3" name="Freeform 73">
              <a:extLst>
                <a:ext uri="{FF2B5EF4-FFF2-40B4-BE49-F238E27FC236}">
                  <a16:creationId xmlns:a16="http://schemas.microsoft.com/office/drawing/2014/main" id="{465EF270-F996-44F8-A287-CD4A3BE62168}"/>
                </a:ext>
              </a:extLst>
            </p:cNvPr>
            <p:cNvSpPr>
              <a:spLocks/>
            </p:cNvSpPr>
            <p:nvPr/>
          </p:nvSpPr>
          <p:spPr bwMode="auto">
            <a:xfrm>
              <a:off x="8311013" y="4881420"/>
              <a:ext cx="338137" cy="350837"/>
            </a:xfrm>
            <a:custGeom>
              <a:avLst/>
              <a:gdLst>
                <a:gd name="T0" fmla="*/ 0 w 213"/>
                <a:gd name="T1" fmla="*/ 2147483647 h 221"/>
                <a:gd name="T2" fmla="*/ 0 w 213"/>
                <a:gd name="T3" fmla="*/ 0 h 221"/>
                <a:gd name="T4" fmla="*/ 2147483647 w 213"/>
                <a:gd name="T5" fmla="*/ 0 h 221"/>
                <a:gd name="T6" fmla="*/ 2147483647 w 213"/>
                <a:gd name="T7" fmla="*/ 2147483647 h 221"/>
                <a:gd name="T8" fmla="*/ 0 w 213"/>
                <a:gd name="T9" fmla="*/ 2147483647 h 221"/>
                <a:gd name="T10" fmla="*/ 0 60000 65536"/>
                <a:gd name="T11" fmla="*/ 0 60000 65536"/>
                <a:gd name="T12" fmla="*/ 0 60000 65536"/>
                <a:gd name="T13" fmla="*/ 0 60000 65536"/>
                <a:gd name="T14" fmla="*/ 0 60000 65536"/>
                <a:gd name="T15" fmla="*/ 0 w 213"/>
                <a:gd name="T16" fmla="*/ 0 h 221"/>
                <a:gd name="T17" fmla="*/ 213 w 213"/>
                <a:gd name="T18" fmla="*/ 221 h 221"/>
              </a:gdLst>
              <a:ahLst/>
              <a:cxnLst>
                <a:cxn ang="T10">
                  <a:pos x="T0" y="T1"/>
                </a:cxn>
                <a:cxn ang="T11">
                  <a:pos x="T2" y="T3"/>
                </a:cxn>
                <a:cxn ang="T12">
                  <a:pos x="T4" y="T5"/>
                </a:cxn>
                <a:cxn ang="T13">
                  <a:pos x="T6" y="T7"/>
                </a:cxn>
                <a:cxn ang="T14">
                  <a:pos x="T8" y="T9"/>
                </a:cxn>
              </a:cxnLst>
              <a:rect l="T15" t="T16" r="T17" b="T18"/>
              <a:pathLst>
                <a:path w="213" h="221">
                  <a:moveTo>
                    <a:pt x="0" y="220"/>
                  </a:moveTo>
                  <a:lnTo>
                    <a:pt x="0" y="0"/>
                  </a:lnTo>
                  <a:lnTo>
                    <a:pt x="212" y="0"/>
                  </a:lnTo>
                  <a:lnTo>
                    <a:pt x="212"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4" name="Freeform 74">
              <a:extLst>
                <a:ext uri="{FF2B5EF4-FFF2-40B4-BE49-F238E27FC236}">
                  <a16:creationId xmlns:a16="http://schemas.microsoft.com/office/drawing/2014/main" id="{27E477EC-AFE3-4478-9C7C-663C9252D25A}"/>
                </a:ext>
              </a:extLst>
            </p:cNvPr>
            <p:cNvSpPr>
              <a:spLocks/>
            </p:cNvSpPr>
            <p:nvPr/>
          </p:nvSpPr>
          <p:spPr bwMode="auto">
            <a:xfrm>
              <a:off x="8766625" y="4881420"/>
              <a:ext cx="339725" cy="350837"/>
            </a:xfrm>
            <a:custGeom>
              <a:avLst/>
              <a:gdLst>
                <a:gd name="T0" fmla="*/ 0 w 214"/>
                <a:gd name="T1" fmla="*/ 2147483647 h 221"/>
                <a:gd name="T2" fmla="*/ 0 w 214"/>
                <a:gd name="T3" fmla="*/ 0 h 221"/>
                <a:gd name="T4" fmla="*/ 2147483647 w 214"/>
                <a:gd name="T5" fmla="*/ 0 h 221"/>
                <a:gd name="T6" fmla="*/ 2147483647 w 214"/>
                <a:gd name="T7" fmla="*/ 2147483647 h 221"/>
                <a:gd name="T8" fmla="*/ 0 w 214"/>
                <a:gd name="T9" fmla="*/ 2147483647 h 221"/>
                <a:gd name="T10" fmla="*/ 0 60000 65536"/>
                <a:gd name="T11" fmla="*/ 0 60000 65536"/>
                <a:gd name="T12" fmla="*/ 0 60000 65536"/>
                <a:gd name="T13" fmla="*/ 0 60000 65536"/>
                <a:gd name="T14" fmla="*/ 0 60000 65536"/>
                <a:gd name="T15" fmla="*/ 0 w 214"/>
                <a:gd name="T16" fmla="*/ 0 h 221"/>
                <a:gd name="T17" fmla="*/ 214 w 214"/>
                <a:gd name="T18" fmla="*/ 221 h 221"/>
              </a:gdLst>
              <a:ahLst/>
              <a:cxnLst>
                <a:cxn ang="T10">
                  <a:pos x="T0" y="T1"/>
                </a:cxn>
                <a:cxn ang="T11">
                  <a:pos x="T2" y="T3"/>
                </a:cxn>
                <a:cxn ang="T12">
                  <a:pos x="T4" y="T5"/>
                </a:cxn>
                <a:cxn ang="T13">
                  <a:pos x="T6" y="T7"/>
                </a:cxn>
                <a:cxn ang="T14">
                  <a:pos x="T8" y="T9"/>
                </a:cxn>
              </a:cxnLst>
              <a:rect l="T15" t="T16" r="T17" b="T18"/>
              <a:pathLst>
                <a:path w="214" h="221">
                  <a:moveTo>
                    <a:pt x="0" y="220"/>
                  </a:moveTo>
                  <a:lnTo>
                    <a:pt x="0" y="0"/>
                  </a:lnTo>
                  <a:lnTo>
                    <a:pt x="213" y="0"/>
                  </a:lnTo>
                  <a:lnTo>
                    <a:pt x="213"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5" name="Freeform 75">
              <a:extLst>
                <a:ext uri="{FF2B5EF4-FFF2-40B4-BE49-F238E27FC236}">
                  <a16:creationId xmlns:a16="http://schemas.microsoft.com/office/drawing/2014/main" id="{DB88E617-D75F-458E-AD1D-1F6CB57D1585}"/>
                </a:ext>
              </a:extLst>
            </p:cNvPr>
            <p:cNvSpPr>
              <a:spLocks/>
            </p:cNvSpPr>
            <p:nvPr/>
          </p:nvSpPr>
          <p:spPr bwMode="auto">
            <a:xfrm>
              <a:off x="9220650" y="4881420"/>
              <a:ext cx="346075" cy="350837"/>
            </a:xfrm>
            <a:custGeom>
              <a:avLst/>
              <a:gdLst>
                <a:gd name="T0" fmla="*/ 0 w 218"/>
                <a:gd name="T1" fmla="*/ 2147483647 h 221"/>
                <a:gd name="T2" fmla="*/ 0 w 218"/>
                <a:gd name="T3" fmla="*/ 0 h 221"/>
                <a:gd name="T4" fmla="*/ 2147483647 w 218"/>
                <a:gd name="T5" fmla="*/ 0 h 221"/>
                <a:gd name="T6" fmla="*/ 2147483647 w 218"/>
                <a:gd name="T7" fmla="*/ 2147483647 h 221"/>
                <a:gd name="T8" fmla="*/ 0 w 218"/>
                <a:gd name="T9" fmla="*/ 2147483647 h 221"/>
                <a:gd name="T10" fmla="*/ 0 60000 65536"/>
                <a:gd name="T11" fmla="*/ 0 60000 65536"/>
                <a:gd name="T12" fmla="*/ 0 60000 65536"/>
                <a:gd name="T13" fmla="*/ 0 60000 65536"/>
                <a:gd name="T14" fmla="*/ 0 60000 65536"/>
                <a:gd name="T15" fmla="*/ 0 w 218"/>
                <a:gd name="T16" fmla="*/ 0 h 221"/>
                <a:gd name="T17" fmla="*/ 218 w 218"/>
                <a:gd name="T18" fmla="*/ 221 h 221"/>
              </a:gdLst>
              <a:ahLst/>
              <a:cxnLst>
                <a:cxn ang="T10">
                  <a:pos x="T0" y="T1"/>
                </a:cxn>
                <a:cxn ang="T11">
                  <a:pos x="T2" y="T3"/>
                </a:cxn>
                <a:cxn ang="T12">
                  <a:pos x="T4" y="T5"/>
                </a:cxn>
                <a:cxn ang="T13">
                  <a:pos x="T6" y="T7"/>
                </a:cxn>
                <a:cxn ang="T14">
                  <a:pos x="T8" y="T9"/>
                </a:cxn>
              </a:cxnLst>
              <a:rect l="T15" t="T16" r="T17" b="T18"/>
              <a:pathLst>
                <a:path w="218" h="221">
                  <a:moveTo>
                    <a:pt x="0" y="220"/>
                  </a:moveTo>
                  <a:lnTo>
                    <a:pt x="0" y="0"/>
                  </a:lnTo>
                  <a:lnTo>
                    <a:pt x="217" y="0"/>
                  </a:lnTo>
                  <a:lnTo>
                    <a:pt x="217"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6" name="Freeform 76">
              <a:extLst>
                <a:ext uri="{FF2B5EF4-FFF2-40B4-BE49-F238E27FC236}">
                  <a16:creationId xmlns:a16="http://schemas.microsoft.com/office/drawing/2014/main" id="{9F798444-B6A3-4E13-BA24-454C78919507}"/>
                </a:ext>
              </a:extLst>
            </p:cNvPr>
            <p:cNvSpPr>
              <a:spLocks/>
            </p:cNvSpPr>
            <p:nvPr/>
          </p:nvSpPr>
          <p:spPr bwMode="auto">
            <a:xfrm>
              <a:off x="9676263" y="4881420"/>
              <a:ext cx="342900" cy="350837"/>
            </a:xfrm>
            <a:custGeom>
              <a:avLst/>
              <a:gdLst>
                <a:gd name="T0" fmla="*/ 0 w 216"/>
                <a:gd name="T1" fmla="*/ 2147483647 h 221"/>
                <a:gd name="T2" fmla="*/ 0 w 216"/>
                <a:gd name="T3" fmla="*/ 0 h 221"/>
                <a:gd name="T4" fmla="*/ 2147483647 w 216"/>
                <a:gd name="T5" fmla="*/ 0 h 221"/>
                <a:gd name="T6" fmla="*/ 2147483647 w 216"/>
                <a:gd name="T7" fmla="*/ 2147483647 h 221"/>
                <a:gd name="T8" fmla="*/ 0 w 216"/>
                <a:gd name="T9" fmla="*/ 2147483647 h 221"/>
                <a:gd name="T10" fmla="*/ 0 60000 65536"/>
                <a:gd name="T11" fmla="*/ 0 60000 65536"/>
                <a:gd name="T12" fmla="*/ 0 60000 65536"/>
                <a:gd name="T13" fmla="*/ 0 60000 65536"/>
                <a:gd name="T14" fmla="*/ 0 60000 65536"/>
                <a:gd name="T15" fmla="*/ 0 w 216"/>
                <a:gd name="T16" fmla="*/ 0 h 221"/>
                <a:gd name="T17" fmla="*/ 216 w 216"/>
                <a:gd name="T18" fmla="*/ 221 h 221"/>
              </a:gdLst>
              <a:ahLst/>
              <a:cxnLst>
                <a:cxn ang="T10">
                  <a:pos x="T0" y="T1"/>
                </a:cxn>
                <a:cxn ang="T11">
                  <a:pos x="T2" y="T3"/>
                </a:cxn>
                <a:cxn ang="T12">
                  <a:pos x="T4" y="T5"/>
                </a:cxn>
                <a:cxn ang="T13">
                  <a:pos x="T6" y="T7"/>
                </a:cxn>
                <a:cxn ang="T14">
                  <a:pos x="T8" y="T9"/>
                </a:cxn>
              </a:cxnLst>
              <a:rect l="T15" t="T16" r="T17" b="T18"/>
              <a:pathLst>
                <a:path w="216" h="221">
                  <a:moveTo>
                    <a:pt x="0" y="220"/>
                  </a:moveTo>
                  <a:lnTo>
                    <a:pt x="0" y="0"/>
                  </a:lnTo>
                  <a:lnTo>
                    <a:pt x="215" y="0"/>
                  </a:lnTo>
                  <a:lnTo>
                    <a:pt x="215"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7" name="Freeform 77">
              <a:extLst>
                <a:ext uri="{FF2B5EF4-FFF2-40B4-BE49-F238E27FC236}">
                  <a16:creationId xmlns:a16="http://schemas.microsoft.com/office/drawing/2014/main" id="{4EFF83DA-590A-41F6-944B-5EC49CC02B75}"/>
                </a:ext>
              </a:extLst>
            </p:cNvPr>
            <p:cNvSpPr>
              <a:spLocks/>
            </p:cNvSpPr>
            <p:nvPr/>
          </p:nvSpPr>
          <p:spPr bwMode="auto">
            <a:xfrm>
              <a:off x="10133463" y="4881420"/>
              <a:ext cx="342900" cy="350837"/>
            </a:xfrm>
            <a:custGeom>
              <a:avLst/>
              <a:gdLst>
                <a:gd name="T0" fmla="*/ 0 w 216"/>
                <a:gd name="T1" fmla="*/ 2147483647 h 221"/>
                <a:gd name="T2" fmla="*/ 0 w 216"/>
                <a:gd name="T3" fmla="*/ 0 h 221"/>
                <a:gd name="T4" fmla="*/ 2147483647 w 216"/>
                <a:gd name="T5" fmla="*/ 0 h 221"/>
                <a:gd name="T6" fmla="*/ 2147483647 w 216"/>
                <a:gd name="T7" fmla="*/ 2147483647 h 221"/>
                <a:gd name="T8" fmla="*/ 0 w 216"/>
                <a:gd name="T9" fmla="*/ 2147483647 h 221"/>
                <a:gd name="T10" fmla="*/ 0 60000 65536"/>
                <a:gd name="T11" fmla="*/ 0 60000 65536"/>
                <a:gd name="T12" fmla="*/ 0 60000 65536"/>
                <a:gd name="T13" fmla="*/ 0 60000 65536"/>
                <a:gd name="T14" fmla="*/ 0 60000 65536"/>
                <a:gd name="T15" fmla="*/ 0 w 216"/>
                <a:gd name="T16" fmla="*/ 0 h 221"/>
                <a:gd name="T17" fmla="*/ 216 w 216"/>
                <a:gd name="T18" fmla="*/ 221 h 221"/>
              </a:gdLst>
              <a:ahLst/>
              <a:cxnLst>
                <a:cxn ang="T10">
                  <a:pos x="T0" y="T1"/>
                </a:cxn>
                <a:cxn ang="T11">
                  <a:pos x="T2" y="T3"/>
                </a:cxn>
                <a:cxn ang="T12">
                  <a:pos x="T4" y="T5"/>
                </a:cxn>
                <a:cxn ang="T13">
                  <a:pos x="T6" y="T7"/>
                </a:cxn>
                <a:cxn ang="T14">
                  <a:pos x="T8" y="T9"/>
                </a:cxn>
              </a:cxnLst>
              <a:rect l="T15" t="T16" r="T17" b="T18"/>
              <a:pathLst>
                <a:path w="216" h="221">
                  <a:moveTo>
                    <a:pt x="0" y="220"/>
                  </a:moveTo>
                  <a:lnTo>
                    <a:pt x="0" y="0"/>
                  </a:lnTo>
                  <a:lnTo>
                    <a:pt x="215" y="0"/>
                  </a:lnTo>
                  <a:lnTo>
                    <a:pt x="215" y="220"/>
                  </a:lnTo>
                  <a:lnTo>
                    <a:pt x="0" y="22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8" name="Freeform 78">
              <a:extLst>
                <a:ext uri="{FF2B5EF4-FFF2-40B4-BE49-F238E27FC236}">
                  <a16:creationId xmlns:a16="http://schemas.microsoft.com/office/drawing/2014/main" id="{DED9B883-543F-40F1-9AF7-4CC4C0066280}"/>
                </a:ext>
              </a:extLst>
            </p:cNvPr>
            <p:cNvSpPr>
              <a:spLocks/>
            </p:cNvSpPr>
            <p:nvPr/>
          </p:nvSpPr>
          <p:spPr bwMode="auto">
            <a:xfrm>
              <a:off x="8052250" y="3713020"/>
              <a:ext cx="1490663" cy="1587"/>
            </a:xfrm>
            <a:custGeom>
              <a:avLst/>
              <a:gdLst>
                <a:gd name="T0" fmla="*/ 0 w 939"/>
                <a:gd name="T1" fmla="*/ 0 h 1"/>
                <a:gd name="T2" fmla="*/ 2147483647 w 939"/>
                <a:gd name="T3" fmla="*/ 0 h 1"/>
                <a:gd name="T4" fmla="*/ 0 w 939"/>
                <a:gd name="T5" fmla="*/ 0 h 1"/>
                <a:gd name="T6" fmla="*/ 0 60000 65536"/>
                <a:gd name="T7" fmla="*/ 0 60000 65536"/>
                <a:gd name="T8" fmla="*/ 0 60000 65536"/>
                <a:gd name="T9" fmla="*/ 0 w 939"/>
                <a:gd name="T10" fmla="*/ 0 h 1"/>
                <a:gd name="T11" fmla="*/ 939 w 939"/>
                <a:gd name="T12" fmla="*/ 1 h 1"/>
              </a:gdLst>
              <a:ahLst/>
              <a:cxnLst>
                <a:cxn ang="T6">
                  <a:pos x="T0" y="T1"/>
                </a:cxn>
                <a:cxn ang="T7">
                  <a:pos x="T2" y="T3"/>
                </a:cxn>
                <a:cxn ang="T8">
                  <a:pos x="T4" y="T5"/>
                </a:cxn>
              </a:cxnLst>
              <a:rect l="T9" t="T10" r="T11" b="T12"/>
              <a:pathLst>
                <a:path w="939" h="1">
                  <a:moveTo>
                    <a:pt x="0" y="0"/>
                  </a:moveTo>
                  <a:lnTo>
                    <a:pt x="938" y="0"/>
                  </a:lnTo>
                  <a:lnTo>
                    <a:pt x="0" y="0"/>
                  </a:lnTo>
                </a:path>
              </a:pathLst>
            </a:custGeom>
            <a:noFill/>
            <a:ln w="12700" cap="rnd">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79" name="Freeform 79">
              <a:extLst>
                <a:ext uri="{FF2B5EF4-FFF2-40B4-BE49-F238E27FC236}">
                  <a16:creationId xmlns:a16="http://schemas.microsoft.com/office/drawing/2014/main" id="{C09ED5C5-87E2-47D3-87A2-98E5BF263994}"/>
                </a:ext>
              </a:extLst>
            </p:cNvPr>
            <p:cNvSpPr>
              <a:spLocks/>
            </p:cNvSpPr>
            <p:nvPr/>
          </p:nvSpPr>
          <p:spPr bwMode="auto">
            <a:xfrm>
              <a:off x="8052250" y="2666857"/>
              <a:ext cx="785813" cy="1047750"/>
            </a:xfrm>
            <a:custGeom>
              <a:avLst/>
              <a:gdLst>
                <a:gd name="T0" fmla="*/ 0 w 495"/>
                <a:gd name="T1" fmla="*/ 2147483647 h 660"/>
                <a:gd name="T2" fmla="*/ 2147483647 w 495"/>
                <a:gd name="T3" fmla="*/ 0 h 660"/>
                <a:gd name="T4" fmla="*/ 0 w 495"/>
                <a:gd name="T5" fmla="*/ 2147483647 h 660"/>
                <a:gd name="T6" fmla="*/ 0 60000 65536"/>
                <a:gd name="T7" fmla="*/ 0 60000 65536"/>
                <a:gd name="T8" fmla="*/ 0 60000 65536"/>
                <a:gd name="T9" fmla="*/ 0 w 495"/>
                <a:gd name="T10" fmla="*/ 0 h 660"/>
                <a:gd name="T11" fmla="*/ 495 w 495"/>
                <a:gd name="T12" fmla="*/ 660 h 660"/>
              </a:gdLst>
              <a:ahLst/>
              <a:cxnLst>
                <a:cxn ang="T6">
                  <a:pos x="T0" y="T1"/>
                </a:cxn>
                <a:cxn ang="T7">
                  <a:pos x="T2" y="T3"/>
                </a:cxn>
                <a:cxn ang="T8">
                  <a:pos x="T4" y="T5"/>
                </a:cxn>
              </a:cxnLst>
              <a:rect l="T9" t="T10" r="T11" b="T12"/>
              <a:pathLst>
                <a:path w="495" h="660">
                  <a:moveTo>
                    <a:pt x="0" y="659"/>
                  </a:moveTo>
                  <a:lnTo>
                    <a:pt x="494" y="0"/>
                  </a:lnTo>
                  <a:lnTo>
                    <a:pt x="0" y="659"/>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0" name="Freeform 80">
              <a:extLst>
                <a:ext uri="{FF2B5EF4-FFF2-40B4-BE49-F238E27FC236}">
                  <a16:creationId xmlns:a16="http://schemas.microsoft.com/office/drawing/2014/main" id="{3D668C6C-6A75-4337-BF75-75730D1B264E}"/>
                </a:ext>
              </a:extLst>
            </p:cNvPr>
            <p:cNvSpPr>
              <a:spLocks/>
            </p:cNvSpPr>
            <p:nvPr/>
          </p:nvSpPr>
          <p:spPr bwMode="auto">
            <a:xfrm>
              <a:off x="8836475" y="2666857"/>
              <a:ext cx="712788" cy="1047750"/>
            </a:xfrm>
            <a:custGeom>
              <a:avLst/>
              <a:gdLst>
                <a:gd name="T0" fmla="*/ 0 w 449"/>
                <a:gd name="T1" fmla="*/ 0 h 660"/>
                <a:gd name="T2" fmla="*/ 2147483647 w 449"/>
                <a:gd name="T3" fmla="*/ 2147483647 h 660"/>
                <a:gd name="T4" fmla="*/ 0 w 449"/>
                <a:gd name="T5" fmla="*/ 0 h 660"/>
                <a:gd name="T6" fmla="*/ 0 60000 65536"/>
                <a:gd name="T7" fmla="*/ 0 60000 65536"/>
                <a:gd name="T8" fmla="*/ 0 60000 65536"/>
                <a:gd name="T9" fmla="*/ 0 w 449"/>
                <a:gd name="T10" fmla="*/ 0 h 660"/>
                <a:gd name="T11" fmla="*/ 449 w 449"/>
                <a:gd name="T12" fmla="*/ 660 h 660"/>
              </a:gdLst>
              <a:ahLst/>
              <a:cxnLst>
                <a:cxn ang="T6">
                  <a:pos x="T0" y="T1"/>
                </a:cxn>
                <a:cxn ang="T7">
                  <a:pos x="T2" y="T3"/>
                </a:cxn>
                <a:cxn ang="T8">
                  <a:pos x="T4" y="T5"/>
                </a:cxn>
              </a:cxnLst>
              <a:rect l="T9" t="T10" r="T11" b="T12"/>
              <a:pathLst>
                <a:path w="449" h="660">
                  <a:moveTo>
                    <a:pt x="0" y="0"/>
                  </a:moveTo>
                  <a:lnTo>
                    <a:pt x="448" y="659"/>
                  </a:lnTo>
                  <a:lnTo>
                    <a:pt x="0"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1" name="Freeform 81">
              <a:extLst>
                <a:ext uri="{FF2B5EF4-FFF2-40B4-BE49-F238E27FC236}">
                  <a16:creationId xmlns:a16="http://schemas.microsoft.com/office/drawing/2014/main" id="{40931BE8-3F52-4CED-9DEA-AA1C9D6DD812}"/>
                </a:ext>
              </a:extLst>
            </p:cNvPr>
            <p:cNvSpPr>
              <a:spLocks/>
            </p:cNvSpPr>
            <p:nvPr/>
          </p:nvSpPr>
          <p:spPr bwMode="auto">
            <a:xfrm>
              <a:off x="8545963" y="2574782"/>
              <a:ext cx="292100" cy="93663"/>
            </a:xfrm>
            <a:custGeom>
              <a:avLst/>
              <a:gdLst>
                <a:gd name="T0" fmla="*/ 0 w 184"/>
                <a:gd name="T1" fmla="*/ 0 h 59"/>
                <a:gd name="T2" fmla="*/ 2147483647 w 184"/>
                <a:gd name="T3" fmla="*/ 2147483647 h 59"/>
                <a:gd name="T4" fmla="*/ 2147483647 w 184"/>
                <a:gd name="T5" fmla="*/ 2147483647 h 59"/>
                <a:gd name="T6" fmla="*/ 0 w 184"/>
                <a:gd name="T7" fmla="*/ 0 h 59"/>
                <a:gd name="T8" fmla="*/ 0 60000 65536"/>
                <a:gd name="T9" fmla="*/ 0 60000 65536"/>
                <a:gd name="T10" fmla="*/ 0 60000 65536"/>
                <a:gd name="T11" fmla="*/ 0 60000 65536"/>
                <a:gd name="T12" fmla="*/ 0 w 184"/>
                <a:gd name="T13" fmla="*/ 0 h 59"/>
                <a:gd name="T14" fmla="*/ 184 w 184"/>
                <a:gd name="T15" fmla="*/ 59 h 59"/>
              </a:gdLst>
              <a:ahLst/>
              <a:cxnLst>
                <a:cxn ang="T8">
                  <a:pos x="T0" y="T1"/>
                </a:cxn>
                <a:cxn ang="T9">
                  <a:pos x="T2" y="T3"/>
                </a:cxn>
                <a:cxn ang="T10">
                  <a:pos x="T4" y="T5"/>
                </a:cxn>
                <a:cxn ang="T11">
                  <a:pos x="T6" y="T7"/>
                </a:cxn>
              </a:cxnLst>
              <a:rect l="T12" t="T13" r="T14" b="T15"/>
              <a:pathLst>
                <a:path w="184" h="59">
                  <a:moveTo>
                    <a:pt x="0" y="0"/>
                  </a:moveTo>
                  <a:lnTo>
                    <a:pt x="30" y="9"/>
                  </a:lnTo>
                  <a:lnTo>
                    <a:pt x="183" y="58"/>
                  </a:lnTo>
                  <a:lnTo>
                    <a:pt x="0"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2" name="Freeform 82">
              <a:extLst>
                <a:ext uri="{FF2B5EF4-FFF2-40B4-BE49-F238E27FC236}">
                  <a16:creationId xmlns:a16="http://schemas.microsoft.com/office/drawing/2014/main" id="{D25BCEE7-0A2D-4923-AB38-A61138AD361F}"/>
                </a:ext>
              </a:extLst>
            </p:cNvPr>
            <p:cNvSpPr>
              <a:spLocks/>
            </p:cNvSpPr>
            <p:nvPr/>
          </p:nvSpPr>
          <p:spPr bwMode="auto">
            <a:xfrm>
              <a:off x="8755513" y="2616057"/>
              <a:ext cx="82550" cy="52388"/>
            </a:xfrm>
            <a:custGeom>
              <a:avLst/>
              <a:gdLst>
                <a:gd name="T0" fmla="*/ 2147483647 w 52"/>
                <a:gd name="T1" fmla="*/ 0 h 33"/>
                <a:gd name="T2" fmla="*/ 2147483647 w 52"/>
                <a:gd name="T3" fmla="*/ 2147483647 h 33"/>
                <a:gd name="T4" fmla="*/ 0 w 52"/>
                <a:gd name="T5" fmla="*/ 2147483647 h 33"/>
                <a:gd name="T6" fmla="*/ 2147483647 w 52"/>
                <a:gd name="T7" fmla="*/ 0 h 33"/>
                <a:gd name="T8" fmla="*/ 0 60000 65536"/>
                <a:gd name="T9" fmla="*/ 0 60000 65536"/>
                <a:gd name="T10" fmla="*/ 0 60000 65536"/>
                <a:gd name="T11" fmla="*/ 0 60000 65536"/>
                <a:gd name="T12" fmla="*/ 0 w 52"/>
                <a:gd name="T13" fmla="*/ 0 h 33"/>
                <a:gd name="T14" fmla="*/ 52 w 52"/>
                <a:gd name="T15" fmla="*/ 33 h 33"/>
              </a:gdLst>
              <a:ahLst/>
              <a:cxnLst>
                <a:cxn ang="T8">
                  <a:pos x="T0" y="T1"/>
                </a:cxn>
                <a:cxn ang="T9">
                  <a:pos x="T2" y="T3"/>
                </a:cxn>
                <a:cxn ang="T10">
                  <a:pos x="T4" y="T5"/>
                </a:cxn>
                <a:cxn ang="T11">
                  <a:pos x="T6" y="T7"/>
                </a:cxn>
              </a:cxnLst>
              <a:rect l="T12" t="T13" r="T14" b="T15"/>
              <a:pathLst>
                <a:path w="52" h="33">
                  <a:moveTo>
                    <a:pt x="6" y="0"/>
                  </a:moveTo>
                  <a:lnTo>
                    <a:pt x="51" y="32"/>
                  </a:lnTo>
                  <a:lnTo>
                    <a:pt x="0" y="32"/>
                  </a:lnTo>
                  <a:lnTo>
                    <a:pt x="6" y="0"/>
                  </a:lnTo>
                </a:path>
              </a:pathLst>
            </a:cu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3" name="Freeform 83">
              <a:extLst>
                <a:ext uri="{FF2B5EF4-FFF2-40B4-BE49-F238E27FC236}">
                  <a16:creationId xmlns:a16="http://schemas.microsoft.com/office/drawing/2014/main" id="{80C107E1-32D9-44E8-8DE0-18AC978494DD}"/>
                </a:ext>
              </a:extLst>
            </p:cNvPr>
            <p:cNvSpPr>
              <a:spLocks/>
            </p:cNvSpPr>
            <p:nvPr/>
          </p:nvSpPr>
          <p:spPr bwMode="auto">
            <a:xfrm>
              <a:off x="7693475" y="3994007"/>
              <a:ext cx="404813" cy="347663"/>
            </a:xfrm>
            <a:custGeom>
              <a:avLst/>
              <a:gdLst>
                <a:gd name="T0" fmla="*/ 0 w 255"/>
                <a:gd name="T1" fmla="*/ 0 h 219"/>
                <a:gd name="T2" fmla="*/ 2147483647 w 255"/>
                <a:gd name="T3" fmla="*/ 0 h 219"/>
                <a:gd name="T4" fmla="*/ 2147483647 w 255"/>
                <a:gd name="T5" fmla="*/ 2147483647 h 219"/>
                <a:gd name="T6" fmla="*/ 0 w 255"/>
                <a:gd name="T7" fmla="*/ 2147483647 h 219"/>
                <a:gd name="T8" fmla="*/ 0 w 255"/>
                <a:gd name="T9" fmla="*/ 0 h 219"/>
                <a:gd name="T10" fmla="*/ 0 60000 65536"/>
                <a:gd name="T11" fmla="*/ 0 60000 65536"/>
                <a:gd name="T12" fmla="*/ 0 60000 65536"/>
                <a:gd name="T13" fmla="*/ 0 60000 65536"/>
                <a:gd name="T14" fmla="*/ 0 60000 65536"/>
                <a:gd name="T15" fmla="*/ 0 w 255"/>
                <a:gd name="T16" fmla="*/ 0 h 219"/>
                <a:gd name="T17" fmla="*/ 255 w 255"/>
                <a:gd name="T18" fmla="*/ 219 h 219"/>
              </a:gdLst>
              <a:ahLst/>
              <a:cxnLst>
                <a:cxn ang="T10">
                  <a:pos x="T0" y="T1"/>
                </a:cxn>
                <a:cxn ang="T11">
                  <a:pos x="T2" y="T3"/>
                </a:cxn>
                <a:cxn ang="T12">
                  <a:pos x="T4" y="T5"/>
                </a:cxn>
                <a:cxn ang="T13">
                  <a:pos x="T6" y="T7"/>
                </a:cxn>
                <a:cxn ang="T14">
                  <a:pos x="T8" y="T9"/>
                </a:cxn>
              </a:cxnLst>
              <a:rect l="T15" t="T16" r="T17" b="T18"/>
              <a:pathLst>
                <a:path w="255" h="219">
                  <a:moveTo>
                    <a:pt x="0" y="0"/>
                  </a:moveTo>
                  <a:lnTo>
                    <a:pt x="254" y="0"/>
                  </a:lnTo>
                  <a:lnTo>
                    <a:pt x="254" y="218"/>
                  </a:lnTo>
                  <a:lnTo>
                    <a:pt x="0" y="218"/>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4" name="Freeform 84">
              <a:extLst>
                <a:ext uri="{FF2B5EF4-FFF2-40B4-BE49-F238E27FC236}">
                  <a16:creationId xmlns:a16="http://schemas.microsoft.com/office/drawing/2014/main" id="{11BA086D-9D57-4178-B7E9-23DED66291C1}"/>
                </a:ext>
              </a:extLst>
            </p:cNvPr>
            <p:cNvSpPr>
              <a:spLocks/>
            </p:cNvSpPr>
            <p:nvPr/>
          </p:nvSpPr>
          <p:spPr bwMode="auto">
            <a:xfrm>
              <a:off x="8096700" y="4121007"/>
              <a:ext cx="63500" cy="42863"/>
            </a:xfrm>
            <a:custGeom>
              <a:avLst/>
              <a:gdLst>
                <a:gd name="T0" fmla="*/ 2147483647 w 40"/>
                <a:gd name="T1" fmla="*/ 2147483647 h 27"/>
                <a:gd name="T2" fmla="*/ 0 w 40"/>
                <a:gd name="T3" fmla="*/ 2147483647 h 27"/>
                <a:gd name="T4" fmla="*/ 2147483647 w 40"/>
                <a:gd name="T5" fmla="*/ 0 h 27"/>
                <a:gd name="T6" fmla="*/ 0 60000 65536"/>
                <a:gd name="T7" fmla="*/ 0 60000 65536"/>
                <a:gd name="T8" fmla="*/ 0 60000 65536"/>
                <a:gd name="T9" fmla="*/ 0 w 40"/>
                <a:gd name="T10" fmla="*/ 0 h 27"/>
                <a:gd name="T11" fmla="*/ 40 w 40"/>
                <a:gd name="T12" fmla="*/ 27 h 27"/>
              </a:gdLst>
              <a:ahLst/>
              <a:cxnLst>
                <a:cxn ang="T6">
                  <a:pos x="T0" y="T1"/>
                </a:cxn>
                <a:cxn ang="T7">
                  <a:pos x="T2" y="T3"/>
                </a:cxn>
                <a:cxn ang="T8">
                  <a:pos x="T4" y="T5"/>
                </a:cxn>
              </a:cxnLst>
              <a:rect l="T9" t="T10" r="T11" b="T12"/>
              <a:pathLst>
                <a:path w="40" h="27">
                  <a:moveTo>
                    <a:pt x="39" y="26"/>
                  </a:moveTo>
                  <a:lnTo>
                    <a:pt x="0" y="13"/>
                  </a:lnTo>
                  <a:lnTo>
                    <a:pt x="39"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5" name="Freeform 85">
              <a:extLst>
                <a:ext uri="{FF2B5EF4-FFF2-40B4-BE49-F238E27FC236}">
                  <a16:creationId xmlns:a16="http://schemas.microsoft.com/office/drawing/2014/main" id="{61735F47-339E-4D62-BF16-34D2DB7372F1}"/>
                </a:ext>
              </a:extLst>
            </p:cNvPr>
            <p:cNvSpPr>
              <a:spLocks/>
            </p:cNvSpPr>
            <p:nvPr/>
          </p:nvSpPr>
          <p:spPr bwMode="auto">
            <a:xfrm>
              <a:off x="8096700" y="4138470"/>
              <a:ext cx="241300" cy="1587"/>
            </a:xfrm>
            <a:custGeom>
              <a:avLst/>
              <a:gdLst>
                <a:gd name="T0" fmla="*/ 0 w 152"/>
                <a:gd name="T1" fmla="*/ 0 h 1"/>
                <a:gd name="T2" fmla="*/ 2147483647 w 152"/>
                <a:gd name="T3" fmla="*/ 0 h 1"/>
                <a:gd name="T4" fmla="*/ 0 w 152"/>
                <a:gd name="T5" fmla="*/ 0 h 1"/>
                <a:gd name="T6" fmla="*/ 0 60000 65536"/>
                <a:gd name="T7" fmla="*/ 0 60000 65536"/>
                <a:gd name="T8" fmla="*/ 0 60000 65536"/>
                <a:gd name="T9" fmla="*/ 0 w 152"/>
                <a:gd name="T10" fmla="*/ 0 h 1"/>
                <a:gd name="T11" fmla="*/ 152 w 152"/>
                <a:gd name="T12" fmla="*/ 1 h 1"/>
              </a:gdLst>
              <a:ahLst/>
              <a:cxnLst>
                <a:cxn ang="T6">
                  <a:pos x="T0" y="T1"/>
                </a:cxn>
                <a:cxn ang="T7">
                  <a:pos x="T2" y="T3"/>
                </a:cxn>
                <a:cxn ang="T8">
                  <a:pos x="T4" y="T5"/>
                </a:cxn>
              </a:cxnLst>
              <a:rect l="T9" t="T10" r="T11" b="T12"/>
              <a:pathLst>
                <a:path w="152" h="1">
                  <a:moveTo>
                    <a:pt x="0" y="0"/>
                  </a:moveTo>
                  <a:lnTo>
                    <a:pt x="151"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6" name="Freeform 86">
              <a:extLst>
                <a:ext uri="{FF2B5EF4-FFF2-40B4-BE49-F238E27FC236}">
                  <a16:creationId xmlns:a16="http://schemas.microsoft.com/office/drawing/2014/main" id="{CA4A9C41-D0B5-4CB0-8A71-66E753E56E56}"/>
                </a:ext>
              </a:extLst>
            </p:cNvPr>
            <p:cNvSpPr>
              <a:spLocks/>
            </p:cNvSpPr>
            <p:nvPr/>
          </p:nvSpPr>
          <p:spPr bwMode="auto">
            <a:xfrm>
              <a:off x="8272913" y="4121007"/>
              <a:ext cx="65087" cy="42863"/>
            </a:xfrm>
            <a:custGeom>
              <a:avLst/>
              <a:gdLst>
                <a:gd name="T0" fmla="*/ 0 w 41"/>
                <a:gd name="T1" fmla="*/ 0 h 27"/>
                <a:gd name="T2" fmla="*/ 2147483647 w 41"/>
                <a:gd name="T3" fmla="*/ 2147483647 h 27"/>
                <a:gd name="T4" fmla="*/ 0 w 41"/>
                <a:gd name="T5" fmla="*/ 2147483647 h 27"/>
                <a:gd name="T6" fmla="*/ 0 60000 65536"/>
                <a:gd name="T7" fmla="*/ 0 60000 65536"/>
                <a:gd name="T8" fmla="*/ 0 60000 65536"/>
                <a:gd name="T9" fmla="*/ 0 w 41"/>
                <a:gd name="T10" fmla="*/ 0 h 27"/>
                <a:gd name="T11" fmla="*/ 41 w 41"/>
                <a:gd name="T12" fmla="*/ 27 h 27"/>
              </a:gdLst>
              <a:ahLst/>
              <a:cxnLst>
                <a:cxn ang="T6">
                  <a:pos x="T0" y="T1"/>
                </a:cxn>
                <a:cxn ang="T7">
                  <a:pos x="T2" y="T3"/>
                </a:cxn>
                <a:cxn ang="T8">
                  <a:pos x="T4" y="T5"/>
                </a:cxn>
              </a:cxnLst>
              <a:rect l="T9" t="T10" r="T11" b="T12"/>
              <a:pathLst>
                <a:path w="41" h="27">
                  <a:moveTo>
                    <a:pt x="0" y="0"/>
                  </a:moveTo>
                  <a:lnTo>
                    <a:pt x="40" y="13"/>
                  </a:lnTo>
                  <a:lnTo>
                    <a:pt x="0" y="26"/>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7" name="Freeform 87">
              <a:extLst>
                <a:ext uri="{FF2B5EF4-FFF2-40B4-BE49-F238E27FC236}">
                  <a16:creationId xmlns:a16="http://schemas.microsoft.com/office/drawing/2014/main" id="{F04E3705-B345-45C7-A7C2-A5C2011AC0CA}"/>
                </a:ext>
              </a:extLst>
            </p:cNvPr>
            <p:cNvSpPr>
              <a:spLocks/>
            </p:cNvSpPr>
            <p:nvPr/>
          </p:nvSpPr>
          <p:spPr bwMode="auto">
            <a:xfrm>
              <a:off x="8336413" y="3994007"/>
              <a:ext cx="403225" cy="347663"/>
            </a:xfrm>
            <a:custGeom>
              <a:avLst/>
              <a:gdLst>
                <a:gd name="T0" fmla="*/ 0 w 254"/>
                <a:gd name="T1" fmla="*/ 0 h 219"/>
                <a:gd name="T2" fmla="*/ 2147483647 w 254"/>
                <a:gd name="T3" fmla="*/ 0 h 219"/>
                <a:gd name="T4" fmla="*/ 2147483647 w 254"/>
                <a:gd name="T5" fmla="*/ 2147483647 h 219"/>
                <a:gd name="T6" fmla="*/ 0 w 254"/>
                <a:gd name="T7" fmla="*/ 2147483647 h 219"/>
                <a:gd name="T8" fmla="*/ 0 w 254"/>
                <a:gd name="T9" fmla="*/ 0 h 219"/>
                <a:gd name="T10" fmla="*/ 0 60000 65536"/>
                <a:gd name="T11" fmla="*/ 0 60000 65536"/>
                <a:gd name="T12" fmla="*/ 0 60000 65536"/>
                <a:gd name="T13" fmla="*/ 0 60000 65536"/>
                <a:gd name="T14" fmla="*/ 0 60000 65536"/>
                <a:gd name="T15" fmla="*/ 0 w 254"/>
                <a:gd name="T16" fmla="*/ 0 h 219"/>
                <a:gd name="T17" fmla="*/ 254 w 254"/>
                <a:gd name="T18" fmla="*/ 219 h 219"/>
              </a:gdLst>
              <a:ahLst/>
              <a:cxnLst>
                <a:cxn ang="T10">
                  <a:pos x="T0" y="T1"/>
                </a:cxn>
                <a:cxn ang="T11">
                  <a:pos x="T2" y="T3"/>
                </a:cxn>
                <a:cxn ang="T12">
                  <a:pos x="T4" y="T5"/>
                </a:cxn>
                <a:cxn ang="T13">
                  <a:pos x="T6" y="T7"/>
                </a:cxn>
                <a:cxn ang="T14">
                  <a:pos x="T8" y="T9"/>
                </a:cxn>
              </a:cxnLst>
              <a:rect l="T15" t="T16" r="T17" b="T18"/>
              <a:pathLst>
                <a:path w="254" h="219">
                  <a:moveTo>
                    <a:pt x="0" y="0"/>
                  </a:moveTo>
                  <a:lnTo>
                    <a:pt x="253" y="0"/>
                  </a:lnTo>
                  <a:lnTo>
                    <a:pt x="253" y="218"/>
                  </a:lnTo>
                  <a:lnTo>
                    <a:pt x="0" y="218"/>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8" name="Freeform 88">
              <a:extLst>
                <a:ext uri="{FF2B5EF4-FFF2-40B4-BE49-F238E27FC236}">
                  <a16:creationId xmlns:a16="http://schemas.microsoft.com/office/drawing/2014/main" id="{ED540AEC-E456-4CC7-B30D-39AC951F0EBD}"/>
                </a:ext>
              </a:extLst>
            </p:cNvPr>
            <p:cNvSpPr>
              <a:spLocks/>
            </p:cNvSpPr>
            <p:nvPr/>
          </p:nvSpPr>
          <p:spPr bwMode="auto">
            <a:xfrm>
              <a:off x="8738050" y="4121007"/>
              <a:ext cx="66675" cy="42863"/>
            </a:xfrm>
            <a:custGeom>
              <a:avLst/>
              <a:gdLst>
                <a:gd name="T0" fmla="*/ 2147483647 w 42"/>
                <a:gd name="T1" fmla="*/ 2147483647 h 27"/>
                <a:gd name="T2" fmla="*/ 0 w 42"/>
                <a:gd name="T3" fmla="*/ 2147483647 h 27"/>
                <a:gd name="T4" fmla="*/ 2147483647 w 42"/>
                <a:gd name="T5" fmla="*/ 0 h 27"/>
                <a:gd name="T6" fmla="*/ 0 60000 65536"/>
                <a:gd name="T7" fmla="*/ 0 60000 65536"/>
                <a:gd name="T8" fmla="*/ 0 60000 65536"/>
                <a:gd name="T9" fmla="*/ 0 w 42"/>
                <a:gd name="T10" fmla="*/ 0 h 27"/>
                <a:gd name="T11" fmla="*/ 42 w 42"/>
                <a:gd name="T12" fmla="*/ 27 h 27"/>
              </a:gdLst>
              <a:ahLst/>
              <a:cxnLst>
                <a:cxn ang="T6">
                  <a:pos x="T0" y="T1"/>
                </a:cxn>
                <a:cxn ang="T7">
                  <a:pos x="T2" y="T3"/>
                </a:cxn>
                <a:cxn ang="T8">
                  <a:pos x="T4" y="T5"/>
                </a:cxn>
              </a:cxnLst>
              <a:rect l="T9" t="T10" r="T11" b="T12"/>
              <a:pathLst>
                <a:path w="42" h="27">
                  <a:moveTo>
                    <a:pt x="41" y="26"/>
                  </a:moveTo>
                  <a:lnTo>
                    <a:pt x="0" y="13"/>
                  </a:lnTo>
                  <a:lnTo>
                    <a:pt x="41"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89" name="Freeform 89">
              <a:extLst>
                <a:ext uri="{FF2B5EF4-FFF2-40B4-BE49-F238E27FC236}">
                  <a16:creationId xmlns:a16="http://schemas.microsoft.com/office/drawing/2014/main" id="{AF650071-2B6F-4F6A-BEBA-54103C2D45E2}"/>
                </a:ext>
              </a:extLst>
            </p:cNvPr>
            <p:cNvSpPr>
              <a:spLocks/>
            </p:cNvSpPr>
            <p:nvPr/>
          </p:nvSpPr>
          <p:spPr bwMode="auto">
            <a:xfrm>
              <a:off x="8738050" y="4144820"/>
              <a:ext cx="201613" cy="1587"/>
            </a:xfrm>
            <a:custGeom>
              <a:avLst/>
              <a:gdLst>
                <a:gd name="T0" fmla="*/ 0 w 127"/>
                <a:gd name="T1" fmla="*/ 0 h 1"/>
                <a:gd name="T2" fmla="*/ 2147483647 w 127"/>
                <a:gd name="T3" fmla="*/ 0 h 1"/>
                <a:gd name="T4" fmla="*/ 0 w 127"/>
                <a:gd name="T5" fmla="*/ 0 h 1"/>
                <a:gd name="T6" fmla="*/ 0 60000 65536"/>
                <a:gd name="T7" fmla="*/ 0 60000 65536"/>
                <a:gd name="T8" fmla="*/ 0 60000 65536"/>
                <a:gd name="T9" fmla="*/ 0 w 127"/>
                <a:gd name="T10" fmla="*/ 0 h 1"/>
                <a:gd name="T11" fmla="*/ 127 w 127"/>
                <a:gd name="T12" fmla="*/ 1 h 1"/>
              </a:gdLst>
              <a:ahLst/>
              <a:cxnLst>
                <a:cxn ang="T6">
                  <a:pos x="T0" y="T1"/>
                </a:cxn>
                <a:cxn ang="T7">
                  <a:pos x="T2" y="T3"/>
                </a:cxn>
                <a:cxn ang="T8">
                  <a:pos x="T4" y="T5"/>
                </a:cxn>
              </a:cxnLst>
              <a:rect l="T9" t="T10" r="T11" b="T12"/>
              <a:pathLst>
                <a:path w="127" h="1">
                  <a:moveTo>
                    <a:pt x="0" y="0"/>
                  </a:moveTo>
                  <a:lnTo>
                    <a:pt x="126"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0" name="Freeform 90">
              <a:extLst>
                <a:ext uri="{FF2B5EF4-FFF2-40B4-BE49-F238E27FC236}">
                  <a16:creationId xmlns:a16="http://schemas.microsoft.com/office/drawing/2014/main" id="{74A218DA-93F3-4E92-9C35-D959AFF21B25}"/>
                </a:ext>
              </a:extLst>
            </p:cNvPr>
            <p:cNvSpPr>
              <a:spLocks/>
            </p:cNvSpPr>
            <p:nvPr/>
          </p:nvSpPr>
          <p:spPr bwMode="auto">
            <a:xfrm>
              <a:off x="8877750" y="4121007"/>
              <a:ext cx="61913" cy="42863"/>
            </a:xfrm>
            <a:custGeom>
              <a:avLst/>
              <a:gdLst>
                <a:gd name="T0" fmla="*/ 0 w 39"/>
                <a:gd name="T1" fmla="*/ 0 h 27"/>
                <a:gd name="T2" fmla="*/ 2147483647 w 39"/>
                <a:gd name="T3" fmla="*/ 2147483647 h 27"/>
                <a:gd name="T4" fmla="*/ 0 w 39"/>
                <a:gd name="T5" fmla="*/ 2147483647 h 27"/>
                <a:gd name="T6" fmla="*/ 0 60000 65536"/>
                <a:gd name="T7" fmla="*/ 0 60000 65536"/>
                <a:gd name="T8" fmla="*/ 0 60000 65536"/>
                <a:gd name="T9" fmla="*/ 0 w 39"/>
                <a:gd name="T10" fmla="*/ 0 h 27"/>
                <a:gd name="T11" fmla="*/ 39 w 39"/>
                <a:gd name="T12" fmla="*/ 27 h 27"/>
              </a:gdLst>
              <a:ahLst/>
              <a:cxnLst>
                <a:cxn ang="T6">
                  <a:pos x="T0" y="T1"/>
                </a:cxn>
                <a:cxn ang="T7">
                  <a:pos x="T2" y="T3"/>
                </a:cxn>
                <a:cxn ang="T8">
                  <a:pos x="T4" y="T5"/>
                </a:cxn>
              </a:cxnLst>
              <a:rect l="T9" t="T10" r="T11" b="T12"/>
              <a:pathLst>
                <a:path w="39" h="27">
                  <a:moveTo>
                    <a:pt x="0" y="0"/>
                  </a:moveTo>
                  <a:lnTo>
                    <a:pt x="38" y="13"/>
                  </a:lnTo>
                  <a:lnTo>
                    <a:pt x="0" y="26"/>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1" name="Freeform 91">
              <a:extLst>
                <a:ext uri="{FF2B5EF4-FFF2-40B4-BE49-F238E27FC236}">
                  <a16:creationId xmlns:a16="http://schemas.microsoft.com/office/drawing/2014/main" id="{6B429D3B-E22F-4686-BB94-C98AE231F3D4}"/>
                </a:ext>
              </a:extLst>
            </p:cNvPr>
            <p:cNvSpPr>
              <a:spLocks/>
            </p:cNvSpPr>
            <p:nvPr/>
          </p:nvSpPr>
          <p:spPr bwMode="auto">
            <a:xfrm>
              <a:off x="7976050" y="3697145"/>
              <a:ext cx="158750" cy="298450"/>
            </a:xfrm>
            <a:custGeom>
              <a:avLst/>
              <a:gdLst>
                <a:gd name="T0" fmla="*/ 2147483647 w 100"/>
                <a:gd name="T1" fmla="*/ 0 h 188"/>
                <a:gd name="T2" fmla="*/ 0 w 100"/>
                <a:gd name="T3" fmla="*/ 2147483647 h 188"/>
                <a:gd name="T4" fmla="*/ 2147483647 w 100"/>
                <a:gd name="T5" fmla="*/ 0 h 188"/>
                <a:gd name="T6" fmla="*/ 0 60000 65536"/>
                <a:gd name="T7" fmla="*/ 0 60000 65536"/>
                <a:gd name="T8" fmla="*/ 0 60000 65536"/>
                <a:gd name="T9" fmla="*/ 0 w 100"/>
                <a:gd name="T10" fmla="*/ 0 h 188"/>
                <a:gd name="T11" fmla="*/ 100 w 100"/>
                <a:gd name="T12" fmla="*/ 188 h 188"/>
              </a:gdLst>
              <a:ahLst/>
              <a:cxnLst>
                <a:cxn ang="T6">
                  <a:pos x="T0" y="T1"/>
                </a:cxn>
                <a:cxn ang="T7">
                  <a:pos x="T2" y="T3"/>
                </a:cxn>
                <a:cxn ang="T8">
                  <a:pos x="T4" y="T5"/>
                </a:cxn>
              </a:cxnLst>
              <a:rect l="T9" t="T10" r="T11" b="T12"/>
              <a:pathLst>
                <a:path w="100" h="188">
                  <a:moveTo>
                    <a:pt x="99" y="0"/>
                  </a:moveTo>
                  <a:lnTo>
                    <a:pt x="0" y="187"/>
                  </a:lnTo>
                  <a:lnTo>
                    <a:pt x="99"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2" name="Freeform 92">
              <a:extLst>
                <a:ext uri="{FF2B5EF4-FFF2-40B4-BE49-F238E27FC236}">
                  <a16:creationId xmlns:a16="http://schemas.microsoft.com/office/drawing/2014/main" id="{2A2387DF-08FD-4A13-9E54-583E02E8D6C5}"/>
                </a:ext>
              </a:extLst>
            </p:cNvPr>
            <p:cNvSpPr>
              <a:spLocks/>
            </p:cNvSpPr>
            <p:nvPr/>
          </p:nvSpPr>
          <p:spPr bwMode="auto">
            <a:xfrm>
              <a:off x="7976050" y="3917807"/>
              <a:ext cx="49213" cy="77788"/>
            </a:xfrm>
            <a:custGeom>
              <a:avLst/>
              <a:gdLst>
                <a:gd name="T0" fmla="*/ 2147483647 w 31"/>
                <a:gd name="T1" fmla="*/ 2147483647 h 49"/>
                <a:gd name="T2" fmla="*/ 0 w 31"/>
                <a:gd name="T3" fmla="*/ 2147483647 h 49"/>
                <a:gd name="T4" fmla="*/ 2147483647 w 31"/>
                <a:gd name="T5" fmla="*/ 0 h 49"/>
                <a:gd name="T6" fmla="*/ 0 60000 65536"/>
                <a:gd name="T7" fmla="*/ 0 60000 65536"/>
                <a:gd name="T8" fmla="*/ 0 60000 65536"/>
                <a:gd name="T9" fmla="*/ 0 w 31"/>
                <a:gd name="T10" fmla="*/ 0 h 49"/>
                <a:gd name="T11" fmla="*/ 31 w 31"/>
                <a:gd name="T12" fmla="*/ 49 h 49"/>
              </a:gdLst>
              <a:ahLst/>
              <a:cxnLst>
                <a:cxn ang="T6">
                  <a:pos x="T0" y="T1"/>
                </a:cxn>
                <a:cxn ang="T7">
                  <a:pos x="T2" y="T3"/>
                </a:cxn>
                <a:cxn ang="T8">
                  <a:pos x="T4" y="T5"/>
                </a:cxn>
              </a:cxnLst>
              <a:rect l="T9" t="T10" r="T11" b="T12"/>
              <a:pathLst>
                <a:path w="31" h="49">
                  <a:moveTo>
                    <a:pt x="30" y="15"/>
                  </a:moveTo>
                  <a:lnTo>
                    <a:pt x="0" y="48"/>
                  </a:lnTo>
                  <a:lnTo>
                    <a:pt x="13"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3" name="Freeform 93">
              <a:extLst>
                <a:ext uri="{FF2B5EF4-FFF2-40B4-BE49-F238E27FC236}">
                  <a16:creationId xmlns:a16="http://schemas.microsoft.com/office/drawing/2014/main" id="{6A0CBB06-E97A-434C-AF53-F4E8B18B1B70}"/>
                </a:ext>
              </a:extLst>
            </p:cNvPr>
            <p:cNvSpPr>
              <a:spLocks/>
            </p:cNvSpPr>
            <p:nvPr/>
          </p:nvSpPr>
          <p:spPr bwMode="auto">
            <a:xfrm>
              <a:off x="8536438" y="3697145"/>
              <a:ext cx="1587" cy="298450"/>
            </a:xfrm>
            <a:custGeom>
              <a:avLst/>
              <a:gdLst>
                <a:gd name="T0" fmla="*/ 0 w 1"/>
                <a:gd name="T1" fmla="*/ 0 h 188"/>
                <a:gd name="T2" fmla="*/ 0 w 1"/>
                <a:gd name="T3" fmla="*/ 2147483647 h 188"/>
                <a:gd name="T4" fmla="*/ 0 w 1"/>
                <a:gd name="T5" fmla="*/ 0 h 188"/>
                <a:gd name="T6" fmla="*/ 0 60000 65536"/>
                <a:gd name="T7" fmla="*/ 0 60000 65536"/>
                <a:gd name="T8" fmla="*/ 0 60000 65536"/>
                <a:gd name="T9" fmla="*/ 0 w 1"/>
                <a:gd name="T10" fmla="*/ 0 h 188"/>
                <a:gd name="T11" fmla="*/ 1 w 1"/>
                <a:gd name="T12" fmla="*/ 188 h 188"/>
              </a:gdLst>
              <a:ahLst/>
              <a:cxnLst>
                <a:cxn ang="T6">
                  <a:pos x="T0" y="T1"/>
                </a:cxn>
                <a:cxn ang="T7">
                  <a:pos x="T2" y="T3"/>
                </a:cxn>
                <a:cxn ang="T8">
                  <a:pos x="T4" y="T5"/>
                </a:cxn>
              </a:cxnLst>
              <a:rect l="T9" t="T10" r="T11" b="T12"/>
              <a:pathLst>
                <a:path w="1" h="188">
                  <a:moveTo>
                    <a:pt x="0" y="0"/>
                  </a:moveTo>
                  <a:lnTo>
                    <a:pt x="0" y="187"/>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4" name="Freeform 94">
              <a:extLst>
                <a:ext uri="{FF2B5EF4-FFF2-40B4-BE49-F238E27FC236}">
                  <a16:creationId xmlns:a16="http://schemas.microsoft.com/office/drawing/2014/main" id="{85E415C0-88EE-4C2C-8308-684E3C0C6079}"/>
                </a:ext>
              </a:extLst>
            </p:cNvPr>
            <p:cNvSpPr>
              <a:spLocks/>
            </p:cNvSpPr>
            <p:nvPr/>
          </p:nvSpPr>
          <p:spPr bwMode="auto">
            <a:xfrm>
              <a:off x="8522150" y="3916220"/>
              <a:ext cx="30163" cy="79375"/>
            </a:xfrm>
            <a:custGeom>
              <a:avLst/>
              <a:gdLst>
                <a:gd name="T0" fmla="*/ 2147483647 w 19"/>
                <a:gd name="T1" fmla="*/ 0 h 50"/>
                <a:gd name="T2" fmla="*/ 2147483647 w 19"/>
                <a:gd name="T3" fmla="*/ 2147483647 h 50"/>
                <a:gd name="T4" fmla="*/ 0 w 19"/>
                <a:gd name="T5" fmla="*/ 0 h 50"/>
                <a:gd name="T6" fmla="*/ 0 60000 65536"/>
                <a:gd name="T7" fmla="*/ 0 60000 65536"/>
                <a:gd name="T8" fmla="*/ 0 60000 65536"/>
                <a:gd name="T9" fmla="*/ 0 w 19"/>
                <a:gd name="T10" fmla="*/ 0 h 50"/>
                <a:gd name="T11" fmla="*/ 19 w 19"/>
                <a:gd name="T12" fmla="*/ 50 h 50"/>
              </a:gdLst>
              <a:ahLst/>
              <a:cxnLst>
                <a:cxn ang="T6">
                  <a:pos x="T0" y="T1"/>
                </a:cxn>
                <a:cxn ang="T7">
                  <a:pos x="T2" y="T3"/>
                </a:cxn>
                <a:cxn ang="T8">
                  <a:pos x="T4" y="T5"/>
                </a:cxn>
              </a:cxnLst>
              <a:rect l="T9" t="T10" r="T11" b="T12"/>
              <a:pathLst>
                <a:path w="19" h="50">
                  <a:moveTo>
                    <a:pt x="18" y="0"/>
                  </a:moveTo>
                  <a:lnTo>
                    <a:pt x="8" y="49"/>
                  </a:lnTo>
                  <a:lnTo>
                    <a:pt x="0"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5" name="Freeform 95">
              <a:extLst>
                <a:ext uri="{FF2B5EF4-FFF2-40B4-BE49-F238E27FC236}">
                  <a16:creationId xmlns:a16="http://schemas.microsoft.com/office/drawing/2014/main" id="{FA19227E-4C90-4AAF-9EC3-A77C8CAB32C2}"/>
                </a:ext>
              </a:extLst>
            </p:cNvPr>
            <p:cNvSpPr>
              <a:spLocks/>
            </p:cNvSpPr>
            <p:nvPr/>
          </p:nvSpPr>
          <p:spPr bwMode="auto">
            <a:xfrm>
              <a:off x="9422263" y="3994007"/>
              <a:ext cx="403225" cy="347663"/>
            </a:xfrm>
            <a:custGeom>
              <a:avLst/>
              <a:gdLst>
                <a:gd name="T0" fmla="*/ 0 w 254"/>
                <a:gd name="T1" fmla="*/ 0 h 219"/>
                <a:gd name="T2" fmla="*/ 2147483647 w 254"/>
                <a:gd name="T3" fmla="*/ 0 h 219"/>
                <a:gd name="T4" fmla="*/ 2147483647 w 254"/>
                <a:gd name="T5" fmla="*/ 2147483647 h 219"/>
                <a:gd name="T6" fmla="*/ 0 w 254"/>
                <a:gd name="T7" fmla="*/ 2147483647 h 219"/>
                <a:gd name="T8" fmla="*/ 0 w 254"/>
                <a:gd name="T9" fmla="*/ 0 h 219"/>
                <a:gd name="T10" fmla="*/ 0 60000 65536"/>
                <a:gd name="T11" fmla="*/ 0 60000 65536"/>
                <a:gd name="T12" fmla="*/ 0 60000 65536"/>
                <a:gd name="T13" fmla="*/ 0 60000 65536"/>
                <a:gd name="T14" fmla="*/ 0 60000 65536"/>
                <a:gd name="T15" fmla="*/ 0 w 254"/>
                <a:gd name="T16" fmla="*/ 0 h 219"/>
                <a:gd name="T17" fmla="*/ 254 w 254"/>
                <a:gd name="T18" fmla="*/ 219 h 219"/>
              </a:gdLst>
              <a:ahLst/>
              <a:cxnLst>
                <a:cxn ang="T10">
                  <a:pos x="T0" y="T1"/>
                </a:cxn>
                <a:cxn ang="T11">
                  <a:pos x="T2" y="T3"/>
                </a:cxn>
                <a:cxn ang="T12">
                  <a:pos x="T4" y="T5"/>
                </a:cxn>
                <a:cxn ang="T13">
                  <a:pos x="T6" y="T7"/>
                </a:cxn>
                <a:cxn ang="T14">
                  <a:pos x="T8" y="T9"/>
                </a:cxn>
              </a:cxnLst>
              <a:rect l="T15" t="T16" r="T17" b="T18"/>
              <a:pathLst>
                <a:path w="254" h="219">
                  <a:moveTo>
                    <a:pt x="0" y="0"/>
                  </a:moveTo>
                  <a:lnTo>
                    <a:pt x="253" y="0"/>
                  </a:lnTo>
                  <a:lnTo>
                    <a:pt x="253" y="218"/>
                  </a:lnTo>
                  <a:lnTo>
                    <a:pt x="0" y="218"/>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6" name="Freeform 96">
              <a:extLst>
                <a:ext uri="{FF2B5EF4-FFF2-40B4-BE49-F238E27FC236}">
                  <a16:creationId xmlns:a16="http://schemas.microsoft.com/office/drawing/2014/main" id="{58547DAD-3A86-4DD9-82D4-141363F1811D}"/>
                </a:ext>
              </a:extLst>
            </p:cNvPr>
            <p:cNvSpPr>
              <a:spLocks/>
            </p:cNvSpPr>
            <p:nvPr/>
          </p:nvSpPr>
          <p:spPr bwMode="auto">
            <a:xfrm>
              <a:off x="9222238" y="4121007"/>
              <a:ext cx="65087" cy="42863"/>
            </a:xfrm>
            <a:custGeom>
              <a:avLst/>
              <a:gdLst>
                <a:gd name="T0" fmla="*/ 2147483647 w 41"/>
                <a:gd name="T1" fmla="*/ 2147483647 h 27"/>
                <a:gd name="T2" fmla="*/ 0 w 41"/>
                <a:gd name="T3" fmla="*/ 2147483647 h 27"/>
                <a:gd name="T4" fmla="*/ 2147483647 w 41"/>
                <a:gd name="T5" fmla="*/ 0 h 27"/>
                <a:gd name="T6" fmla="*/ 0 60000 65536"/>
                <a:gd name="T7" fmla="*/ 0 60000 65536"/>
                <a:gd name="T8" fmla="*/ 0 60000 65536"/>
                <a:gd name="T9" fmla="*/ 0 w 41"/>
                <a:gd name="T10" fmla="*/ 0 h 27"/>
                <a:gd name="T11" fmla="*/ 41 w 41"/>
                <a:gd name="T12" fmla="*/ 27 h 27"/>
              </a:gdLst>
              <a:ahLst/>
              <a:cxnLst>
                <a:cxn ang="T6">
                  <a:pos x="T0" y="T1"/>
                </a:cxn>
                <a:cxn ang="T7">
                  <a:pos x="T2" y="T3"/>
                </a:cxn>
                <a:cxn ang="T8">
                  <a:pos x="T4" y="T5"/>
                </a:cxn>
              </a:cxnLst>
              <a:rect l="T9" t="T10" r="T11" b="T12"/>
              <a:pathLst>
                <a:path w="41" h="27">
                  <a:moveTo>
                    <a:pt x="40" y="26"/>
                  </a:moveTo>
                  <a:lnTo>
                    <a:pt x="0" y="13"/>
                  </a:lnTo>
                  <a:lnTo>
                    <a:pt x="40" y="0"/>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7" name="Freeform 97">
              <a:extLst>
                <a:ext uri="{FF2B5EF4-FFF2-40B4-BE49-F238E27FC236}">
                  <a16:creationId xmlns:a16="http://schemas.microsoft.com/office/drawing/2014/main" id="{77053C23-A176-4CB4-92FC-73B9BDFED3FF}"/>
                </a:ext>
              </a:extLst>
            </p:cNvPr>
            <p:cNvSpPr>
              <a:spLocks/>
            </p:cNvSpPr>
            <p:nvPr/>
          </p:nvSpPr>
          <p:spPr bwMode="auto">
            <a:xfrm>
              <a:off x="9222238" y="4144820"/>
              <a:ext cx="201612" cy="1587"/>
            </a:xfrm>
            <a:custGeom>
              <a:avLst/>
              <a:gdLst>
                <a:gd name="T0" fmla="*/ 0 w 127"/>
                <a:gd name="T1" fmla="*/ 0 h 1"/>
                <a:gd name="T2" fmla="*/ 2147483647 w 127"/>
                <a:gd name="T3" fmla="*/ 0 h 1"/>
                <a:gd name="T4" fmla="*/ 0 w 127"/>
                <a:gd name="T5" fmla="*/ 0 h 1"/>
                <a:gd name="T6" fmla="*/ 0 60000 65536"/>
                <a:gd name="T7" fmla="*/ 0 60000 65536"/>
                <a:gd name="T8" fmla="*/ 0 60000 65536"/>
                <a:gd name="T9" fmla="*/ 0 w 127"/>
                <a:gd name="T10" fmla="*/ 0 h 1"/>
                <a:gd name="T11" fmla="*/ 127 w 127"/>
                <a:gd name="T12" fmla="*/ 1 h 1"/>
              </a:gdLst>
              <a:ahLst/>
              <a:cxnLst>
                <a:cxn ang="T6">
                  <a:pos x="T0" y="T1"/>
                </a:cxn>
                <a:cxn ang="T7">
                  <a:pos x="T2" y="T3"/>
                </a:cxn>
                <a:cxn ang="T8">
                  <a:pos x="T4" y="T5"/>
                </a:cxn>
              </a:cxnLst>
              <a:rect l="T9" t="T10" r="T11" b="T12"/>
              <a:pathLst>
                <a:path w="127" h="1">
                  <a:moveTo>
                    <a:pt x="0" y="0"/>
                  </a:moveTo>
                  <a:lnTo>
                    <a:pt x="126" y="0"/>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8" name="Freeform 98">
              <a:extLst>
                <a:ext uri="{FF2B5EF4-FFF2-40B4-BE49-F238E27FC236}">
                  <a16:creationId xmlns:a16="http://schemas.microsoft.com/office/drawing/2014/main" id="{ADAF7FF6-6BF5-4457-9D3A-CB864C5A524F}"/>
                </a:ext>
              </a:extLst>
            </p:cNvPr>
            <p:cNvSpPr>
              <a:spLocks/>
            </p:cNvSpPr>
            <p:nvPr/>
          </p:nvSpPr>
          <p:spPr bwMode="auto">
            <a:xfrm>
              <a:off x="9357175" y="4121007"/>
              <a:ext cx="66675" cy="42863"/>
            </a:xfrm>
            <a:custGeom>
              <a:avLst/>
              <a:gdLst>
                <a:gd name="T0" fmla="*/ 0 w 42"/>
                <a:gd name="T1" fmla="*/ 0 h 27"/>
                <a:gd name="T2" fmla="*/ 2147483647 w 42"/>
                <a:gd name="T3" fmla="*/ 2147483647 h 27"/>
                <a:gd name="T4" fmla="*/ 0 w 42"/>
                <a:gd name="T5" fmla="*/ 2147483647 h 27"/>
                <a:gd name="T6" fmla="*/ 0 60000 65536"/>
                <a:gd name="T7" fmla="*/ 0 60000 65536"/>
                <a:gd name="T8" fmla="*/ 0 60000 65536"/>
                <a:gd name="T9" fmla="*/ 0 w 42"/>
                <a:gd name="T10" fmla="*/ 0 h 27"/>
                <a:gd name="T11" fmla="*/ 42 w 42"/>
                <a:gd name="T12" fmla="*/ 27 h 27"/>
              </a:gdLst>
              <a:ahLst/>
              <a:cxnLst>
                <a:cxn ang="T6">
                  <a:pos x="T0" y="T1"/>
                </a:cxn>
                <a:cxn ang="T7">
                  <a:pos x="T2" y="T3"/>
                </a:cxn>
                <a:cxn ang="T8">
                  <a:pos x="T4" y="T5"/>
                </a:cxn>
              </a:cxnLst>
              <a:rect l="T9" t="T10" r="T11" b="T12"/>
              <a:pathLst>
                <a:path w="42" h="27">
                  <a:moveTo>
                    <a:pt x="0" y="0"/>
                  </a:moveTo>
                  <a:lnTo>
                    <a:pt x="41" y="13"/>
                  </a:lnTo>
                  <a:lnTo>
                    <a:pt x="0" y="26"/>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99" name="Freeform 99">
              <a:extLst>
                <a:ext uri="{FF2B5EF4-FFF2-40B4-BE49-F238E27FC236}">
                  <a16:creationId xmlns:a16="http://schemas.microsoft.com/office/drawing/2014/main" id="{47901481-8287-4675-995F-6C2325C918DF}"/>
                </a:ext>
              </a:extLst>
            </p:cNvPr>
            <p:cNvSpPr>
              <a:spLocks/>
            </p:cNvSpPr>
            <p:nvPr/>
          </p:nvSpPr>
          <p:spPr bwMode="auto">
            <a:xfrm>
              <a:off x="9465125" y="3697145"/>
              <a:ext cx="158750" cy="298450"/>
            </a:xfrm>
            <a:custGeom>
              <a:avLst/>
              <a:gdLst>
                <a:gd name="T0" fmla="*/ 0 w 100"/>
                <a:gd name="T1" fmla="*/ 0 h 188"/>
                <a:gd name="T2" fmla="*/ 2147483647 w 100"/>
                <a:gd name="T3" fmla="*/ 2147483647 h 188"/>
                <a:gd name="T4" fmla="*/ 0 w 100"/>
                <a:gd name="T5" fmla="*/ 0 h 188"/>
                <a:gd name="T6" fmla="*/ 0 60000 65536"/>
                <a:gd name="T7" fmla="*/ 0 60000 65536"/>
                <a:gd name="T8" fmla="*/ 0 60000 65536"/>
                <a:gd name="T9" fmla="*/ 0 w 100"/>
                <a:gd name="T10" fmla="*/ 0 h 188"/>
                <a:gd name="T11" fmla="*/ 100 w 100"/>
                <a:gd name="T12" fmla="*/ 188 h 188"/>
              </a:gdLst>
              <a:ahLst/>
              <a:cxnLst>
                <a:cxn ang="T6">
                  <a:pos x="T0" y="T1"/>
                </a:cxn>
                <a:cxn ang="T7">
                  <a:pos x="T2" y="T3"/>
                </a:cxn>
                <a:cxn ang="T8">
                  <a:pos x="T4" y="T5"/>
                </a:cxn>
              </a:cxnLst>
              <a:rect l="T9" t="T10" r="T11" b="T12"/>
              <a:pathLst>
                <a:path w="100" h="188">
                  <a:moveTo>
                    <a:pt x="0" y="0"/>
                  </a:moveTo>
                  <a:lnTo>
                    <a:pt x="99" y="187"/>
                  </a:lnTo>
                  <a:lnTo>
                    <a:pt x="0" y="0"/>
                  </a:lnTo>
                </a:path>
              </a:pathLst>
            </a:custGeom>
            <a:noFill/>
            <a:ln w="127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0" name="Freeform 100">
              <a:extLst>
                <a:ext uri="{FF2B5EF4-FFF2-40B4-BE49-F238E27FC236}">
                  <a16:creationId xmlns:a16="http://schemas.microsoft.com/office/drawing/2014/main" id="{E7D62A42-026C-4A4A-9218-44AF6BE70A66}"/>
                </a:ext>
              </a:extLst>
            </p:cNvPr>
            <p:cNvSpPr>
              <a:spLocks/>
            </p:cNvSpPr>
            <p:nvPr/>
          </p:nvSpPr>
          <p:spPr bwMode="auto">
            <a:xfrm>
              <a:off x="9574663" y="3917807"/>
              <a:ext cx="49212" cy="77788"/>
            </a:xfrm>
            <a:custGeom>
              <a:avLst/>
              <a:gdLst>
                <a:gd name="T0" fmla="*/ 2147483647 w 31"/>
                <a:gd name="T1" fmla="*/ 0 h 49"/>
                <a:gd name="T2" fmla="*/ 2147483647 w 31"/>
                <a:gd name="T3" fmla="*/ 2147483647 h 49"/>
                <a:gd name="T4" fmla="*/ 0 w 31"/>
                <a:gd name="T5" fmla="*/ 2147483647 h 49"/>
                <a:gd name="T6" fmla="*/ 0 60000 65536"/>
                <a:gd name="T7" fmla="*/ 0 60000 65536"/>
                <a:gd name="T8" fmla="*/ 0 60000 65536"/>
                <a:gd name="T9" fmla="*/ 0 w 31"/>
                <a:gd name="T10" fmla="*/ 0 h 49"/>
                <a:gd name="T11" fmla="*/ 31 w 31"/>
                <a:gd name="T12" fmla="*/ 49 h 49"/>
              </a:gdLst>
              <a:ahLst/>
              <a:cxnLst>
                <a:cxn ang="T6">
                  <a:pos x="T0" y="T1"/>
                </a:cxn>
                <a:cxn ang="T7">
                  <a:pos x="T2" y="T3"/>
                </a:cxn>
                <a:cxn ang="T8">
                  <a:pos x="T4" y="T5"/>
                </a:cxn>
              </a:cxnLst>
              <a:rect l="T9" t="T10" r="T11" b="T12"/>
              <a:pathLst>
                <a:path w="31" h="49">
                  <a:moveTo>
                    <a:pt x="17" y="0"/>
                  </a:moveTo>
                  <a:lnTo>
                    <a:pt x="30" y="48"/>
                  </a:lnTo>
                  <a:lnTo>
                    <a:pt x="0" y="15"/>
                  </a:lnTo>
                </a:path>
              </a:pathLst>
            </a:custGeom>
            <a:noFill/>
            <a:ln w="12700" cap="rnd">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1" name="Freeform 101">
              <a:extLst>
                <a:ext uri="{FF2B5EF4-FFF2-40B4-BE49-F238E27FC236}">
                  <a16:creationId xmlns:a16="http://schemas.microsoft.com/office/drawing/2014/main" id="{6C5E606F-45FF-4866-952C-CE102F797DE6}"/>
                </a:ext>
              </a:extLst>
            </p:cNvPr>
            <p:cNvSpPr>
              <a:spLocks/>
            </p:cNvSpPr>
            <p:nvPr/>
          </p:nvSpPr>
          <p:spPr bwMode="auto">
            <a:xfrm>
              <a:off x="7733163" y="4340082"/>
              <a:ext cx="201612" cy="498475"/>
            </a:xfrm>
            <a:custGeom>
              <a:avLst/>
              <a:gdLst>
                <a:gd name="T0" fmla="*/ 0 w 127"/>
                <a:gd name="T1" fmla="*/ 0 h 314"/>
                <a:gd name="T2" fmla="*/ 2147483647 w 127"/>
                <a:gd name="T3" fmla="*/ 2147483647 h 314"/>
                <a:gd name="T4" fmla="*/ 0 w 127"/>
                <a:gd name="T5" fmla="*/ 0 h 314"/>
                <a:gd name="T6" fmla="*/ 0 60000 65536"/>
                <a:gd name="T7" fmla="*/ 0 60000 65536"/>
                <a:gd name="T8" fmla="*/ 0 60000 65536"/>
                <a:gd name="T9" fmla="*/ 0 w 127"/>
                <a:gd name="T10" fmla="*/ 0 h 314"/>
                <a:gd name="T11" fmla="*/ 127 w 127"/>
                <a:gd name="T12" fmla="*/ 314 h 314"/>
              </a:gdLst>
              <a:ahLst/>
              <a:cxnLst>
                <a:cxn ang="T6">
                  <a:pos x="T0" y="T1"/>
                </a:cxn>
                <a:cxn ang="T7">
                  <a:pos x="T2" y="T3"/>
                </a:cxn>
                <a:cxn ang="T8">
                  <a:pos x="T4" y="T5"/>
                </a:cxn>
              </a:cxnLst>
              <a:rect l="T9" t="T10" r="T11" b="T12"/>
              <a:pathLst>
                <a:path w="127" h="314">
                  <a:moveTo>
                    <a:pt x="0" y="0"/>
                  </a:moveTo>
                  <a:lnTo>
                    <a:pt x="126" y="313"/>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2" name="Freeform 102">
              <a:extLst>
                <a:ext uri="{FF2B5EF4-FFF2-40B4-BE49-F238E27FC236}">
                  <a16:creationId xmlns:a16="http://schemas.microsoft.com/office/drawing/2014/main" id="{85D308E5-D7B8-458F-900D-422CE23B48B7}"/>
                </a:ext>
              </a:extLst>
            </p:cNvPr>
            <p:cNvSpPr>
              <a:spLocks/>
            </p:cNvSpPr>
            <p:nvPr/>
          </p:nvSpPr>
          <p:spPr bwMode="auto">
            <a:xfrm>
              <a:off x="7890325" y="4759182"/>
              <a:ext cx="44450" cy="79375"/>
            </a:xfrm>
            <a:custGeom>
              <a:avLst/>
              <a:gdLst>
                <a:gd name="T0" fmla="*/ 2147483647 w 28"/>
                <a:gd name="T1" fmla="*/ 0 h 50"/>
                <a:gd name="T2" fmla="*/ 2147483647 w 28"/>
                <a:gd name="T3" fmla="*/ 2147483647 h 50"/>
                <a:gd name="T4" fmla="*/ 0 w 28"/>
                <a:gd name="T5" fmla="*/ 2147483647 h 50"/>
                <a:gd name="T6" fmla="*/ 0 60000 65536"/>
                <a:gd name="T7" fmla="*/ 0 60000 65536"/>
                <a:gd name="T8" fmla="*/ 0 60000 65536"/>
                <a:gd name="T9" fmla="*/ 0 w 28"/>
                <a:gd name="T10" fmla="*/ 0 h 50"/>
                <a:gd name="T11" fmla="*/ 28 w 28"/>
                <a:gd name="T12" fmla="*/ 50 h 50"/>
              </a:gdLst>
              <a:ahLst/>
              <a:cxnLst>
                <a:cxn ang="T6">
                  <a:pos x="T0" y="T1"/>
                </a:cxn>
                <a:cxn ang="T7">
                  <a:pos x="T2" y="T3"/>
                </a:cxn>
                <a:cxn ang="T8">
                  <a:pos x="T4" y="T5"/>
                </a:cxn>
              </a:cxnLst>
              <a:rect l="T9" t="T10" r="T11" b="T12"/>
              <a:pathLst>
                <a:path w="28" h="50">
                  <a:moveTo>
                    <a:pt x="18" y="0"/>
                  </a:moveTo>
                  <a:lnTo>
                    <a:pt x="27" y="49"/>
                  </a:lnTo>
                  <a:lnTo>
                    <a:pt x="0" y="11"/>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3" name="Freeform 103">
              <a:extLst>
                <a:ext uri="{FF2B5EF4-FFF2-40B4-BE49-F238E27FC236}">
                  <a16:creationId xmlns:a16="http://schemas.microsoft.com/office/drawing/2014/main" id="{5DE686B3-F278-474E-A659-CCDE1021233C}"/>
                </a:ext>
              </a:extLst>
            </p:cNvPr>
            <p:cNvSpPr>
              <a:spLocks/>
            </p:cNvSpPr>
            <p:nvPr/>
          </p:nvSpPr>
          <p:spPr bwMode="auto">
            <a:xfrm>
              <a:off x="7449000" y="4340082"/>
              <a:ext cx="366713" cy="549275"/>
            </a:xfrm>
            <a:custGeom>
              <a:avLst/>
              <a:gdLst>
                <a:gd name="T0" fmla="*/ 2147483647 w 231"/>
                <a:gd name="T1" fmla="*/ 0 h 346"/>
                <a:gd name="T2" fmla="*/ 0 w 231"/>
                <a:gd name="T3" fmla="*/ 2147483647 h 346"/>
                <a:gd name="T4" fmla="*/ 2147483647 w 231"/>
                <a:gd name="T5" fmla="*/ 0 h 346"/>
                <a:gd name="T6" fmla="*/ 0 60000 65536"/>
                <a:gd name="T7" fmla="*/ 0 60000 65536"/>
                <a:gd name="T8" fmla="*/ 0 60000 65536"/>
                <a:gd name="T9" fmla="*/ 0 w 231"/>
                <a:gd name="T10" fmla="*/ 0 h 346"/>
                <a:gd name="T11" fmla="*/ 231 w 231"/>
                <a:gd name="T12" fmla="*/ 346 h 346"/>
              </a:gdLst>
              <a:ahLst/>
              <a:cxnLst>
                <a:cxn ang="T6">
                  <a:pos x="T0" y="T1"/>
                </a:cxn>
                <a:cxn ang="T7">
                  <a:pos x="T2" y="T3"/>
                </a:cxn>
                <a:cxn ang="T8">
                  <a:pos x="T4" y="T5"/>
                </a:cxn>
              </a:cxnLst>
              <a:rect l="T9" t="T10" r="T11" b="T12"/>
              <a:pathLst>
                <a:path w="231" h="346">
                  <a:moveTo>
                    <a:pt x="230" y="0"/>
                  </a:moveTo>
                  <a:lnTo>
                    <a:pt x="0" y="345"/>
                  </a:lnTo>
                  <a:lnTo>
                    <a:pt x="23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4" name="Freeform 104">
              <a:extLst>
                <a:ext uri="{FF2B5EF4-FFF2-40B4-BE49-F238E27FC236}">
                  <a16:creationId xmlns:a16="http://schemas.microsoft.com/office/drawing/2014/main" id="{948F7DDE-9A04-4C49-B9BD-C8586EB85043}"/>
                </a:ext>
              </a:extLst>
            </p:cNvPr>
            <p:cNvSpPr>
              <a:spLocks/>
            </p:cNvSpPr>
            <p:nvPr/>
          </p:nvSpPr>
          <p:spPr bwMode="auto">
            <a:xfrm>
              <a:off x="7449000" y="4814745"/>
              <a:ext cx="57150" cy="74612"/>
            </a:xfrm>
            <a:custGeom>
              <a:avLst/>
              <a:gdLst>
                <a:gd name="T0" fmla="*/ 2147483647 w 36"/>
                <a:gd name="T1" fmla="*/ 2147483647 h 47"/>
                <a:gd name="T2" fmla="*/ 0 w 36"/>
                <a:gd name="T3" fmla="*/ 2147483647 h 47"/>
                <a:gd name="T4" fmla="*/ 2147483647 w 36"/>
                <a:gd name="T5" fmla="*/ 0 h 47"/>
                <a:gd name="T6" fmla="*/ 0 60000 65536"/>
                <a:gd name="T7" fmla="*/ 0 60000 65536"/>
                <a:gd name="T8" fmla="*/ 0 60000 65536"/>
                <a:gd name="T9" fmla="*/ 0 w 36"/>
                <a:gd name="T10" fmla="*/ 0 h 47"/>
                <a:gd name="T11" fmla="*/ 36 w 36"/>
                <a:gd name="T12" fmla="*/ 47 h 47"/>
              </a:gdLst>
              <a:ahLst/>
              <a:cxnLst>
                <a:cxn ang="T6">
                  <a:pos x="T0" y="T1"/>
                </a:cxn>
                <a:cxn ang="T7">
                  <a:pos x="T2" y="T3"/>
                </a:cxn>
                <a:cxn ang="T8">
                  <a:pos x="T4" y="T5"/>
                </a:cxn>
              </a:cxnLst>
              <a:rect l="T9" t="T10" r="T11" b="T12"/>
              <a:pathLst>
                <a:path w="36" h="47">
                  <a:moveTo>
                    <a:pt x="35" y="16"/>
                  </a:moveTo>
                  <a:lnTo>
                    <a:pt x="0" y="46"/>
                  </a:lnTo>
                  <a:lnTo>
                    <a:pt x="19"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5" name="Freeform 105">
              <a:extLst>
                <a:ext uri="{FF2B5EF4-FFF2-40B4-BE49-F238E27FC236}">
                  <a16:creationId xmlns:a16="http://schemas.microsoft.com/office/drawing/2014/main" id="{F2215ACE-ACB7-4095-BC2D-B261CB340F06}"/>
                </a:ext>
              </a:extLst>
            </p:cNvPr>
            <p:cNvSpPr>
              <a:spLocks/>
            </p:cNvSpPr>
            <p:nvPr/>
          </p:nvSpPr>
          <p:spPr bwMode="auto">
            <a:xfrm>
              <a:off x="7852225" y="4340082"/>
              <a:ext cx="566738" cy="549275"/>
            </a:xfrm>
            <a:custGeom>
              <a:avLst/>
              <a:gdLst>
                <a:gd name="T0" fmla="*/ 0 w 357"/>
                <a:gd name="T1" fmla="*/ 0 h 346"/>
                <a:gd name="T2" fmla="*/ 2147483647 w 357"/>
                <a:gd name="T3" fmla="*/ 2147483647 h 346"/>
                <a:gd name="T4" fmla="*/ 0 w 357"/>
                <a:gd name="T5" fmla="*/ 0 h 346"/>
                <a:gd name="T6" fmla="*/ 0 60000 65536"/>
                <a:gd name="T7" fmla="*/ 0 60000 65536"/>
                <a:gd name="T8" fmla="*/ 0 60000 65536"/>
                <a:gd name="T9" fmla="*/ 0 w 357"/>
                <a:gd name="T10" fmla="*/ 0 h 346"/>
                <a:gd name="T11" fmla="*/ 357 w 357"/>
                <a:gd name="T12" fmla="*/ 346 h 346"/>
              </a:gdLst>
              <a:ahLst/>
              <a:cxnLst>
                <a:cxn ang="T6">
                  <a:pos x="T0" y="T1"/>
                </a:cxn>
                <a:cxn ang="T7">
                  <a:pos x="T2" y="T3"/>
                </a:cxn>
                <a:cxn ang="T8">
                  <a:pos x="T4" y="T5"/>
                </a:cxn>
              </a:cxnLst>
              <a:rect l="T9" t="T10" r="T11" b="T12"/>
              <a:pathLst>
                <a:path w="357" h="346">
                  <a:moveTo>
                    <a:pt x="0" y="0"/>
                  </a:moveTo>
                  <a:lnTo>
                    <a:pt x="356" y="345"/>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6" name="Freeform 106">
              <a:extLst>
                <a:ext uri="{FF2B5EF4-FFF2-40B4-BE49-F238E27FC236}">
                  <a16:creationId xmlns:a16="http://schemas.microsoft.com/office/drawing/2014/main" id="{A5D4292E-1C81-4D6A-B675-FFBBB167B918}"/>
                </a:ext>
              </a:extLst>
            </p:cNvPr>
            <p:cNvSpPr>
              <a:spLocks/>
            </p:cNvSpPr>
            <p:nvPr/>
          </p:nvSpPr>
          <p:spPr bwMode="auto">
            <a:xfrm>
              <a:off x="8353875" y="4824270"/>
              <a:ext cx="65088" cy="65087"/>
            </a:xfrm>
            <a:custGeom>
              <a:avLst/>
              <a:gdLst>
                <a:gd name="T0" fmla="*/ 2147483647 w 41"/>
                <a:gd name="T1" fmla="*/ 0 h 41"/>
                <a:gd name="T2" fmla="*/ 2147483647 w 41"/>
                <a:gd name="T3" fmla="*/ 2147483647 h 41"/>
                <a:gd name="T4" fmla="*/ 0 w 41"/>
                <a:gd name="T5" fmla="*/ 2147483647 h 41"/>
                <a:gd name="T6" fmla="*/ 0 60000 65536"/>
                <a:gd name="T7" fmla="*/ 0 60000 65536"/>
                <a:gd name="T8" fmla="*/ 0 60000 65536"/>
                <a:gd name="T9" fmla="*/ 0 w 41"/>
                <a:gd name="T10" fmla="*/ 0 h 41"/>
                <a:gd name="T11" fmla="*/ 41 w 41"/>
                <a:gd name="T12" fmla="*/ 41 h 41"/>
              </a:gdLst>
              <a:ahLst/>
              <a:cxnLst>
                <a:cxn ang="T6">
                  <a:pos x="T0" y="T1"/>
                </a:cxn>
                <a:cxn ang="T7">
                  <a:pos x="T2" y="T3"/>
                </a:cxn>
                <a:cxn ang="T8">
                  <a:pos x="T4" y="T5"/>
                </a:cxn>
              </a:cxnLst>
              <a:rect l="T9" t="T10" r="T11" b="T12"/>
              <a:pathLst>
                <a:path w="41" h="41">
                  <a:moveTo>
                    <a:pt x="13" y="0"/>
                  </a:moveTo>
                  <a:lnTo>
                    <a:pt x="40" y="40"/>
                  </a:lnTo>
                  <a:lnTo>
                    <a:pt x="0" y="19"/>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7" name="Freeform 107">
              <a:extLst>
                <a:ext uri="{FF2B5EF4-FFF2-40B4-BE49-F238E27FC236}">
                  <a16:creationId xmlns:a16="http://schemas.microsoft.com/office/drawing/2014/main" id="{FC773FF7-EF30-4EB6-9BD4-920EAEB625F5}"/>
                </a:ext>
              </a:extLst>
            </p:cNvPr>
            <p:cNvSpPr>
              <a:spLocks/>
            </p:cNvSpPr>
            <p:nvPr/>
          </p:nvSpPr>
          <p:spPr bwMode="auto">
            <a:xfrm>
              <a:off x="7652200" y="4340082"/>
              <a:ext cx="282575" cy="498475"/>
            </a:xfrm>
            <a:custGeom>
              <a:avLst/>
              <a:gdLst>
                <a:gd name="T0" fmla="*/ 2147483647 w 178"/>
                <a:gd name="T1" fmla="*/ 0 h 314"/>
                <a:gd name="T2" fmla="*/ 0 w 178"/>
                <a:gd name="T3" fmla="*/ 2147483647 h 314"/>
                <a:gd name="T4" fmla="*/ 2147483647 w 178"/>
                <a:gd name="T5" fmla="*/ 0 h 314"/>
                <a:gd name="T6" fmla="*/ 0 60000 65536"/>
                <a:gd name="T7" fmla="*/ 0 60000 65536"/>
                <a:gd name="T8" fmla="*/ 0 60000 65536"/>
                <a:gd name="T9" fmla="*/ 0 w 178"/>
                <a:gd name="T10" fmla="*/ 0 h 314"/>
                <a:gd name="T11" fmla="*/ 178 w 178"/>
                <a:gd name="T12" fmla="*/ 314 h 314"/>
              </a:gdLst>
              <a:ahLst/>
              <a:cxnLst>
                <a:cxn ang="T6">
                  <a:pos x="T0" y="T1"/>
                </a:cxn>
                <a:cxn ang="T7">
                  <a:pos x="T2" y="T3"/>
                </a:cxn>
                <a:cxn ang="T8">
                  <a:pos x="T4" y="T5"/>
                </a:cxn>
              </a:cxnLst>
              <a:rect l="T9" t="T10" r="T11" b="T12"/>
              <a:pathLst>
                <a:path w="178" h="314">
                  <a:moveTo>
                    <a:pt x="177" y="0"/>
                  </a:moveTo>
                  <a:lnTo>
                    <a:pt x="0" y="313"/>
                  </a:lnTo>
                  <a:lnTo>
                    <a:pt x="177"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8" name="Freeform 108">
              <a:extLst>
                <a:ext uri="{FF2B5EF4-FFF2-40B4-BE49-F238E27FC236}">
                  <a16:creationId xmlns:a16="http://schemas.microsoft.com/office/drawing/2014/main" id="{B74A8055-709C-48C2-894B-A42688CA95CE}"/>
                </a:ext>
              </a:extLst>
            </p:cNvPr>
            <p:cNvSpPr>
              <a:spLocks/>
            </p:cNvSpPr>
            <p:nvPr/>
          </p:nvSpPr>
          <p:spPr bwMode="auto">
            <a:xfrm>
              <a:off x="7652200" y="4763945"/>
              <a:ext cx="52388" cy="74612"/>
            </a:xfrm>
            <a:custGeom>
              <a:avLst/>
              <a:gdLst>
                <a:gd name="T0" fmla="*/ 2147483647 w 33"/>
                <a:gd name="T1" fmla="*/ 2147483647 h 47"/>
                <a:gd name="T2" fmla="*/ 0 w 33"/>
                <a:gd name="T3" fmla="*/ 2147483647 h 47"/>
                <a:gd name="T4" fmla="*/ 2147483647 w 33"/>
                <a:gd name="T5" fmla="*/ 0 h 47"/>
                <a:gd name="T6" fmla="*/ 0 60000 65536"/>
                <a:gd name="T7" fmla="*/ 0 60000 65536"/>
                <a:gd name="T8" fmla="*/ 0 60000 65536"/>
                <a:gd name="T9" fmla="*/ 0 w 33"/>
                <a:gd name="T10" fmla="*/ 0 h 47"/>
                <a:gd name="T11" fmla="*/ 33 w 33"/>
                <a:gd name="T12" fmla="*/ 47 h 47"/>
              </a:gdLst>
              <a:ahLst/>
              <a:cxnLst>
                <a:cxn ang="T6">
                  <a:pos x="T0" y="T1"/>
                </a:cxn>
                <a:cxn ang="T7">
                  <a:pos x="T2" y="T3"/>
                </a:cxn>
                <a:cxn ang="T8">
                  <a:pos x="T4" y="T5"/>
                </a:cxn>
              </a:cxnLst>
              <a:rect l="T9" t="T10" r="T11" b="T12"/>
              <a:pathLst>
                <a:path w="33" h="47">
                  <a:moveTo>
                    <a:pt x="32" y="13"/>
                  </a:moveTo>
                  <a:lnTo>
                    <a:pt x="0" y="46"/>
                  </a:lnTo>
                  <a:lnTo>
                    <a:pt x="14"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09" name="Freeform 109">
              <a:extLst>
                <a:ext uri="{FF2B5EF4-FFF2-40B4-BE49-F238E27FC236}">
                  <a16:creationId xmlns:a16="http://schemas.microsoft.com/office/drawing/2014/main" id="{BFB458B4-FD3D-4CDA-A415-B69A462B83AC}"/>
                </a:ext>
              </a:extLst>
            </p:cNvPr>
            <p:cNvSpPr>
              <a:spLocks/>
            </p:cNvSpPr>
            <p:nvPr/>
          </p:nvSpPr>
          <p:spPr bwMode="auto">
            <a:xfrm>
              <a:off x="7976050" y="4340082"/>
              <a:ext cx="1408113" cy="498475"/>
            </a:xfrm>
            <a:custGeom>
              <a:avLst/>
              <a:gdLst>
                <a:gd name="T0" fmla="*/ 0 w 887"/>
                <a:gd name="T1" fmla="*/ 0 h 314"/>
                <a:gd name="T2" fmla="*/ 2147483647 w 887"/>
                <a:gd name="T3" fmla="*/ 2147483647 h 314"/>
                <a:gd name="T4" fmla="*/ 0 w 887"/>
                <a:gd name="T5" fmla="*/ 0 h 314"/>
                <a:gd name="T6" fmla="*/ 0 60000 65536"/>
                <a:gd name="T7" fmla="*/ 0 60000 65536"/>
                <a:gd name="T8" fmla="*/ 0 60000 65536"/>
                <a:gd name="T9" fmla="*/ 0 w 887"/>
                <a:gd name="T10" fmla="*/ 0 h 314"/>
                <a:gd name="T11" fmla="*/ 887 w 887"/>
                <a:gd name="T12" fmla="*/ 314 h 314"/>
              </a:gdLst>
              <a:ahLst/>
              <a:cxnLst>
                <a:cxn ang="T6">
                  <a:pos x="T0" y="T1"/>
                </a:cxn>
                <a:cxn ang="T7">
                  <a:pos x="T2" y="T3"/>
                </a:cxn>
                <a:cxn ang="T8">
                  <a:pos x="T4" y="T5"/>
                </a:cxn>
              </a:cxnLst>
              <a:rect l="T9" t="T10" r="T11" b="T12"/>
              <a:pathLst>
                <a:path w="887" h="314">
                  <a:moveTo>
                    <a:pt x="0" y="0"/>
                  </a:moveTo>
                  <a:lnTo>
                    <a:pt x="886" y="313"/>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0" name="Freeform 110">
              <a:extLst>
                <a:ext uri="{FF2B5EF4-FFF2-40B4-BE49-F238E27FC236}">
                  <a16:creationId xmlns:a16="http://schemas.microsoft.com/office/drawing/2014/main" id="{2ED377AD-0D44-48FB-ACA7-A9C57713679A}"/>
                </a:ext>
              </a:extLst>
            </p:cNvPr>
            <p:cNvSpPr>
              <a:spLocks/>
            </p:cNvSpPr>
            <p:nvPr/>
          </p:nvSpPr>
          <p:spPr bwMode="auto">
            <a:xfrm>
              <a:off x="9315900" y="4795695"/>
              <a:ext cx="68263" cy="42862"/>
            </a:xfrm>
            <a:custGeom>
              <a:avLst/>
              <a:gdLst>
                <a:gd name="T0" fmla="*/ 2147483647 w 43"/>
                <a:gd name="T1" fmla="*/ 0 h 27"/>
                <a:gd name="T2" fmla="*/ 2147483647 w 43"/>
                <a:gd name="T3" fmla="*/ 2147483647 h 27"/>
                <a:gd name="T4" fmla="*/ 0 w 43"/>
                <a:gd name="T5" fmla="*/ 2147483647 h 27"/>
                <a:gd name="T6" fmla="*/ 0 60000 65536"/>
                <a:gd name="T7" fmla="*/ 0 60000 65536"/>
                <a:gd name="T8" fmla="*/ 0 60000 65536"/>
                <a:gd name="T9" fmla="*/ 0 w 43"/>
                <a:gd name="T10" fmla="*/ 0 h 27"/>
                <a:gd name="T11" fmla="*/ 43 w 43"/>
                <a:gd name="T12" fmla="*/ 27 h 27"/>
              </a:gdLst>
              <a:ahLst/>
              <a:cxnLst>
                <a:cxn ang="T6">
                  <a:pos x="T0" y="T1"/>
                </a:cxn>
                <a:cxn ang="T7">
                  <a:pos x="T2" y="T3"/>
                </a:cxn>
                <a:cxn ang="T8">
                  <a:pos x="T4" y="T5"/>
                </a:cxn>
              </a:cxnLst>
              <a:rect l="T9" t="T10" r="T11" b="T12"/>
              <a:pathLst>
                <a:path w="43" h="27">
                  <a:moveTo>
                    <a:pt x="6" y="0"/>
                  </a:moveTo>
                  <a:lnTo>
                    <a:pt x="42" y="26"/>
                  </a:lnTo>
                  <a:lnTo>
                    <a:pt x="0" y="25"/>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1" name="Freeform 111">
              <a:extLst>
                <a:ext uri="{FF2B5EF4-FFF2-40B4-BE49-F238E27FC236}">
                  <a16:creationId xmlns:a16="http://schemas.microsoft.com/office/drawing/2014/main" id="{19C3B0B0-4EDF-46E5-B846-55E9B52293A7}"/>
                </a:ext>
              </a:extLst>
            </p:cNvPr>
            <p:cNvSpPr>
              <a:spLocks/>
            </p:cNvSpPr>
            <p:nvPr/>
          </p:nvSpPr>
          <p:spPr bwMode="auto">
            <a:xfrm>
              <a:off x="7733163" y="4340082"/>
              <a:ext cx="685800" cy="498475"/>
            </a:xfrm>
            <a:custGeom>
              <a:avLst/>
              <a:gdLst>
                <a:gd name="T0" fmla="*/ 2147483647 w 432"/>
                <a:gd name="T1" fmla="*/ 0 h 314"/>
                <a:gd name="T2" fmla="*/ 0 w 432"/>
                <a:gd name="T3" fmla="*/ 2147483647 h 314"/>
                <a:gd name="T4" fmla="*/ 2147483647 w 432"/>
                <a:gd name="T5" fmla="*/ 0 h 314"/>
                <a:gd name="T6" fmla="*/ 0 60000 65536"/>
                <a:gd name="T7" fmla="*/ 0 60000 65536"/>
                <a:gd name="T8" fmla="*/ 0 60000 65536"/>
                <a:gd name="T9" fmla="*/ 0 w 432"/>
                <a:gd name="T10" fmla="*/ 0 h 314"/>
                <a:gd name="T11" fmla="*/ 432 w 432"/>
                <a:gd name="T12" fmla="*/ 314 h 314"/>
              </a:gdLst>
              <a:ahLst/>
              <a:cxnLst>
                <a:cxn ang="T6">
                  <a:pos x="T0" y="T1"/>
                </a:cxn>
                <a:cxn ang="T7">
                  <a:pos x="T2" y="T3"/>
                </a:cxn>
                <a:cxn ang="T8">
                  <a:pos x="T4" y="T5"/>
                </a:cxn>
              </a:cxnLst>
              <a:rect l="T9" t="T10" r="T11" b="T12"/>
              <a:pathLst>
                <a:path w="432" h="314">
                  <a:moveTo>
                    <a:pt x="431" y="0"/>
                  </a:moveTo>
                  <a:lnTo>
                    <a:pt x="0" y="313"/>
                  </a:lnTo>
                  <a:lnTo>
                    <a:pt x="431"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2" name="Freeform 112">
              <a:extLst>
                <a:ext uri="{FF2B5EF4-FFF2-40B4-BE49-F238E27FC236}">
                  <a16:creationId xmlns:a16="http://schemas.microsoft.com/office/drawing/2014/main" id="{A6CB2EF9-12CD-423A-A344-4C8227074390}"/>
                </a:ext>
              </a:extLst>
            </p:cNvPr>
            <p:cNvSpPr>
              <a:spLocks/>
            </p:cNvSpPr>
            <p:nvPr/>
          </p:nvSpPr>
          <p:spPr bwMode="auto">
            <a:xfrm>
              <a:off x="7733163" y="4779820"/>
              <a:ext cx="65087" cy="58737"/>
            </a:xfrm>
            <a:custGeom>
              <a:avLst/>
              <a:gdLst>
                <a:gd name="T0" fmla="*/ 2147483647 w 41"/>
                <a:gd name="T1" fmla="*/ 2147483647 h 37"/>
                <a:gd name="T2" fmla="*/ 0 w 41"/>
                <a:gd name="T3" fmla="*/ 2147483647 h 37"/>
                <a:gd name="T4" fmla="*/ 2147483647 w 41"/>
                <a:gd name="T5" fmla="*/ 0 h 37"/>
                <a:gd name="T6" fmla="*/ 0 60000 65536"/>
                <a:gd name="T7" fmla="*/ 0 60000 65536"/>
                <a:gd name="T8" fmla="*/ 0 60000 65536"/>
                <a:gd name="T9" fmla="*/ 0 w 41"/>
                <a:gd name="T10" fmla="*/ 0 h 37"/>
                <a:gd name="T11" fmla="*/ 41 w 41"/>
                <a:gd name="T12" fmla="*/ 37 h 37"/>
              </a:gdLst>
              <a:ahLst/>
              <a:cxnLst>
                <a:cxn ang="T6">
                  <a:pos x="T0" y="T1"/>
                </a:cxn>
                <a:cxn ang="T7">
                  <a:pos x="T2" y="T3"/>
                </a:cxn>
                <a:cxn ang="T8">
                  <a:pos x="T4" y="T5"/>
                </a:cxn>
              </a:cxnLst>
              <a:rect l="T9" t="T10" r="T11" b="T12"/>
              <a:pathLst>
                <a:path w="41" h="37">
                  <a:moveTo>
                    <a:pt x="40" y="22"/>
                  </a:moveTo>
                  <a:lnTo>
                    <a:pt x="0" y="36"/>
                  </a:lnTo>
                  <a:lnTo>
                    <a:pt x="31"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3" name="Freeform 113">
              <a:extLst>
                <a:ext uri="{FF2B5EF4-FFF2-40B4-BE49-F238E27FC236}">
                  <a16:creationId xmlns:a16="http://schemas.microsoft.com/office/drawing/2014/main" id="{36E2DA5A-C6BF-4FE0-9B7C-EC6A89E07AD1}"/>
                </a:ext>
              </a:extLst>
            </p:cNvPr>
            <p:cNvSpPr>
              <a:spLocks/>
            </p:cNvSpPr>
            <p:nvPr/>
          </p:nvSpPr>
          <p:spPr bwMode="auto">
            <a:xfrm>
              <a:off x="8453888" y="4340082"/>
              <a:ext cx="1778000" cy="498475"/>
            </a:xfrm>
            <a:custGeom>
              <a:avLst/>
              <a:gdLst>
                <a:gd name="T0" fmla="*/ 0 w 1120"/>
                <a:gd name="T1" fmla="*/ 0 h 314"/>
                <a:gd name="T2" fmla="*/ 2147483647 w 1120"/>
                <a:gd name="T3" fmla="*/ 2147483647 h 314"/>
                <a:gd name="T4" fmla="*/ 0 w 1120"/>
                <a:gd name="T5" fmla="*/ 0 h 314"/>
                <a:gd name="T6" fmla="*/ 0 60000 65536"/>
                <a:gd name="T7" fmla="*/ 0 60000 65536"/>
                <a:gd name="T8" fmla="*/ 0 60000 65536"/>
                <a:gd name="T9" fmla="*/ 0 w 1120"/>
                <a:gd name="T10" fmla="*/ 0 h 314"/>
                <a:gd name="T11" fmla="*/ 1120 w 1120"/>
                <a:gd name="T12" fmla="*/ 314 h 314"/>
              </a:gdLst>
              <a:ahLst/>
              <a:cxnLst>
                <a:cxn ang="T6">
                  <a:pos x="T0" y="T1"/>
                </a:cxn>
                <a:cxn ang="T7">
                  <a:pos x="T2" y="T3"/>
                </a:cxn>
                <a:cxn ang="T8">
                  <a:pos x="T4" y="T5"/>
                </a:cxn>
              </a:cxnLst>
              <a:rect l="T9" t="T10" r="T11" b="T12"/>
              <a:pathLst>
                <a:path w="1120" h="314">
                  <a:moveTo>
                    <a:pt x="0" y="0"/>
                  </a:moveTo>
                  <a:lnTo>
                    <a:pt x="1119" y="313"/>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4" name="Freeform 114">
              <a:extLst>
                <a:ext uri="{FF2B5EF4-FFF2-40B4-BE49-F238E27FC236}">
                  <a16:creationId xmlns:a16="http://schemas.microsoft.com/office/drawing/2014/main" id="{15B5838F-4EB1-4EBB-8038-93766464DE25}"/>
                </a:ext>
              </a:extLst>
            </p:cNvPr>
            <p:cNvSpPr>
              <a:spLocks/>
            </p:cNvSpPr>
            <p:nvPr/>
          </p:nvSpPr>
          <p:spPr bwMode="auto">
            <a:xfrm>
              <a:off x="10162038" y="4798870"/>
              <a:ext cx="69850" cy="41275"/>
            </a:xfrm>
            <a:custGeom>
              <a:avLst/>
              <a:gdLst>
                <a:gd name="T0" fmla="*/ 2147483647 w 44"/>
                <a:gd name="T1" fmla="*/ 0 h 26"/>
                <a:gd name="T2" fmla="*/ 2147483647 w 44"/>
                <a:gd name="T3" fmla="*/ 2147483647 h 26"/>
                <a:gd name="T4" fmla="*/ 0 w 44"/>
                <a:gd name="T5" fmla="*/ 2147483647 h 26"/>
                <a:gd name="T6" fmla="*/ 0 60000 65536"/>
                <a:gd name="T7" fmla="*/ 0 60000 65536"/>
                <a:gd name="T8" fmla="*/ 0 60000 65536"/>
                <a:gd name="T9" fmla="*/ 0 w 44"/>
                <a:gd name="T10" fmla="*/ 0 h 26"/>
                <a:gd name="T11" fmla="*/ 44 w 44"/>
                <a:gd name="T12" fmla="*/ 26 h 26"/>
              </a:gdLst>
              <a:ahLst/>
              <a:cxnLst>
                <a:cxn ang="T6">
                  <a:pos x="T0" y="T1"/>
                </a:cxn>
                <a:cxn ang="T7">
                  <a:pos x="T2" y="T3"/>
                </a:cxn>
                <a:cxn ang="T8">
                  <a:pos x="T4" y="T5"/>
                </a:cxn>
              </a:cxnLst>
              <a:rect l="T9" t="T10" r="T11" b="T12"/>
              <a:pathLst>
                <a:path w="44" h="26">
                  <a:moveTo>
                    <a:pt x="5" y="0"/>
                  </a:moveTo>
                  <a:lnTo>
                    <a:pt x="43" y="24"/>
                  </a:lnTo>
                  <a:lnTo>
                    <a:pt x="0" y="25"/>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5" name="Freeform 115">
              <a:extLst>
                <a:ext uri="{FF2B5EF4-FFF2-40B4-BE49-F238E27FC236}">
                  <a16:creationId xmlns:a16="http://schemas.microsoft.com/office/drawing/2014/main" id="{9FA112E5-7392-4A58-89C7-B4716616CC86}"/>
                </a:ext>
              </a:extLst>
            </p:cNvPr>
            <p:cNvSpPr>
              <a:spLocks/>
            </p:cNvSpPr>
            <p:nvPr/>
          </p:nvSpPr>
          <p:spPr bwMode="auto">
            <a:xfrm>
              <a:off x="8453888" y="4340082"/>
              <a:ext cx="165100" cy="549275"/>
            </a:xfrm>
            <a:custGeom>
              <a:avLst/>
              <a:gdLst>
                <a:gd name="T0" fmla="*/ 2147483647 w 104"/>
                <a:gd name="T1" fmla="*/ 0 h 346"/>
                <a:gd name="T2" fmla="*/ 0 w 104"/>
                <a:gd name="T3" fmla="*/ 2147483647 h 346"/>
                <a:gd name="T4" fmla="*/ 2147483647 w 104"/>
                <a:gd name="T5" fmla="*/ 0 h 346"/>
                <a:gd name="T6" fmla="*/ 0 60000 65536"/>
                <a:gd name="T7" fmla="*/ 0 60000 65536"/>
                <a:gd name="T8" fmla="*/ 0 60000 65536"/>
                <a:gd name="T9" fmla="*/ 0 w 104"/>
                <a:gd name="T10" fmla="*/ 0 h 346"/>
                <a:gd name="T11" fmla="*/ 104 w 104"/>
                <a:gd name="T12" fmla="*/ 346 h 346"/>
              </a:gdLst>
              <a:ahLst/>
              <a:cxnLst>
                <a:cxn ang="T6">
                  <a:pos x="T0" y="T1"/>
                </a:cxn>
                <a:cxn ang="T7">
                  <a:pos x="T2" y="T3"/>
                </a:cxn>
                <a:cxn ang="T8">
                  <a:pos x="T4" y="T5"/>
                </a:cxn>
              </a:cxnLst>
              <a:rect l="T9" t="T10" r="T11" b="T12"/>
              <a:pathLst>
                <a:path w="104" h="346">
                  <a:moveTo>
                    <a:pt x="103" y="0"/>
                  </a:moveTo>
                  <a:lnTo>
                    <a:pt x="0" y="345"/>
                  </a:lnTo>
                  <a:lnTo>
                    <a:pt x="103"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6" name="Freeform 116">
              <a:extLst>
                <a:ext uri="{FF2B5EF4-FFF2-40B4-BE49-F238E27FC236}">
                  <a16:creationId xmlns:a16="http://schemas.microsoft.com/office/drawing/2014/main" id="{56DA2242-E37B-4E15-B483-DF9F1C52A70A}"/>
                </a:ext>
              </a:extLst>
            </p:cNvPr>
            <p:cNvSpPr>
              <a:spLocks/>
            </p:cNvSpPr>
            <p:nvPr/>
          </p:nvSpPr>
          <p:spPr bwMode="auto">
            <a:xfrm>
              <a:off x="8453888" y="4806807"/>
              <a:ext cx="42862" cy="82550"/>
            </a:xfrm>
            <a:custGeom>
              <a:avLst/>
              <a:gdLst>
                <a:gd name="T0" fmla="*/ 2147483647 w 27"/>
                <a:gd name="T1" fmla="*/ 2147483647 h 52"/>
                <a:gd name="T2" fmla="*/ 0 w 27"/>
                <a:gd name="T3" fmla="*/ 2147483647 h 52"/>
                <a:gd name="T4" fmla="*/ 2147483647 w 27"/>
                <a:gd name="T5" fmla="*/ 0 h 52"/>
                <a:gd name="T6" fmla="*/ 0 60000 65536"/>
                <a:gd name="T7" fmla="*/ 0 60000 65536"/>
                <a:gd name="T8" fmla="*/ 0 60000 65536"/>
                <a:gd name="T9" fmla="*/ 0 w 27"/>
                <a:gd name="T10" fmla="*/ 0 h 52"/>
                <a:gd name="T11" fmla="*/ 27 w 27"/>
                <a:gd name="T12" fmla="*/ 52 h 52"/>
              </a:gdLst>
              <a:ahLst/>
              <a:cxnLst>
                <a:cxn ang="T6">
                  <a:pos x="T0" y="T1"/>
                </a:cxn>
                <a:cxn ang="T7">
                  <a:pos x="T2" y="T3"/>
                </a:cxn>
                <a:cxn ang="T8">
                  <a:pos x="T4" y="T5"/>
                </a:cxn>
              </a:cxnLst>
              <a:rect l="T9" t="T10" r="T11" b="T12"/>
              <a:pathLst>
                <a:path w="27" h="52">
                  <a:moveTo>
                    <a:pt x="26" y="8"/>
                  </a:moveTo>
                  <a:lnTo>
                    <a:pt x="0" y="51"/>
                  </a:lnTo>
                  <a:lnTo>
                    <a:pt x="5"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7" name="Freeform 117">
              <a:extLst>
                <a:ext uri="{FF2B5EF4-FFF2-40B4-BE49-F238E27FC236}">
                  <a16:creationId xmlns:a16="http://schemas.microsoft.com/office/drawing/2014/main" id="{52AA39B2-E617-4F09-BA9D-23359660ED7E}"/>
                </a:ext>
              </a:extLst>
            </p:cNvPr>
            <p:cNvSpPr>
              <a:spLocks/>
            </p:cNvSpPr>
            <p:nvPr/>
          </p:nvSpPr>
          <p:spPr bwMode="auto">
            <a:xfrm>
              <a:off x="8579300" y="4340082"/>
              <a:ext cx="322263" cy="498475"/>
            </a:xfrm>
            <a:custGeom>
              <a:avLst/>
              <a:gdLst>
                <a:gd name="T0" fmla="*/ 0 w 203"/>
                <a:gd name="T1" fmla="*/ 0 h 314"/>
                <a:gd name="T2" fmla="*/ 2147483647 w 203"/>
                <a:gd name="T3" fmla="*/ 2147483647 h 314"/>
                <a:gd name="T4" fmla="*/ 0 w 203"/>
                <a:gd name="T5" fmla="*/ 0 h 314"/>
                <a:gd name="T6" fmla="*/ 0 60000 65536"/>
                <a:gd name="T7" fmla="*/ 0 60000 65536"/>
                <a:gd name="T8" fmla="*/ 0 60000 65536"/>
                <a:gd name="T9" fmla="*/ 0 w 203"/>
                <a:gd name="T10" fmla="*/ 0 h 314"/>
                <a:gd name="T11" fmla="*/ 203 w 203"/>
                <a:gd name="T12" fmla="*/ 314 h 314"/>
              </a:gdLst>
              <a:ahLst/>
              <a:cxnLst>
                <a:cxn ang="T6">
                  <a:pos x="T0" y="T1"/>
                </a:cxn>
                <a:cxn ang="T7">
                  <a:pos x="T2" y="T3"/>
                </a:cxn>
                <a:cxn ang="T8">
                  <a:pos x="T4" y="T5"/>
                </a:cxn>
              </a:cxnLst>
              <a:rect l="T9" t="T10" r="T11" b="T12"/>
              <a:pathLst>
                <a:path w="203" h="314">
                  <a:moveTo>
                    <a:pt x="0" y="0"/>
                  </a:moveTo>
                  <a:lnTo>
                    <a:pt x="202" y="313"/>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8" name="Freeform 118">
              <a:extLst>
                <a:ext uri="{FF2B5EF4-FFF2-40B4-BE49-F238E27FC236}">
                  <a16:creationId xmlns:a16="http://schemas.microsoft.com/office/drawing/2014/main" id="{39ED3923-BBE1-47CC-A1B9-20E93DFB2CA6}"/>
                </a:ext>
              </a:extLst>
            </p:cNvPr>
            <p:cNvSpPr>
              <a:spLocks/>
            </p:cNvSpPr>
            <p:nvPr/>
          </p:nvSpPr>
          <p:spPr bwMode="auto">
            <a:xfrm>
              <a:off x="8844413" y="4765532"/>
              <a:ext cx="57150" cy="73025"/>
            </a:xfrm>
            <a:custGeom>
              <a:avLst/>
              <a:gdLst>
                <a:gd name="T0" fmla="*/ 2147483647 w 36"/>
                <a:gd name="T1" fmla="*/ 0 h 46"/>
                <a:gd name="T2" fmla="*/ 2147483647 w 36"/>
                <a:gd name="T3" fmla="*/ 2147483647 h 46"/>
                <a:gd name="T4" fmla="*/ 0 w 36"/>
                <a:gd name="T5" fmla="*/ 2147483647 h 46"/>
                <a:gd name="T6" fmla="*/ 0 60000 65536"/>
                <a:gd name="T7" fmla="*/ 0 60000 65536"/>
                <a:gd name="T8" fmla="*/ 0 60000 65536"/>
                <a:gd name="T9" fmla="*/ 0 w 36"/>
                <a:gd name="T10" fmla="*/ 0 h 46"/>
                <a:gd name="T11" fmla="*/ 36 w 36"/>
                <a:gd name="T12" fmla="*/ 46 h 46"/>
              </a:gdLst>
              <a:ahLst/>
              <a:cxnLst>
                <a:cxn ang="T6">
                  <a:pos x="T0" y="T1"/>
                </a:cxn>
                <a:cxn ang="T7">
                  <a:pos x="T2" y="T3"/>
                </a:cxn>
                <a:cxn ang="T8">
                  <a:pos x="T4" y="T5"/>
                </a:cxn>
              </a:cxnLst>
              <a:rect l="T9" t="T10" r="T11" b="T12"/>
              <a:pathLst>
                <a:path w="36" h="46">
                  <a:moveTo>
                    <a:pt x="17" y="0"/>
                  </a:moveTo>
                  <a:lnTo>
                    <a:pt x="35" y="45"/>
                  </a:lnTo>
                  <a:lnTo>
                    <a:pt x="0" y="15"/>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19" name="Freeform 119">
              <a:extLst>
                <a:ext uri="{FF2B5EF4-FFF2-40B4-BE49-F238E27FC236}">
                  <a16:creationId xmlns:a16="http://schemas.microsoft.com/office/drawing/2014/main" id="{532FAD99-421F-4D7E-AB75-F77EF3818F0D}"/>
                </a:ext>
              </a:extLst>
            </p:cNvPr>
            <p:cNvSpPr>
              <a:spLocks/>
            </p:cNvSpPr>
            <p:nvPr/>
          </p:nvSpPr>
          <p:spPr bwMode="auto">
            <a:xfrm>
              <a:off x="8980938" y="4340082"/>
              <a:ext cx="565150" cy="549275"/>
            </a:xfrm>
            <a:custGeom>
              <a:avLst/>
              <a:gdLst>
                <a:gd name="T0" fmla="*/ 2147483647 w 356"/>
                <a:gd name="T1" fmla="*/ 0 h 346"/>
                <a:gd name="T2" fmla="*/ 0 w 356"/>
                <a:gd name="T3" fmla="*/ 2147483647 h 346"/>
                <a:gd name="T4" fmla="*/ 2147483647 w 356"/>
                <a:gd name="T5" fmla="*/ 0 h 346"/>
                <a:gd name="T6" fmla="*/ 0 60000 65536"/>
                <a:gd name="T7" fmla="*/ 0 60000 65536"/>
                <a:gd name="T8" fmla="*/ 0 60000 65536"/>
                <a:gd name="T9" fmla="*/ 0 w 356"/>
                <a:gd name="T10" fmla="*/ 0 h 346"/>
                <a:gd name="T11" fmla="*/ 356 w 356"/>
                <a:gd name="T12" fmla="*/ 346 h 346"/>
              </a:gdLst>
              <a:ahLst/>
              <a:cxnLst>
                <a:cxn ang="T6">
                  <a:pos x="T0" y="T1"/>
                </a:cxn>
                <a:cxn ang="T7">
                  <a:pos x="T2" y="T3"/>
                </a:cxn>
                <a:cxn ang="T8">
                  <a:pos x="T4" y="T5"/>
                </a:cxn>
              </a:cxnLst>
              <a:rect l="T9" t="T10" r="T11" b="T12"/>
              <a:pathLst>
                <a:path w="356" h="346">
                  <a:moveTo>
                    <a:pt x="355" y="0"/>
                  </a:moveTo>
                  <a:lnTo>
                    <a:pt x="0" y="345"/>
                  </a:lnTo>
                  <a:lnTo>
                    <a:pt x="355"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0" name="Freeform 120">
              <a:extLst>
                <a:ext uri="{FF2B5EF4-FFF2-40B4-BE49-F238E27FC236}">
                  <a16:creationId xmlns:a16="http://schemas.microsoft.com/office/drawing/2014/main" id="{F9BAF7CA-0C80-41D8-BCA0-04F9603F5877}"/>
                </a:ext>
              </a:extLst>
            </p:cNvPr>
            <p:cNvSpPr>
              <a:spLocks/>
            </p:cNvSpPr>
            <p:nvPr/>
          </p:nvSpPr>
          <p:spPr bwMode="auto">
            <a:xfrm>
              <a:off x="8980938" y="4824270"/>
              <a:ext cx="58737" cy="65087"/>
            </a:xfrm>
            <a:custGeom>
              <a:avLst/>
              <a:gdLst>
                <a:gd name="T0" fmla="*/ 2147483647 w 37"/>
                <a:gd name="T1" fmla="*/ 2147483647 h 41"/>
                <a:gd name="T2" fmla="*/ 0 w 37"/>
                <a:gd name="T3" fmla="*/ 2147483647 h 41"/>
                <a:gd name="T4" fmla="*/ 2147483647 w 37"/>
                <a:gd name="T5" fmla="*/ 0 h 41"/>
                <a:gd name="T6" fmla="*/ 0 60000 65536"/>
                <a:gd name="T7" fmla="*/ 0 60000 65536"/>
                <a:gd name="T8" fmla="*/ 0 60000 65536"/>
                <a:gd name="T9" fmla="*/ 0 w 37"/>
                <a:gd name="T10" fmla="*/ 0 h 41"/>
                <a:gd name="T11" fmla="*/ 37 w 37"/>
                <a:gd name="T12" fmla="*/ 41 h 41"/>
              </a:gdLst>
              <a:ahLst/>
              <a:cxnLst>
                <a:cxn ang="T6">
                  <a:pos x="T0" y="T1"/>
                </a:cxn>
                <a:cxn ang="T7">
                  <a:pos x="T2" y="T3"/>
                </a:cxn>
                <a:cxn ang="T8">
                  <a:pos x="T4" y="T5"/>
                </a:cxn>
              </a:cxnLst>
              <a:rect l="T9" t="T10" r="T11" b="T12"/>
              <a:pathLst>
                <a:path w="37" h="41">
                  <a:moveTo>
                    <a:pt x="36" y="19"/>
                  </a:moveTo>
                  <a:lnTo>
                    <a:pt x="0" y="40"/>
                  </a:lnTo>
                  <a:lnTo>
                    <a:pt x="24"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1" name="Freeform 121">
              <a:extLst>
                <a:ext uri="{FF2B5EF4-FFF2-40B4-BE49-F238E27FC236}">
                  <a16:creationId xmlns:a16="http://schemas.microsoft.com/office/drawing/2014/main" id="{962DE1E5-B7F6-44E2-85FA-5BC66021CC2C}"/>
                </a:ext>
              </a:extLst>
            </p:cNvPr>
            <p:cNvSpPr>
              <a:spLocks/>
            </p:cNvSpPr>
            <p:nvPr/>
          </p:nvSpPr>
          <p:spPr bwMode="auto">
            <a:xfrm>
              <a:off x="9584188" y="4340082"/>
              <a:ext cx="322262" cy="549275"/>
            </a:xfrm>
            <a:custGeom>
              <a:avLst/>
              <a:gdLst>
                <a:gd name="T0" fmla="*/ 0 w 203"/>
                <a:gd name="T1" fmla="*/ 0 h 346"/>
                <a:gd name="T2" fmla="*/ 2147483647 w 203"/>
                <a:gd name="T3" fmla="*/ 2147483647 h 346"/>
                <a:gd name="T4" fmla="*/ 0 w 203"/>
                <a:gd name="T5" fmla="*/ 0 h 346"/>
                <a:gd name="T6" fmla="*/ 0 60000 65536"/>
                <a:gd name="T7" fmla="*/ 0 60000 65536"/>
                <a:gd name="T8" fmla="*/ 0 60000 65536"/>
                <a:gd name="T9" fmla="*/ 0 w 203"/>
                <a:gd name="T10" fmla="*/ 0 h 346"/>
                <a:gd name="T11" fmla="*/ 203 w 203"/>
                <a:gd name="T12" fmla="*/ 346 h 346"/>
              </a:gdLst>
              <a:ahLst/>
              <a:cxnLst>
                <a:cxn ang="T6">
                  <a:pos x="T0" y="T1"/>
                </a:cxn>
                <a:cxn ang="T7">
                  <a:pos x="T2" y="T3"/>
                </a:cxn>
                <a:cxn ang="T8">
                  <a:pos x="T4" y="T5"/>
                </a:cxn>
              </a:cxnLst>
              <a:rect l="T9" t="T10" r="T11" b="T12"/>
              <a:pathLst>
                <a:path w="203" h="346">
                  <a:moveTo>
                    <a:pt x="0" y="0"/>
                  </a:moveTo>
                  <a:lnTo>
                    <a:pt x="202" y="345"/>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2" name="Freeform 122">
              <a:extLst>
                <a:ext uri="{FF2B5EF4-FFF2-40B4-BE49-F238E27FC236}">
                  <a16:creationId xmlns:a16="http://schemas.microsoft.com/office/drawing/2014/main" id="{85425C73-89AE-4614-A5E2-F6213BB0BB49}"/>
                </a:ext>
              </a:extLst>
            </p:cNvPr>
            <p:cNvSpPr>
              <a:spLocks/>
            </p:cNvSpPr>
            <p:nvPr/>
          </p:nvSpPr>
          <p:spPr bwMode="auto">
            <a:xfrm>
              <a:off x="9855650" y="4813157"/>
              <a:ext cx="50800" cy="76200"/>
            </a:xfrm>
            <a:custGeom>
              <a:avLst/>
              <a:gdLst>
                <a:gd name="T0" fmla="*/ 2147483647 w 32"/>
                <a:gd name="T1" fmla="*/ 0 h 48"/>
                <a:gd name="T2" fmla="*/ 2147483647 w 32"/>
                <a:gd name="T3" fmla="*/ 2147483647 h 48"/>
                <a:gd name="T4" fmla="*/ 0 w 32"/>
                <a:gd name="T5" fmla="*/ 2147483647 h 48"/>
                <a:gd name="T6" fmla="*/ 0 60000 65536"/>
                <a:gd name="T7" fmla="*/ 0 60000 65536"/>
                <a:gd name="T8" fmla="*/ 0 60000 65536"/>
                <a:gd name="T9" fmla="*/ 0 w 32"/>
                <a:gd name="T10" fmla="*/ 0 h 48"/>
                <a:gd name="T11" fmla="*/ 32 w 32"/>
                <a:gd name="T12" fmla="*/ 48 h 48"/>
              </a:gdLst>
              <a:ahLst/>
              <a:cxnLst>
                <a:cxn ang="T6">
                  <a:pos x="T0" y="T1"/>
                </a:cxn>
                <a:cxn ang="T7">
                  <a:pos x="T2" y="T3"/>
                </a:cxn>
                <a:cxn ang="T8">
                  <a:pos x="T4" y="T5"/>
                </a:cxn>
              </a:cxnLst>
              <a:rect l="T9" t="T10" r="T11" b="T12"/>
              <a:pathLst>
                <a:path w="32" h="48">
                  <a:moveTo>
                    <a:pt x="16" y="0"/>
                  </a:moveTo>
                  <a:lnTo>
                    <a:pt x="31" y="47"/>
                  </a:lnTo>
                  <a:lnTo>
                    <a:pt x="0" y="15"/>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3" name="Freeform 123">
              <a:extLst>
                <a:ext uri="{FF2B5EF4-FFF2-40B4-BE49-F238E27FC236}">
                  <a16:creationId xmlns:a16="http://schemas.microsoft.com/office/drawing/2014/main" id="{C8B2ADBF-6013-4959-BDB2-46F8A5CFC882}"/>
                </a:ext>
              </a:extLst>
            </p:cNvPr>
            <p:cNvSpPr>
              <a:spLocks/>
            </p:cNvSpPr>
            <p:nvPr/>
          </p:nvSpPr>
          <p:spPr bwMode="auto">
            <a:xfrm>
              <a:off x="9465125" y="4340082"/>
              <a:ext cx="241300" cy="498475"/>
            </a:xfrm>
            <a:custGeom>
              <a:avLst/>
              <a:gdLst>
                <a:gd name="T0" fmla="*/ 2147483647 w 152"/>
                <a:gd name="T1" fmla="*/ 0 h 314"/>
                <a:gd name="T2" fmla="*/ 0 w 152"/>
                <a:gd name="T3" fmla="*/ 2147483647 h 314"/>
                <a:gd name="T4" fmla="*/ 2147483647 w 152"/>
                <a:gd name="T5" fmla="*/ 0 h 314"/>
                <a:gd name="T6" fmla="*/ 0 60000 65536"/>
                <a:gd name="T7" fmla="*/ 0 60000 65536"/>
                <a:gd name="T8" fmla="*/ 0 60000 65536"/>
                <a:gd name="T9" fmla="*/ 0 w 152"/>
                <a:gd name="T10" fmla="*/ 0 h 314"/>
                <a:gd name="T11" fmla="*/ 152 w 152"/>
                <a:gd name="T12" fmla="*/ 314 h 314"/>
              </a:gdLst>
              <a:ahLst/>
              <a:cxnLst>
                <a:cxn ang="T6">
                  <a:pos x="T0" y="T1"/>
                </a:cxn>
                <a:cxn ang="T7">
                  <a:pos x="T2" y="T3"/>
                </a:cxn>
                <a:cxn ang="T8">
                  <a:pos x="T4" y="T5"/>
                </a:cxn>
              </a:cxnLst>
              <a:rect l="T9" t="T10" r="T11" b="T12"/>
              <a:pathLst>
                <a:path w="152" h="314">
                  <a:moveTo>
                    <a:pt x="151" y="0"/>
                  </a:moveTo>
                  <a:lnTo>
                    <a:pt x="0" y="313"/>
                  </a:lnTo>
                  <a:lnTo>
                    <a:pt x="151"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4" name="Freeform 124">
              <a:extLst>
                <a:ext uri="{FF2B5EF4-FFF2-40B4-BE49-F238E27FC236}">
                  <a16:creationId xmlns:a16="http://schemas.microsoft.com/office/drawing/2014/main" id="{887B8C49-161E-428D-9612-4EA93B61EC95}"/>
                </a:ext>
              </a:extLst>
            </p:cNvPr>
            <p:cNvSpPr>
              <a:spLocks/>
            </p:cNvSpPr>
            <p:nvPr/>
          </p:nvSpPr>
          <p:spPr bwMode="auto">
            <a:xfrm>
              <a:off x="9465125" y="4762357"/>
              <a:ext cx="47625" cy="76200"/>
            </a:xfrm>
            <a:custGeom>
              <a:avLst/>
              <a:gdLst>
                <a:gd name="T0" fmla="*/ 2147483647 w 30"/>
                <a:gd name="T1" fmla="*/ 2147483647 h 48"/>
                <a:gd name="T2" fmla="*/ 0 w 30"/>
                <a:gd name="T3" fmla="*/ 2147483647 h 48"/>
                <a:gd name="T4" fmla="*/ 2147483647 w 30"/>
                <a:gd name="T5" fmla="*/ 0 h 48"/>
                <a:gd name="T6" fmla="*/ 0 60000 65536"/>
                <a:gd name="T7" fmla="*/ 0 60000 65536"/>
                <a:gd name="T8" fmla="*/ 0 60000 65536"/>
                <a:gd name="T9" fmla="*/ 0 w 30"/>
                <a:gd name="T10" fmla="*/ 0 h 48"/>
                <a:gd name="T11" fmla="*/ 30 w 30"/>
                <a:gd name="T12" fmla="*/ 48 h 48"/>
              </a:gdLst>
              <a:ahLst/>
              <a:cxnLst>
                <a:cxn ang="T6">
                  <a:pos x="T0" y="T1"/>
                </a:cxn>
                <a:cxn ang="T7">
                  <a:pos x="T2" y="T3"/>
                </a:cxn>
                <a:cxn ang="T8">
                  <a:pos x="T4" y="T5"/>
                </a:cxn>
              </a:cxnLst>
              <a:rect l="T9" t="T10" r="T11" b="T12"/>
              <a:pathLst>
                <a:path w="30" h="48">
                  <a:moveTo>
                    <a:pt x="29" y="12"/>
                  </a:moveTo>
                  <a:lnTo>
                    <a:pt x="0" y="47"/>
                  </a:lnTo>
                  <a:lnTo>
                    <a:pt x="11"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5" name="Freeform 125">
              <a:extLst>
                <a:ext uri="{FF2B5EF4-FFF2-40B4-BE49-F238E27FC236}">
                  <a16:creationId xmlns:a16="http://schemas.microsoft.com/office/drawing/2014/main" id="{214DA7A1-7EAD-484D-918E-9CB8452FA7AD}"/>
                </a:ext>
              </a:extLst>
            </p:cNvPr>
            <p:cNvSpPr>
              <a:spLocks/>
            </p:cNvSpPr>
            <p:nvPr/>
          </p:nvSpPr>
          <p:spPr bwMode="auto">
            <a:xfrm>
              <a:off x="9744525" y="4340082"/>
              <a:ext cx="1588" cy="549275"/>
            </a:xfrm>
            <a:custGeom>
              <a:avLst/>
              <a:gdLst>
                <a:gd name="T0" fmla="*/ 0 w 1"/>
                <a:gd name="T1" fmla="*/ 0 h 346"/>
                <a:gd name="T2" fmla="*/ 0 w 1"/>
                <a:gd name="T3" fmla="*/ 2147483647 h 346"/>
                <a:gd name="T4" fmla="*/ 0 w 1"/>
                <a:gd name="T5" fmla="*/ 0 h 346"/>
                <a:gd name="T6" fmla="*/ 0 60000 65536"/>
                <a:gd name="T7" fmla="*/ 0 60000 65536"/>
                <a:gd name="T8" fmla="*/ 0 60000 65536"/>
                <a:gd name="T9" fmla="*/ 0 w 1"/>
                <a:gd name="T10" fmla="*/ 0 h 346"/>
                <a:gd name="T11" fmla="*/ 1 w 1"/>
                <a:gd name="T12" fmla="*/ 346 h 346"/>
              </a:gdLst>
              <a:ahLst/>
              <a:cxnLst>
                <a:cxn ang="T6">
                  <a:pos x="T0" y="T1"/>
                </a:cxn>
                <a:cxn ang="T7">
                  <a:pos x="T2" y="T3"/>
                </a:cxn>
                <a:cxn ang="T8">
                  <a:pos x="T4" y="T5"/>
                </a:cxn>
              </a:cxnLst>
              <a:rect l="T9" t="T10" r="T11" b="T12"/>
              <a:pathLst>
                <a:path w="1" h="346">
                  <a:moveTo>
                    <a:pt x="0" y="0"/>
                  </a:moveTo>
                  <a:lnTo>
                    <a:pt x="0" y="345"/>
                  </a:lnTo>
                  <a:lnTo>
                    <a:pt x="0" y="0"/>
                  </a:lnTo>
                </a:path>
              </a:pathLst>
            </a:custGeom>
            <a:noFill/>
            <a:ln w="12700" cap="rnd">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6" name="Freeform 126">
              <a:extLst>
                <a:ext uri="{FF2B5EF4-FFF2-40B4-BE49-F238E27FC236}">
                  <a16:creationId xmlns:a16="http://schemas.microsoft.com/office/drawing/2014/main" id="{F7DAECC9-A6DA-4E6D-997F-B725A216DE54}"/>
                </a:ext>
              </a:extLst>
            </p:cNvPr>
            <p:cNvSpPr>
              <a:spLocks/>
            </p:cNvSpPr>
            <p:nvPr/>
          </p:nvSpPr>
          <p:spPr bwMode="auto">
            <a:xfrm>
              <a:off x="9727063" y="4809982"/>
              <a:ext cx="36512" cy="79375"/>
            </a:xfrm>
            <a:custGeom>
              <a:avLst/>
              <a:gdLst>
                <a:gd name="T0" fmla="*/ 2147483647 w 23"/>
                <a:gd name="T1" fmla="*/ 0 h 50"/>
                <a:gd name="T2" fmla="*/ 2147483647 w 23"/>
                <a:gd name="T3" fmla="*/ 2147483647 h 50"/>
                <a:gd name="T4" fmla="*/ 0 w 23"/>
                <a:gd name="T5" fmla="*/ 0 h 50"/>
                <a:gd name="T6" fmla="*/ 0 60000 65536"/>
                <a:gd name="T7" fmla="*/ 0 60000 65536"/>
                <a:gd name="T8" fmla="*/ 0 60000 65536"/>
                <a:gd name="T9" fmla="*/ 0 w 23"/>
                <a:gd name="T10" fmla="*/ 0 h 50"/>
                <a:gd name="T11" fmla="*/ 23 w 23"/>
                <a:gd name="T12" fmla="*/ 50 h 50"/>
              </a:gdLst>
              <a:ahLst/>
              <a:cxnLst>
                <a:cxn ang="T6">
                  <a:pos x="T0" y="T1"/>
                </a:cxn>
                <a:cxn ang="T7">
                  <a:pos x="T2" y="T3"/>
                </a:cxn>
                <a:cxn ang="T8">
                  <a:pos x="T4" y="T5"/>
                </a:cxn>
              </a:cxnLst>
              <a:rect l="T9" t="T10" r="T11" b="T12"/>
              <a:pathLst>
                <a:path w="23" h="50">
                  <a:moveTo>
                    <a:pt x="22" y="0"/>
                  </a:moveTo>
                  <a:lnTo>
                    <a:pt x="10" y="49"/>
                  </a:lnTo>
                  <a:lnTo>
                    <a:pt x="0" y="0"/>
                  </a:lnTo>
                </a:path>
              </a:pathLst>
            </a:custGeom>
            <a:noFill/>
            <a:ln w="12700" cap="rnd">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endParaRPr lang="es-CO" altLang="es-CO">
                <a:latin typeface="Roboto" panose="02000000000000000000" pitchFamily="2" charset="0"/>
                <a:ea typeface="Roboto" panose="02000000000000000000" pitchFamily="2" charset="0"/>
              </a:endParaRPr>
            </a:p>
          </p:txBody>
        </p:sp>
        <p:sp>
          <p:nvSpPr>
            <p:cNvPr id="127" name="Line 127">
              <a:extLst>
                <a:ext uri="{FF2B5EF4-FFF2-40B4-BE49-F238E27FC236}">
                  <a16:creationId xmlns:a16="http://schemas.microsoft.com/office/drawing/2014/main" id="{AF24711E-7260-4000-AB7A-515B471FC373}"/>
                </a:ext>
              </a:extLst>
            </p:cNvPr>
            <p:cNvSpPr>
              <a:spLocks noChangeShapeType="1"/>
            </p:cNvSpPr>
            <p:nvPr/>
          </p:nvSpPr>
          <p:spPr bwMode="auto">
            <a:xfrm>
              <a:off x="1711775" y="4555982"/>
              <a:ext cx="8839200"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s-CO">
                <a:latin typeface="Roboto" panose="02000000000000000000" pitchFamily="2" charset="0"/>
                <a:ea typeface="Roboto" panose="02000000000000000000" pitchFamily="2" charset="0"/>
              </a:endParaRPr>
            </a:p>
          </p:txBody>
        </p:sp>
        <p:sp>
          <p:nvSpPr>
            <p:cNvPr id="128" name="Rectangle 128">
              <a:extLst>
                <a:ext uri="{FF2B5EF4-FFF2-40B4-BE49-F238E27FC236}">
                  <a16:creationId xmlns:a16="http://schemas.microsoft.com/office/drawing/2014/main" id="{0A073BD9-E40A-4B8B-81E8-8A0D19854873}"/>
                </a:ext>
              </a:extLst>
            </p:cNvPr>
            <p:cNvSpPr>
              <a:spLocks noChangeArrowheads="1"/>
            </p:cNvSpPr>
            <p:nvPr/>
          </p:nvSpPr>
          <p:spPr bwMode="auto">
            <a:xfrm>
              <a:off x="6625088" y="4032107"/>
              <a:ext cx="1017907"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2"/>
                  </a:solidFill>
                  <a:latin typeface="Roboto" panose="02000000000000000000" pitchFamily="2" charset="0"/>
                  <a:ea typeface="Roboto" panose="02000000000000000000" pitchFamily="2" charset="0"/>
                </a:rPr>
                <a:t>Data entries</a:t>
              </a:r>
            </a:p>
          </p:txBody>
        </p:sp>
        <p:sp>
          <p:nvSpPr>
            <p:cNvPr id="129" name="Rectangle 129">
              <a:extLst>
                <a:ext uri="{FF2B5EF4-FFF2-40B4-BE49-F238E27FC236}">
                  <a16:creationId xmlns:a16="http://schemas.microsoft.com/office/drawing/2014/main" id="{8904CA08-7957-40B0-B241-63C558F6EDDB}"/>
                </a:ext>
              </a:extLst>
            </p:cNvPr>
            <p:cNvSpPr>
              <a:spLocks noChangeArrowheads="1"/>
            </p:cNvSpPr>
            <p:nvPr/>
          </p:nvSpPr>
          <p:spPr bwMode="auto">
            <a:xfrm>
              <a:off x="7268025" y="5194157"/>
              <a:ext cx="110927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b="1">
                  <a:solidFill>
                    <a:schemeClr val="accent1"/>
                  </a:solidFill>
                  <a:latin typeface="Roboto" panose="02000000000000000000" pitchFamily="2" charset="0"/>
                  <a:ea typeface="Roboto" panose="02000000000000000000" pitchFamily="2" charset="0"/>
                </a:rPr>
                <a:t>Data Records</a:t>
              </a:r>
            </a:p>
          </p:txBody>
        </p:sp>
        <p:sp>
          <p:nvSpPr>
            <p:cNvPr id="130" name="Rectangle 130">
              <a:extLst>
                <a:ext uri="{FF2B5EF4-FFF2-40B4-BE49-F238E27FC236}">
                  <a16:creationId xmlns:a16="http://schemas.microsoft.com/office/drawing/2014/main" id="{638E23A0-DAD1-4CF7-AC91-8EF87A92B43F}"/>
                </a:ext>
              </a:extLst>
            </p:cNvPr>
            <p:cNvSpPr>
              <a:spLocks noChangeArrowheads="1"/>
            </p:cNvSpPr>
            <p:nvPr/>
          </p:nvSpPr>
          <p:spPr bwMode="auto">
            <a:xfrm>
              <a:off x="1695900" y="2979595"/>
              <a:ext cx="1175002"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sz="1400" b="1">
                  <a:latin typeface="Roboto" panose="02000000000000000000" pitchFamily="2" charset="0"/>
                  <a:ea typeface="Roboto" panose="02000000000000000000" pitchFamily="2" charset="0"/>
                </a:rPr>
                <a:t>CLUSTERED</a:t>
              </a:r>
            </a:p>
          </p:txBody>
        </p:sp>
        <p:sp>
          <p:nvSpPr>
            <p:cNvPr id="131" name="Rectangle 131">
              <a:extLst>
                <a:ext uri="{FF2B5EF4-FFF2-40B4-BE49-F238E27FC236}">
                  <a16:creationId xmlns:a16="http://schemas.microsoft.com/office/drawing/2014/main" id="{E23C921D-BD3D-490D-A89D-512556937456}"/>
                </a:ext>
              </a:extLst>
            </p:cNvPr>
            <p:cNvSpPr>
              <a:spLocks noChangeArrowheads="1"/>
            </p:cNvSpPr>
            <p:nvPr/>
          </p:nvSpPr>
          <p:spPr bwMode="auto">
            <a:xfrm>
              <a:off x="9087300" y="2901807"/>
              <a:ext cx="142026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200">
                  <a:solidFill>
                    <a:srgbClr val="000000"/>
                  </a:solidFill>
                  <a:latin typeface="Arial" panose="020B0604020202020204" pitchFamily="34" charset="0"/>
                  <a:ea typeface="Osaka" charset="-128"/>
                </a:defRPr>
              </a:lvl1pPr>
              <a:lvl2pPr marL="37931725" indent="-37474525" eaLnBrk="0" hangingPunct="0">
                <a:defRPr sz="1200">
                  <a:solidFill>
                    <a:srgbClr val="000000"/>
                  </a:solidFill>
                  <a:latin typeface="Arial" panose="020B0604020202020204" pitchFamily="34" charset="0"/>
                  <a:ea typeface="Osaka" charset="-128"/>
                </a:defRPr>
              </a:lvl2pPr>
              <a:lvl3pPr eaLnBrk="0" hangingPunct="0">
                <a:defRPr sz="1200">
                  <a:solidFill>
                    <a:srgbClr val="000000"/>
                  </a:solidFill>
                  <a:latin typeface="Arial" panose="020B0604020202020204" pitchFamily="34" charset="0"/>
                  <a:ea typeface="Osaka" charset="-128"/>
                </a:defRPr>
              </a:lvl3pPr>
              <a:lvl4pPr eaLnBrk="0" hangingPunct="0">
                <a:defRPr sz="1200">
                  <a:solidFill>
                    <a:srgbClr val="000000"/>
                  </a:solidFill>
                  <a:latin typeface="Arial" panose="020B0604020202020204" pitchFamily="34" charset="0"/>
                  <a:ea typeface="Osaka" charset="-128"/>
                </a:defRPr>
              </a:lvl4pPr>
              <a:lvl5pPr eaLnBrk="0" hangingPunct="0">
                <a:defRPr sz="1200">
                  <a:solidFill>
                    <a:srgbClr val="000000"/>
                  </a:solidFill>
                  <a:latin typeface="Arial" panose="020B0604020202020204" pitchFamily="34" charset="0"/>
                  <a:ea typeface="Osaka" charset="-128"/>
                </a:defRPr>
              </a:lvl5pPr>
              <a:lvl6pPr marL="457200" eaLnBrk="0" fontAlgn="base" hangingPunct="0">
                <a:spcBef>
                  <a:spcPct val="0"/>
                </a:spcBef>
                <a:spcAft>
                  <a:spcPct val="0"/>
                </a:spcAft>
                <a:defRPr sz="1200">
                  <a:solidFill>
                    <a:srgbClr val="000000"/>
                  </a:solidFill>
                  <a:latin typeface="Arial" panose="020B0604020202020204" pitchFamily="34" charset="0"/>
                  <a:ea typeface="Osaka" charset="-128"/>
                </a:defRPr>
              </a:lvl6pPr>
              <a:lvl7pPr marL="914400" eaLnBrk="0" fontAlgn="base" hangingPunct="0">
                <a:spcBef>
                  <a:spcPct val="0"/>
                </a:spcBef>
                <a:spcAft>
                  <a:spcPct val="0"/>
                </a:spcAft>
                <a:defRPr sz="1200">
                  <a:solidFill>
                    <a:srgbClr val="000000"/>
                  </a:solidFill>
                  <a:latin typeface="Arial" panose="020B0604020202020204" pitchFamily="34" charset="0"/>
                  <a:ea typeface="Osaka" charset="-128"/>
                </a:defRPr>
              </a:lvl7pPr>
              <a:lvl8pPr marL="1371600" eaLnBrk="0" fontAlgn="base" hangingPunct="0">
                <a:spcBef>
                  <a:spcPct val="0"/>
                </a:spcBef>
                <a:spcAft>
                  <a:spcPct val="0"/>
                </a:spcAft>
                <a:defRPr sz="1200">
                  <a:solidFill>
                    <a:srgbClr val="000000"/>
                  </a:solidFill>
                  <a:latin typeface="Arial" panose="020B0604020202020204" pitchFamily="34" charset="0"/>
                  <a:ea typeface="Osaka" charset="-128"/>
                </a:defRPr>
              </a:lvl8pPr>
              <a:lvl9pPr marL="1828800" eaLnBrk="0" fontAlgn="base" hangingPunct="0">
                <a:spcBef>
                  <a:spcPct val="0"/>
                </a:spcBef>
                <a:spcAft>
                  <a:spcPct val="0"/>
                </a:spcAft>
                <a:defRPr sz="1200">
                  <a:solidFill>
                    <a:srgbClr val="000000"/>
                  </a:solidFill>
                  <a:latin typeface="Arial" panose="020B0604020202020204" pitchFamily="34" charset="0"/>
                  <a:ea typeface="Osaka" charset="-128"/>
                </a:defRPr>
              </a:lvl9pPr>
            </a:lstStyle>
            <a:p>
              <a:pPr eaLnBrk="1" hangingPunct="1"/>
              <a:r>
                <a:rPr lang="en-US" altLang="es-CO" sz="1400" b="1">
                  <a:latin typeface="Roboto" panose="02000000000000000000" pitchFamily="2" charset="0"/>
                  <a:ea typeface="Roboto" panose="02000000000000000000" pitchFamily="2" charset="0"/>
                </a:rPr>
                <a:t>UNCLUSTERED</a:t>
              </a:r>
            </a:p>
          </p:txBody>
        </p:sp>
      </p:grpSp>
    </p:spTree>
    <p:extLst>
      <p:ext uri="{BB962C8B-B14F-4D97-AF65-F5344CB8AC3E}">
        <p14:creationId xmlns:p14="http://schemas.microsoft.com/office/powerpoint/2010/main" val="2349722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¿El índice sigue el orden del archivo?</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87400" y="858094"/>
            <a:ext cx="10894350" cy="232398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t>Pregunta</a:t>
            </a:r>
            <a:r>
              <a:rPr lang="es-MX" sz="2000" dirty="0"/>
              <a:t>: ¿el orden de las entradas del índice coincide con el orden en que los registros están almacenados físicamente en disco?</a:t>
            </a:r>
          </a:p>
          <a:p>
            <a:r>
              <a:rPr lang="es-MX" sz="2000" dirty="0"/>
              <a:t>El índice se clasifica en uno de dos tipos:</a:t>
            </a:r>
          </a:p>
          <a:p>
            <a:pPr lvl="1"/>
            <a:r>
              <a:rPr lang="es-MX" sz="1800" b="1" dirty="0"/>
              <a:t>Índice de agrupamiento (Clustering index)</a:t>
            </a:r>
            <a:r>
              <a:rPr lang="es-MX" sz="1800" dirty="0"/>
              <a:t>: el orden del índice coincide con el orden físico del archivo. También llamado índice primario (</a:t>
            </a:r>
            <a:r>
              <a:rPr lang="es-MX" sz="1800" i="1" dirty="0"/>
              <a:t>primary index</a:t>
            </a:r>
            <a:r>
              <a:rPr lang="es-MX" sz="1800" dirty="0"/>
              <a:t>).</a:t>
            </a:r>
          </a:p>
          <a:p>
            <a:pPr lvl="1"/>
            <a:r>
              <a:rPr lang="es-MX" sz="1800" b="1" dirty="0"/>
              <a:t>Índice secundario (Secondary index)</a:t>
            </a:r>
            <a:r>
              <a:rPr lang="es-MX" sz="1800" dirty="0"/>
              <a:t>: el orden del índice es diferente al orden físico del archivo. También llamado índice no agrupado (</a:t>
            </a:r>
            <a:r>
              <a:rPr lang="es-MX" sz="1800" i="1" dirty="0"/>
              <a:t>non-clustering index</a:t>
            </a:r>
            <a:r>
              <a:rPr lang="es-MX" sz="1800" dirty="0"/>
              <a:t>).</a:t>
            </a:r>
            <a:endParaRPr lang="es-MX" sz="1600" dirty="0"/>
          </a:p>
          <a:p>
            <a:endParaRPr lang="es-MX" sz="1800" dirty="0"/>
          </a:p>
        </p:txBody>
      </p:sp>
      <p:graphicFrame>
        <p:nvGraphicFramePr>
          <p:cNvPr id="2" name="Tabla 1">
            <a:extLst>
              <a:ext uri="{FF2B5EF4-FFF2-40B4-BE49-F238E27FC236}">
                <a16:creationId xmlns:a16="http://schemas.microsoft.com/office/drawing/2014/main" id="{17A540F5-7213-400A-B8F7-01C8082A411E}"/>
              </a:ext>
            </a:extLst>
          </p:cNvPr>
          <p:cNvGraphicFramePr>
            <a:graphicFrameLocks noGrp="1"/>
          </p:cNvGraphicFramePr>
          <p:nvPr>
            <p:extLst>
              <p:ext uri="{D42A27DB-BD31-4B8C-83A1-F6EECF244321}">
                <p14:modId xmlns:p14="http://schemas.microsoft.com/office/powerpoint/2010/main" val="3236941910"/>
              </p:ext>
            </p:extLst>
          </p:nvPr>
        </p:nvGraphicFramePr>
        <p:xfrm>
          <a:off x="3602362" y="4120792"/>
          <a:ext cx="2260364" cy="1920240"/>
        </p:xfrm>
        <a:graphic>
          <a:graphicData uri="http://schemas.openxmlformats.org/drawingml/2006/table">
            <a:tbl>
              <a:tblPr/>
              <a:tblGrid>
                <a:gridCol w="502838">
                  <a:extLst>
                    <a:ext uri="{9D8B030D-6E8A-4147-A177-3AD203B41FA5}">
                      <a16:colId xmlns:a16="http://schemas.microsoft.com/office/drawing/2014/main" val="4081662270"/>
                    </a:ext>
                  </a:extLst>
                </a:gridCol>
                <a:gridCol w="746375">
                  <a:extLst>
                    <a:ext uri="{9D8B030D-6E8A-4147-A177-3AD203B41FA5}">
                      <a16:colId xmlns:a16="http://schemas.microsoft.com/office/drawing/2014/main" val="1086962741"/>
                    </a:ext>
                  </a:extLst>
                </a:gridCol>
                <a:gridCol w="1011151">
                  <a:extLst>
                    <a:ext uri="{9D8B030D-6E8A-4147-A177-3AD203B41FA5}">
                      <a16:colId xmlns:a16="http://schemas.microsoft.com/office/drawing/2014/main" val="3349388521"/>
                    </a:ext>
                  </a:extLst>
                </a:gridCol>
              </a:tblGrid>
              <a:tr h="0">
                <a:tc>
                  <a:txBody>
                    <a:bodyPr/>
                    <a:lstStyle/>
                    <a:p>
                      <a:r>
                        <a:rPr lang="es-CO" sz="1200" b="1" dirty="0">
                          <a:latin typeface="Roboto" panose="02000000000000000000" pitchFamily="2" charset="0"/>
                          <a:ea typeface="Roboto" panose="02000000000000000000" pitchFamily="2" charset="0"/>
                        </a:rPr>
                        <a:t>SSN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Name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Address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33701888"/>
                  </a:ext>
                </a:extLst>
              </a:tr>
              <a:tr h="0">
                <a:tc>
                  <a:txBody>
                    <a:bodyPr/>
                    <a:lstStyle/>
                    <a:p>
                      <a:r>
                        <a:rPr lang="es-CO" sz="1200" dirty="0">
                          <a:latin typeface="Roboto" panose="02000000000000000000" pitchFamily="2" charset="0"/>
                          <a:ea typeface="Roboto" panose="02000000000000000000" pitchFamily="2" charset="0"/>
                        </a:rPr>
                        <a:t>123</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807616569"/>
                  </a:ext>
                </a:extLst>
              </a:tr>
              <a:tr h="0">
                <a:tc>
                  <a:txBody>
                    <a:bodyPr/>
                    <a:lstStyle/>
                    <a:p>
                      <a:r>
                        <a:rPr lang="es-CO" sz="1200" dirty="0">
                          <a:latin typeface="Roboto" panose="02000000000000000000" pitchFamily="2" charset="0"/>
                          <a:ea typeface="Roboto" panose="02000000000000000000" pitchFamily="2" charset="0"/>
                        </a:rPr>
                        <a:t>234</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jones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75664877"/>
                  </a:ext>
                </a:extLst>
              </a:tr>
              <a:tr h="0">
                <a:tc>
                  <a:txBody>
                    <a:bodyPr/>
                    <a:lstStyle/>
                    <a:p>
                      <a:r>
                        <a:rPr lang="es-CO" sz="1200" dirty="0">
                          <a:latin typeface="Roboto" panose="02000000000000000000" pitchFamily="2" charset="0"/>
                          <a:ea typeface="Roboto" panose="02000000000000000000" pitchFamily="2" charset="0"/>
                        </a:rPr>
                        <a:t>345</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err="1">
                          <a:latin typeface="Roboto" panose="02000000000000000000" pitchFamily="2" charset="0"/>
                          <a:ea typeface="Roboto" panose="02000000000000000000" pitchFamily="2" charset="0"/>
                        </a:rPr>
                        <a:t>tomson</a:t>
                      </a:r>
                      <a:endParaRPr lang="es-CO" sz="1200" dirty="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71183170"/>
                  </a:ext>
                </a:extLst>
              </a:tr>
              <a:tr h="0">
                <a:tc>
                  <a:txBody>
                    <a:bodyPr/>
                    <a:lstStyle/>
                    <a:p>
                      <a:r>
                        <a:rPr lang="es-CO" sz="1200" dirty="0">
                          <a:latin typeface="Roboto" panose="02000000000000000000" pitchFamily="2" charset="0"/>
                          <a:ea typeface="Roboto" panose="02000000000000000000" pitchFamily="2" charset="0"/>
                        </a:rPr>
                        <a:t>456</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stevens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59844270"/>
                  </a:ext>
                </a:extLst>
              </a:tr>
              <a:tr h="0">
                <a:tc>
                  <a:txBody>
                    <a:bodyPr/>
                    <a:lstStyle/>
                    <a:p>
                      <a:r>
                        <a:rPr lang="es-CO" sz="1200" dirty="0">
                          <a:latin typeface="Roboto" panose="02000000000000000000" pitchFamily="2" charset="0"/>
                          <a:ea typeface="Roboto" panose="02000000000000000000" pitchFamily="2" charset="0"/>
                        </a:rPr>
                        <a:t>567</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65003318"/>
                  </a:ext>
                </a:extLst>
              </a:tr>
              <a:tr h="0">
                <a:tc gridSpan="3">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s-CO" sz="120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endParaRPr lang="es-CO" sz="1200" dirty="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8662169"/>
                  </a:ext>
                </a:extLst>
              </a:tr>
            </a:tbl>
          </a:graphicData>
        </a:graphic>
      </p:graphicFrame>
      <p:graphicFrame>
        <p:nvGraphicFramePr>
          <p:cNvPr id="3" name="Tabla 2">
            <a:extLst>
              <a:ext uri="{FF2B5EF4-FFF2-40B4-BE49-F238E27FC236}">
                <a16:creationId xmlns:a16="http://schemas.microsoft.com/office/drawing/2014/main" id="{6B14053B-98B6-469C-9ED7-838015E59E23}"/>
              </a:ext>
            </a:extLst>
          </p:cNvPr>
          <p:cNvGraphicFramePr>
            <a:graphicFrameLocks noGrp="1"/>
          </p:cNvGraphicFramePr>
          <p:nvPr>
            <p:extLst>
              <p:ext uri="{D42A27DB-BD31-4B8C-83A1-F6EECF244321}">
                <p14:modId xmlns:p14="http://schemas.microsoft.com/office/powerpoint/2010/main" val="2198246465"/>
              </p:ext>
            </p:extLst>
          </p:nvPr>
        </p:nvGraphicFramePr>
        <p:xfrm>
          <a:off x="8755525" y="4114573"/>
          <a:ext cx="2248235" cy="1920240"/>
        </p:xfrm>
        <a:graphic>
          <a:graphicData uri="http://schemas.openxmlformats.org/drawingml/2006/table">
            <a:tbl>
              <a:tblPr/>
              <a:tblGrid>
                <a:gridCol w="516255">
                  <a:extLst>
                    <a:ext uri="{9D8B030D-6E8A-4147-A177-3AD203B41FA5}">
                      <a16:colId xmlns:a16="http://schemas.microsoft.com/office/drawing/2014/main" val="1450910005"/>
                    </a:ext>
                  </a:extLst>
                </a:gridCol>
                <a:gridCol w="749618">
                  <a:extLst>
                    <a:ext uri="{9D8B030D-6E8A-4147-A177-3AD203B41FA5}">
                      <a16:colId xmlns:a16="http://schemas.microsoft.com/office/drawing/2014/main" val="1062292517"/>
                    </a:ext>
                  </a:extLst>
                </a:gridCol>
                <a:gridCol w="982362">
                  <a:extLst>
                    <a:ext uri="{9D8B030D-6E8A-4147-A177-3AD203B41FA5}">
                      <a16:colId xmlns:a16="http://schemas.microsoft.com/office/drawing/2014/main" val="2937106458"/>
                    </a:ext>
                  </a:extLst>
                </a:gridCol>
              </a:tblGrid>
              <a:tr h="0">
                <a:tc>
                  <a:txBody>
                    <a:bodyPr/>
                    <a:lstStyle/>
                    <a:p>
                      <a:r>
                        <a:rPr lang="es-CO" sz="1200" b="1" dirty="0">
                          <a:latin typeface="Roboto" panose="02000000000000000000" pitchFamily="2" charset="0"/>
                          <a:ea typeface="Roboto" panose="02000000000000000000" pitchFamily="2" charset="0"/>
                        </a:rPr>
                        <a:t>SSN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Name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Address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28831777"/>
                  </a:ext>
                </a:extLst>
              </a:tr>
              <a:tr h="0">
                <a:tc>
                  <a:txBody>
                    <a:bodyPr/>
                    <a:lstStyle/>
                    <a:p>
                      <a:r>
                        <a:rPr lang="es-CO" sz="1200" dirty="0">
                          <a:latin typeface="Roboto" panose="02000000000000000000" pitchFamily="2" charset="0"/>
                          <a:ea typeface="Roboto" panose="02000000000000000000" pitchFamily="2" charset="0"/>
                        </a:rPr>
                        <a:t>345</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a:latin typeface="Roboto" panose="02000000000000000000" pitchFamily="2" charset="0"/>
                          <a:ea typeface="Roboto" panose="02000000000000000000" pitchFamily="2" charset="0"/>
                        </a:rPr>
                        <a:t>tomson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53242742"/>
                  </a:ext>
                </a:extLst>
              </a:tr>
              <a:tr h="0">
                <a:tc>
                  <a:txBody>
                    <a:bodyPr/>
                    <a:lstStyle/>
                    <a:p>
                      <a:r>
                        <a:rPr lang="es-CO" sz="1200" dirty="0">
                          <a:latin typeface="Roboto" panose="02000000000000000000" pitchFamily="2" charset="0"/>
                          <a:ea typeface="Roboto" panose="02000000000000000000" pitchFamily="2" charset="0"/>
                        </a:rPr>
                        <a:t>234</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jones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557602528"/>
                  </a:ext>
                </a:extLst>
              </a:tr>
              <a:tr h="0">
                <a:tc>
                  <a:txBody>
                    <a:bodyPr/>
                    <a:lstStyle/>
                    <a:p>
                      <a:r>
                        <a:rPr lang="es-CO" sz="1200">
                          <a:latin typeface="Roboto" panose="02000000000000000000" pitchFamily="2" charset="0"/>
                          <a:ea typeface="Roboto" panose="02000000000000000000" pitchFamily="2" charset="0"/>
                        </a:rPr>
                        <a:t>567</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835996401"/>
                  </a:ext>
                </a:extLst>
              </a:tr>
              <a:tr h="0">
                <a:tc>
                  <a:txBody>
                    <a:bodyPr/>
                    <a:lstStyle/>
                    <a:p>
                      <a:r>
                        <a:rPr lang="es-CO" sz="1200" dirty="0">
                          <a:latin typeface="Roboto" panose="02000000000000000000" pitchFamily="2" charset="0"/>
                          <a:ea typeface="Roboto" panose="02000000000000000000" pitchFamily="2" charset="0"/>
                        </a:rPr>
                        <a:t>456</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stevens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9209873"/>
                  </a:ext>
                </a:extLst>
              </a:tr>
              <a:tr h="0">
                <a:tc>
                  <a:txBody>
                    <a:bodyPr/>
                    <a:lstStyle/>
                    <a:p>
                      <a:r>
                        <a:rPr lang="es-CO" sz="1200">
                          <a:latin typeface="Roboto" panose="02000000000000000000" pitchFamily="2" charset="0"/>
                          <a:ea typeface="Roboto" panose="02000000000000000000" pitchFamily="2" charset="0"/>
                        </a:rPr>
                        <a:t>123</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79533834"/>
                  </a:ext>
                </a:extLst>
              </a:tr>
              <a:tr h="0">
                <a:tc gridSpan="3">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s-CO" sz="120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endParaRPr lang="es-CO" sz="1200" dirty="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181206"/>
                  </a:ext>
                </a:extLst>
              </a:tr>
            </a:tbl>
          </a:graphicData>
        </a:graphic>
      </p:graphicFrame>
      <p:graphicFrame>
        <p:nvGraphicFramePr>
          <p:cNvPr id="4" name="Tabla 3">
            <a:extLst>
              <a:ext uri="{FF2B5EF4-FFF2-40B4-BE49-F238E27FC236}">
                <a16:creationId xmlns:a16="http://schemas.microsoft.com/office/drawing/2014/main" id="{565A5760-7468-4762-9FE4-ADD8F975EBDA}"/>
              </a:ext>
            </a:extLst>
          </p:cNvPr>
          <p:cNvGraphicFramePr>
            <a:graphicFrameLocks noGrp="1"/>
          </p:cNvGraphicFramePr>
          <p:nvPr>
            <p:extLst>
              <p:ext uri="{D42A27DB-BD31-4B8C-83A1-F6EECF244321}">
                <p14:modId xmlns:p14="http://schemas.microsoft.com/office/powerpoint/2010/main" val="2974632928"/>
              </p:ext>
            </p:extLst>
          </p:nvPr>
        </p:nvGraphicFramePr>
        <p:xfrm>
          <a:off x="2355478" y="4126612"/>
          <a:ext cx="502838" cy="822960"/>
        </p:xfrm>
        <a:graphic>
          <a:graphicData uri="http://schemas.openxmlformats.org/drawingml/2006/table">
            <a:tbl>
              <a:tblPr/>
              <a:tblGrid>
                <a:gridCol w="502838">
                  <a:extLst>
                    <a:ext uri="{9D8B030D-6E8A-4147-A177-3AD203B41FA5}">
                      <a16:colId xmlns:a16="http://schemas.microsoft.com/office/drawing/2014/main" val="937889192"/>
                    </a:ext>
                  </a:extLst>
                </a:gridCol>
              </a:tblGrid>
              <a:tr h="0">
                <a:tc>
                  <a:txBody>
                    <a:bodyPr/>
                    <a:lstStyle/>
                    <a:p>
                      <a:r>
                        <a:rPr lang="es-CO" sz="1200" dirty="0">
                          <a:latin typeface="Roboto" panose="02000000000000000000" pitchFamily="2" charset="0"/>
                          <a:ea typeface="Roboto" panose="02000000000000000000" pitchFamily="2" charset="0"/>
                        </a:rPr>
                        <a:t>123</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54557989"/>
                  </a:ext>
                </a:extLst>
              </a:tr>
              <a:tr h="0">
                <a:tc>
                  <a:txBody>
                    <a:bodyPr/>
                    <a:lstStyle/>
                    <a:p>
                      <a:r>
                        <a:rPr lang="es-CO" sz="1200" dirty="0">
                          <a:latin typeface="Roboto" panose="02000000000000000000" pitchFamily="2" charset="0"/>
                          <a:ea typeface="Roboto" panose="02000000000000000000" pitchFamily="2" charset="0"/>
                        </a:rPr>
                        <a:t>456</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83572399"/>
                  </a:ext>
                </a:extLst>
              </a:tr>
              <a:tr h="0">
                <a:tc>
                  <a:txBody>
                    <a:bodyPr/>
                    <a:lstStyle/>
                    <a:p>
                      <a:r>
                        <a:rPr lang="es-CO" sz="1200" dirty="0">
                          <a:latin typeface="Roboto" panose="02000000000000000000" pitchFamily="2" charset="0"/>
                          <a:ea typeface="Roboto" panose="02000000000000000000" pitchFamily="2"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963189"/>
                  </a:ext>
                </a:extLst>
              </a:tr>
            </a:tbl>
          </a:graphicData>
        </a:graphic>
      </p:graphicFrame>
      <p:graphicFrame>
        <p:nvGraphicFramePr>
          <p:cNvPr id="8" name="Tabla 7">
            <a:extLst>
              <a:ext uri="{FF2B5EF4-FFF2-40B4-BE49-F238E27FC236}">
                <a16:creationId xmlns:a16="http://schemas.microsoft.com/office/drawing/2014/main" id="{84E0BE07-FCA3-4AE3-AED7-F6EDFBFBEE03}"/>
              </a:ext>
            </a:extLst>
          </p:cNvPr>
          <p:cNvGraphicFramePr>
            <a:graphicFrameLocks noGrp="1"/>
          </p:cNvGraphicFramePr>
          <p:nvPr>
            <p:extLst>
              <p:ext uri="{D42A27DB-BD31-4B8C-83A1-F6EECF244321}">
                <p14:modId xmlns:p14="http://schemas.microsoft.com/office/powerpoint/2010/main" val="2419563140"/>
              </p:ext>
            </p:extLst>
          </p:nvPr>
        </p:nvGraphicFramePr>
        <p:xfrm>
          <a:off x="7225231" y="4118194"/>
          <a:ext cx="502838" cy="1371600"/>
        </p:xfrm>
        <a:graphic>
          <a:graphicData uri="http://schemas.openxmlformats.org/drawingml/2006/table">
            <a:tbl>
              <a:tblPr/>
              <a:tblGrid>
                <a:gridCol w="502838">
                  <a:extLst>
                    <a:ext uri="{9D8B030D-6E8A-4147-A177-3AD203B41FA5}">
                      <a16:colId xmlns:a16="http://schemas.microsoft.com/office/drawing/2014/main" val="937889192"/>
                    </a:ext>
                  </a:extLst>
                </a:gridCol>
              </a:tblGrid>
              <a:tr h="0">
                <a:tc>
                  <a:txBody>
                    <a:bodyPr/>
                    <a:lstStyle/>
                    <a:p>
                      <a:r>
                        <a:rPr lang="es-CO" sz="1200" dirty="0">
                          <a:latin typeface="Roboto" panose="02000000000000000000" pitchFamily="2" charset="0"/>
                          <a:ea typeface="Roboto" panose="02000000000000000000" pitchFamily="2" charset="0"/>
                        </a:rPr>
                        <a:t>123</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557989"/>
                  </a:ext>
                </a:extLst>
              </a:tr>
              <a:tr h="0">
                <a:tc>
                  <a:txBody>
                    <a:bodyPr/>
                    <a:lstStyle/>
                    <a:p>
                      <a:r>
                        <a:rPr lang="es-CO" sz="1200" dirty="0">
                          <a:latin typeface="Roboto" panose="02000000000000000000" pitchFamily="2" charset="0"/>
                          <a:ea typeface="Roboto" panose="02000000000000000000" pitchFamily="2" charset="0"/>
                        </a:rPr>
                        <a:t>234</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3572399"/>
                  </a:ext>
                </a:extLst>
              </a:tr>
              <a:tr h="0">
                <a:tc>
                  <a:txBody>
                    <a:bodyPr/>
                    <a:lstStyle/>
                    <a:p>
                      <a:r>
                        <a:rPr lang="es-CO" sz="1200" dirty="0">
                          <a:latin typeface="Roboto" panose="02000000000000000000" pitchFamily="2" charset="0"/>
                          <a:ea typeface="Roboto" panose="02000000000000000000" pitchFamily="2" charset="0"/>
                        </a:rPr>
                        <a:t>345</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963189"/>
                  </a:ext>
                </a:extLst>
              </a:tr>
              <a:tr h="0">
                <a:tc>
                  <a:txBody>
                    <a:bodyPr/>
                    <a:lstStyle/>
                    <a:p>
                      <a:r>
                        <a:rPr lang="es-CO" sz="1200" dirty="0">
                          <a:latin typeface="Roboto" panose="02000000000000000000" pitchFamily="2" charset="0"/>
                          <a:ea typeface="Roboto" panose="02000000000000000000" pitchFamily="2" charset="0"/>
                        </a:rPr>
                        <a:t>456</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4178578"/>
                  </a:ext>
                </a:extLst>
              </a:tr>
              <a:tr h="0">
                <a:tc>
                  <a:txBody>
                    <a:bodyPr/>
                    <a:lstStyle/>
                    <a:p>
                      <a:r>
                        <a:rPr lang="es-CO" sz="1200" dirty="0">
                          <a:latin typeface="Roboto" panose="02000000000000000000" pitchFamily="2" charset="0"/>
                          <a:ea typeface="Roboto" panose="02000000000000000000" pitchFamily="2" charset="0"/>
                        </a:rPr>
                        <a:t>567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192563"/>
                  </a:ext>
                </a:extLst>
              </a:tr>
            </a:tbl>
          </a:graphicData>
        </a:graphic>
      </p:graphicFrame>
      <p:cxnSp>
        <p:nvCxnSpPr>
          <p:cNvPr id="6" name="Conector recto de flecha 5">
            <a:extLst>
              <a:ext uri="{FF2B5EF4-FFF2-40B4-BE49-F238E27FC236}">
                <a16:creationId xmlns:a16="http://schemas.microsoft.com/office/drawing/2014/main" id="{98993622-8FBF-470C-B641-843CF58CC2AB}"/>
              </a:ext>
            </a:extLst>
          </p:cNvPr>
          <p:cNvCxnSpPr>
            <a:cxnSpLocks/>
          </p:cNvCxnSpPr>
          <p:nvPr/>
        </p:nvCxnSpPr>
        <p:spPr>
          <a:xfrm>
            <a:off x="2870111" y="4286632"/>
            <a:ext cx="708660" cy="25146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7BBFC259-6FEE-438A-8610-E92C47BA3DA9}"/>
              </a:ext>
            </a:extLst>
          </p:cNvPr>
          <p:cNvCxnSpPr>
            <a:cxnSpLocks/>
          </p:cNvCxnSpPr>
          <p:nvPr/>
        </p:nvCxnSpPr>
        <p:spPr>
          <a:xfrm>
            <a:off x="2862491" y="4576192"/>
            <a:ext cx="723900" cy="78486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A9924E2F-0452-4244-A99D-D807DF45BD1C}"/>
              </a:ext>
            </a:extLst>
          </p:cNvPr>
          <p:cNvCxnSpPr>
            <a:cxnSpLocks/>
          </p:cNvCxnSpPr>
          <p:nvPr/>
        </p:nvCxnSpPr>
        <p:spPr>
          <a:xfrm>
            <a:off x="7728069" y="4234788"/>
            <a:ext cx="1017151" cy="1419587"/>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31778C9B-9F1D-49D6-BF5F-B3FD9ECF70AF}"/>
              </a:ext>
            </a:extLst>
          </p:cNvPr>
          <p:cNvCxnSpPr>
            <a:cxnSpLocks/>
          </p:cNvCxnSpPr>
          <p:nvPr/>
        </p:nvCxnSpPr>
        <p:spPr>
          <a:xfrm>
            <a:off x="7731760" y="4534235"/>
            <a:ext cx="1028700" cy="26670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894B185B-56CA-493B-A60D-8C8723DD55A9}"/>
              </a:ext>
            </a:extLst>
          </p:cNvPr>
          <p:cNvCxnSpPr>
            <a:cxnSpLocks/>
          </p:cNvCxnSpPr>
          <p:nvPr/>
        </p:nvCxnSpPr>
        <p:spPr>
          <a:xfrm flipV="1">
            <a:off x="7739380" y="4511375"/>
            <a:ext cx="1013460" cy="28194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728E3162-26D0-4B99-BFBB-5C3E9E3B73B3}"/>
              </a:ext>
            </a:extLst>
          </p:cNvPr>
          <p:cNvCxnSpPr>
            <a:cxnSpLocks/>
          </p:cNvCxnSpPr>
          <p:nvPr/>
        </p:nvCxnSpPr>
        <p:spPr>
          <a:xfrm>
            <a:off x="7739380" y="5075255"/>
            <a:ext cx="1005840" cy="28194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7A55A1BB-2823-4D8B-9EFF-6EF469F78B8E}"/>
              </a:ext>
            </a:extLst>
          </p:cNvPr>
          <p:cNvCxnSpPr>
            <a:cxnSpLocks/>
          </p:cNvCxnSpPr>
          <p:nvPr/>
        </p:nvCxnSpPr>
        <p:spPr>
          <a:xfrm flipV="1">
            <a:off x="7716520" y="5075255"/>
            <a:ext cx="1021080" cy="27432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908E7E84-3EDD-44AD-ADCF-BD3C4930A701}"/>
                  </a:ext>
                </a:extLst>
              </p:cNvPr>
              <p:cNvSpPr txBox="1"/>
              <p:nvPr/>
            </p:nvSpPr>
            <p:spPr>
              <a:xfrm>
                <a:off x="3002167" y="4118194"/>
                <a:ext cx="47557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200" b="1" i="1" smtClean="0">
                          <a:solidFill>
                            <a:schemeClr val="accent2"/>
                          </a:solidFill>
                          <a:latin typeface="Cambria Math" panose="02040503050406030204" pitchFamily="18" charset="0"/>
                        </a:rPr>
                        <m:t>≥</m:t>
                      </m:r>
                      <m:r>
                        <a:rPr lang="es-MX" sz="1200" b="1" i="1" smtClean="0">
                          <a:solidFill>
                            <a:schemeClr val="accent2"/>
                          </a:solidFill>
                          <a:latin typeface="Cambria Math" panose="02040503050406030204" pitchFamily="18" charset="0"/>
                        </a:rPr>
                        <m:t>𝟏𝟐𝟑</m:t>
                      </m:r>
                    </m:oMath>
                  </m:oMathPara>
                </a14:m>
                <a:endParaRPr lang="es-CO" sz="1200" b="1" dirty="0">
                  <a:solidFill>
                    <a:schemeClr val="accent2"/>
                  </a:solidFill>
                </a:endParaRPr>
              </a:p>
            </p:txBody>
          </p:sp>
        </mc:Choice>
        <mc:Fallback xmlns="">
          <p:sp>
            <p:nvSpPr>
              <p:cNvPr id="29" name="CuadroTexto 28">
                <a:extLst>
                  <a:ext uri="{FF2B5EF4-FFF2-40B4-BE49-F238E27FC236}">
                    <a16:creationId xmlns:a16="http://schemas.microsoft.com/office/drawing/2014/main" id="{908E7E84-3EDD-44AD-ADCF-BD3C4930A701}"/>
                  </a:ext>
                </a:extLst>
              </p:cNvPr>
              <p:cNvSpPr txBox="1">
                <a:spLocks noRot="1" noChangeAspect="1" noMove="1" noResize="1" noEditPoints="1" noAdjustHandles="1" noChangeArrowheads="1" noChangeShapeType="1" noTextEdit="1"/>
              </p:cNvSpPr>
              <p:nvPr/>
            </p:nvSpPr>
            <p:spPr>
              <a:xfrm>
                <a:off x="3002167" y="4118194"/>
                <a:ext cx="475579" cy="184666"/>
              </a:xfrm>
              <a:prstGeom prst="rect">
                <a:avLst/>
              </a:prstGeom>
              <a:blipFill>
                <a:blip r:embed="rId3"/>
                <a:stretch>
                  <a:fillRect l="-6410" r="-7692" b="-1666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05A75F8F-78FB-4D21-8C32-C2044C2D98C2}"/>
                  </a:ext>
                </a:extLst>
              </p:cNvPr>
              <p:cNvSpPr txBox="1"/>
              <p:nvPr/>
            </p:nvSpPr>
            <p:spPr>
              <a:xfrm>
                <a:off x="3002167" y="4550991"/>
                <a:ext cx="47557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1200" b="1" i="1" smtClean="0">
                          <a:solidFill>
                            <a:schemeClr val="accent1"/>
                          </a:solidFill>
                          <a:latin typeface="Cambria Math" panose="02040503050406030204" pitchFamily="18" charset="0"/>
                        </a:rPr>
                        <m:t>≥</m:t>
                      </m:r>
                      <m:r>
                        <a:rPr lang="es-MX" sz="1200" b="1" i="1" smtClean="0">
                          <a:solidFill>
                            <a:schemeClr val="accent1"/>
                          </a:solidFill>
                          <a:latin typeface="Cambria Math" panose="02040503050406030204" pitchFamily="18" charset="0"/>
                        </a:rPr>
                        <m:t>𝟒𝟓𝟔</m:t>
                      </m:r>
                    </m:oMath>
                  </m:oMathPara>
                </a14:m>
                <a:endParaRPr lang="es-CO" sz="1200" b="1" dirty="0">
                  <a:solidFill>
                    <a:schemeClr val="accent1"/>
                  </a:solidFill>
                </a:endParaRPr>
              </a:p>
            </p:txBody>
          </p:sp>
        </mc:Choice>
        <mc:Fallback xmlns="">
          <p:sp>
            <p:nvSpPr>
              <p:cNvPr id="34" name="CuadroTexto 33">
                <a:extLst>
                  <a:ext uri="{FF2B5EF4-FFF2-40B4-BE49-F238E27FC236}">
                    <a16:creationId xmlns:a16="http://schemas.microsoft.com/office/drawing/2014/main" id="{05A75F8F-78FB-4D21-8C32-C2044C2D98C2}"/>
                  </a:ext>
                </a:extLst>
              </p:cNvPr>
              <p:cNvSpPr txBox="1">
                <a:spLocks noRot="1" noChangeAspect="1" noMove="1" noResize="1" noEditPoints="1" noAdjustHandles="1" noChangeArrowheads="1" noChangeShapeType="1" noTextEdit="1"/>
              </p:cNvSpPr>
              <p:nvPr/>
            </p:nvSpPr>
            <p:spPr>
              <a:xfrm>
                <a:off x="3002167" y="4550991"/>
                <a:ext cx="475579" cy="184666"/>
              </a:xfrm>
              <a:prstGeom prst="rect">
                <a:avLst/>
              </a:prstGeom>
              <a:blipFill>
                <a:blip r:embed="rId4"/>
                <a:stretch>
                  <a:fillRect l="-6410" r="-8974" b="-16667"/>
                </a:stretch>
              </a:blipFill>
            </p:spPr>
            <p:txBody>
              <a:bodyPr/>
              <a:lstStyle/>
              <a:p>
                <a:r>
                  <a:rPr lang="es-CO">
                    <a:noFill/>
                  </a:rPr>
                  <a:t> </a:t>
                </a:r>
              </a:p>
            </p:txBody>
          </p:sp>
        </mc:Fallback>
      </mc:AlternateContent>
      <p:sp>
        <p:nvSpPr>
          <p:cNvPr id="31" name="CuadroTexto 30">
            <a:extLst>
              <a:ext uri="{FF2B5EF4-FFF2-40B4-BE49-F238E27FC236}">
                <a16:creationId xmlns:a16="http://schemas.microsoft.com/office/drawing/2014/main" id="{53DEE642-E83A-4A53-A28B-50BEA11F795D}"/>
              </a:ext>
            </a:extLst>
          </p:cNvPr>
          <p:cNvSpPr txBox="1"/>
          <p:nvPr/>
        </p:nvSpPr>
        <p:spPr>
          <a:xfrm>
            <a:off x="2293852" y="3429000"/>
            <a:ext cx="3751348" cy="338554"/>
          </a:xfrm>
          <a:prstGeom prst="rect">
            <a:avLst/>
          </a:prstGeom>
          <a:noFill/>
        </p:spPr>
        <p:txBody>
          <a:bodyPr wrap="none" rtlCol="0">
            <a:spAutoFit/>
          </a:bodyPr>
          <a:lstStyle/>
          <a:p>
            <a:r>
              <a:rPr lang="es-CO" sz="1600" b="1" dirty="0">
                <a:latin typeface="Roboto" panose="02000000000000000000" pitchFamily="2" charset="0"/>
                <a:ea typeface="Roboto" panose="02000000000000000000" pitchFamily="2" charset="0"/>
              </a:rPr>
              <a:t>Clustering / Índice disperso sobre SSN</a:t>
            </a:r>
          </a:p>
        </p:txBody>
      </p:sp>
      <p:sp>
        <p:nvSpPr>
          <p:cNvPr id="36" name="CuadroTexto 35">
            <a:extLst>
              <a:ext uri="{FF2B5EF4-FFF2-40B4-BE49-F238E27FC236}">
                <a16:creationId xmlns:a16="http://schemas.microsoft.com/office/drawing/2014/main" id="{3DE7131A-9C17-4EA6-A111-321ED48F9684}"/>
              </a:ext>
            </a:extLst>
          </p:cNvPr>
          <p:cNvSpPr txBox="1"/>
          <p:nvPr/>
        </p:nvSpPr>
        <p:spPr>
          <a:xfrm>
            <a:off x="7225231" y="3429000"/>
            <a:ext cx="3826689" cy="338554"/>
          </a:xfrm>
          <a:prstGeom prst="rect">
            <a:avLst/>
          </a:prstGeom>
          <a:noFill/>
        </p:spPr>
        <p:txBody>
          <a:bodyPr wrap="none" rtlCol="0">
            <a:spAutoFit/>
          </a:bodyPr>
          <a:lstStyle/>
          <a:p>
            <a:r>
              <a:rPr lang="es-CO" sz="1600" b="1" dirty="0">
                <a:latin typeface="Roboto" panose="02000000000000000000" pitchFamily="2" charset="0"/>
                <a:ea typeface="Roboto" panose="02000000000000000000" pitchFamily="2" charset="0"/>
              </a:rPr>
              <a:t>No Clustering / Índice denso sobre SSN</a:t>
            </a:r>
          </a:p>
        </p:txBody>
      </p:sp>
      <p:sp>
        <p:nvSpPr>
          <p:cNvPr id="37" name="CuadroTexto 36">
            <a:extLst>
              <a:ext uri="{FF2B5EF4-FFF2-40B4-BE49-F238E27FC236}">
                <a16:creationId xmlns:a16="http://schemas.microsoft.com/office/drawing/2014/main" id="{65D99DA4-ADC4-49D2-8F7D-0EE10CF815A1}"/>
              </a:ext>
            </a:extLst>
          </p:cNvPr>
          <p:cNvSpPr txBox="1"/>
          <p:nvPr/>
        </p:nvSpPr>
        <p:spPr>
          <a:xfrm>
            <a:off x="4221792" y="3786604"/>
            <a:ext cx="880369" cy="307777"/>
          </a:xfrm>
          <a:prstGeom prst="rect">
            <a:avLst/>
          </a:prstGeom>
          <a:noFill/>
        </p:spPr>
        <p:txBody>
          <a:bodyPr wrap="none" rtlCol="0">
            <a:spAutoFit/>
          </a:bodyPr>
          <a:lstStyle/>
          <a:p>
            <a:r>
              <a:rPr lang="es-CO" b="1" dirty="0">
                <a:solidFill>
                  <a:schemeClr val="accent2"/>
                </a:solidFill>
                <a:latin typeface="Consolas" panose="020B0609020204030204" pitchFamily="49" charset="0"/>
                <a:ea typeface="Roboto" panose="02000000000000000000" pitchFamily="2" charset="0"/>
              </a:rPr>
              <a:t>Student</a:t>
            </a:r>
          </a:p>
        </p:txBody>
      </p:sp>
      <p:sp>
        <p:nvSpPr>
          <p:cNvPr id="38" name="CuadroTexto 37">
            <a:extLst>
              <a:ext uri="{FF2B5EF4-FFF2-40B4-BE49-F238E27FC236}">
                <a16:creationId xmlns:a16="http://schemas.microsoft.com/office/drawing/2014/main" id="{46EB2BF6-A1B5-459D-B002-BC9851015B7B}"/>
              </a:ext>
            </a:extLst>
          </p:cNvPr>
          <p:cNvSpPr txBox="1"/>
          <p:nvPr/>
        </p:nvSpPr>
        <p:spPr>
          <a:xfrm>
            <a:off x="9439457" y="3778186"/>
            <a:ext cx="880369" cy="307777"/>
          </a:xfrm>
          <a:prstGeom prst="rect">
            <a:avLst/>
          </a:prstGeom>
          <a:noFill/>
        </p:spPr>
        <p:txBody>
          <a:bodyPr wrap="none" rtlCol="0">
            <a:spAutoFit/>
          </a:bodyPr>
          <a:lstStyle/>
          <a:p>
            <a:r>
              <a:rPr lang="es-CO" b="1" dirty="0">
                <a:solidFill>
                  <a:schemeClr val="accent2"/>
                </a:solidFill>
                <a:latin typeface="Consolas" panose="020B0609020204030204" pitchFamily="49" charset="0"/>
                <a:ea typeface="Roboto" panose="02000000000000000000" pitchFamily="2" charset="0"/>
              </a:rPr>
              <a:t>Student</a:t>
            </a:r>
          </a:p>
        </p:txBody>
      </p:sp>
    </p:spTree>
    <p:extLst>
      <p:ext uri="{BB962C8B-B14F-4D97-AF65-F5344CB8AC3E}">
        <p14:creationId xmlns:p14="http://schemas.microsoft.com/office/powerpoint/2010/main" val="1252726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Índice de agrupamiento (Clustering index)</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893405"/>
            <a:ext cx="8287462" cy="25571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1800" dirty="0"/>
              <a:t>En un índice de agrupamiento, el orden de las entradas del índice </a:t>
            </a:r>
            <a:r>
              <a:rPr lang="es-MX" sz="1800" b="1" dirty="0"/>
              <a:t>coincide con el orden físico</a:t>
            </a:r>
            <a:r>
              <a:rPr lang="es-MX" sz="1800" dirty="0"/>
              <a:t> en que los registros están almacenados en el archivo.</a:t>
            </a:r>
          </a:p>
          <a:p>
            <a:r>
              <a:rPr lang="es-MX" sz="1800" dirty="0"/>
              <a:t>También denominado </a:t>
            </a:r>
            <a:r>
              <a:rPr lang="es-MX" sz="1800" b="1" dirty="0"/>
              <a:t>índice primario</a:t>
            </a:r>
            <a:r>
              <a:rPr lang="es-MX" sz="1800" dirty="0"/>
              <a:t> (</a:t>
            </a:r>
            <a:r>
              <a:rPr lang="es-MX" sz="1800" i="1" dirty="0"/>
              <a:t>primary index</a:t>
            </a:r>
            <a:r>
              <a:rPr lang="es-MX" sz="1800" dirty="0"/>
              <a:t>).</a:t>
            </a:r>
          </a:p>
          <a:p>
            <a:pPr lvl="1"/>
            <a:r>
              <a:rPr lang="es-MX" sz="1800" dirty="0"/>
              <a:t>La clave de búsqueda del índice primario es usualmente, aunque </a:t>
            </a:r>
            <a:r>
              <a:rPr lang="es-MX" sz="1800" b="1" dirty="0"/>
              <a:t>no necesariamente</a:t>
            </a:r>
            <a:r>
              <a:rPr lang="es-MX" sz="1800" dirty="0"/>
              <a:t>, la clave primaria (</a:t>
            </a:r>
            <a:r>
              <a:rPr lang="es-MX" sz="1800" i="1" dirty="0"/>
              <a:t>primary key</a:t>
            </a:r>
            <a:r>
              <a:rPr lang="es-MX" sz="1800" dirty="0"/>
              <a:t>) de la relación.</a:t>
            </a:r>
          </a:p>
          <a:p>
            <a:pPr lvl="1"/>
            <a:r>
              <a:rPr lang="es-MX" sz="1800" dirty="0"/>
              <a:t>Al estar alineado con el orden físico del archivo, permite recorrer rangos de registros de forma </a:t>
            </a:r>
            <a:r>
              <a:rPr lang="es-MX" sz="1800" b="1" dirty="0"/>
              <a:t>secuencial y eficiente</a:t>
            </a:r>
            <a:r>
              <a:rPr lang="es-MX" sz="1800" dirty="0"/>
              <a:t>.</a:t>
            </a:r>
            <a:endParaRPr lang="es-MX" sz="1600" dirty="0"/>
          </a:p>
        </p:txBody>
      </p:sp>
      <p:grpSp>
        <p:nvGrpSpPr>
          <p:cNvPr id="15" name="Grupo 14">
            <a:extLst>
              <a:ext uri="{FF2B5EF4-FFF2-40B4-BE49-F238E27FC236}">
                <a16:creationId xmlns:a16="http://schemas.microsoft.com/office/drawing/2014/main" id="{FC74D30F-6DC5-40CE-B4ED-29F449EA8497}"/>
              </a:ext>
            </a:extLst>
          </p:cNvPr>
          <p:cNvGrpSpPr/>
          <p:nvPr/>
        </p:nvGrpSpPr>
        <p:grpSpPr>
          <a:xfrm>
            <a:off x="1238231" y="3198355"/>
            <a:ext cx="4977111" cy="2784192"/>
            <a:chOff x="1238231" y="3198355"/>
            <a:chExt cx="4977111" cy="2784192"/>
          </a:xfrm>
        </p:grpSpPr>
        <p:pic>
          <p:nvPicPr>
            <p:cNvPr id="9" name="Picture 8">
              <a:extLst>
                <a:ext uri="{FF2B5EF4-FFF2-40B4-BE49-F238E27FC236}">
                  <a16:creationId xmlns:a16="http://schemas.microsoft.com/office/drawing/2014/main" id="{0C7D3680-27B9-4329-B973-B76B21CB7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159" y="3611805"/>
              <a:ext cx="4283183" cy="2080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uadroTexto 11">
              <a:extLst>
                <a:ext uri="{FF2B5EF4-FFF2-40B4-BE49-F238E27FC236}">
                  <a16:creationId xmlns:a16="http://schemas.microsoft.com/office/drawing/2014/main" id="{4E237079-1C3B-4ABE-A9F2-F6438956FED8}"/>
                </a:ext>
              </a:extLst>
            </p:cNvPr>
            <p:cNvSpPr txBox="1"/>
            <p:nvPr/>
          </p:nvSpPr>
          <p:spPr>
            <a:xfrm>
              <a:off x="1238231" y="3198355"/>
              <a:ext cx="1435100" cy="400110"/>
            </a:xfrm>
            <a:prstGeom prst="rect">
              <a:avLst/>
            </a:prstGeom>
            <a:noFill/>
          </p:spPr>
          <p:txBody>
            <a:bodyPr wrap="square">
              <a:spAutoFit/>
            </a:bodyPr>
            <a:lstStyle/>
            <a:p>
              <a:pPr algn="r"/>
              <a:r>
                <a:rPr lang="es-CO" sz="1000" b="1" i="1" dirty="0">
                  <a:solidFill>
                    <a:schemeClr val="accent2"/>
                  </a:solidFill>
                  <a:latin typeface="Roboto" panose="02000000000000000000" pitchFamily="2" charset="0"/>
                  <a:ea typeface="Roboto" panose="02000000000000000000" pitchFamily="2" charset="0"/>
                </a:rPr>
                <a:t>Dense index </a:t>
              </a:r>
              <a:r>
                <a:rPr lang="es-CO" sz="1000" i="1" dirty="0">
                  <a:solidFill>
                    <a:schemeClr val="accent2"/>
                  </a:solidFill>
                  <a:latin typeface="Roboto" panose="02000000000000000000" pitchFamily="2" charset="0"/>
                  <a:ea typeface="Roboto" panose="02000000000000000000" pitchFamily="2" charset="0"/>
                </a:rPr>
                <a:t>— una entrada por registro</a:t>
              </a:r>
            </a:p>
          </p:txBody>
        </p:sp>
        <p:sp>
          <p:nvSpPr>
            <p:cNvPr id="14" name="CuadroTexto 13">
              <a:extLst>
                <a:ext uri="{FF2B5EF4-FFF2-40B4-BE49-F238E27FC236}">
                  <a16:creationId xmlns:a16="http://schemas.microsoft.com/office/drawing/2014/main" id="{EE761076-0E7D-426C-94A4-4BF6617A7135}"/>
                </a:ext>
              </a:extLst>
            </p:cNvPr>
            <p:cNvSpPr txBox="1"/>
            <p:nvPr/>
          </p:nvSpPr>
          <p:spPr>
            <a:xfrm>
              <a:off x="2987888" y="3352244"/>
              <a:ext cx="1714376" cy="246221"/>
            </a:xfrm>
            <a:prstGeom prst="rect">
              <a:avLst/>
            </a:prstGeom>
            <a:noFill/>
          </p:spPr>
          <p:txBody>
            <a:bodyPr wrap="square">
              <a:spAutoFit/>
            </a:bodyPr>
            <a:lstStyle/>
            <a:p>
              <a:r>
                <a:rPr lang="es-CO" sz="1000" i="1" dirty="0">
                  <a:solidFill>
                    <a:schemeClr val="accent1"/>
                  </a:solidFill>
                  <a:latin typeface="Roboto" panose="02000000000000000000" pitchFamily="2" charset="0"/>
                  <a:ea typeface="Roboto" panose="02000000000000000000" pitchFamily="2" charset="0"/>
                </a:rPr>
                <a:t>Archivo ordenado por ID</a:t>
              </a:r>
            </a:p>
          </p:txBody>
        </p:sp>
        <p:sp>
          <p:nvSpPr>
            <p:cNvPr id="16" name="CuadroTexto 15">
              <a:extLst>
                <a:ext uri="{FF2B5EF4-FFF2-40B4-BE49-F238E27FC236}">
                  <a16:creationId xmlns:a16="http://schemas.microsoft.com/office/drawing/2014/main" id="{9F805C6E-2A0B-4C79-958D-75E7FCB81BAB}"/>
                </a:ext>
              </a:extLst>
            </p:cNvPr>
            <p:cNvSpPr txBox="1"/>
            <p:nvPr/>
          </p:nvSpPr>
          <p:spPr>
            <a:xfrm>
              <a:off x="1955781" y="5705548"/>
              <a:ext cx="4130783" cy="276999"/>
            </a:xfrm>
            <a:prstGeom prst="rect">
              <a:avLst/>
            </a:prstGeom>
            <a:noFill/>
          </p:spPr>
          <p:txBody>
            <a:bodyPr wrap="square">
              <a:spAutoFit/>
            </a:bodyPr>
            <a:lstStyle/>
            <a:p>
              <a:pPr algn="ctr"/>
              <a:r>
                <a:rPr lang="es-MX" sz="1200" dirty="0">
                  <a:latin typeface="Roboto" panose="02000000000000000000" pitchFamily="2" charset="0"/>
                  <a:ea typeface="Roboto" panose="02000000000000000000" pitchFamily="2" charset="0"/>
                </a:rPr>
                <a:t>Acceso directo a cualquier registro en una I/O</a:t>
              </a:r>
              <a:endParaRPr lang="es-CO" sz="1200" dirty="0">
                <a:latin typeface="Roboto" panose="02000000000000000000" pitchFamily="2" charset="0"/>
                <a:ea typeface="Roboto" panose="02000000000000000000" pitchFamily="2" charset="0"/>
              </a:endParaRPr>
            </a:p>
          </p:txBody>
        </p:sp>
      </p:grpSp>
      <p:grpSp>
        <p:nvGrpSpPr>
          <p:cNvPr id="13" name="Grupo 12">
            <a:extLst>
              <a:ext uri="{FF2B5EF4-FFF2-40B4-BE49-F238E27FC236}">
                <a16:creationId xmlns:a16="http://schemas.microsoft.com/office/drawing/2014/main" id="{61A3144F-78BE-465C-AD14-06657A4E404D}"/>
              </a:ext>
            </a:extLst>
          </p:cNvPr>
          <p:cNvGrpSpPr/>
          <p:nvPr/>
        </p:nvGrpSpPr>
        <p:grpSpPr>
          <a:xfrm>
            <a:off x="6375684" y="3211695"/>
            <a:ext cx="5526751" cy="2834754"/>
            <a:chOff x="6375684" y="3211695"/>
            <a:chExt cx="5526751" cy="2834754"/>
          </a:xfrm>
        </p:grpSpPr>
        <p:pic>
          <p:nvPicPr>
            <p:cNvPr id="10" name="Picture 7">
              <a:extLst>
                <a:ext uri="{FF2B5EF4-FFF2-40B4-BE49-F238E27FC236}">
                  <a16:creationId xmlns:a16="http://schemas.microsoft.com/office/drawing/2014/main" id="{4686522B-42C9-4C35-BEEE-5D031BA605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5668" y="3625145"/>
              <a:ext cx="5003989" cy="2080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CuadroTexto 16">
              <a:extLst>
                <a:ext uri="{FF2B5EF4-FFF2-40B4-BE49-F238E27FC236}">
                  <a16:creationId xmlns:a16="http://schemas.microsoft.com/office/drawing/2014/main" id="{BA5108DA-A141-4520-A997-7291BD01555A}"/>
                </a:ext>
              </a:extLst>
            </p:cNvPr>
            <p:cNvSpPr txBox="1"/>
            <p:nvPr/>
          </p:nvSpPr>
          <p:spPr>
            <a:xfrm>
              <a:off x="6375684" y="3211695"/>
              <a:ext cx="1435100" cy="400110"/>
            </a:xfrm>
            <a:prstGeom prst="rect">
              <a:avLst/>
            </a:prstGeom>
            <a:noFill/>
          </p:spPr>
          <p:txBody>
            <a:bodyPr wrap="square">
              <a:spAutoFit/>
            </a:bodyPr>
            <a:lstStyle/>
            <a:p>
              <a:pPr algn="r"/>
              <a:r>
                <a:rPr lang="es-CO" sz="1000" i="1" dirty="0">
                  <a:solidFill>
                    <a:schemeClr val="accent2"/>
                  </a:solidFill>
                  <a:latin typeface="Roboto" panose="02000000000000000000" pitchFamily="2" charset="0"/>
                  <a:ea typeface="Roboto" panose="02000000000000000000" pitchFamily="2" charset="0"/>
                </a:rPr>
                <a:t>Una entrada por valor único de </a:t>
              </a:r>
              <a:r>
                <a:rPr lang="es-CO" sz="1000" dirty="0">
                  <a:solidFill>
                    <a:schemeClr val="accent2"/>
                  </a:solidFill>
                  <a:latin typeface="Consolas" panose="020B0609020204030204" pitchFamily="49" charset="0"/>
                  <a:ea typeface="Roboto" panose="02000000000000000000" pitchFamily="2" charset="0"/>
                </a:rPr>
                <a:t>dept_name</a:t>
              </a:r>
            </a:p>
          </p:txBody>
        </p:sp>
        <p:sp>
          <p:nvSpPr>
            <p:cNvPr id="18" name="CuadroTexto 17">
              <a:extLst>
                <a:ext uri="{FF2B5EF4-FFF2-40B4-BE49-F238E27FC236}">
                  <a16:creationId xmlns:a16="http://schemas.microsoft.com/office/drawing/2014/main" id="{65F6BCF9-66F0-4E87-9E24-F3D905930A3E}"/>
                </a:ext>
              </a:extLst>
            </p:cNvPr>
            <p:cNvSpPr txBox="1"/>
            <p:nvPr/>
          </p:nvSpPr>
          <p:spPr>
            <a:xfrm>
              <a:off x="8154919" y="3300520"/>
              <a:ext cx="2948432" cy="246221"/>
            </a:xfrm>
            <a:prstGeom prst="rect">
              <a:avLst/>
            </a:prstGeom>
            <a:noFill/>
          </p:spPr>
          <p:txBody>
            <a:bodyPr wrap="square">
              <a:spAutoFit/>
            </a:bodyPr>
            <a:lstStyle/>
            <a:p>
              <a:r>
                <a:rPr lang="es-MX" sz="1000" i="1" dirty="0">
                  <a:solidFill>
                    <a:schemeClr val="accent1"/>
                  </a:solidFill>
                  <a:latin typeface="Roboto" panose="02000000000000000000" pitchFamily="2" charset="0"/>
                  <a:ea typeface="Roboto" panose="02000000000000000000" pitchFamily="2" charset="0"/>
                </a:rPr>
                <a:t>Registros del mismo dept agrupados físicamente</a:t>
              </a:r>
              <a:endParaRPr lang="es-CO" sz="1000" i="1" dirty="0">
                <a:solidFill>
                  <a:schemeClr val="accent1"/>
                </a:solidFill>
                <a:latin typeface="Roboto" panose="02000000000000000000" pitchFamily="2" charset="0"/>
                <a:ea typeface="Roboto" panose="02000000000000000000" pitchFamily="2" charset="0"/>
              </a:endParaRPr>
            </a:p>
          </p:txBody>
        </p:sp>
        <p:sp>
          <p:nvSpPr>
            <p:cNvPr id="20" name="CuadroTexto 19">
              <a:extLst>
                <a:ext uri="{FF2B5EF4-FFF2-40B4-BE49-F238E27FC236}">
                  <a16:creationId xmlns:a16="http://schemas.microsoft.com/office/drawing/2014/main" id="{C14BC1E7-6CB4-4DEA-ABA5-7BB942A42643}"/>
                </a:ext>
              </a:extLst>
            </p:cNvPr>
            <p:cNvSpPr txBox="1"/>
            <p:nvPr/>
          </p:nvSpPr>
          <p:spPr>
            <a:xfrm>
              <a:off x="6898446" y="5769450"/>
              <a:ext cx="5003989" cy="276999"/>
            </a:xfrm>
            <a:prstGeom prst="rect">
              <a:avLst/>
            </a:prstGeom>
            <a:noFill/>
          </p:spPr>
          <p:txBody>
            <a:bodyPr wrap="square">
              <a:spAutoFit/>
            </a:bodyPr>
            <a:lstStyle/>
            <a:p>
              <a:r>
                <a:rPr lang="es-MX" sz="1200" dirty="0">
                  <a:latin typeface="Roboto" panose="02000000000000000000" pitchFamily="2" charset="0"/>
                  <a:ea typeface="Roboto" panose="02000000000000000000" pitchFamily="2" charset="0"/>
                </a:rPr>
                <a:t>Desde el punto de entrada se recorre secuencialmente el grupo</a:t>
              </a:r>
              <a:endParaRPr lang="es-CO" sz="1200" dirty="0">
                <a:latin typeface="Roboto" panose="02000000000000000000" pitchFamily="2" charset="0"/>
                <a:ea typeface="Roboto" panose="02000000000000000000" pitchFamily="2" charset="0"/>
              </a:endParaRPr>
            </a:p>
          </p:txBody>
        </p:sp>
      </p:grpSp>
      <p:sp>
        <p:nvSpPr>
          <p:cNvPr id="22" name="CuadroTexto 21">
            <a:extLst>
              <a:ext uri="{FF2B5EF4-FFF2-40B4-BE49-F238E27FC236}">
                <a16:creationId xmlns:a16="http://schemas.microsoft.com/office/drawing/2014/main" id="{BE52A797-8926-4F8B-8516-B6BA7781B379}"/>
              </a:ext>
            </a:extLst>
          </p:cNvPr>
          <p:cNvSpPr txBox="1"/>
          <p:nvPr/>
        </p:nvSpPr>
        <p:spPr>
          <a:xfrm>
            <a:off x="971007" y="6207725"/>
            <a:ext cx="10903493" cy="584775"/>
          </a:xfrm>
          <a:prstGeom prst="rect">
            <a:avLst/>
          </a:prstGeom>
          <a:solidFill>
            <a:schemeClr val="tx2"/>
          </a:solidFill>
        </p:spPr>
        <p:txBody>
          <a:bodyPr wrap="square">
            <a:spAutoFit/>
          </a:bodyPr>
          <a:lstStyle/>
          <a:p>
            <a:r>
              <a:rPr lang="es-MX" sz="1600" i="1" dirty="0">
                <a:latin typeface="Roboto" panose="02000000000000000000" pitchFamily="2" charset="0"/>
                <a:ea typeface="Roboto" panose="02000000000000000000" pitchFamily="2" charset="0"/>
              </a:rPr>
              <a:t>Ambos son clustering indexes — el orden físico del archivo coincide con el orden del índice. La diferencia está en la unicidad de la search key</a:t>
            </a:r>
            <a:endParaRPr lang="es-CO" sz="1600"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65956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Índice de agrupamiento (Clustering index)</a:t>
            </a:r>
            <a:endParaRPr dirty="0">
              <a:highlight>
                <a:srgbClr val="FFFF00"/>
              </a:highlight>
            </a:endParaRPr>
          </a:p>
        </p:txBody>
      </p:sp>
      <p:sp>
        <p:nvSpPr>
          <p:cNvPr id="42" name="CuadroTexto 41">
            <a:extLst>
              <a:ext uri="{FF2B5EF4-FFF2-40B4-BE49-F238E27FC236}">
                <a16:creationId xmlns:a16="http://schemas.microsoft.com/office/drawing/2014/main" id="{B4C461DC-F2BC-4D9B-90C7-0901E5CBD283}"/>
              </a:ext>
            </a:extLst>
          </p:cNvPr>
          <p:cNvSpPr txBox="1"/>
          <p:nvPr/>
        </p:nvSpPr>
        <p:spPr>
          <a:xfrm>
            <a:off x="1717546" y="1652574"/>
            <a:ext cx="5887941" cy="954107"/>
          </a:xfrm>
          <a:prstGeom prst="rect">
            <a:avLst/>
          </a:prstGeom>
          <a:noFill/>
          <a:ln>
            <a:solidFill>
              <a:schemeClr val="tx1"/>
            </a:solidFill>
          </a:ln>
        </p:spPr>
        <p:txBody>
          <a:bodyPr wrap="square">
            <a:spAutoFit/>
          </a:bodyPr>
          <a:lstStyle/>
          <a:p>
            <a:r>
              <a:rPr lang="es-MX" dirty="0">
                <a:solidFill>
                  <a:srgbClr val="6E7687"/>
                </a:solidFill>
                <a:effectLst/>
                <a:latin typeface="Consolas" panose="020B0609020204030204" pitchFamily="49" charset="0"/>
                <a:ea typeface="Roboto" panose="02000000000000000000" pitchFamily="2" charset="0"/>
              </a:rPr>
              <a:t>-- Aprovecha al máximo el clustering index:</a:t>
            </a:r>
            <a:r>
              <a:rPr lang="es-MX" dirty="0">
                <a:latin typeface="Consolas" panose="020B0609020204030204" pitchFamily="49" charset="0"/>
                <a:ea typeface="Roboto" panose="02000000000000000000" pitchFamily="2" charset="0"/>
              </a:rPr>
              <a:t> </a:t>
            </a:r>
          </a:p>
          <a:p>
            <a:r>
              <a:rPr lang="es-MX" dirty="0">
                <a:solidFill>
                  <a:srgbClr val="8100C2"/>
                </a:solidFill>
                <a:effectLst/>
                <a:latin typeface="Consolas" panose="020B0609020204030204" pitchFamily="49" charset="0"/>
                <a:ea typeface="Roboto" panose="02000000000000000000" pitchFamily="2" charset="0"/>
              </a:rPr>
              <a:t>SELECT</a:t>
            </a:r>
            <a:r>
              <a:rPr lang="es-MX" dirty="0">
                <a:latin typeface="Consolas" panose="020B0609020204030204" pitchFamily="49" charset="0"/>
                <a:ea typeface="Roboto" panose="02000000000000000000" pitchFamily="2" charset="0"/>
              </a:rPr>
              <a:t> </a:t>
            </a:r>
            <a:r>
              <a:rPr lang="es-MX" dirty="0">
                <a:solidFill>
                  <a:srgbClr val="14181F"/>
                </a:solidFill>
                <a:effectLst/>
                <a:latin typeface="Consolas" panose="020B0609020204030204" pitchFamily="49" charset="0"/>
                <a:ea typeface="Roboto" panose="02000000000000000000" pitchFamily="2" charset="0"/>
              </a:rPr>
              <a:t>*</a:t>
            </a:r>
            <a:r>
              <a:rPr lang="es-MX" dirty="0">
                <a:latin typeface="Consolas" panose="020B0609020204030204" pitchFamily="49" charset="0"/>
                <a:ea typeface="Roboto" panose="02000000000000000000" pitchFamily="2" charset="0"/>
              </a:rPr>
              <a:t> </a:t>
            </a:r>
            <a:r>
              <a:rPr lang="es-MX" dirty="0">
                <a:solidFill>
                  <a:srgbClr val="8100C2"/>
                </a:solidFill>
                <a:effectLst/>
                <a:latin typeface="Consolas" panose="020B0609020204030204" pitchFamily="49" charset="0"/>
                <a:ea typeface="Roboto" panose="02000000000000000000" pitchFamily="2" charset="0"/>
              </a:rPr>
              <a:t>FROM</a:t>
            </a:r>
            <a:r>
              <a:rPr lang="es-MX" dirty="0">
                <a:latin typeface="Consolas" panose="020B0609020204030204" pitchFamily="49" charset="0"/>
                <a:ea typeface="Roboto" panose="02000000000000000000" pitchFamily="2" charset="0"/>
              </a:rPr>
              <a:t> instructor </a:t>
            </a:r>
          </a:p>
          <a:p>
            <a:r>
              <a:rPr lang="es-MX" dirty="0">
                <a:solidFill>
                  <a:srgbClr val="8100C2"/>
                </a:solidFill>
                <a:effectLst/>
                <a:latin typeface="Consolas" panose="020B0609020204030204" pitchFamily="49" charset="0"/>
                <a:ea typeface="Roboto" panose="02000000000000000000" pitchFamily="2" charset="0"/>
              </a:rPr>
              <a:t>WHERE</a:t>
            </a:r>
            <a:r>
              <a:rPr lang="es-MX" dirty="0">
                <a:latin typeface="Consolas" panose="020B0609020204030204" pitchFamily="49" charset="0"/>
                <a:ea typeface="Roboto" panose="02000000000000000000" pitchFamily="2" charset="0"/>
              </a:rPr>
              <a:t> ID </a:t>
            </a:r>
            <a:r>
              <a:rPr lang="es-MX" dirty="0">
                <a:solidFill>
                  <a:srgbClr val="14181F"/>
                </a:solidFill>
                <a:effectLst/>
                <a:latin typeface="Consolas" panose="020B0609020204030204" pitchFamily="49" charset="0"/>
                <a:ea typeface="Roboto" panose="02000000000000000000" pitchFamily="2" charset="0"/>
              </a:rPr>
              <a:t>BETWEEN</a:t>
            </a:r>
            <a:r>
              <a:rPr lang="es-MX" dirty="0">
                <a:latin typeface="Consolas" panose="020B0609020204030204" pitchFamily="49" charset="0"/>
                <a:ea typeface="Roboto" panose="02000000000000000000" pitchFamily="2" charset="0"/>
              </a:rPr>
              <a:t> </a:t>
            </a:r>
            <a:r>
              <a:rPr lang="es-MX" dirty="0">
                <a:solidFill>
                  <a:srgbClr val="008080"/>
                </a:solidFill>
                <a:effectLst/>
                <a:latin typeface="Consolas" panose="020B0609020204030204" pitchFamily="49" charset="0"/>
                <a:ea typeface="Roboto" panose="02000000000000000000" pitchFamily="2" charset="0"/>
              </a:rPr>
              <a:t>22222</a:t>
            </a:r>
            <a:r>
              <a:rPr lang="es-MX" dirty="0">
                <a:latin typeface="Consolas" panose="020B0609020204030204" pitchFamily="49" charset="0"/>
                <a:ea typeface="Roboto" panose="02000000000000000000" pitchFamily="2" charset="0"/>
              </a:rPr>
              <a:t> </a:t>
            </a:r>
            <a:r>
              <a:rPr lang="es-MX" dirty="0">
                <a:solidFill>
                  <a:srgbClr val="14181F"/>
                </a:solidFill>
                <a:effectLst/>
                <a:latin typeface="Consolas" panose="020B0609020204030204" pitchFamily="49" charset="0"/>
                <a:ea typeface="Roboto" panose="02000000000000000000" pitchFamily="2" charset="0"/>
              </a:rPr>
              <a:t>AND</a:t>
            </a:r>
            <a:r>
              <a:rPr lang="es-MX" dirty="0">
                <a:latin typeface="Consolas" panose="020B0609020204030204" pitchFamily="49" charset="0"/>
                <a:ea typeface="Roboto" panose="02000000000000000000" pitchFamily="2" charset="0"/>
              </a:rPr>
              <a:t> </a:t>
            </a:r>
            <a:r>
              <a:rPr lang="es-MX" dirty="0">
                <a:solidFill>
                  <a:srgbClr val="008080"/>
                </a:solidFill>
                <a:effectLst/>
                <a:latin typeface="Consolas" panose="020B0609020204030204" pitchFamily="49" charset="0"/>
                <a:ea typeface="Roboto" panose="02000000000000000000" pitchFamily="2" charset="0"/>
              </a:rPr>
              <a:t>45565</a:t>
            </a:r>
            <a:r>
              <a:rPr lang="es-MX" dirty="0">
                <a:solidFill>
                  <a:srgbClr val="2B303B"/>
                </a:solidFill>
                <a:effectLst/>
                <a:latin typeface="Consolas" panose="020B0609020204030204" pitchFamily="49" charset="0"/>
                <a:ea typeface="Roboto" panose="02000000000000000000" pitchFamily="2" charset="0"/>
              </a:rPr>
              <a:t>;</a:t>
            </a:r>
            <a:r>
              <a:rPr lang="es-MX" dirty="0">
                <a:latin typeface="Consolas" panose="020B0609020204030204" pitchFamily="49" charset="0"/>
                <a:ea typeface="Roboto" panose="02000000000000000000" pitchFamily="2" charset="0"/>
              </a:rPr>
              <a:t> </a:t>
            </a:r>
          </a:p>
          <a:p>
            <a:r>
              <a:rPr lang="es-MX" dirty="0">
                <a:solidFill>
                  <a:srgbClr val="6E7687"/>
                </a:solidFill>
                <a:effectLst/>
                <a:latin typeface="Consolas" panose="020B0609020204030204" pitchFamily="49" charset="0"/>
                <a:ea typeface="Roboto" panose="02000000000000000000" pitchFamily="2" charset="0"/>
              </a:rPr>
              <a:t>-- Los registros están físicamente contiguos en disco.</a:t>
            </a:r>
            <a:endParaRPr lang="es-CO" dirty="0">
              <a:latin typeface="Consolas" panose="020B0609020204030204" pitchFamily="49" charset="0"/>
              <a:ea typeface="Roboto" panose="02000000000000000000" pitchFamily="2" charset="0"/>
            </a:endParaRPr>
          </a:p>
        </p:txBody>
      </p:sp>
      <p:pic>
        <p:nvPicPr>
          <p:cNvPr id="6" name="Picture 8">
            <a:extLst>
              <a:ext uri="{FF2B5EF4-FFF2-40B4-BE49-F238E27FC236}">
                <a16:creationId xmlns:a16="http://schemas.microsoft.com/office/drawing/2014/main" id="{F5546F67-BE62-425A-A507-0AFD22C4C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379" y="3059220"/>
            <a:ext cx="5854104" cy="2843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F7A5D04B-01B6-40EE-A38F-03268EF09C70}"/>
              </a:ext>
            </a:extLst>
          </p:cNvPr>
          <p:cNvSpPr txBox="1"/>
          <p:nvPr/>
        </p:nvSpPr>
        <p:spPr>
          <a:xfrm>
            <a:off x="1006345" y="6115631"/>
            <a:ext cx="10538750" cy="646331"/>
          </a:xfrm>
          <a:prstGeom prst="rect">
            <a:avLst/>
          </a:prstGeom>
          <a:solidFill>
            <a:schemeClr val="tx2"/>
          </a:solidFill>
        </p:spPr>
        <p:txBody>
          <a:bodyPr wrap="square">
            <a:spAutoFit/>
          </a:bodyPr>
          <a:lstStyle/>
          <a:p>
            <a:r>
              <a:rPr lang="es-MX" sz="1800" i="1" dirty="0">
                <a:latin typeface="Roboto" panose="02000000000000000000" pitchFamily="2" charset="0"/>
                <a:ea typeface="Roboto" panose="02000000000000000000" pitchFamily="2" charset="0"/>
              </a:rPr>
              <a:t>Un índice de agrupamiento es como un índice de libro donde los capítulos están en el mismo orden en que aparecen las páginas — navegar es natural y eficiente.</a:t>
            </a:r>
            <a:endParaRPr lang="es-CO" sz="1800" i="1" dirty="0">
              <a:latin typeface="Roboto" panose="02000000000000000000" pitchFamily="2" charset="0"/>
              <a:ea typeface="Roboto" panose="02000000000000000000" pitchFamily="2" charset="0"/>
            </a:endParaRPr>
          </a:p>
        </p:txBody>
      </p:sp>
      <p:sp>
        <p:nvSpPr>
          <p:cNvPr id="9" name="Google Shape;310;p34">
            <a:extLst>
              <a:ext uri="{FF2B5EF4-FFF2-40B4-BE49-F238E27FC236}">
                <a16:creationId xmlns:a16="http://schemas.microsoft.com/office/drawing/2014/main" id="{B2078330-5988-4A55-9820-0042E449083A}"/>
              </a:ext>
            </a:extLst>
          </p:cNvPr>
          <p:cNvSpPr txBox="1">
            <a:spLocks/>
          </p:cNvSpPr>
          <p:nvPr/>
        </p:nvSpPr>
        <p:spPr>
          <a:xfrm>
            <a:off x="826625" y="955285"/>
            <a:ext cx="10538750" cy="4343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¿Qué gana el DBMS con el orden físico del </a:t>
            </a:r>
            <a:r>
              <a:rPr lang="es-MX" sz="2000" b="1" dirty="0"/>
              <a:t>clustering index</a:t>
            </a:r>
            <a:r>
              <a:rPr lang="es-MX" sz="2000" dirty="0"/>
              <a:t>?</a:t>
            </a:r>
            <a:endParaRPr lang="es-MX" sz="1800" dirty="0"/>
          </a:p>
        </p:txBody>
      </p:sp>
      <p:sp>
        <p:nvSpPr>
          <p:cNvPr id="10" name="Bocadillo: rectángulo con esquinas redondeadas 9">
            <a:extLst>
              <a:ext uri="{FF2B5EF4-FFF2-40B4-BE49-F238E27FC236}">
                <a16:creationId xmlns:a16="http://schemas.microsoft.com/office/drawing/2014/main" id="{46428F6E-0DD0-47DF-8A6E-3AEAD58BE7D1}"/>
              </a:ext>
            </a:extLst>
          </p:cNvPr>
          <p:cNvSpPr/>
          <p:nvPr/>
        </p:nvSpPr>
        <p:spPr>
          <a:xfrm>
            <a:off x="7997372" y="1602633"/>
            <a:ext cx="3236686" cy="845315"/>
          </a:xfrm>
          <a:prstGeom prst="wedgeRoundRectCallout">
            <a:avLst>
              <a:gd name="adj1" fmla="val -58986"/>
              <a:gd name="adj2" fmla="val 42994"/>
              <a:gd name="adj3" fmla="val 16667"/>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solidFill>
                  <a:schemeClr val="tx1"/>
                </a:solidFill>
                <a:latin typeface="Consolas" panose="020B0609020204030204" pitchFamily="49" charset="0"/>
                <a:ea typeface="Roboto" panose="02000000000000000000" pitchFamily="2" charset="0"/>
              </a:rPr>
              <a:t>BETWEEN</a:t>
            </a:r>
            <a:r>
              <a:rPr lang="es-MX" dirty="0">
                <a:solidFill>
                  <a:schemeClr val="tx1"/>
                </a:solidFill>
                <a:latin typeface="Roboto" panose="02000000000000000000" pitchFamily="2" charset="0"/>
                <a:ea typeface="Roboto" panose="02000000000000000000" pitchFamily="2" charset="0"/>
              </a:rPr>
              <a:t> aprovecha el orden físico — el DBMS entra por </a:t>
            </a:r>
            <a:r>
              <a:rPr lang="es-MX" dirty="0">
                <a:solidFill>
                  <a:schemeClr val="tx1"/>
                </a:solidFill>
                <a:latin typeface="Consolas" panose="020B0609020204030204" pitchFamily="49" charset="0"/>
                <a:ea typeface="Roboto" panose="02000000000000000000" pitchFamily="2" charset="0"/>
              </a:rPr>
              <a:t>22222</a:t>
            </a:r>
            <a:r>
              <a:rPr lang="es-MX" dirty="0">
                <a:solidFill>
                  <a:schemeClr val="tx1"/>
                </a:solidFill>
                <a:latin typeface="Roboto" panose="02000000000000000000" pitchFamily="2" charset="0"/>
                <a:ea typeface="Roboto" panose="02000000000000000000" pitchFamily="2" charset="0"/>
              </a:rPr>
              <a:t> y lee bloques consecutivos hasta </a:t>
            </a:r>
            <a:r>
              <a:rPr lang="es-MX" dirty="0">
                <a:solidFill>
                  <a:schemeClr val="tx1"/>
                </a:solidFill>
                <a:latin typeface="Consolas" panose="020B0609020204030204" pitchFamily="49" charset="0"/>
                <a:ea typeface="Roboto" panose="02000000000000000000" pitchFamily="2" charset="0"/>
              </a:rPr>
              <a:t>45565</a:t>
            </a:r>
            <a:endParaRPr lang="es-CO" dirty="0">
              <a:solidFill>
                <a:schemeClr val="tx1"/>
              </a:solidFill>
              <a:latin typeface="Consolas" panose="020B0609020204030204" pitchFamily="49" charset="0"/>
              <a:ea typeface="Roboto" panose="02000000000000000000" pitchFamily="2" charset="0"/>
            </a:endParaRPr>
          </a:p>
        </p:txBody>
      </p:sp>
      <p:sp>
        <p:nvSpPr>
          <p:cNvPr id="3" name="Rectángulo 2">
            <a:extLst>
              <a:ext uri="{FF2B5EF4-FFF2-40B4-BE49-F238E27FC236}">
                <a16:creationId xmlns:a16="http://schemas.microsoft.com/office/drawing/2014/main" id="{525C2770-64BD-4235-923E-66E78E3802C4}"/>
              </a:ext>
            </a:extLst>
          </p:cNvPr>
          <p:cNvSpPr/>
          <p:nvPr/>
        </p:nvSpPr>
        <p:spPr>
          <a:xfrm>
            <a:off x="3251201" y="3744655"/>
            <a:ext cx="4354286" cy="89988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Bocadillo: rectángulo con esquinas redondeadas 11">
            <a:extLst>
              <a:ext uri="{FF2B5EF4-FFF2-40B4-BE49-F238E27FC236}">
                <a16:creationId xmlns:a16="http://schemas.microsoft.com/office/drawing/2014/main" id="{90D0BA2B-AC17-4875-B4AB-13AE4C843F47}"/>
              </a:ext>
            </a:extLst>
          </p:cNvPr>
          <p:cNvSpPr/>
          <p:nvPr/>
        </p:nvSpPr>
        <p:spPr>
          <a:xfrm>
            <a:off x="8142516" y="3590577"/>
            <a:ext cx="3091542" cy="633139"/>
          </a:xfrm>
          <a:prstGeom prst="wedgeRoundRectCallout">
            <a:avLst>
              <a:gd name="adj1" fmla="val -63566"/>
              <a:gd name="adj2" fmla="val 49237"/>
              <a:gd name="adj3" fmla="val 1666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dirty="0">
                <a:solidFill>
                  <a:schemeClr val="tx1"/>
                </a:solidFill>
                <a:latin typeface="Roboto" panose="02000000000000000000" pitchFamily="2" charset="0"/>
                <a:ea typeface="Roboto" panose="02000000000000000000" pitchFamily="2" charset="0"/>
              </a:rPr>
              <a:t>Registros físicamente contiguos en disco</a:t>
            </a:r>
            <a:endParaRPr lang="es-CO" dirty="0">
              <a:solidFill>
                <a:schemeClr val="tx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45668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Índice secundario (Secondary index)</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803805" y="974560"/>
            <a:ext cx="11141452" cy="29804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En un índice secundario, el orden del índice </a:t>
            </a:r>
            <a:r>
              <a:rPr lang="es-MX" sz="2000" b="1" dirty="0"/>
              <a:t>es diferente al orden físico</a:t>
            </a:r>
            <a:r>
              <a:rPr lang="es-MX" sz="2000" dirty="0"/>
              <a:t> del archivo.</a:t>
            </a:r>
          </a:p>
          <a:p>
            <a:pPr lvl="1"/>
            <a:r>
              <a:rPr lang="es-MX" sz="2000" dirty="0"/>
              <a:t>También </a:t>
            </a:r>
            <a:r>
              <a:rPr lang="es-MX" sz="2000" b="1" dirty="0"/>
              <a:t>denominado índice no agrupado </a:t>
            </a:r>
            <a:r>
              <a:rPr lang="es-MX" sz="2000" dirty="0"/>
              <a:t>(</a:t>
            </a:r>
            <a:r>
              <a:rPr lang="es-MX" sz="2000" i="1" dirty="0"/>
              <a:t>non-clustering index</a:t>
            </a:r>
            <a:r>
              <a:rPr lang="es-MX" sz="2000" dirty="0"/>
              <a:t>)</a:t>
            </a:r>
          </a:p>
          <a:p>
            <a:pPr lvl="1"/>
            <a:r>
              <a:rPr lang="es-MX" sz="2000" dirty="0"/>
              <a:t>Los registros apuntados no están físicamente contiguos — cada acceso puede requerir una E/S diferente.</a:t>
            </a:r>
          </a:p>
          <a:p>
            <a:r>
              <a:rPr lang="es-MX" sz="2000" dirty="0"/>
              <a:t>Los índices secundarios </a:t>
            </a:r>
            <a:r>
              <a:rPr lang="es-MX" sz="2000" b="1" dirty="0"/>
              <a:t>deben ser densos</a:t>
            </a:r>
          </a:p>
          <a:p>
            <a:pPr lvl="1"/>
            <a:r>
              <a:rPr lang="es-MX" sz="2000" dirty="0"/>
              <a:t>El archivo no está ordenado por esta clave → se necesita una entrada por cada registro</a:t>
            </a:r>
          </a:p>
          <a:p>
            <a:pPr lvl="1"/>
            <a:r>
              <a:rPr lang="es-MX" sz="2000" dirty="0"/>
              <a:t>Cada entrada apunta a una </a:t>
            </a:r>
            <a:r>
              <a:rPr lang="es-MX" sz="2000" b="1" dirty="0"/>
              <a:t>cubeta</a:t>
            </a:r>
            <a:r>
              <a:rPr lang="es-MX" sz="2000" dirty="0"/>
              <a:t> (</a:t>
            </a:r>
            <a:r>
              <a:rPr lang="es-MX" sz="2000" i="1" dirty="0"/>
              <a:t>bucket</a:t>
            </a:r>
            <a:r>
              <a:rPr lang="es-MX" sz="2000" dirty="0"/>
              <a:t>) con punteros a todos los registros con ese valor</a:t>
            </a:r>
          </a:p>
        </p:txBody>
      </p:sp>
      <p:sp>
        <p:nvSpPr>
          <p:cNvPr id="39" name="CuadroTexto 38">
            <a:extLst>
              <a:ext uri="{FF2B5EF4-FFF2-40B4-BE49-F238E27FC236}">
                <a16:creationId xmlns:a16="http://schemas.microsoft.com/office/drawing/2014/main" id="{A1328C56-5C5F-4F75-95E0-71D18628ED22}"/>
              </a:ext>
            </a:extLst>
          </p:cNvPr>
          <p:cNvSpPr txBox="1"/>
          <p:nvPr/>
        </p:nvSpPr>
        <p:spPr>
          <a:xfrm>
            <a:off x="8534400" y="4083131"/>
            <a:ext cx="3291563" cy="2246769"/>
          </a:xfrm>
          <a:prstGeom prst="rect">
            <a:avLst/>
          </a:prstGeom>
          <a:solidFill>
            <a:schemeClr val="tx2"/>
          </a:solidFill>
        </p:spPr>
        <p:txBody>
          <a:bodyPr wrap="square">
            <a:spAutoFit/>
          </a:bodyPr>
          <a:lstStyle/>
          <a:p>
            <a:r>
              <a:rPr lang="es-MX" sz="2000" i="1" dirty="0">
                <a:latin typeface="Roboto" panose="02000000000000000000" pitchFamily="2" charset="0"/>
                <a:ea typeface="Roboto" panose="02000000000000000000" pitchFamily="2" charset="0"/>
              </a:rPr>
              <a:t>Un índice secundario es poderoso pero costoso: permite buscar por cualquier atributo, pero cada acceso puede implicar una operación de disco diferente.</a:t>
            </a:r>
            <a:endParaRPr lang="es-CO" sz="1600" i="1" dirty="0">
              <a:latin typeface="Roboto" panose="02000000000000000000" pitchFamily="2" charset="0"/>
              <a:ea typeface="Roboto" panose="02000000000000000000" pitchFamily="2" charset="0"/>
            </a:endParaRPr>
          </a:p>
        </p:txBody>
      </p:sp>
      <p:graphicFrame>
        <p:nvGraphicFramePr>
          <p:cNvPr id="5" name="Tabla 4">
            <a:extLst>
              <a:ext uri="{FF2B5EF4-FFF2-40B4-BE49-F238E27FC236}">
                <a16:creationId xmlns:a16="http://schemas.microsoft.com/office/drawing/2014/main" id="{3E6EAB06-D324-49E4-AF70-AAB117E71DFD}"/>
              </a:ext>
            </a:extLst>
          </p:cNvPr>
          <p:cNvGraphicFramePr>
            <a:graphicFrameLocks noGrp="1"/>
          </p:cNvGraphicFramePr>
          <p:nvPr>
            <p:extLst>
              <p:ext uri="{D42A27DB-BD31-4B8C-83A1-F6EECF244321}">
                <p14:modId xmlns:p14="http://schemas.microsoft.com/office/powerpoint/2010/main" val="3643481341"/>
              </p:ext>
            </p:extLst>
          </p:nvPr>
        </p:nvGraphicFramePr>
        <p:xfrm>
          <a:off x="5942181" y="4153955"/>
          <a:ext cx="2248235" cy="1920240"/>
        </p:xfrm>
        <a:graphic>
          <a:graphicData uri="http://schemas.openxmlformats.org/drawingml/2006/table">
            <a:tbl>
              <a:tblPr/>
              <a:tblGrid>
                <a:gridCol w="516255">
                  <a:extLst>
                    <a:ext uri="{9D8B030D-6E8A-4147-A177-3AD203B41FA5}">
                      <a16:colId xmlns:a16="http://schemas.microsoft.com/office/drawing/2014/main" val="1450910005"/>
                    </a:ext>
                  </a:extLst>
                </a:gridCol>
                <a:gridCol w="749618">
                  <a:extLst>
                    <a:ext uri="{9D8B030D-6E8A-4147-A177-3AD203B41FA5}">
                      <a16:colId xmlns:a16="http://schemas.microsoft.com/office/drawing/2014/main" val="1062292517"/>
                    </a:ext>
                  </a:extLst>
                </a:gridCol>
                <a:gridCol w="982362">
                  <a:extLst>
                    <a:ext uri="{9D8B030D-6E8A-4147-A177-3AD203B41FA5}">
                      <a16:colId xmlns:a16="http://schemas.microsoft.com/office/drawing/2014/main" val="2937106458"/>
                    </a:ext>
                  </a:extLst>
                </a:gridCol>
              </a:tblGrid>
              <a:tr h="0">
                <a:tc>
                  <a:txBody>
                    <a:bodyPr/>
                    <a:lstStyle/>
                    <a:p>
                      <a:r>
                        <a:rPr lang="es-CO" sz="1200" b="1" dirty="0">
                          <a:latin typeface="Roboto" panose="02000000000000000000" pitchFamily="2" charset="0"/>
                          <a:ea typeface="Roboto" panose="02000000000000000000" pitchFamily="2" charset="0"/>
                        </a:rPr>
                        <a:t>SSN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Name</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Address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28831777"/>
                  </a:ext>
                </a:extLst>
              </a:tr>
              <a:tr h="0">
                <a:tc>
                  <a:txBody>
                    <a:bodyPr/>
                    <a:lstStyle/>
                    <a:p>
                      <a:r>
                        <a:rPr lang="es-CO" sz="1200" dirty="0">
                          <a:latin typeface="Roboto" panose="02000000000000000000" pitchFamily="2" charset="0"/>
                          <a:ea typeface="Roboto" panose="02000000000000000000" pitchFamily="2" charset="0"/>
                        </a:rPr>
                        <a:t>345</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a:latin typeface="Roboto" panose="02000000000000000000" pitchFamily="2" charset="0"/>
                          <a:ea typeface="Roboto" panose="02000000000000000000" pitchFamily="2" charset="0"/>
                        </a:rPr>
                        <a:t>tomson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53242742"/>
                  </a:ext>
                </a:extLst>
              </a:tr>
              <a:tr h="0">
                <a:tc>
                  <a:txBody>
                    <a:bodyPr/>
                    <a:lstStyle/>
                    <a:p>
                      <a:r>
                        <a:rPr lang="es-CO" sz="1200" dirty="0">
                          <a:latin typeface="Roboto" panose="02000000000000000000" pitchFamily="2" charset="0"/>
                          <a:ea typeface="Roboto" panose="02000000000000000000" pitchFamily="2" charset="0"/>
                        </a:rPr>
                        <a:t>234</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jones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557602528"/>
                  </a:ext>
                </a:extLst>
              </a:tr>
              <a:tr h="0">
                <a:tc>
                  <a:txBody>
                    <a:bodyPr/>
                    <a:lstStyle/>
                    <a:p>
                      <a:r>
                        <a:rPr lang="es-CO" sz="1200">
                          <a:latin typeface="Roboto" panose="02000000000000000000" pitchFamily="2" charset="0"/>
                          <a:ea typeface="Roboto" panose="02000000000000000000" pitchFamily="2" charset="0"/>
                        </a:rPr>
                        <a:t>567</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835996401"/>
                  </a:ext>
                </a:extLst>
              </a:tr>
              <a:tr h="0">
                <a:tc>
                  <a:txBody>
                    <a:bodyPr/>
                    <a:lstStyle/>
                    <a:p>
                      <a:r>
                        <a:rPr lang="es-CO" sz="1200" dirty="0">
                          <a:latin typeface="Roboto" panose="02000000000000000000" pitchFamily="2" charset="0"/>
                          <a:ea typeface="Roboto" panose="02000000000000000000" pitchFamily="2" charset="0"/>
                        </a:rPr>
                        <a:t>456</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stevens</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forbes ave</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9209873"/>
                  </a:ext>
                </a:extLst>
              </a:tr>
              <a:tr h="0">
                <a:tc>
                  <a:txBody>
                    <a:bodyPr/>
                    <a:lstStyle/>
                    <a:p>
                      <a:r>
                        <a:rPr lang="es-CO" sz="1200">
                          <a:latin typeface="Roboto" panose="02000000000000000000" pitchFamily="2" charset="0"/>
                          <a:ea typeface="Roboto" panose="02000000000000000000" pitchFamily="2" charset="0"/>
                        </a:rPr>
                        <a:t>123</a:t>
                      </a:r>
                    </a:p>
                  </a:txBody>
                  <a:tcPr anchor="ctr">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smith</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main str</a:t>
                      </a:r>
                    </a:p>
                  </a:txBody>
                  <a:tcPr anchor="ctr">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79533834"/>
                  </a:ext>
                </a:extLst>
              </a:tr>
              <a:tr h="0">
                <a:tc gridSpan="3">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s-CO" sz="120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endParaRPr lang="es-CO" sz="1200" dirty="0">
                        <a:latin typeface="Roboto" panose="02000000000000000000" pitchFamily="2" charset="0"/>
                        <a:ea typeface="Roboto" panose="02000000000000000000" pitchFamily="2"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181206"/>
                  </a:ext>
                </a:extLst>
              </a:tr>
            </a:tbl>
          </a:graphicData>
        </a:graphic>
      </p:graphicFrame>
      <p:graphicFrame>
        <p:nvGraphicFramePr>
          <p:cNvPr id="6" name="Tabla 5">
            <a:extLst>
              <a:ext uri="{FF2B5EF4-FFF2-40B4-BE49-F238E27FC236}">
                <a16:creationId xmlns:a16="http://schemas.microsoft.com/office/drawing/2014/main" id="{B62882DC-2741-4F47-BFC7-8EB1EB6924EF}"/>
              </a:ext>
            </a:extLst>
          </p:cNvPr>
          <p:cNvGraphicFramePr>
            <a:graphicFrameLocks noGrp="1"/>
          </p:cNvGraphicFramePr>
          <p:nvPr>
            <p:extLst>
              <p:ext uri="{D42A27DB-BD31-4B8C-83A1-F6EECF244321}">
                <p14:modId xmlns:p14="http://schemas.microsoft.com/office/powerpoint/2010/main" val="1645296741"/>
              </p:ext>
            </p:extLst>
          </p:nvPr>
        </p:nvGraphicFramePr>
        <p:xfrm>
          <a:off x="3032524" y="5215753"/>
          <a:ext cx="297183" cy="822960"/>
        </p:xfrm>
        <a:graphic>
          <a:graphicData uri="http://schemas.openxmlformats.org/drawingml/2006/table">
            <a:tbl>
              <a:tblPr/>
              <a:tblGrid>
                <a:gridCol w="297183">
                  <a:extLst>
                    <a:ext uri="{9D8B030D-6E8A-4147-A177-3AD203B41FA5}">
                      <a16:colId xmlns:a16="http://schemas.microsoft.com/office/drawing/2014/main" val="937889192"/>
                    </a:ext>
                  </a:extLst>
                </a:gridCol>
              </a:tblGrid>
              <a:tr h="0">
                <a:tc>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54557989"/>
                  </a:ext>
                </a:extLst>
              </a:tr>
              <a:tr h="0">
                <a:tc>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83572399"/>
                  </a:ext>
                </a:extLst>
              </a:tr>
              <a:tr h="0">
                <a:tc>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42963189"/>
                  </a:ext>
                </a:extLst>
              </a:tr>
            </a:tbl>
          </a:graphicData>
        </a:graphic>
      </p:graphicFrame>
      <p:cxnSp>
        <p:nvCxnSpPr>
          <p:cNvPr id="7" name="Conector recto de flecha 6">
            <a:extLst>
              <a:ext uri="{FF2B5EF4-FFF2-40B4-BE49-F238E27FC236}">
                <a16:creationId xmlns:a16="http://schemas.microsoft.com/office/drawing/2014/main" id="{2B143490-2B6F-4C41-ABE3-2E33D83FA12C}"/>
              </a:ext>
            </a:extLst>
          </p:cNvPr>
          <p:cNvCxnSpPr>
            <a:cxnSpLocks/>
          </p:cNvCxnSpPr>
          <p:nvPr/>
        </p:nvCxnSpPr>
        <p:spPr>
          <a:xfrm>
            <a:off x="3329707" y="4561832"/>
            <a:ext cx="2612473"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F102DE56-9D7C-454C-B31B-A26B0C601483}"/>
              </a:ext>
            </a:extLst>
          </p:cNvPr>
          <p:cNvCxnSpPr>
            <a:cxnSpLocks/>
          </p:cNvCxnSpPr>
          <p:nvPr/>
        </p:nvCxnSpPr>
        <p:spPr>
          <a:xfrm>
            <a:off x="3329707" y="4871427"/>
            <a:ext cx="2594843" cy="7927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4CAD95B3-85B3-4E27-9C62-522AEE51C017}"/>
              </a:ext>
            </a:extLst>
          </p:cNvPr>
          <p:cNvCxnSpPr>
            <a:cxnSpLocks/>
          </p:cNvCxnSpPr>
          <p:nvPr/>
        </p:nvCxnSpPr>
        <p:spPr>
          <a:xfrm flipV="1">
            <a:off x="3329707" y="4833539"/>
            <a:ext cx="2612473" cy="51137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B860DC34-0489-43BB-B9A7-DDC2FDE7A359}"/>
              </a:ext>
            </a:extLst>
          </p:cNvPr>
          <p:cNvCxnSpPr>
            <a:cxnSpLocks/>
            <a:stCxn id="6" idx="3"/>
          </p:cNvCxnSpPr>
          <p:nvPr/>
        </p:nvCxnSpPr>
        <p:spPr>
          <a:xfrm flipV="1">
            <a:off x="3329707" y="5118100"/>
            <a:ext cx="2594843" cy="509133"/>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F5978CA9-C803-4396-80B8-8CC84164D84D}"/>
              </a:ext>
            </a:extLst>
          </p:cNvPr>
          <p:cNvCxnSpPr>
            <a:cxnSpLocks/>
          </p:cNvCxnSpPr>
          <p:nvPr/>
        </p:nvCxnSpPr>
        <p:spPr>
          <a:xfrm flipV="1">
            <a:off x="3329707" y="5397500"/>
            <a:ext cx="2594843" cy="490432"/>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Tabla 11">
            <a:extLst>
              <a:ext uri="{FF2B5EF4-FFF2-40B4-BE49-F238E27FC236}">
                <a16:creationId xmlns:a16="http://schemas.microsoft.com/office/drawing/2014/main" id="{DA904ABB-79FD-44A0-978C-76ED42A514D3}"/>
              </a:ext>
            </a:extLst>
          </p:cNvPr>
          <p:cNvGraphicFramePr>
            <a:graphicFrameLocks noGrp="1"/>
          </p:cNvGraphicFramePr>
          <p:nvPr>
            <p:extLst>
              <p:ext uri="{D42A27DB-BD31-4B8C-83A1-F6EECF244321}">
                <p14:modId xmlns:p14="http://schemas.microsoft.com/office/powerpoint/2010/main" val="1365665982"/>
              </p:ext>
            </p:extLst>
          </p:nvPr>
        </p:nvGraphicFramePr>
        <p:xfrm>
          <a:off x="1535703" y="4796269"/>
          <a:ext cx="979517" cy="548640"/>
        </p:xfrm>
        <a:graphic>
          <a:graphicData uri="http://schemas.openxmlformats.org/drawingml/2006/table">
            <a:tbl>
              <a:tblPr/>
              <a:tblGrid>
                <a:gridCol w="979517">
                  <a:extLst>
                    <a:ext uri="{9D8B030D-6E8A-4147-A177-3AD203B41FA5}">
                      <a16:colId xmlns:a16="http://schemas.microsoft.com/office/drawing/2014/main" val="937889192"/>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main str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557989"/>
                  </a:ext>
                </a:extLst>
              </a:tr>
              <a:tr h="0">
                <a:tc>
                  <a:txBody>
                    <a:bodyPr/>
                    <a:lstStyle/>
                    <a:p>
                      <a:pPr algn="ctr"/>
                      <a:r>
                        <a:rPr lang="es-CO" sz="1200" dirty="0">
                          <a:latin typeface="Roboto" panose="02000000000000000000" pitchFamily="2" charset="0"/>
                          <a:ea typeface="Roboto" panose="02000000000000000000" pitchFamily="2" charset="0"/>
                        </a:rPr>
                        <a:t>forbes ave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3572399"/>
                  </a:ext>
                </a:extLst>
              </a:tr>
            </a:tbl>
          </a:graphicData>
        </a:graphic>
      </p:graphicFrame>
      <p:graphicFrame>
        <p:nvGraphicFramePr>
          <p:cNvPr id="2" name="Tabla 1">
            <a:extLst>
              <a:ext uri="{FF2B5EF4-FFF2-40B4-BE49-F238E27FC236}">
                <a16:creationId xmlns:a16="http://schemas.microsoft.com/office/drawing/2014/main" id="{CC8EC090-348D-44BF-B840-D35CF4F836AF}"/>
              </a:ext>
            </a:extLst>
          </p:cNvPr>
          <p:cNvGraphicFramePr>
            <a:graphicFrameLocks noGrp="1"/>
          </p:cNvGraphicFramePr>
          <p:nvPr>
            <p:extLst>
              <p:ext uri="{D42A27DB-BD31-4B8C-83A1-F6EECF244321}">
                <p14:modId xmlns:p14="http://schemas.microsoft.com/office/powerpoint/2010/main" val="549105140"/>
              </p:ext>
            </p:extLst>
          </p:nvPr>
        </p:nvGraphicFramePr>
        <p:xfrm>
          <a:off x="3032524" y="4452327"/>
          <a:ext cx="297183" cy="548640"/>
        </p:xfrm>
        <a:graphic>
          <a:graphicData uri="http://schemas.openxmlformats.org/drawingml/2006/table">
            <a:tbl>
              <a:tblPr/>
              <a:tblGrid>
                <a:gridCol w="297183">
                  <a:extLst>
                    <a:ext uri="{9D8B030D-6E8A-4147-A177-3AD203B41FA5}">
                      <a16:colId xmlns:a16="http://schemas.microsoft.com/office/drawing/2014/main" val="3658264189"/>
                    </a:ext>
                  </a:extLst>
                </a:gridCol>
              </a:tblGrid>
              <a:tr h="0">
                <a:tc>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9148570"/>
                  </a:ext>
                </a:extLst>
              </a:tr>
              <a:tr h="0">
                <a:tc>
                  <a:txBody>
                    <a:bodyPr/>
                    <a:lstStyle/>
                    <a:p>
                      <a:endParaRPr lang="es-CO" sz="1200"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09452598"/>
                  </a:ext>
                </a:extLst>
              </a:tr>
            </a:tbl>
          </a:graphicData>
        </a:graphic>
      </p:graphicFrame>
      <p:cxnSp>
        <p:nvCxnSpPr>
          <p:cNvPr id="25" name="Conector recto de flecha 24">
            <a:extLst>
              <a:ext uri="{FF2B5EF4-FFF2-40B4-BE49-F238E27FC236}">
                <a16:creationId xmlns:a16="http://schemas.microsoft.com/office/drawing/2014/main" id="{4CF6C601-25A7-40BD-B7BB-8EEDF901833F}"/>
              </a:ext>
            </a:extLst>
          </p:cNvPr>
          <p:cNvCxnSpPr>
            <a:cxnSpLocks/>
            <a:endCxn id="6" idx="1"/>
          </p:cNvCxnSpPr>
          <p:nvPr/>
        </p:nvCxnSpPr>
        <p:spPr>
          <a:xfrm>
            <a:off x="2515220" y="5215753"/>
            <a:ext cx="517304" cy="41148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67A68FBE-260B-4FBD-8988-7632BA6F494E}"/>
              </a:ext>
            </a:extLst>
          </p:cNvPr>
          <p:cNvCxnSpPr>
            <a:cxnSpLocks/>
            <a:endCxn id="2" idx="1"/>
          </p:cNvCxnSpPr>
          <p:nvPr/>
        </p:nvCxnSpPr>
        <p:spPr>
          <a:xfrm flipV="1">
            <a:off x="2532851" y="4726647"/>
            <a:ext cx="499673" cy="215026"/>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3D6605D3-6319-4D6E-8D0A-EA7F7ED0DDBD}"/>
              </a:ext>
            </a:extLst>
          </p:cNvPr>
          <p:cNvSpPr txBox="1"/>
          <p:nvPr/>
        </p:nvSpPr>
        <p:spPr>
          <a:xfrm>
            <a:off x="1162347" y="5344909"/>
            <a:ext cx="1543968" cy="430887"/>
          </a:xfrm>
          <a:prstGeom prst="rect">
            <a:avLst/>
          </a:prstGeom>
          <a:noFill/>
        </p:spPr>
        <p:txBody>
          <a:bodyPr wrap="square">
            <a:spAutoFit/>
          </a:bodyPr>
          <a:lstStyle/>
          <a:p>
            <a:pPr algn="ctr"/>
            <a:r>
              <a:rPr lang="es-CO" sz="1100" b="1" dirty="0">
                <a:latin typeface="Roboto" panose="02000000000000000000" pitchFamily="2" charset="0"/>
                <a:ea typeface="Roboto" panose="02000000000000000000" pitchFamily="2" charset="0"/>
              </a:rPr>
              <a:t>Dense index — una entrada por registro</a:t>
            </a:r>
          </a:p>
        </p:txBody>
      </p:sp>
      <p:sp>
        <p:nvSpPr>
          <p:cNvPr id="36" name="CuadroTexto 35">
            <a:extLst>
              <a:ext uri="{FF2B5EF4-FFF2-40B4-BE49-F238E27FC236}">
                <a16:creationId xmlns:a16="http://schemas.microsoft.com/office/drawing/2014/main" id="{9973E5E7-BA52-42A4-8A2F-BBDF7B87F5C4}"/>
              </a:ext>
            </a:extLst>
          </p:cNvPr>
          <p:cNvSpPr txBox="1"/>
          <p:nvPr/>
        </p:nvSpPr>
        <p:spPr>
          <a:xfrm>
            <a:off x="5942180" y="6074195"/>
            <a:ext cx="2248235" cy="430887"/>
          </a:xfrm>
          <a:prstGeom prst="rect">
            <a:avLst/>
          </a:prstGeom>
          <a:noFill/>
        </p:spPr>
        <p:txBody>
          <a:bodyPr wrap="square">
            <a:spAutoFit/>
          </a:bodyPr>
          <a:lstStyle/>
          <a:p>
            <a:r>
              <a:rPr lang="es-MX" sz="1100" b="1" dirty="0">
                <a:latin typeface="Roboto" panose="02000000000000000000" pitchFamily="2" charset="0"/>
                <a:ea typeface="Roboto" panose="02000000000000000000" pitchFamily="2" charset="0"/>
              </a:rPr>
              <a:t>Archivo NO ordenado por esta clave</a:t>
            </a:r>
            <a:endParaRPr lang="es-CO" sz="1100" b="1" dirty="0">
              <a:latin typeface="Roboto" panose="02000000000000000000" pitchFamily="2" charset="0"/>
              <a:ea typeface="Roboto" panose="02000000000000000000" pitchFamily="2" charset="0"/>
            </a:endParaRPr>
          </a:p>
        </p:txBody>
      </p:sp>
      <p:sp>
        <p:nvSpPr>
          <p:cNvPr id="38" name="CuadroTexto 37">
            <a:extLst>
              <a:ext uri="{FF2B5EF4-FFF2-40B4-BE49-F238E27FC236}">
                <a16:creationId xmlns:a16="http://schemas.microsoft.com/office/drawing/2014/main" id="{B4026A0E-1A08-4061-A9FE-6E9986E85855}"/>
              </a:ext>
            </a:extLst>
          </p:cNvPr>
          <p:cNvSpPr txBox="1"/>
          <p:nvPr/>
        </p:nvSpPr>
        <p:spPr>
          <a:xfrm>
            <a:off x="3357251" y="4097732"/>
            <a:ext cx="2082831" cy="430887"/>
          </a:xfrm>
          <a:prstGeom prst="rect">
            <a:avLst/>
          </a:prstGeom>
          <a:noFill/>
        </p:spPr>
        <p:txBody>
          <a:bodyPr wrap="square">
            <a:spAutoFit/>
          </a:bodyPr>
          <a:lstStyle/>
          <a:p>
            <a:r>
              <a:rPr lang="es-MX" sz="1100" b="1" dirty="0">
                <a:latin typeface="Roboto" panose="02000000000000000000" pitchFamily="2" charset="0"/>
                <a:ea typeface="Roboto" panose="02000000000000000000" pitchFamily="2" charset="0"/>
              </a:rPr>
              <a:t>Cada flecha = posible operación de disco diferente</a:t>
            </a:r>
            <a:endParaRPr lang="es-CO" sz="1100" b="1" dirty="0">
              <a:latin typeface="Roboto" panose="02000000000000000000" pitchFamily="2" charset="0"/>
              <a:ea typeface="Roboto" panose="02000000000000000000" pitchFamily="2" charset="0"/>
            </a:endParaRPr>
          </a:p>
        </p:txBody>
      </p:sp>
      <p:sp>
        <p:nvSpPr>
          <p:cNvPr id="47" name="CuadroTexto 46">
            <a:extLst>
              <a:ext uri="{FF2B5EF4-FFF2-40B4-BE49-F238E27FC236}">
                <a16:creationId xmlns:a16="http://schemas.microsoft.com/office/drawing/2014/main" id="{F9A6A7CB-B2AC-4824-AF9C-2EEB16F16BFA}"/>
              </a:ext>
            </a:extLst>
          </p:cNvPr>
          <p:cNvSpPr txBox="1"/>
          <p:nvPr/>
        </p:nvSpPr>
        <p:spPr>
          <a:xfrm>
            <a:off x="2801325" y="6083584"/>
            <a:ext cx="740229" cy="261610"/>
          </a:xfrm>
          <a:prstGeom prst="rect">
            <a:avLst/>
          </a:prstGeom>
          <a:noFill/>
        </p:spPr>
        <p:txBody>
          <a:bodyPr wrap="square">
            <a:spAutoFit/>
          </a:bodyPr>
          <a:lstStyle/>
          <a:p>
            <a:pPr algn="ctr"/>
            <a:r>
              <a:rPr lang="es-CO" sz="1100" b="1" dirty="0">
                <a:solidFill>
                  <a:schemeClr val="tx1"/>
                </a:solidFill>
                <a:latin typeface="Roboto" panose="02000000000000000000" pitchFamily="2" charset="0"/>
                <a:ea typeface="Roboto" panose="02000000000000000000" pitchFamily="2" charset="0"/>
              </a:rPr>
              <a:t>Bucket</a:t>
            </a:r>
          </a:p>
        </p:txBody>
      </p:sp>
    </p:spTree>
    <p:extLst>
      <p:ext uri="{BB962C8B-B14F-4D97-AF65-F5344CB8AC3E}">
        <p14:creationId xmlns:p14="http://schemas.microsoft.com/office/powerpoint/2010/main" val="3854774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Índice secundario (Secondary index)</a:t>
            </a:r>
            <a:endParaRPr dirty="0">
              <a:highlight>
                <a:srgbClr val="FFFF00"/>
              </a:highlight>
            </a:endParaRPr>
          </a:p>
        </p:txBody>
      </p:sp>
      <p:sp>
        <p:nvSpPr>
          <p:cNvPr id="5" name="CuadroTexto 4">
            <a:extLst>
              <a:ext uri="{FF2B5EF4-FFF2-40B4-BE49-F238E27FC236}">
                <a16:creationId xmlns:a16="http://schemas.microsoft.com/office/drawing/2014/main" id="{11EC663A-CCFF-4D51-8F80-084FE3B69927}"/>
              </a:ext>
            </a:extLst>
          </p:cNvPr>
          <p:cNvSpPr txBox="1"/>
          <p:nvPr/>
        </p:nvSpPr>
        <p:spPr>
          <a:xfrm>
            <a:off x="7216368" y="1314438"/>
            <a:ext cx="4627289" cy="1169551"/>
          </a:xfrm>
          <a:prstGeom prst="rect">
            <a:avLst/>
          </a:prstGeom>
          <a:noFill/>
          <a:ln>
            <a:solidFill>
              <a:schemeClr val="tx1"/>
            </a:solidFill>
          </a:ln>
        </p:spPr>
        <p:txBody>
          <a:bodyPr wrap="square">
            <a:spAutoFit/>
          </a:bodyPr>
          <a:lstStyle/>
          <a:p>
            <a:r>
              <a:rPr lang="es-MX" dirty="0">
                <a:solidFill>
                  <a:srgbClr val="6E7687"/>
                </a:solidFill>
                <a:effectLst/>
                <a:latin typeface="Consolas" panose="020B0609020204030204" pitchFamily="49" charset="0"/>
              </a:rPr>
              <a:t>-- Un índice secundario sobre salary permite:</a:t>
            </a:r>
            <a:r>
              <a:rPr lang="es-MX" dirty="0">
                <a:latin typeface="Consolas" panose="020B0609020204030204" pitchFamily="49" charset="0"/>
              </a:rPr>
              <a:t> </a:t>
            </a:r>
          </a:p>
          <a:p>
            <a:r>
              <a:rPr lang="es-MX" dirty="0">
                <a:solidFill>
                  <a:srgbClr val="8100C2"/>
                </a:solidFill>
                <a:effectLst/>
                <a:latin typeface="Consolas" panose="020B0609020204030204" pitchFamily="49" charset="0"/>
              </a:rPr>
              <a:t>SELECT</a:t>
            </a:r>
            <a:r>
              <a:rPr lang="es-MX" dirty="0">
                <a:latin typeface="Consolas" panose="020B0609020204030204" pitchFamily="49" charset="0"/>
              </a:rPr>
              <a:t> </a:t>
            </a:r>
            <a:r>
              <a:rPr lang="es-MX" dirty="0">
                <a:solidFill>
                  <a:srgbClr val="14181F"/>
                </a:solidFill>
                <a:effectLst/>
                <a:latin typeface="Consolas" panose="020B0609020204030204" pitchFamily="49" charset="0"/>
              </a:rPr>
              <a:t>*</a:t>
            </a:r>
            <a:r>
              <a:rPr lang="es-MX" dirty="0">
                <a:latin typeface="Consolas" panose="020B0609020204030204" pitchFamily="49" charset="0"/>
              </a:rPr>
              <a:t> </a:t>
            </a:r>
            <a:r>
              <a:rPr lang="es-MX" dirty="0">
                <a:solidFill>
                  <a:srgbClr val="8100C2"/>
                </a:solidFill>
                <a:effectLst/>
                <a:latin typeface="Consolas" panose="020B0609020204030204" pitchFamily="49" charset="0"/>
              </a:rPr>
              <a:t>FROM</a:t>
            </a:r>
            <a:r>
              <a:rPr lang="es-MX" dirty="0">
                <a:latin typeface="Consolas" panose="020B0609020204030204" pitchFamily="49" charset="0"/>
              </a:rPr>
              <a:t> instructor </a:t>
            </a:r>
          </a:p>
          <a:p>
            <a:r>
              <a:rPr lang="es-MX" dirty="0">
                <a:solidFill>
                  <a:srgbClr val="8100C2"/>
                </a:solidFill>
                <a:effectLst/>
                <a:latin typeface="Consolas" panose="020B0609020204030204" pitchFamily="49" charset="0"/>
              </a:rPr>
              <a:t>WHERE</a:t>
            </a:r>
            <a:r>
              <a:rPr lang="es-MX" dirty="0">
                <a:latin typeface="Consolas" panose="020B0609020204030204" pitchFamily="49" charset="0"/>
              </a:rPr>
              <a:t> salary </a:t>
            </a:r>
            <a:r>
              <a:rPr lang="es-MX" dirty="0">
                <a:solidFill>
                  <a:srgbClr val="14181F"/>
                </a:solidFill>
                <a:effectLst/>
                <a:latin typeface="Consolas" panose="020B0609020204030204" pitchFamily="49" charset="0"/>
              </a:rPr>
              <a:t>=</a:t>
            </a:r>
            <a:r>
              <a:rPr lang="es-MX" dirty="0">
                <a:latin typeface="Consolas" panose="020B0609020204030204" pitchFamily="49" charset="0"/>
              </a:rPr>
              <a:t> </a:t>
            </a:r>
            <a:r>
              <a:rPr lang="es-MX" dirty="0">
                <a:solidFill>
                  <a:srgbClr val="008080"/>
                </a:solidFill>
                <a:effectLst/>
                <a:latin typeface="Consolas" panose="020B0609020204030204" pitchFamily="49" charset="0"/>
              </a:rPr>
              <a:t>80000</a:t>
            </a:r>
            <a:r>
              <a:rPr lang="es-MX" dirty="0">
                <a:solidFill>
                  <a:srgbClr val="2B303B"/>
                </a:solidFill>
                <a:effectLst/>
                <a:latin typeface="Consolas" panose="020B0609020204030204" pitchFamily="49" charset="0"/>
              </a:rPr>
              <a:t>;</a:t>
            </a:r>
            <a:r>
              <a:rPr lang="es-MX" dirty="0">
                <a:latin typeface="Consolas" panose="020B0609020204030204" pitchFamily="49" charset="0"/>
              </a:rPr>
              <a:t> </a:t>
            </a:r>
          </a:p>
          <a:p>
            <a:r>
              <a:rPr lang="es-MX" dirty="0">
                <a:solidFill>
                  <a:srgbClr val="6E7687"/>
                </a:solidFill>
                <a:effectLst/>
                <a:latin typeface="Consolas" panose="020B0609020204030204" pitchFamily="49" charset="0"/>
              </a:rPr>
              <a:t>-- Aunque el archivo esté ordenado por ID,</a:t>
            </a:r>
            <a:r>
              <a:rPr lang="es-MX" dirty="0">
                <a:latin typeface="Consolas" panose="020B0609020204030204" pitchFamily="49" charset="0"/>
              </a:rPr>
              <a:t> </a:t>
            </a:r>
          </a:p>
          <a:p>
            <a:r>
              <a:rPr lang="es-MX" dirty="0">
                <a:solidFill>
                  <a:srgbClr val="6E7687"/>
                </a:solidFill>
                <a:effectLst/>
                <a:latin typeface="Consolas" panose="020B0609020204030204" pitchFamily="49" charset="0"/>
              </a:rPr>
              <a:t>-- el índice secundario localiza por salary.</a:t>
            </a:r>
            <a:endParaRPr lang="es-CO" dirty="0">
              <a:latin typeface="Consolas" panose="020B0609020204030204" pitchFamily="49" charset="0"/>
              <a:ea typeface="Roboto" panose="02000000000000000000" pitchFamily="2" charset="0"/>
            </a:endParaRPr>
          </a:p>
        </p:txBody>
      </p:sp>
      <p:pic>
        <p:nvPicPr>
          <p:cNvPr id="6" name="Picture 7">
            <a:extLst>
              <a:ext uri="{FF2B5EF4-FFF2-40B4-BE49-F238E27FC236}">
                <a16:creationId xmlns:a16="http://schemas.microsoft.com/office/drawing/2014/main" id="{F1FC012C-2026-4585-BFD7-F93EC8998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5644" y="2513583"/>
            <a:ext cx="7192817" cy="3528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5EAAE770-B91E-40EF-915F-5F29A75030FC}"/>
              </a:ext>
            </a:extLst>
          </p:cNvPr>
          <p:cNvSpPr txBox="1"/>
          <p:nvPr/>
        </p:nvSpPr>
        <p:spPr>
          <a:xfrm>
            <a:off x="916650" y="5875293"/>
            <a:ext cx="2557281" cy="646331"/>
          </a:xfrm>
          <a:prstGeom prst="rect">
            <a:avLst/>
          </a:prstGeom>
          <a:noFill/>
        </p:spPr>
        <p:txBody>
          <a:bodyPr wrap="square">
            <a:spAutoFit/>
          </a:bodyPr>
          <a:lstStyle/>
          <a:p>
            <a:r>
              <a:rPr lang="es-MX" sz="1200" dirty="0">
                <a:solidFill>
                  <a:schemeClr val="accent5"/>
                </a:solidFill>
                <a:latin typeface="Roboto" panose="02000000000000000000" pitchFamily="2" charset="0"/>
                <a:ea typeface="Roboto" panose="02000000000000000000" pitchFamily="2" charset="0"/>
              </a:rPr>
              <a:t>Dos registros con </a:t>
            </a:r>
            <a:r>
              <a:rPr lang="es-MX" sz="1200" b="1" dirty="0">
                <a:solidFill>
                  <a:schemeClr val="accent5"/>
                </a:solidFill>
                <a:latin typeface="Consolas" panose="020B0609020204030204" pitchFamily="49" charset="0"/>
                <a:ea typeface="Roboto" panose="02000000000000000000" pitchFamily="2" charset="0"/>
              </a:rPr>
              <a:t>salary = 80000 </a:t>
            </a:r>
            <a:r>
              <a:rPr lang="es-MX" sz="1200" dirty="0">
                <a:solidFill>
                  <a:schemeClr val="accent5"/>
                </a:solidFill>
                <a:latin typeface="Roboto" panose="02000000000000000000" pitchFamily="2" charset="0"/>
                <a:ea typeface="Roboto" panose="02000000000000000000" pitchFamily="2" charset="0"/>
              </a:rPr>
              <a:t>→ 2 operaciones de disco en bloques distintos</a:t>
            </a:r>
            <a:endParaRPr lang="es-CO" sz="1050" dirty="0">
              <a:solidFill>
                <a:schemeClr val="accent5"/>
              </a:solidFill>
              <a:latin typeface="Roboto" panose="02000000000000000000" pitchFamily="2" charset="0"/>
              <a:ea typeface="Roboto" panose="02000000000000000000" pitchFamily="2" charset="0"/>
            </a:endParaRPr>
          </a:p>
        </p:txBody>
      </p:sp>
      <p:sp>
        <p:nvSpPr>
          <p:cNvPr id="8" name="CuadroTexto 7">
            <a:extLst>
              <a:ext uri="{FF2B5EF4-FFF2-40B4-BE49-F238E27FC236}">
                <a16:creationId xmlns:a16="http://schemas.microsoft.com/office/drawing/2014/main" id="{08FD5F66-F9B6-465A-B99E-C783BC798568}"/>
              </a:ext>
            </a:extLst>
          </p:cNvPr>
          <p:cNvSpPr txBox="1"/>
          <p:nvPr/>
        </p:nvSpPr>
        <p:spPr>
          <a:xfrm>
            <a:off x="4617922" y="2513583"/>
            <a:ext cx="3904214" cy="430887"/>
          </a:xfrm>
          <a:prstGeom prst="rect">
            <a:avLst/>
          </a:prstGeom>
          <a:noFill/>
        </p:spPr>
        <p:txBody>
          <a:bodyPr wrap="square">
            <a:spAutoFit/>
          </a:bodyPr>
          <a:lstStyle/>
          <a:p>
            <a:r>
              <a:rPr lang="es-MX" sz="1100" dirty="0">
                <a:solidFill>
                  <a:schemeClr val="accent6"/>
                </a:solidFill>
                <a:latin typeface="Roboto" panose="02000000000000000000" pitchFamily="2" charset="0"/>
                <a:ea typeface="Roboto" panose="02000000000000000000" pitchFamily="2" charset="0"/>
              </a:rPr>
              <a:t>Cada flecha apunta a un bloque diferente en disco — hasta dos I/O por registro encontrado</a:t>
            </a:r>
            <a:r>
              <a:rPr lang="en-US" sz="1100" dirty="0">
                <a:solidFill>
                  <a:schemeClr val="accent6"/>
                </a:solidFill>
                <a:latin typeface="Roboto" panose="02000000000000000000" pitchFamily="2" charset="0"/>
                <a:ea typeface="Roboto" panose="02000000000000000000" pitchFamily="2" charset="0"/>
              </a:rPr>
              <a:t> al registro real en disco</a:t>
            </a:r>
            <a:endParaRPr lang="es-CO" sz="1100" dirty="0">
              <a:solidFill>
                <a:schemeClr val="accent6"/>
              </a:solidFill>
              <a:latin typeface="Roboto" panose="02000000000000000000" pitchFamily="2" charset="0"/>
              <a:ea typeface="Roboto" panose="02000000000000000000" pitchFamily="2" charset="0"/>
            </a:endParaRPr>
          </a:p>
        </p:txBody>
      </p:sp>
      <p:cxnSp>
        <p:nvCxnSpPr>
          <p:cNvPr id="9" name="Conector recto de flecha 8">
            <a:extLst>
              <a:ext uri="{FF2B5EF4-FFF2-40B4-BE49-F238E27FC236}">
                <a16:creationId xmlns:a16="http://schemas.microsoft.com/office/drawing/2014/main" id="{C019FA8E-009B-48B8-B650-5FEBF4DCFEF0}"/>
              </a:ext>
            </a:extLst>
          </p:cNvPr>
          <p:cNvCxnSpPr>
            <a:cxnSpLocks/>
            <a:stCxn id="7" idx="3"/>
          </p:cNvCxnSpPr>
          <p:nvPr/>
        </p:nvCxnSpPr>
        <p:spPr>
          <a:xfrm flipV="1">
            <a:off x="3473931" y="4734097"/>
            <a:ext cx="693919" cy="1464362"/>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 name="Google Shape;310;p34">
            <a:extLst>
              <a:ext uri="{FF2B5EF4-FFF2-40B4-BE49-F238E27FC236}">
                <a16:creationId xmlns:a16="http://schemas.microsoft.com/office/drawing/2014/main" id="{E62586B2-17D2-4DE0-ADA2-1066719A9BC4}"/>
              </a:ext>
            </a:extLst>
          </p:cNvPr>
          <p:cNvSpPr txBox="1">
            <a:spLocks/>
          </p:cNvSpPr>
          <p:nvPr/>
        </p:nvSpPr>
        <p:spPr>
          <a:xfrm>
            <a:off x="826625" y="810974"/>
            <a:ext cx="10538750" cy="4343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¿Qué paga el DBMS por buscar por un atributo no ordenado?</a:t>
            </a:r>
            <a:endParaRPr lang="es-MX" sz="1800" dirty="0"/>
          </a:p>
        </p:txBody>
      </p:sp>
      <p:sp>
        <p:nvSpPr>
          <p:cNvPr id="11" name="CuadroTexto 10">
            <a:extLst>
              <a:ext uri="{FF2B5EF4-FFF2-40B4-BE49-F238E27FC236}">
                <a16:creationId xmlns:a16="http://schemas.microsoft.com/office/drawing/2014/main" id="{ED55005A-5394-4827-9EAD-D98FFBF4EF7B}"/>
              </a:ext>
            </a:extLst>
          </p:cNvPr>
          <p:cNvSpPr txBox="1"/>
          <p:nvPr/>
        </p:nvSpPr>
        <p:spPr>
          <a:xfrm>
            <a:off x="1253246" y="5368532"/>
            <a:ext cx="2220685" cy="461665"/>
          </a:xfrm>
          <a:prstGeom prst="rect">
            <a:avLst/>
          </a:prstGeom>
          <a:noFill/>
        </p:spPr>
        <p:txBody>
          <a:bodyPr wrap="square">
            <a:spAutoFit/>
          </a:bodyPr>
          <a:lstStyle/>
          <a:p>
            <a:pPr algn="r"/>
            <a:r>
              <a:rPr lang="es-MX" sz="1200" dirty="0">
                <a:solidFill>
                  <a:schemeClr val="accent2"/>
                </a:solidFill>
                <a:latin typeface="Roboto" panose="02000000000000000000" pitchFamily="2" charset="0"/>
                <a:ea typeface="Roboto" panose="02000000000000000000" pitchFamily="2" charset="0"/>
              </a:rPr>
              <a:t>Ordenado por </a:t>
            </a:r>
            <a:r>
              <a:rPr lang="es-MX" sz="1200" b="1" dirty="0">
                <a:solidFill>
                  <a:schemeClr val="accent2"/>
                </a:solidFill>
                <a:latin typeface="Consolas" panose="020B0609020204030204" pitchFamily="49" charset="0"/>
                <a:ea typeface="Roboto" panose="02000000000000000000" pitchFamily="2" charset="0"/>
              </a:rPr>
              <a:t>salary</a:t>
            </a:r>
            <a:r>
              <a:rPr lang="es-MX" sz="1200" dirty="0">
                <a:solidFill>
                  <a:schemeClr val="accent2"/>
                </a:solidFill>
                <a:latin typeface="Roboto" panose="02000000000000000000" pitchFamily="2" charset="0"/>
                <a:ea typeface="Roboto" panose="02000000000000000000" pitchFamily="2" charset="0"/>
              </a:rPr>
              <a:t> — pero el archivo físico NO lo está</a:t>
            </a:r>
            <a:endParaRPr lang="es-CO" sz="1200" dirty="0">
              <a:solidFill>
                <a:schemeClr val="accent2"/>
              </a:solidFill>
              <a:latin typeface="Roboto" panose="02000000000000000000" pitchFamily="2" charset="0"/>
              <a:ea typeface="Roboto" panose="02000000000000000000" pitchFamily="2" charset="0"/>
            </a:endParaRPr>
          </a:p>
        </p:txBody>
      </p:sp>
      <p:sp>
        <p:nvSpPr>
          <p:cNvPr id="21" name="CuadroTexto 20">
            <a:extLst>
              <a:ext uri="{FF2B5EF4-FFF2-40B4-BE49-F238E27FC236}">
                <a16:creationId xmlns:a16="http://schemas.microsoft.com/office/drawing/2014/main" id="{DDD21310-0F5D-45BF-9CC1-7D05411B364D}"/>
              </a:ext>
            </a:extLst>
          </p:cNvPr>
          <p:cNvSpPr txBox="1"/>
          <p:nvPr/>
        </p:nvSpPr>
        <p:spPr>
          <a:xfrm>
            <a:off x="1381625" y="1556292"/>
            <a:ext cx="5682144" cy="646331"/>
          </a:xfrm>
          <a:prstGeom prst="rect">
            <a:avLst/>
          </a:prstGeom>
          <a:noFill/>
        </p:spPr>
        <p:txBody>
          <a:bodyPr wrap="square">
            <a:spAutoFit/>
          </a:bodyPr>
          <a:lstStyle/>
          <a:p>
            <a:r>
              <a:rPr lang="es-MX" sz="1800" dirty="0"/>
              <a:t>El índice anterior funcionaba con </a:t>
            </a:r>
            <a:r>
              <a:rPr lang="es-MX" sz="1800" b="1" dirty="0">
                <a:latin typeface="Consolas" panose="020B0609020204030204" pitchFamily="49" charset="0"/>
              </a:rPr>
              <a:t>address</a:t>
            </a:r>
            <a:r>
              <a:rPr lang="es-MX" sz="1800" dirty="0"/>
              <a:t> (2 valores). ¿Qué pasa con 12 registros y salarios dispersos?</a:t>
            </a:r>
            <a:endParaRPr lang="es-CO" sz="1800" dirty="0"/>
          </a:p>
        </p:txBody>
      </p:sp>
      <p:sp>
        <p:nvSpPr>
          <p:cNvPr id="23" name="CuadroTexto 22">
            <a:extLst>
              <a:ext uri="{FF2B5EF4-FFF2-40B4-BE49-F238E27FC236}">
                <a16:creationId xmlns:a16="http://schemas.microsoft.com/office/drawing/2014/main" id="{DDBF7FE7-CD8C-4407-A78D-C09E28B3B7D0}"/>
              </a:ext>
            </a:extLst>
          </p:cNvPr>
          <p:cNvSpPr txBox="1"/>
          <p:nvPr/>
        </p:nvSpPr>
        <p:spPr>
          <a:xfrm>
            <a:off x="4854040" y="6122895"/>
            <a:ext cx="7192817" cy="646331"/>
          </a:xfrm>
          <a:prstGeom prst="rect">
            <a:avLst/>
          </a:prstGeom>
          <a:solidFill>
            <a:schemeClr val="tx2"/>
          </a:solidFill>
        </p:spPr>
        <p:txBody>
          <a:bodyPr wrap="square">
            <a:spAutoFit/>
          </a:bodyPr>
          <a:lstStyle/>
          <a:p>
            <a:pPr algn="r"/>
            <a:r>
              <a:rPr lang="es-MX" sz="1800" i="1" dirty="0">
                <a:latin typeface="Roboto" panose="02000000000000000000" pitchFamily="2" charset="0"/>
                <a:ea typeface="Roboto" panose="02000000000000000000" pitchFamily="2" charset="0"/>
              </a:rPr>
              <a:t>Un secondary index localiza lo que el archivo no puede encontrar solo — pero cada registro encontrado tiene su propio precio en disco.</a:t>
            </a:r>
            <a:endParaRPr lang="es-CO" sz="1800"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9038129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4559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sz="2800" dirty="0"/>
              <a:t>Comparación: </a:t>
            </a:r>
            <a:r>
              <a:rPr lang="es-CO" sz="2800" dirty="0" err="1"/>
              <a:t>clustering</a:t>
            </a:r>
            <a:r>
              <a:rPr lang="es-CO" sz="2800" dirty="0"/>
              <a:t> vs. </a:t>
            </a:r>
            <a:r>
              <a:rPr lang="es-CO" sz="2800" dirty="0" err="1"/>
              <a:t>secondary</a:t>
            </a:r>
            <a:r>
              <a:rPr lang="es-CO" sz="2800" dirty="0"/>
              <a:t> index</a:t>
            </a:r>
            <a:endParaRPr sz="2800"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97941" y="722795"/>
            <a:ext cx="10596118" cy="49813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La diferencia entre ambos no es solo conceptual: tiene un impacto directo en el </a:t>
            </a:r>
            <a:r>
              <a:rPr lang="es-MX" sz="2000" b="1" dirty="0"/>
              <a:t>número de operaciones de disco</a:t>
            </a:r>
            <a:r>
              <a:rPr lang="es-MX" sz="2000" dirty="0"/>
              <a:t> requeridas para responder una consulta.</a:t>
            </a:r>
          </a:p>
          <a:p>
            <a:endParaRPr lang="es-MX" sz="2000" dirty="0"/>
          </a:p>
          <a:p>
            <a:endParaRPr lang="es-MX" sz="2000" dirty="0"/>
          </a:p>
          <a:p>
            <a:endParaRPr lang="es-MX" sz="2000" dirty="0"/>
          </a:p>
          <a:p>
            <a:endParaRPr lang="es-MX" sz="2000" dirty="0"/>
          </a:p>
          <a:p>
            <a:endParaRPr lang="es-MX" sz="2000" dirty="0"/>
          </a:p>
          <a:p>
            <a:endParaRPr lang="es-MX" sz="2000" dirty="0"/>
          </a:p>
          <a:p>
            <a:endParaRPr lang="es-MX" sz="2000" dirty="0"/>
          </a:p>
          <a:p>
            <a:r>
              <a:rPr lang="es-MX" sz="2000" dirty="0"/>
              <a:t>Una tabla solo puede tener </a:t>
            </a:r>
            <a:r>
              <a:rPr lang="es-MX" sz="2000" b="1" dirty="0"/>
              <a:t>un índice de agrupamiento</a:t>
            </a:r>
            <a:r>
              <a:rPr lang="es-MX" sz="2000" dirty="0"/>
              <a:t>, ya que los registros solo pueden estar físicamente ordenados de una manera.</a:t>
            </a:r>
          </a:p>
          <a:p>
            <a:r>
              <a:rPr lang="es-MX" sz="2000" dirty="0"/>
              <a:t>Sin embargo, puede tener </a:t>
            </a:r>
            <a:r>
              <a:rPr lang="es-MX" sz="2000" b="1" dirty="0"/>
              <a:t>múltiples índices secundarios</a:t>
            </a:r>
            <a:r>
              <a:rPr lang="es-MX" sz="2000" dirty="0"/>
              <a:t>, uno por cada atributo de interés.</a:t>
            </a:r>
          </a:p>
        </p:txBody>
      </p:sp>
      <p:graphicFrame>
        <p:nvGraphicFramePr>
          <p:cNvPr id="2" name="Tabla 1">
            <a:extLst>
              <a:ext uri="{FF2B5EF4-FFF2-40B4-BE49-F238E27FC236}">
                <a16:creationId xmlns:a16="http://schemas.microsoft.com/office/drawing/2014/main" id="{73794E3D-A6CC-4C95-BA1C-AA05ECA70D7E}"/>
              </a:ext>
            </a:extLst>
          </p:cNvPr>
          <p:cNvGraphicFramePr>
            <a:graphicFrameLocks noGrp="1"/>
          </p:cNvGraphicFramePr>
          <p:nvPr>
            <p:extLst>
              <p:ext uri="{D42A27DB-BD31-4B8C-83A1-F6EECF244321}">
                <p14:modId xmlns:p14="http://schemas.microsoft.com/office/powerpoint/2010/main" val="1112648641"/>
              </p:ext>
            </p:extLst>
          </p:nvPr>
        </p:nvGraphicFramePr>
        <p:xfrm>
          <a:off x="1717220" y="1556180"/>
          <a:ext cx="9110139" cy="2560320"/>
        </p:xfrm>
        <a:graphic>
          <a:graphicData uri="http://schemas.openxmlformats.org/drawingml/2006/table">
            <a:tbl>
              <a:tblPr/>
              <a:tblGrid>
                <a:gridCol w="2454593">
                  <a:extLst>
                    <a:ext uri="{9D8B030D-6E8A-4147-A177-3AD203B41FA5}">
                      <a16:colId xmlns:a16="http://schemas.microsoft.com/office/drawing/2014/main" val="4199048707"/>
                    </a:ext>
                  </a:extLst>
                </a:gridCol>
                <a:gridCol w="3327773">
                  <a:extLst>
                    <a:ext uri="{9D8B030D-6E8A-4147-A177-3AD203B41FA5}">
                      <a16:colId xmlns:a16="http://schemas.microsoft.com/office/drawing/2014/main" val="365333399"/>
                    </a:ext>
                  </a:extLst>
                </a:gridCol>
                <a:gridCol w="3327773">
                  <a:extLst>
                    <a:ext uri="{9D8B030D-6E8A-4147-A177-3AD203B41FA5}">
                      <a16:colId xmlns:a16="http://schemas.microsoft.com/office/drawing/2014/main" val="2060841787"/>
                    </a:ext>
                  </a:extLst>
                </a:gridCol>
              </a:tblGrid>
              <a:tr h="0">
                <a:tc>
                  <a:txBody>
                    <a:bodyPr/>
                    <a:lstStyle/>
                    <a:p>
                      <a:endParaRPr lang="es-CO" sz="1800" dirty="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b="1" dirty="0">
                          <a:latin typeface="Roboto" panose="02000000000000000000" pitchFamily="2" charset="0"/>
                          <a:ea typeface="Roboto" panose="02000000000000000000" pitchFamily="2" charset="0"/>
                        </a:rPr>
                        <a:t>Clustering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sz="1800" b="1" dirty="0">
                          <a:latin typeface="Roboto" panose="02000000000000000000" pitchFamily="2" charset="0"/>
                          <a:ea typeface="Roboto" panose="02000000000000000000" pitchFamily="2" charset="0"/>
                        </a:rPr>
                        <a:t>Secondary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934182783"/>
                  </a:ext>
                </a:extLst>
              </a:tr>
              <a:tr h="0">
                <a:tc>
                  <a:txBody>
                    <a:bodyPr/>
                    <a:lstStyle/>
                    <a:p>
                      <a:r>
                        <a:rPr lang="es-CO" sz="1800" b="1" dirty="0">
                          <a:latin typeface="Roboto" panose="02000000000000000000" pitchFamily="2" charset="0"/>
                          <a:ea typeface="Roboto" panose="02000000000000000000" pitchFamily="2" charset="0"/>
                        </a:rPr>
                        <a:t>Orden</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MX" sz="1800" dirty="0">
                          <a:latin typeface="Roboto" panose="02000000000000000000" pitchFamily="2" charset="0"/>
                          <a:ea typeface="Roboto" panose="02000000000000000000" pitchFamily="2" charset="0"/>
                        </a:rPr>
                        <a:t>Coincide con el archivo físico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CO" sz="1800">
                          <a:latin typeface="Roboto" panose="02000000000000000000" pitchFamily="2" charset="0"/>
                          <a:ea typeface="Roboto" panose="02000000000000000000" pitchFamily="2" charset="0"/>
                        </a:rPr>
                        <a:t>Diferente al archivo físico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907705949"/>
                  </a:ext>
                </a:extLst>
              </a:tr>
              <a:tr h="0">
                <a:tc>
                  <a:txBody>
                    <a:bodyPr/>
                    <a:lstStyle/>
                    <a:p>
                      <a:r>
                        <a:rPr lang="es-CO" sz="1800" b="1" dirty="0">
                          <a:latin typeface="Roboto" panose="02000000000000000000" pitchFamily="2" charset="0"/>
                          <a:ea typeface="Roboto" panose="02000000000000000000" pitchFamily="2" charset="0"/>
                        </a:rPr>
                        <a:t>Densidad</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Puede ser disperso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Debe ser denso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4051919970"/>
                  </a:ext>
                </a:extLst>
              </a:tr>
              <a:tr h="0">
                <a:tc>
                  <a:txBody>
                    <a:bodyPr/>
                    <a:lstStyle/>
                    <a:p>
                      <a:r>
                        <a:rPr lang="es-CO" sz="1800" b="1">
                          <a:latin typeface="Roboto" panose="02000000000000000000" pitchFamily="2" charset="0"/>
                          <a:ea typeface="Roboto" panose="02000000000000000000" pitchFamily="2" charset="0"/>
                        </a:rPr>
                        <a:t>Acceso a rangos</a:t>
                      </a:r>
                      <a:endParaRPr lang="es-CO" sz="180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Muy eficiente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a:latin typeface="Roboto" panose="02000000000000000000" pitchFamily="2" charset="0"/>
                          <a:ea typeface="Roboto" panose="02000000000000000000" pitchFamily="2" charset="0"/>
                        </a:rPr>
                        <a:t>Costoso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959263064"/>
                  </a:ext>
                </a:extLst>
              </a:tr>
              <a:tr h="0">
                <a:tc>
                  <a:txBody>
                    <a:bodyPr/>
                    <a:lstStyle/>
                    <a:p>
                      <a:r>
                        <a:rPr lang="es-CO" sz="1800" b="1">
                          <a:latin typeface="Roboto" panose="02000000000000000000" pitchFamily="2" charset="0"/>
                          <a:ea typeface="Roboto" panose="02000000000000000000" pitchFamily="2" charset="0"/>
                        </a:rPr>
                        <a:t>Acceso por igualdad</a:t>
                      </a:r>
                      <a:endParaRPr lang="es-CO" sz="180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Eficiente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Eficiente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614353625"/>
                  </a:ext>
                </a:extLst>
              </a:tr>
              <a:tr h="0">
                <a:tc>
                  <a:txBody>
                    <a:bodyPr/>
                    <a:lstStyle/>
                    <a:p>
                      <a:r>
                        <a:rPr lang="es-CO" sz="1800" b="1" dirty="0">
                          <a:latin typeface="Roboto" panose="02000000000000000000" pitchFamily="2" charset="0"/>
                          <a:ea typeface="Roboto" panose="02000000000000000000" pitchFamily="2" charset="0"/>
                        </a:rPr>
                        <a:t>Cantidad por tabla</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Solo uno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Puede haber varios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2227417948"/>
                  </a:ext>
                </a:extLst>
              </a:tr>
              <a:tr h="0">
                <a:tc>
                  <a:txBody>
                    <a:bodyPr/>
                    <a:lstStyle/>
                    <a:p>
                      <a:r>
                        <a:rPr lang="es-CO" sz="1800" b="1" dirty="0">
                          <a:latin typeface="Roboto" panose="02000000000000000000" pitchFamily="2" charset="0"/>
                          <a:ea typeface="Roboto" panose="02000000000000000000" pitchFamily="2" charset="0"/>
                        </a:rPr>
                        <a:t>Operaciones de disco</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Mínimas (registros contiguos)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MX" sz="1800" dirty="0">
                          <a:latin typeface="Roboto" panose="02000000000000000000" pitchFamily="2" charset="0"/>
                          <a:ea typeface="Roboto" panose="02000000000000000000" pitchFamily="2" charset="0"/>
                        </a:rPr>
                        <a:t>Puede ser una por registro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768961"/>
                  </a:ext>
                </a:extLst>
              </a:tr>
            </a:tbl>
          </a:graphicData>
        </a:graphic>
      </p:graphicFrame>
      <p:sp>
        <p:nvSpPr>
          <p:cNvPr id="6" name="CuadroTexto 5">
            <a:extLst>
              <a:ext uri="{FF2B5EF4-FFF2-40B4-BE49-F238E27FC236}">
                <a16:creationId xmlns:a16="http://schemas.microsoft.com/office/drawing/2014/main" id="{67C6B1EE-40A5-46BD-86F6-46566B4271EF}"/>
              </a:ext>
            </a:extLst>
          </p:cNvPr>
          <p:cNvSpPr txBox="1"/>
          <p:nvPr/>
        </p:nvSpPr>
        <p:spPr>
          <a:xfrm>
            <a:off x="1279202" y="5953147"/>
            <a:ext cx="10317712" cy="707886"/>
          </a:xfrm>
          <a:prstGeom prst="rect">
            <a:avLst/>
          </a:prstGeom>
          <a:solidFill>
            <a:schemeClr val="tx2"/>
          </a:solidFill>
        </p:spPr>
        <p:txBody>
          <a:bodyPr wrap="square">
            <a:spAutoFit/>
          </a:bodyPr>
          <a:lstStyle/>
          <a:p>
            <a:r>
              <a:rPr lang="es-MX" sz="2000" i="1" dirty="0">
                <a:latin typeface="Roboto" panose="02000000000000000000" pitchFamily="2" charset="0"/>
                <a:ea typeface="Roboto" panose="02000000000000000000" pitchFamily="2" charset="0"/>
              </a:rPr>
              <a:t>El clustering index define cómo vive el archivo en disco. Los índices secundarios son ventanas adicionales para acceder a él desde otras perspectivas.</a:t>
            </a:r>
            <a:endParaRPr lang="es-CO" sz="2000"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963246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4559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sz="2800" dirty="0"/>
              <a:t>Comparación: </a:t>
            </a:r>
            <a:r>
              <a:rPr lang="es-CO" sz="2800" dirty="0" err="1"/>
              <a:t>clustering</a:t>
            </a:r>
            <a:r>
              <a:rPr lang="es-CO" sz="2800" dirty="0"/>
              <a:t> vs. </a:t>
            </a:r>
            <a:r>
              <a:rPr lang="es-CO" sz="2800" dirty="0" err="1"/>
              <a:t>secondary</a:t>
            </a:r>
            <a:r>
              <a:rPr lang="es-CO" sz="2800" dirty="0"/>
              <a:t> index</a:t>
            </a:r>
            <a:endParaRPr sz="2800"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97941" y="722795"/>
            <a:ext cx="10596118" cy="949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highlight>
                  <a:srgbClr val="FFFF00"/>
                </a:highlight>
              </a:rPr>
              <a:t>La diferencia </a:t>
            </a:r>
            <a:r>
              <a:rPr lang="es-MX" sz="2000" dirty="0"/>
              <a:t>entre ambos no es solo conceptual: tiene un impacto directo en el </a:t>
            </a:r>
            <a:r>
              <a:rPr lang="es-MX" sz="2000" b="1" dirty="0"/>
              <a:t>número de operaciones de disco</a:t>
            </a:r>
            <a:r>
              <a:rPr lang="es-MX" sz="2000" dirty="0"/>
              <a:t> requeridas para responder una consulta.</a:t>
            </a:r>
          </a:p>
        </p:txBody>
      </p:sp>
      <p:pic>
        <p:nvPicPr>
          <p:cNvPr id="4" name="Imagen 3">
            <a:extLst>
              <a:ext uri="{FF2B5EF4-FFF2-40B4-BE49-F238E27FC236}">
                <a16:creationId xmlns:a16="http://schemas.microsoft.com/office/drawing/2014/main" id="{848ECBD6-C003-4C23-B237-370648623D07}"/>
              </a:ext>
            </a:extLst>
          </p:cNvPr>
          <p:cNvPicPr>
            <a:picLocks noChangeAspect="1"/>
          </p:cNvPicPr>
          <p:nvPr/>
        </p:nvPicPr>
        <p:blipFill>
          <a:blip r:embed="rId3"/>
          <a:stretch>
            <a:fillRect/>
          </a:stretch>
        </p:blipFill>
        <p:spPr>
          <a:xfrm>
            <a:off x="1373871" y="2299052"/>
            <a:ext cx="4589393" cy="2162176"/>
          </a:xfrm>
          <a:prstGeom prst="rect">
            <a:avLst/>
          </a:prstGeom>
        </p:spPr>
      </p:pic>
      <p:pic>
        <p:nvPicPr>
          <p:cNvPr id="7" name="Imagen 6">
            <a:extLst>
              <a:ext uri="{FF2B5EF4-FFF2-40B4-BE49-F238E27FC236}">
                <a16:creationId xmlns:a16="http://schemas.microsoft.com/office/drawing/2014/main" id="{B55E2AAE-85E3-46F6-9CCA-5CE38CB3AFDC}"/>
              </a:ext>
            </a:extLst>
          </p:cNvPr>
          <p:cNvPicPr>
            <a:picLocks noChangeAspect="1"/>
          </p:cNvPicPr>
          <p:nvPr/>
        </p:nvPicPr>
        <p:blipFill>
          <a:blip r:embed="rId4"/>
          <a:stretch>
            <a:fillRect/>
          </a:stretch>
        </p:blipFill>
        <p:spPr>
          <a:xfrm>
            <a:off x="6592529" y="1575467"/>
            <a:ext cx="5052826" cy="3188262"/>
          </a:xfrm>
          <a:prstGeom prst="rect">
            <a:avLst/>
          </a:prstGeom>
        </p:spPr>
      </p:pic>
      <p:pic>
        <p:nvPicPr>
          <p:cNvPr id="9" name="Imagen 8">
            <a:extLst>
              <a:ext uri="{FF2B5EF4-FFF2-40B4-BE49-F238E27FC236}">
                <a16:creationId xmlns:a16="http://schemas.microsoft.com/office/drawing/2014/main" id="{43271F31-785B-4168-B2A9-2BB6A89F5553}"/>
              </a:ext>
            </a:extLst>
          </p:cNvPr>
          <p:cNvPicPr>
            <a:picLocks noChangeAspect="1"/>
          </p:cNvPicPr>
          <p:nvPr/>
        </p:nvPicPr>
        <p:blipFill>
          <a:blip r:embed="rId5"/>
          <a:stretch>
            <a:fillRect/>
          </a:stretch>
        </p:blipFill>
        <p:spPr>
          <a:xfrm>
            <a:off x="2313347" y="4676775"/>
            <a:ext cx="6572250" cy="2181225"/>
          </a:xfrm>
          <a:prstGeom prst="rect">
            <a:avLst/>
          </a:prstGeom>
        </p:spPr>
      </p:pic>
    </p:spTree>
    <p:extLst>
      <p:ext uri="{BB962C8B-B14F-4D97-AF65-F5344CB8AC3E}">
        <p14:creationId xmlns:p14="http://schemas.microsoft.com/office/powerpoint/2010/main" val="14871395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4559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sz="2800" dirty="0"/>
              <a:t>Ejemplo 3 - Clustering index</a:t>
            </a:r>
            <a:endParaRPr sz="2800"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97941" y="722794"/>
            <a:ext cx="10596118" cy="56927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Usando la misma tabla de Estudiantes (1000000 registros, 200000 bloques, 5 registros/bloque, 10 ms/bloque), asuma que el archivo está físicamente ordenado por ID y que existe un índice disperso sobre ID con una entrada por bloque (el índice que ya se analizó en la sección anterior).</a:t>
            </a:r>
          </a:p>
          <a:p>
            <a:pPr marL="127000" indent="0">
              <a:buNone/>
            </a:pPr>
            <a:r>
              <a:rPr lang="es-MX" sz="2000" dirty="0"/>
              <a:t>Un analista necesita recuperar los estudiantes con ID entre 500001 y 500100.</a:t>
            </a:r>
          </a:p>
          <a:p>
            <a:pPr marL="127000" indent="0">
              <a:buNone/>
            </a:pPr>
            <a:endParaRPr lang="es-MX" sz="2000" dirty="0"/>
          </a:p>
          <a:p>
            <a:pPr marL="127000" indent="0">
              <a:buNone/>
            </a:pPr>
            <a:endParaRPr lang="es-MX" sz="2000" dirty="0"/>
          </a:p>
          <a:p>
            <a:pPr marL="127000" indent="0">
              <a:buNone/>
            </a:pPr>
            <a:endParaRPr lang="es-MX" sz="2000" dirty="0"/>
          </a:p>
          <a:p>
            <a:pPr>
              <a:buFont typeface="+mj-lt"/>
              <a:buAutoNum type="arabicPeriod"/>
            </a:pPr>
            <a:r>
              <a:rPr lang="es-MX" sz="2000" dirty="0"/>
              <a:t>¿Por qué este índice sobre ID es un clustering índex? ¿Qué propiedad del archivo lo hace posible?</a:t>
            </a:r>
          </a:p>
          <a:p>
            <a:pPr>
              <a:buFont typeface="+mj-lt"/>
              <a:buAutoNum type="arabicPeriod"/>
            </a:pPr>
            <a:r>
              <a:rPr lang="es-MX" sz="2000" dirty="0"/>
              <a:t>¿Cuántos registros contiene el rango buscado? ¿En cuántos bloques de datos consecutivos están almacenados?</a:t>
            </a:r>
          </a:p>
          <a:p>
            <a:pPr>
              <a:buFont typeface="+mj-lt"/>
              <a:buAutoNum type="arabicPeriod"/>
            </a:pPr>
            <a:r>
              <a:rPr lang="es-MX" sz="2000" dirty="0"/>
              <a:t>¿Cuál es el costo total en I/Os y en tiempo para responder esta consulta usando el índice disperso?</a:t>
            </a:r>
          </a:p>
          <a:p>
            <a:pPr>
              <a:buFont typeface="+mj-lt"/>
              <a:buAutoNum type="arabicPeriod"/>
            </a:pPr>
            <a:r>
              <a:rPr lang="es-MX" sz="2000" dirty="0"/>
              <a:t>¿Cuál sería el costo si se hiciera un full scan sin índice? ¿Qué concluye al comparar ambos resultados?</a:t>
            </a:r>
          </a:p>
          <a:p>
            <a:pPr marL="127000" indent="0">
              <a:buNone/>
            </a:pPr>
            <a:endParaRPr lang="es-MX" sz="2000" dirty="0"/>
          </a:p>
        </p:txBody>
      </p:sp>
      <p:sp>
        <p:nvSpPr>
          <p:cNvPr id="7" name="CuadroTexto 6">
            <a:extLst>
              <a:ext uri="{FF2B5EF4-FFF2-40B4-BE49-F238E27FC236}">
                <a16:creationId xmlns:a16="http://schemas.microsoft.com/office/drawing/2014/main" id="{93CC96BC-927E-4C60-BF96-5B59B8528E5E}"/>
              </a:ext>
            </a:extLst>
          </p:cNvPr>
          <p:cNvSpPr txBox="1"/>
          <p:nvPr/>
        </p:nvSpPr>
        <p:spPr>
          <a:xfrm>
            <a:off x="3046771" y="2634874"/>
            <a:ext cx="6098458" cy="830997"/>
          </a:xfrm>
          <a:prstGeom prst="rect">
            <a:avLst/>
          </a:prstGeom>
          <a:noFill/>
          <a:ln>
            <a:solidFill>
              <a:schemeClr val="tx1"/>
            </a:solidFill>
          </a:ln>
        </p:spPr>
        <p:txBody>
          <a:bodyPr wrap="square">
            <a:spAutoFit/>
          </a:bodyPr>
          <a:lstStyle/>
          <a:p>
            <a:r>
              <a:rPr lang="es-CO" sz="1600" dirty="0">
                <a:latin typeface="Consolas" panose="020B0609020204030204" pitchFamily="49" charset="0"/>
              </a:rPr>
              <a:t>SELECT *</a:t>
            </a:r>
          </a:p>
          <a:p>
            <a:r>
              <a:rPr lang="es-CO" sz="1600" dirty="0">
                <a:latin typeface="Consolas" panose="020B0609020204030204" pitchFamily="49" charset="0"/>
              </a:rPr>
              <a:t>FROM Estudiantes</a:t>
            </a:r>
          </a:p>
          <a:p>
            <a:r>
              <a:rPr lang="es-CO" sz="1600" dirty="0">
                <a:latin typeface="Consolas" panose="020B0609020204030204" pitchFamily="49" charset="0"/>
              </a:rPr>
              <a:t>WHERE ID BETWEEN 500001 AND 500100;</a:t>
            </a:r>
          </a:p>
        </p:txBody>
      </p:sp>
    </p:spTree>
    <p:extLst>
      <p:ext uri="{BB962C8B-B14F-4D97-AF65-F5344CB8AC3E}">
        <p14:creationId xmlns:p14="http://schemas.microsoft.com/office/powerpoint/2010/main" val="1468845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a:t>
            </a:r>
            <a:r>
              <a:rPr lang="es-CO" sz="3200" dirty="0"/>
              <a:t>Clustering index</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8"/>
            <a:ext cx="11304962" cy="36598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t>Datos del problema</a:t>
            </a:r>
            <a:r>
              <a:rPr lang="es-MX" sz="1800" dirty="0"/>
              <a:t>:</a:t>
            </a:r>
          </a:p>
          <a:p>
            <a:pPr>
              <a:buFont typeface="Arial" panose="020B0604020202020204" pitchFamily="34" charset="0"/>
              <a:buChar char="•"/>
            </a:pPr>
            <a:r>
              <a:rPr lang="es-MX" sz="1800" dirty="0"/>
              <a:t>N = 1000000 registros</a:t>
            </a:r>
          </a:p>
          <a:p>
            <a:pPr>
              <a:buFont typeface="Arial" panose="020B0604020202020204" pitchFamily="34" charset="0"/>
              <a:buChar char="•"/>
            </a:pPr>
            <a:r>
              <a:rPr lang="es-MX" sz="1800" dirty="0"/>
              <a:t>5 registros/bloque  </a:t>
            </a:r>
          </a:p>
          <a:p>
            <a:pPr>
              <a:buFont typeface="Arial" panose="020B0604020202020204" pitchFamily="34" charset="0"/>
              <a:buChar char="•"/>
            </a:pPr>
            <a:r>
              <a:rPr lang="es-MX" sz="1800" dirty="0"/>
              <a:t>B = 200000 bloques </a:t>
            </a:r>
          </a:p>
          <a:p>
            <a:pPr>
              <a:buFont typeface="Arial" panose="020B0604020202020204" pitchFamily="34" charset="0"/>
              <a:buChar char="•"/>
            </a:pPr>
            <a:r>
              <a:rPr lang="es-MX" sz="1800" dirty="0"/>
              <a:t>10 ms/bloque</a:t>
            </a:r>
          </a:p>
          <a:p>
            <a:pPr>
              <a:buFont typeface="Arial" panose="020B0604020202020204" pitchFamily="34" charset="0"/>
              <a:buChar char="•"/>
            </a:pPr>
            <a:r>
              <a:rPr lang="es-MX" sz="1800" dirty="0"/>
              <a:t>Archivo ordenado físicamente por ID</a:t>
            </a:r>
          </a:p>
          <a:p>
            <a:pPr>
              <a:buFont typeface="Arial" panose="020B0604020202020204" pitchFamily="34" charset="0"/>
              <a:buChar char="•"/>
            </a:pPr>
            <a:r>
              <a:rPr lang="es-MX" sz="1800" dirty="0"/>
              <a:t>4 carreras con igual distribución</a:t>
            </a:r>
          </a:p>
          <a:p>
            <a:pPr>
              <a:buFont typeface="Arial" panose="020B0604020202020204" pitchFamily="34" charset="0"/>
              <a:buChar char="•"/>
            </a:pPr>
            <a:r>
              <a:rPr lang="es-MX" sz="1800" dirty="0"/>
              <a:t>Cada bloque del índice almacena 100 entradas</a:t>
            </a:r>
          </a:p>
          <a:p>
            <a:pPr>
              <a:buFont typeface="Arial" panose="020B0604020202020204" pitchFamily="34" charset="0"/>
              <a:buChar char="•"/>
            </a:pPr>
            <a:r>
              <a:rPr lang="es-MX" sz="1800" dirty="0"/>
              <a:t>Índice disperso sobre ID: 200,000 entradas → 2,000 bloques de índice</a:t>
            </a:r>
          </a:p>
          <a:p>
            <a:pPr marL="127000" indent="0">
              <a:buNone/>
            </a:pPr>
            <a:endParaRPr lang="es-MX" sz="1800" dirty="0"/>
          </a:p>
        </p:txBody>
      </p:sp>
    </p:spTree>
    <p:extLst>
      <p:ext uri="{BB962C8B-B14F-4D97-AF65-F5344CB8AC3E}">
        <p14:creationId xmlns:p14="http://schemas.microsoft.com/office/powerpoint/2010/main" val="878734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a:t>
            </a:r>
            <a:r>
              <a:rPr lang="es-CO" sz="3200" dirty="0"/>
              <a:t>Clustering index</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8"/>
            <a:ext cx="11304962" cy="22138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a:pPr>
            <a:r>
              <a:rPr lang="es-MX" sz="1800" dirty="0"/>
              <a:t>Es un clustering index porque los registros en el archivo de datos están físicamente ordenados por el mismo campo que define el índice (en este caso, el </a:t>
            </a:r>
            <a:r>
              <a:rPr lang="es-MX" sz="1800" b="1" dirty="0">
                <a:latin typeface="Consolas" panose="020B0609020204030204" pitchFamily="49" charset="0"/>
              </a:rPr>
              <a:t>ID</a:t>
            </a:r>
            <a:r>
              <a:rPr lang="es-MX" sz="1800" dirty="0"/>
              <a:t>).</a:t>
            </a:r>
          </a:p>
          <a:p>
            <a:pPr lvl="1"/>
            <a:r>
              <a:rPr lang="es-MX" sz="1800" b="1" dirty="0"/>
              <a:t>Propiedad clave</a:t>
            </a:r>
            <a:r>
              <a:rPr lang="es-MX" sz="1800" dirty="0"/>
              <a:t>: El orden físico de las filas en el disco coincide con el orden de las entradas en el índice.</a:t>
            </a:r>
          </a:p>
          <a:p>
            <a:pPr lvl="1"/>
            <a:r>
              <a:rPr lang="es-MX" sz="1800" b="1" dirty="0"/>
              <a:t>Resultado</a:t>
            </a:r>
            <a:r>
              <a:rPr lang="es-MX" sz="1800" dirty="0"/>
              <a:t>: Esto permite que el índice sea disperso (una entrada por bloque en lugar de una por registro), ya que si sabemos dónde empieza el Bloque A y el Bloque B, sabemos que todos los </a:t>
            </a:r>
            <a:r>
              <a:rPr lang="es-MX" sz="1800" b="1" dirty="0">
                <a:latin typeface="Consolas" panose="020B0609020204030204" pitchFamily="49" charset="0"/>
              </a:rPr>
              <a:t>IDs </a:t>
            </a:r>
            <a:r>
              <a:rPr lang="es-MX" sz="1800" dirty="0"/>
              <a:t>intermedios están necesariamente en el Bloque A.</a:t>
            </a:r>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759218" y="3429000"/>
                <a:ext cx="11201723" cy="314878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2"/>
                </a:pPr>
                <a:r>
                  <a:rPr lang="es-MX" sz="1800" b="1" dirty="0"/>
                  <a:t>Bloques ocupados</a:t>
                </a:r>
                <a:r>
                  <a:rPr lang="es-MX" sz="1800" dirty="0"/>
                  <a:t>:</a:t>
                </a:r>
              </a:p>
              <a:p>
                <a:pPr marL="469900" indent="-342900">
                  <a:buFont typeface="+mj-lt"/>
                  <a:buAutoNum type="arabicPeriod" startAt="2"/>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𝑟𝑎𝑛𝑔𝑜</m:t>
                          </m:r>
                        </m:sub>
                      </m:sSub>
                      <m:r>
                        <a:rPr lang="es-MX" sz="1800" i="1">
                          <a:latin typeface="Cambria Math" panose="02040503050406030204" pitchFamily="18" charset="0"/>
                        </a:rPr>
                        <m:t>=500</m:t>
                      </m:r>
                      <m:r>
                        <a:rPr lang="es-MX" sz="1800" b="0" i="1" smtClean="0">
                          <a:latin typeface="Cambria Math" panose="02040503050406030204" pitchFamily="18" charset="0"/>
                        </a:rPr>
                        <m:t>1</m:t>
                      </m:r>
                      <m:r>
                        <a:rPr lang="es-MX" sz="1800" i="1">
                          <a:latin typeface="Cambria Math" panose="02040503050406030204" pitchFamily="18" charset="0"/>
                        </a:rPr>
                        <m:t>0</m:t>
                      </m:r>
                      <m:r>
                        <a:rPr lang="es-MX" sz="1800" b="0" i="1" smtClean="0">
                          <a:latin typeface="Cambria Math" panose="02040503050406030204" pitchFamily="18" charset="0"/>
                        </a:rPr>
                        <m:t>0</m:t>
                      </m:r>
                      <m:r>
                        <a:rPr lang="es-MX" sz="1800" i="1">
                          <a:latin typeface="Cambria Math" panose="02040503050406030204" pitchFamily="18" charset="0"/>
                        </a:rPr>
                        <m:t> −50000</m:t>
                      </m:r>
                      <m:r>
                        <a:rPr lang="es-MX" sz="1800" b="0" i="1" smtClean="0">
                          <a:latin typeface="Cambria Math" panose="02040503050406030204" pitchFamily="18" charset="0"/>
                        </a:rPr>
                        <m:t>1+1=100 </m:t>
                      </m:r>
                      <m:r>
                        <a:rPr lang="es-MX" sz="1800" b="0" i="1" smtClean="0">
                          <a:latin typeface="Cambria Math" panose="02040503050406030204" pitchFamily="18" charset="0"/>
                        </a:rPr>
                        <m:t>𝑟𝑒𝑔𝑖𝑠𝑡𝑟𝑜𝑠</m:t>
                      </m:r>
                    </m:oMath>
                  </m:oMathPara>
                </a14:m>
                <a:endParaRPr lang="es-MX" sz="1800"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𝑟𝑎𝑛𝑔𝑜</m:t>
                          </m:r>
                        </m:sub>
                      </m:sSub>
                      <m:r>
                        <a:rPr lang="es-MX" sz="1800" i="1">
                          <a:latin typeface="Cambria Math" panose="02040503050406030204" pitchFamily="18" charset="0"/>
                        </a:rPr>
                        <m:t>=</m:t>
                      </m:r>
                      <m:r>
                        <a:rPr lang="es-MX" sz="1800" b="0" i="1" smtClean="0">
                          <a:latin typeface="Cambria Math" panose="02040503050406030204" pitchFamily="18" charset="0"/>
                        </a:rPr>
                        <m:t>100 </m:t>
                      </m:r>
                      <m:r>
                        <a:rPr lang="es-MX" sz="1800" b="0" i="1" smtClean="0">
                          <a:latin typeface="Cambria Math" panose="02040503050406030204" pitchFamily="18" charset="0"/>
                        </a:rPr>
                        <m:t>𝑟𝑒𝑔</m:t>
                      </m:r>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1 </m:t>
                          </m:r>
                          <m:r>
                            <a:rPr lang="es-MX" sz="1800" b="0" i="1" smtClean="0">
                              <a:latin typeface="Cambria Math" panose="02040503050406030204" pitchFamily="18" charset="0"/>
                            </a:rPr>
                            <m:t>𝑏𝑙𝑜𝑞𝑢𝑒</m:t>
                          </m:r>
                        </m:num>
                        <m:den>
                          <m:r>
                            <a:rPr lang="es-MX" sz="1800" b="0" i="1" smtClean="0">
                              <a:latin typeface="Cambria Math" panose="02040503050406030204" pitchFamily="18" charset="0"/>
                            </a:rPr>
                            <m:t>5 </m:t>
                          </m:r>
                          <m:r>
                            <a:rPr lang="es-MX" sz="1800" b="0" i="1" smtClean="0">
                              <a:latin typeface="Cambria Math" panose="02040503050406030204" pitchFamily="18" charset="0"/>
                            </a:rPr>
                            <m:t>𝑟𝑒𝑔</m:t>
                          </m:r>
                        </m:den>
                      </m:f>
                      <m:r>
                        <a:rPr lang="es-MX" sz="1800" b="0" i="1" smtClean="0">
                          <a:latin typeface="Cambria Math" panose="02040503050406030204" pitchFamily="18" charset="0"/>
                        </a:rPr>
                        <m:t>=20 </m:t>
                      </m:r>
                      <m:r>
                        <a:rPr lang="es-MX" sz="1800" b="0" i="1" smtClean="0">
                          <a:latin typeface="Cambria Math" panose="02040503050406030204" pitchFamily="18" charset="0"/>
                        </a:rPr>
                        <m:t>𝑏𝑙𝑜𝑞𝑢𝑒𝑠</m:t>
                      </m:r>
                    </m:oMath>
                  </m:oMathPara>
                </a14:m>
                <a:endParaRPr lang="es-MX" sz="1800" dirty="0"/>
              </a:p>
              <a:p>
                <a:pPr marL="584200" lvl="1" indent="0">
                  <a:buNone/>
                </a:pPr>
                <a:endParaRPr lang="es-MX" sz="20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759218" y="3429000"/>
                <a:ext cx="11201723" cy="3148781"/>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7285877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a:t>
            </a:r>
            <a:r>
              <a:rPr lang="es-CO" sz="3200" dirty="0"/>
              <a:t>Clustering index</a:t>
            </a:r>
            <a:endParaRPr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821400" y="714314"/>
                <a:ext cx="10911672" cy="59523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Costo I/O de la consulta</a:t>
                </a:r>
                <a:r>
                  <a:rPr lang="es-MX" sz="1800" dirty="0"/>
                  <a:t>: Recordemos que para una consulta de rango con índice disperso, el proceso es:</a:t>
                </a:r>
              </a:p>
              <a:p>
                <a:pPr lvl="1"/>
                <a:r>
                  <a:rPr lang="es-MX" sz="1800" b="1" dirty="0"/>
                  <a:t>Buscar en el índice</a:t>
                </a:r>
                <a:r>
                  <a:rPr lang="es-MX" sz="1800" dirty="0"/>
                  <a:t>: Encontrar el bloque donde comienza el </a:t>
                </a:r>
                <a:r>
                  <a:rPr lang="es-MX" sz="1800" b="1" dirty="0">
                    <a:latin typeface="Consolas" panose="020B0609020204030204" pitchFamily="49" charset="0"/>
                  </a:rPr>
                  <a:t>ID 500001</a:t>
                </a:r>
                <a:r>
                  <a:rPr lang="es-MX" sz="1800" dirty="0"/>
                  <a:t>.</a:t>
                </a:r>
              </a:p>
              <a:p>
                <a:pPr lvl="1"/>
                <a:r>
                  <a:rPr lang="es-MX" sz="1800" b="1" dirty="0"/>
                  <a:t>Acceder a los datos</a:t>
                </a:r>
                <a:r>
                  <a:rPr lang="es-MX" sz="1800" dirty="0"/>
                  <a:t>: Leer secuencialmente los bloques necesarios.</a:t>
                </a:r>
              </a:p>
              <a:p>
                <a:pPr marL="469900" indent="-342900">
                  <a:buFont typeface="+mj-lt"/>
                  <a:buAutoNum type="arabicPeriod" startAt="3"/>
                </a:pPr>
                <a:endParaRPr lang="es-MX" sz="1800" dirty="0"/>
              </a:p>
              <a:p>
                <a:pPr marL="584200" lvl="1" indent="0">
                  <a:buNone/>
                </a:pPr>
                <a:r>
                  <a:rPr lang="es-MX" sz="1600" dirty="0"/>
                  <a:t>Es importante tener en cuenta que el numero de registros del indice, es igual al numero de bloques, es decir: </a:t>
                </a:r>
                <a14:m>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𝑁</m:t>
                        </m:r>
                      </m:e>
                      <m:sub>
                        <m:r>
                          <a:rPr lang="es-MX" sz="1600" b="0" i="1" smtClean="0">
                            <a:latin typeface="Cambria Math" panose="02040503050406030204" pitchFamily="18" charset="0"/>
                          </a:rPr>
                          <m:t>𝑖𝑛𝑑𝑒𝑥</m:t>
                        </m:r>
                      </m:sub>
                    </m:sSub>
                    <m:r>
                      <a:rPr lang="es-MX" sz="1600" b="0" i="1" smtClean="0">
                        <a:latin typeface="Cambria Math" panose="02040503050406030204" pitchFamily="18" charset="0"/>
                      </a:rPr>
                      <m:t>=1000000×</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m:t>
                        </m:r>
                      </m:num>
                      <m:den>
                        <m:r>
                          <a:rPr lang="es-MX" sz="1600" b="0" i="1" smtClean="0">
                            <a:latin typeface="Cambria Math" panose="02040503050406030204" pitchFamily="18" charset="0"/>
                          </a:rPr>
                          <m:t>5 </m:t>
                        </m:r>
                        <m:r>
                          <a:rPr lang="es-MX" sz="1600" b="0" i="1" smtClean="0">
                            <a:latin typeface="Cambria Math" panose="02040503050406030204" pitchFamily="18" charset="0"/>
                          </a:rPr>
                          <m:t>𝑟𝑒𝑔𝑖𝑠𝑡𝑟𝑜𝑠</m:t>
                        </m:r>
                      </m:den>
                    </m:f>
                    <m:r>
                      <a:rPr lang="es-MX" sz="1600" b="0" i="1" smtClean="0">
                        <a:latin typeface="Cambria Math" panose="02040503050406030204" pitchFamily="18" charset="0"/>
                      </a:rPr>
                      <m:t>=200000</m:t>
                    </m:r>
                  </m:oMath>
                </a14:m>
                <a:r>
                  <a:rPr lang="es-MX" sz="1600" dirty="0"/>
                  <a:t> entradas. Si cada bloque del indice almacena 100 entradas (ejemplo anterior), entonces el numero de bloques que tiene el indice es </a:t>
                </a:r>
                <a14:m>
                  <m:oMath xmlns:m="http://schemas.openxmlformats.org/officeDocument/2006/math">
                    <m:r>
                      <a:rPr lang="es-MX" sz="1600" i="1">
                        <a:latin typeface="Cambria Math" panose="02040503050406030204" pitchFamily="18" charset="0"/>
                      </a:rPr>
                      <m:t>𝐵</m:t>
                    </m:r>
                    <m:r>
                      <a:rPr lang="es-MX" sz="1600" b="0" i="1" smtClean="0">
                        <a:latin typeface="Cambria Math" panose="02040503050406030204" pitchFamily="18" charset="0"/>
                      </a:rPr>
                      <m:t>=200000 </m:t>
                    </m:r>
                    <m:r>
                      <a:rPr lang="es-MX" sz="1600" b="0" i="1" smtClean="0">
                        <a:latin typeface="Cambria Math" panose="02040503050406030204" pitchFamily="18" charset="0"/>
                      </a:rPr>
                      <m:t>𝑟𝑒𝑔</m:t>
                    </m:r>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1 </m:t>
                        </m:r>
                        <m:r>
                          <a:rPr lang="es-MX" sz="1600" b="0" i="1" smtClean="0">
                            <a:latin typeface="Cambria Math" panose="02040503050406030204" pitchFamily="18" charset="0"/>
                          </a:rPr>
                          <m:t>𝑏𝑙𝑜𝑞𝑢𝑒</m:t>
                        </m:r>
                      </m:num>
                      <m:den>
                        <m:r>
                          <a:rPr lang="es-MX" sz="1600" b="0" i="1" smtClean="0">
                            <a:latin typeface="Cambria Math" panose="02040503050406030204" pitchFamily="18" charset="0"/>
                          </a:rPr>
                          <m:t>100  </m:t>
                        </m:r>
                        <m:r>
                          <a:rPr lang="es-MX" sz="1600" b="0" i="1" smtClean="0">
                            <a:latin typeface="Cambria Math" panose="02040503050406030204" pitchFamily="18" charset="0"/>
                          </a:rPr>
                          <m:t>𝑟𝑒𝑔</m:t>
                        </m:r>
                      </m:den>
                    </m:f>
                    <m:r>
                      <a:rPr lang="es-MX" sz="1600" b="0" i="1" smtClean="0">
                        <a:latin typeface="Cambria Math" panose="02040503050406030204" pitchFamily="18" charset="0"/>
                      </a:rPr>
                      <m:t>=2000 </m:t>
                    </m:r>
                    <m:r>
                      <a:rPr lang="es-MX" sz="1600" b="0" i="1" smtClean="0">
                        <a:latin typeface="Cambria Math" panose="02040503050406030204" pitchFamily="18" charset="0"/>
                      </a:rPr>
                      <m:t>𝑏𝑙𝑜𝑞𝑢𝑒𝑠</m:t>
                    </m:r>
                  </m:oMath>
                </a14:m>
                <a:r>
                  <a:rPr lang="es-MX" sz="1600" dirty="0"/>
                  <a:t>. Como la consulta es por rango y el índice es clustering, el DBMS: </a:t>
                </a:r>
              </a:p>
              <a:p>
                <a:pPr lvl="1"/>
                <a:r>
                  <a:rPr lang="es-MX" sz="1600" dirty="0"/>
                  <a:t>Usa el índice para encontrar el primer bloque relevante.</a:t>
                </a:r>
              </a:p>
              <a:p>
                <a:pPr lvl="1"/>
                <a:r>
                  <a:rPr lang="es-MX" sz="1600" dirty="0"/>
                  <a:t>Luego lee secuencialmente los 20 bloques consecutivos que contienen el rango.</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den>
                      </m:f>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oMath>
                  </m:oMathPara>
                </a14:m>
                <a:endParaRPr lang="es-MX" sz="1800" b="1"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d>
                        <m:dPr>
                          <m:begChr m:val="⌈"/>
                          <m:endChr m:val="⌉"/>
                          <m:ctrlPr>
                            <a:rPr lang="es-MX" sz="1800" b="0" i="1" smtClean="0">
                              <a:latin typeface="Cambria Math" panose="02040503050406030204" pitchFamily="18" charset="0"/>
                            </a:rPr>
                          </m:ctrlPr>
                        </m:dPr>
                        <m:e>
                          <m:func>
                            <m:funcPr>
                              <m:ctrlPr>
                                <a:rPr lang="es-MX" sz="1800" b="0" i="1" smtClean="0">
                                  <a:latin typeface="Cambria Math" panose="02040503050406030204" pitchFamily="18" charset="0"/>
                                </a:rPr>
                              </m:ctrlPr>
                            </m:funcPr>
                            <m:fName>
                              <m:sSub>
                                <m:sSubPr>
                                  <m:ctrlPr>
                                    <a:rPr lang="es-MX" sz="1800" b="0" i="1" smtClean="0">
                                      <a:latin typeface="Cambria Math" panose="02040503050406030204" pitchFamily="18" charset="0"/>
                                    </a:rPr>
                                  </m:ctrlPr>
                                </m:sSubPr>
                                <m:e>
                                  <m:r>
                                    <m:rPr>
                                      <m:sty m:val="p"/>
                                    </m:rPr>
                                    <a:rPr lang="es-MX" sz="1800" b="0" i="0" smtClean="0">
                                      <a:latin typeface="Cambria Math" panose="02040503050406030204" pitchFamily="18" charset="0"/>
                                    </a:rPr>
                                    <m:t>log</m:t>
                                  </m:r>
                                </m:e>
                                <m:sub>
                                  <m:r>
                                    <a:rPr lang="es-MX" sz="1800" b="0" i="1" smtClean="0">
                                      <a:latin typeface="Cambria Math" panose="02040503050406030204" pitchFamily="18" charset="0"/>
                                    </a:rPr>
                                    <m:t>2</m:t>
                                  </m:r>
                                </m:sub>
                              </m:sSub>
                            </m:fName>
                            <m:e>
                              <m:r>
                                <a:rPr lang="es-MX" sz="1800" b="0" i="1" smtClean="0">
                                  <a:latin typeface="Cambria Math" panose="02040503050406030204" pitchFamily="18" charset="0"/>
                                </a:rPr>
                                <m:t>𝐵</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func>
                            <m:funcPr>
                              <m:ctrlPr>
                                <a:rPr lang="es-MX" sz="1800" i="1">
                                  <a:latin typeface="Cambria Math" panose="02040503050406030204" pitchFamily="18" charset="0"/>
                                </a:rPr>
                              </m:ctrlPr>
                            </m:funcPr>
                            <m:fName>
                              <m:sSub>
                                <m:sSubPr>
                                  <m:ctrlPr>
                                    <a:rPr lang="es-MX" sz="1800" i="1">
                                      <a:latin typeface="Cambria Math" panose="02040503050406030204" pitchFamily="18" charset="0"/>
                                    </a:rPr>
                                  </m:ctrlPr>
                                </m:sSubPr>
                                <m:e>
                                  <m:r>
                                    <m:rPr>
                                      <m:sty m:val="p"/>
                                    </m:rPr>
                                    <a:rPr lang="es-MX" sz="1800">
                                      <a:latin typeface="Cambria Math" panose="02040503050406030204" pitchFamily="18" charset="0"/>
                                    </a:rPr>
                                    <m:t>log</m:t>
                                  </m:r>
                                </m:e>
                                <m:sub>
                                  <m:r>
                                    <a:rPr lang="es-MX" sz="1800" i="1">
                                      <a:latin typeface="Cambria Math" panose="02040503050406030204" pitchFamily="18" charset="0"/>
                                    </a:rPr>
                                    <m:t>2</m:t>
                                  </m:r>
                                </m:sub>
                              </m:sSub>
                            </m:fName>
                            <m:e>
                              <m:d>
                                <m:dPr>
                                  <m:ctrlPr>
                                    <a:rPr lang="es-MX" sz="1800" b="0" i="1" smtClean="0">
                                      <a:latin typeface="Cambria Math" panose="02040503050406030204" pitchFamily="18" charset="0"/>
                                    </a:rPr>
                                  </m:ctrlPr>
                                </m:dPr>
                                <m:e>
                                  <m:r>
                                    <a:rPr lang="es-MX" sz="1800" b="0" i="1" smtClean="0">
                                      <a:latin typeface="Cambria Math" panose="02040503050406030204" pitchFamily="18" charset="0"/>
                                    </a:rPr>
                                    <m:t>2000</m:t>
                                  </m:r>
                                </m:e>
                              </m:d>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r>
                            <a:rPr lang="es-MX" sz="1800" b="0" i="1" smtClean="0">
                              <a:latin typeface="Cambria Math" panose="02040503050406030204" pitchFamily="18" charset="0"/>
                            </a:rPr>
                            <m:t>10.96</m:t>
                          </m:r>
                        </m:e>
                      </m:d>
                      <m:r>
                        <a:rPr lang="es-MX" sz="1800" b="0" i="1" smtClean="0">
                          <a:latin typeface="Cambria Math" panose="02040503050406030204" pitchFamily="18" charset="0"/>
                        </a:rPr>
                        <m:t>=11</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r>
                        <a:rPr lang="es-MX" sz="1800" b="0" i="1" smtClean="0">
                          <a:latin typeface="Cambria Math" panose="02040503050406030204" pitchFamily="18" charset="0"/>
                        </a:rPr>
                        <m:t>=20 </m:t>
                      </m:r>
                      <m:r>
                        <a:rPr lang="es-MX" sz="1800" b="0" i="1" smtClean="0">
                          <a:latin typeface="Cambria Math" panose="02040503050406030204" pitchFamily="18" charset="0"/>
                        </a:rPr>
                        <m:t>𝑏𝑙𝑜𝑞𝑢𝑒𝑠</m:t>
                      </m:r>
                    </m:oMath>
                  </m:oMathPara>
                </a14:m>
                <a:endParaRPr lang="es-MX" sz="1800" b="1"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r>
                            <a:rPr lang="es-MX" sz="1800" b="0" i="1" smtClean="0">
                              <a:latin typeface="Cambria Math" panose="02040503050406030204" pitchFamily="18" charset="0"/>
                            </a:rPr>
                            <m:t> </m:t>
                          </m:r>
                        </m:den>
                      </m:f>
                      <m:r>
                        <a:rPr lang="es-MX" sz="1800" b="0" i="1" smtClean="0">
                          <a:latin typeface="Cambria Math" panose="02040503050406030204" pitchFamily="18" charset="0"/>
                        </a:rPr>
                        <m:t>=11+20=31→</m:t>
                      </m:r>
                      <m:sSub>
                        <m:sSubPr>
                          <m:ctrlPr>
                            <a:rPr lang="es-MX" sz="1800" i="1">
                              <a:latin typeface="Cambria Math" panose="02040503050406030204" pitchFamily="18" charset="0"/>
                            </a:rPr>
                          </m:ctrlPr>
                        </m:sSubPr>
                        <m:e>
                          <m:r>
                            <a:rPr lang="es-MX" sz="1800" i="1">
                              <a:latin typeface="Cambria Math" panose="02040503050406030204" pitchFamily="18" charset="0"/>
                            </a:rPr>
                            <m:t>𝑇</m:t>
                          </m:r>
                        </m:e>
                        <m:sub>
                          <m:r>
                            <a:rPr lang="es-MX" sz="1800" i="1">
                              <a:latin typeface="Cambria Math" panose="02040503050406030204" pitchFamily="18" charset="0"/>
                            </a:rPr>
                            <m:t>𝑡𝑜𝑡𝑎𝑙</m:t>
                          </m:r>
                        </m:sub>
                      </m:sSub>
                      <m:r>
                        <a:rPr lang="es-MX" sz="1800" i="1">
                          <a:latin typeface="Cambria Math" panose="02040503050406030204" pitchFamily="18" charset="0"/>
                        </a:rPr>
                        <m:t>=12×10 </m:t>
                      </m:r>
                      <m:r>
                        <a:rPr lang="es-MX" sz="1800" i="1">
                          <a:latin typeface="Cambria Math" panose="02040503050406030204" pitchFamily="18" charset="0"/>
                        </a:rPr>
                        <m:t>𝑚𝑠</m:t>
                      </m:r>
                      <m:r>
                        <a:rPr lang="es-MX" sz="1800" i="1">
                          <a:latin typeface="Cambria Math" panose="02040503050406030204" pitchFamily="18" charset="0"/>
                        </a:rPr>
                        <m:t>=320 </m:t>
                      </m:r>
                      <m:r>
                        <a:rPr lang="es-MX" sz="1800" i="1">
                          <a:latin typeface="Cambria Math" panose="02040503050406030204" pitchFamily="18" charset="0"/>
                        </a:rPr>
                        <m:t>𝑚𝑠</m:t>
                      </m:r>
                    </m:oMath>
                  </m:oMathPara>
                </a14:m>
                <a:endParaRPr lang="es-MX" sz="1800" b="1" dirty="0"/>
              </a:p>
              <a:p>
                <a:pPr marL="127000" indent="0">
                  <a:buNone/>
                </a:pPr>
                <a:endParaRPr lang="es-MX" sz="1800" b="1" dirty="0"/>
              </a:p>
              <a:p>
                <a:pPr marL="127000" indent="0">
                  <a:buNone/>
                </a:pPr>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821400" y="714314"/>
                <a:ext cx="10911672" cy="5952398"/>
              </a:xfrm>
              <a:prstGeom prst="rect">
                <a:avLst/>
              </a:prstGeom>
              <a:blipFill>
                <a:blip r:embed="rId3"/>
                <a:stretch>
                  <a:fillRect r="-447" b="-11668"/>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5593278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a:t>
            </a:r>
            <a:r>
              <a:rPr lang="es-CO" sz="3200" dirty="0"/>
              <a:t>Clustering index</a:t>
            </a:r>
            <a:endParaRPr dirty="0"/>
          </a:p>
        </p:txBody>
      </p:sp>
      <p:pic>
        <p:nvPicPr>
          <p:cNvPr id="11" name="Imagen 10">
            <a:extLst>
              <a:ext uri="{FF2B5EF4-FFF2-40B4-BE49-F238E27FC236}">
                <a16:creationId xmlns:a16="http://schemas.microsoft.com/office/drawing/2014/main" id="{BFC37A69-B9CF-4176-8AC6-020955C79828}"/>
              </a:ext>
            </a:extLst>
          </p:cNvPr>
          <p:cNvPicPr>
            <a:picLocks noChangeAspect="1"/>
          </p:cNvPicPr>
          <p:nvPr/>
        </p:nvPicPr>
        <p:blipFill>
          <a:blip r:embed="rId3"/>
          <a:stretch>
            <a:fillRect/>
          </a:stretch>
        </p:blipFill>
        <p:spPr>
          <a:xfrm>
            <a:off x="2323649" y="770244"/>
            <a:ext cx="7829327" cy="5991718"/>
          </a:xfrm>
          <a:prstGeom prst="rect">
            <a:avLst/>
          </a:prstGeom>
        </p:spPr>
      </p:pic>
    </p:spTree>
    <p:extLst>
      <p:ext uri="{BB962C8B-B14F-4D97-AF65-F5344CB8AC3E}">
        <p14:creationId xmlns:p14="http://schemas.microsoft.com/office/powerpoint/2010/main" val="26615571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3 – </a:t>
            </a:r>
            <a:r>
              <a:rPr lang="es-CO" sz="3200" dirty="0"/>
              <a:t>Clustering index</a:t>
            </a:r>
            <a:endParaRPr dirty="0"/>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821400" y="714314"/>
                <a:ext cx="10911672" cy="59523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Costo I/O de la consulta</a:t>
                </a:r>
                <a:r>
                  <a:rPr lang="es-MX" sz="1800" dirty="0"/>
                  <a:t>: Recordemos que para una consulta de rango con índice disperso, el proceso es:</a:t>
                </a:r>
              </a:p>
              <a:p>
                <a:pPr lvl="1"/>
                <a:r>
                  <a:rPr lang="es-MX" sz="1800" b="1" dirty="0"/>
                  <a:t>Buscar en el índice</a:t>
                </a:r>
                <a:r>
                  <a:rPr lang="es-MX" sz="1800" dirty="0"/>
                  <a:t>: Encontrar el bloque donde comienza el </a:t>
                </a:r>
                <a:r>
                  <a:rPr lang="es-MX" sz="1800" b="1" dirty="0">
                    <a:latin typeface="Consolas" panose="020B0609020204030204" pitchFamily="49" charset="0"/>
                  </a:rPr>
                  <a:t>ID 500001</a:t>
                </a:r>
                <a:r>
                  <a:rPr lang="es-MX" sz="1800" dirty="0"/>
                  <a:t>.</a:t>
                </a:r>
              </a:p>
              <a:p>
                <a:pPr lvl="1"/>
                <a:r>
                  <a:rPr lang="es-MX" sz="1800" b="1" dirty="0"/>
                  <a:t>Acceder a los datos</a:t>
                </a:r>
                <a:r>
                  <a:rPr lang="es-MX" sz="1800" dirty="0"/>
                  <a:t>: Leer secuencialmente los bloques necesarios.</a:t>
                </a:r>
              </a:p>
              <a:p>
                <a:pPr marL="469900" indent="-342900">
                  <a:buFont typeface="+mj-lt"/>
                  <a:buAutoNum type="arabicPeriod" startAt="3"/>
                </a:pPr>
                <a:endParaRPr lang="es-MX" sz="1800" dirty="0"/>
              </a:p>
              <a:p>
                <a:pPr marL="584200" lvl="1" indent="0">
                  <a:buNone/>
                </a:pPr>
                <a:r>
                  <a:rPr lang="es-MX" sz="1600" dirty="0"/>
                  <a:t>Es importante tener en cuenta que el numero de registros del indice, es igual al numero de bloques, es decir: </a:t>
                </a:r>
                <a14:m>
                  <m:oMath xmlns:m="http://schemas.openxmlformats.org/officeDocument/2006/math">
                    <m:sSub>
                      <m:sSubPr>
                        <m:ctrlPr>
                          <a:rPr lang="es-MX" sz="1600" b="0" i="1" smtClean="0">
                            <a:latin typeface="Cambria Math" panose="02040503050406030204" pitchFamily="18" charset="0"/>
                          </a:rPr>
                        </m:ctrlPr>
                      </m:sSubPr>
                      <m:e>
                        <m:r>
                          <a:rPr lang="es-MX" sz="1600" b="0" i="1" smtClean="0">
                            <a:latin typeface="Cambria Math" panose="02040503050406030204" pitchFamily="18" charset="0"/>
                          </a:rPr>
                          <m:t>𝑁</m:t>
                        </m:r>
                      </m:e>
                      <m:sub>
                        <m:r>
                          <a:rPr lang="es-MX" sz="1600" b="0" i="1" smtClean="0">
                            <a:latin typeface="Cambria Math" panose="02040503050406030204" pitchFamily="18" charset="0"/>
                          </a:rPr>
                          <m:t>𝑖𝑛𝑑𝑒𝑥</m:t>
                        </m:r>
                      </m:sub>
                    </m:sSub>
                    <m:r>
                      <a:rPr lang="es-MX" sz="1600" b="0" i="1" smtClean="0">
                        <a:latin typeface="Cambria Math" panose="02040503050406030204" pitchFamily="18" charset="0"/>
                      </a:rPr>
                      <m:t>=1000000×</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m:t>
                        </m:r>
                      </m:num>
                      <m:den>
                        <m:r>
                          <a:rPr lang="es-MX" sz="1600" b="0" i="1" smtClean="0">
                            <a:latin typeface="Cambria Math" panose="02040503050406030204" pitchFamily="18" charset="0"/>
                          </a:rPr>
                          <m:t>5 </m:t>
                        </m:r>
                        <m:r>
                          <a:rPr lang="es-MX" sz="1600" b="0" i="1" smtClean="0">
                            <a:latin typeface="Cambria Math" panose="02040503050406030204" pitchFamily="18" charset="0"/>
                          </a:rPr>
                          <m:t>𝑟𝑒𝑔𝑖𝑠𝑡𝑟𝑜𝑠</m:t>
                        </m:r>
                      </m:den>
                    </m:f>
                    <m:r>
                      <a:rPr lang="es-MX" sz="1600" b="0" i="1" smtClean="0">
                        <a:latin typeface="Cambria Math" panose="02040503050406030204" pitchFamily="18" charset="0"/>
                      </a:rPr>
                      <m:t>=200000</m:t>
                    </m:r>
                  </m:oMath>
                </a14:m>
                <a:r>
                  <a:rPr lang="es-MX" sz="1600" dirty="0"/>
                  <a:t> entradas. Si cada bloque del indice almacena 100 entradas (ejemplo anterior), entonces el numero de bloques que tiene el indice es </a:t>
                </a:r>
                <a14:m>
                  <m:oMath xmlns:m="http://schemas.openxmlformats.org/officeDocument/2006/math">
                    <m:r>
                      <a:rPr lang="es-MX" sz="1600" i="1">
                        <a:latin typeface="Cambria Math" panose="02040503050406030204" pitchFamily="18" charset="0"/>
                      </a:rPr>
                      <m:t>𝐵</m:t>
                    </m:r>
                    <m:r>
                      <a:rPr lang="es-MX" sz="1600" b="0" i="1" smtClean="0">
                        <a:latin typeface="Cambria Math" panose="02040503050406030204" pitchFamily="18" charset="0"/>
                      </a:rPr>
                      <m:t>=200000 </m:t>
                    </m:r>
                    <m:r>
                      <a:rPr lang="es-MX" sz="1600" b="0" i="1" smtClean="0">
                        <a:latin typeface="Cambria Math" panose="02040503050406030204" pitchFamily="18" charset="0"/>
                      </a:rPr>
                      <m:t>𝑟𝑒𝑔</m:t>
                    </m:r>
                    <m:r>
                      <a:rPr lang="es-MX" sz="1600" b="0" i="1" smtClean="0">
                        <a:latin typeface="Cambria Math" panose="02040503050406030204" pitchFamily="18" charset="0"/>
                      </a:rPr>
                      <m:t>×</m:t>
                    </m:r>
                    <m:f>
                      <m:fPr>
                        <m:ctrlPr>
                          <a:rPr lang="es-MX" sz="1600" b="0" i="1" smtClean="0">
                            <a:latin typeface="Cambria Math" panose="02040503050406030204" pitchFamily="18" charset="0"/>
                          </a:rPr>
                        </m:ctrlPr>
                      </m:fPr>
                      <m:num>
                        <m:r>
                          <a:rPr lang="es-MX" sz="1600" b="0" i="1" smtClean="0">
                            <a:latin typeface="Cambria Math" panose="02040503050406030204" pitchFamily="18" charset="0"/>
                          </a:rPr>
                          <m:t>1 </m:t>
                        </m:r>
                        <m:r>
                          <a:rPr lang="es-MX" sz="1600" b="0" i="1" smtClean="0">
                            <a:latin typeface="Cambria Math" panose="02040503050406030204" pitchFamily="18" charset="0"/>
                          </a:rPr>
                          <m:t>𝑏𝑙𝑜𝑞𝑢𝑒</m:t>
                        </m:r>
                      </m:num>
                      <m:den>
                        <m:r>
                          <a:rPr lang="es-MX" sz="1600" b="0" i="1" smtClean="0">
                            <a:latin typeface="Cambria Math" panose="02040503050406030204" pitchFamily="18" charset="0"/>
                          </a:rPr>
                          <m:t>100  </m:t>
                        </m:r>
                        <m:r>
                          <a:rPr lang="es-MX" sz="1600" b="0" i="1" smtClean="0">
                            <a:latin typeface="Cambria Math" panose="02040503050406030204" pitchFamily="18" charset="0"/>
                          </a:rPr>
                          <m:t>𝑟𝑒𝑔</m:t>
                        </m:r>
                      </m:den>
                    </m:f>
                    <m:r>
                      <a:rPr lang="es-MX" sz="1600" b="0" i="1" smtClean="0">
                        <a:latin typeface="Cambria Math" panose="02040503050406030204" pitchFamily="18" charset="0"/>
                      </a:rPr>
                      <m:t>=2000 </m:t>
                    </m:r>
                    <m:r>
                      <a:rPr lang="es-MX" sz="1600" b="0" i="1" smtClean="0">
                        <a:latin typeface="Cambria Math" panose="02040503050406030204" pitchFamily="18" charset="0"/>
                      </a:rPr>
                      <m:t>𝑏𝑙𝑜𝑞𝑢𝑒𝑠</m:t>
                    </m:r>
                  </m:oMath>
                </a14:m>
                <a:r>
                  <a:rPr lang="es-MX" sz="1600" dirty="0"/>
                  <a:t>. Como la consulta es por rango y el índice es clustering, el DBMS: </a:t>
                </a:r>
              </a:p>
              <a:p>
                <a:pPr lvl="1"/>
                <a:r>
                  <a:rPr lang="es-MX" sz="1600" dirty="0"/>
                  <a:t>Usa el índice para encontrar el primer bloque relevante.</a:t>
                </a:r>
              </a:p>
              <a:p>
                <a:pPr lvl="1"/>
                <a:r>
                  <a:rPr lang="es-MX" sz="1600" dirty="0"/>
                  <a:t>Luego lee secuencialmente los 20 bloques consecutivos que contienen el rango.</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den>
                      </m:f>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oMath>
                  </m:oMathPara>
                </a14:m>
                <a:endParaRPr lang="es-MX" sz="1800" b="1"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d>
                        <m:dPr>
                          <m:begChr m:val="⌈"/>
                          <m:endChr m:val="⌉"/>
                          <m:ctrlPr>
                            <a:rPr lang="es-MX" sz="1800" b="0" i="1" smtClean="0">
                              <a:latin typeface="Cambria Math" panose="02040503050406030204" pitchFamily="18" charset="0"/>
                            </a:rPr>
                          </m:ctrlPr>
                        </m:dPr>
                        <m:e>
                          <m:func>
                            <m:funcPr>
                              <m:ctrlPr>
                                <a:rPr lang="es-MX" sz="1800" b="0" i="1" smtClean="0">
                                  <a:latin typeface="Cambria Math" panose="02040503050406030204" pitchFamily="18" charset="0"/>
                                </a:rPr>
                              </m:ctrlPr>
                            </m:funcPr>
                            <m:fName>
                              <m:sSub>
                                <m:sSubPr>
                                  <m:ctrlPr>
                                    <a:rPr lang="es-MX" sz="1800" b="0" i="1" smtClean="0">
                                      <a:latin typeface="Cambria Math" panose="02040503050406030204" pitchFamily="18" charset="0"/>
                                    </a:rPr>
                                  </m:ctrlPr>
                                </m:sSubPr>
                                <m:e>
                                  <m:r>
                                    <m:rPr>
                                      <m:sty m:val="p"/>
                                    </m:rPr>
                                    <a:rPr lang="es-MX" sz="1800" b="0" i="0" smtClean="0">
                                      <a:latin typeface="Cambria Math" panose="02040503050406030204" pitchFamily="18" charset="0"/>
                                    </a:rPr>
                                    <m:t>log</m:t>
                                  </m:r>
                                </m:e>
                                <m:sub>
                                  <m:r>
                                    <a:rPr lang="es-MX" sz="1800" b="0" i="1" smtClean="0">
                                      <a:latin typeface="Cambria Math" panose="02040503050406030204" pitchFamily="18" charset="0"/>
                                    </a:rPr>
                                    <m:t>2</m:t>
                                  </m:r>
                                </m:sub>
                              </m:sSub>
                            </m:fName>
                            <m:e>
                              <m:r>
                                <a:rPr lang="es-MX" sz="1800" b="0" i="1" smtClean="0">
                                  <a:latin typeface="Cambria Math" panose="02040503050406030204" pitchFamily="18" charset="0"/>
                                </a:rPr>
                                <m:t>𝐵</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func>
                            <m:funcPr>
                              <m:ctrlPr>
                                <a:rPr lang="es-MX" sz="1800" i="1">
                                  <a:latin typeface="Cambria Math" panose="02040503050406030204" pitchFamily="18" charset="0"/>
                                </a:rPr>
                              </m:ctrlPr>
                            </m:funcPr>
                            <m:fName>
                              <m:sSub>
                                <m:sSubPr>
                                  <m:ctrlPr>
                                    <a:rPr lang="es-MX" sz="1800" i="1">
                                      <a:latin typeface="Cambria Math" panose="02040503050406030204" pitchFamily="18" charset="0"/>
                                    </a:rPr>
                                  </m:ctrlPr>
                                </m:sSubPr>
                                <m:e>
                                  <m:r>
                                    <m:rPr>
                                      <m:sty m:val="p"/>
                                    </m:rPr>
                                    <a:rPr lang="es-MX" sz="1800">
                                      <a:latin typeface="Cambria Math" panose="02040503050406030204" pitchFamily="18" charset="0"/>
                                    </a:rPr>
                                    <m:t>log</m:t>
                                  </m:r>
                                </m:e>
                                <m:sub>
                                  <m:r>
                                    <a:rPr lang="es-MX" sz="1800" i="1">
                                      <a:latin typeface="Cambria Math" panose="02040503050406030204" pitchFamily="18" charset="0"/>
                                    </a:rPr>
                                    <m:t>2</m:t>
                                  </m:r>
                                </m:sub>
                              </m:sSub>
                            </m:fName>
                            <m:e>
                              <m:d>
                                <m:dPr>
                                  <m:ctrlPr>
                                    <a:rPr lang="es-MX" sz="1800" b="0" i="1" smtClean="0">
                                      <a:latin typeface="Cambria Math" panose="02040503050406030204" pitchFamily="18" charset="0"/>
                                    </a:rPr>
                                  </m:ctrlPr>
                                </m:dPr>
                                <m:e>
                                  <m:r>
                                    <a:rPr lang="es-MX" sz="1800" b="0" i="1" smtClean="0">
                                      <a:latin typeface="Cambria Math" panose="02040503050406030204" pitchFamily="18" charset="0"/>
                                    </a:rPr>
                                    <m:t>2000</m:t>
                                  </m:r>
                                </m:e>
                              </m:d>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r>
                            <a:rPr lang="es-MX" sz="1800" b="0" i="1" smtClean="0">
                              <a:latin typeface="Cambria Math" panose="02040503050406030204" pitchFamily="18" charset="0"/>
                            </a:rPr>
                            <m:t>10.96</m:t>
                          </m:r>
                        </m:e>
                      </m:d>
                      <m:r>
                        <a:rPr lang="es-MX" sz="1800" b="0" i="1" smtClean="0">
                          <a:latin typeface="Cambria Math" panose="02040503050406030204" pitchFamily="18" charset="0"/>
                        </a:rPr>
                        <m:t>=11</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r>
                        <a:rPr lang="es-MX" sz="1800" b="0" i="1" smtClean="0">
                          <a:latin typeface="Cambria Math" panose="02040503050406030204" pitchFamily="18" charset="0"/>
                        </a:rPr>
                        <m:t>=20 </m:t>
                      </m:r>
                      <m:r>
                        <a:rPr lang="es-MX" sz="1800" b="0" i="1" smtClean="0">
                          <a:latin typeface="Cambria Math" panose="02040503050406030204" pitchFamily="18" charset="0"/>
                        </a:rPr>
                        <m:t>𝑏𝑙𝑜𝑞𝑢𝑒𝑠</m:t>
                      </m:r>
                    </m:oMath>
                  </m:oMathPara>
                </a14:m>
                <a:endParaRPr lang="es-MX" sz="1800" b="1"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r>
                            <a:rPr lang="es-MX" sz="1800" b="0" i="1" smtClean="0">
                              <a:latin typeface="Cambria Math" panose="02040503050406030204" pitchFamily="18" charset="0"/>
                            </a:rPr>
                            <m:t> </m:t>
                          </m:r>
                        </m:den>
                      </m:f>
                      <m:r>
                        <a:rPr lang="es-MX" sz="1800" b="0" i="1" smtClean="0">
                          <a:latin typeface="Cambria Math" panose="02040503050406030204" pitchFamily="18" charset="0"/>
                        </a:rPr>
                        <m:t>=11+20=31→</m:t>
                      </m:r>
                      <m:sSub>
                        <m:sSubPr>
                          <m:ctrlPr>
                            <a:rPr lang="es-MX" sz="1800" i="1">
                              <a:latin typeface="Cambria Math" panose="02040503050406030204" pitchFamily="18" charset="0"/>
                            </a:rPr>
                          </m:ctrlPr>
                        </m:sSubPr>
                        <m:e>
                          <m:r>
                            <a:rPr lang="es-MX" sz="1800" i="1">
                              <a:latin typeface="Cambria Math" panose="02040503050406030204" pitchFamily="18" charset="0"/>
                            </a:rPr>
                            <m:t>𝑇</m:t>
                          </m:r>
                        </m:e>
                        <m:sub>
                          <m:r>
                            <a:rPr lang="es-MX" sz="1800" i="1">
                              <a:latin typeface="Cambria Math" panose="02040503050406030204" pitchFamily="18" charset="0"/>
                            </a:rPr>
                            <m:t>𝑡𝑜𝑡𝑎𝑙</m:t>
                          </m:r>
                        </m:sub>
                      </m:sSub>
                      <m:r>
                        <a:rPr lang="es-MX" sz="1800" i="1">
                          <a:latin typeface="Cambria Math" panose="02040503050406030204" pitchFamily="18" charset="0"/>
                        </a:rPr>
                        <m:t>=12×10 </m:t>
                      </m:r>
                      <m:r>
                        <a:rPr lang="es-MX" sz="1800" i="1">
                          <a:latin typeface="Cambria Math" panose="02040503050406030204" pitchFamily="18" charset="0"/>
                        </a:rPr>
                        <m:t>𝑚𝑠</m:t>
                      </m:r>
                      <m:r>
                        <a:rPr lang="es-MX" sz="1800" i="1">
                          <a:latin typeface="Cambria Math" panose="02040503050406030204" pitchFamily="18" charset="0"/>
                        </a:rPr>
                        <m:t>=320 </m:t>
                      </m:r>
                      <m:r>
                        <a:rPr lang="es-MX" sz="1800" i="1">
                          <a:latin typeface="Cambria Math" panose="02040503050406030204" pitchFamily="18" charset="0"/>
                        </a:rPr>
                        <m:t>𝑚𝑠</m:t>
                      </m:r>
                    </m:oMath>
                  </m:oMathPara>
                </a14:m>
                <a:endParaRPr lang="es-MX" sz="1800" b="1" dirty="0"/>
              </a:p>
              <a:p>
                <a:pPr marL="127000" indent="0">
                  <a:buNone/>
                </a:pPr>
                <a:endParaRPr lang="es-MX" sz="1800" b="1" dirty="0"/>
              </a:p>
              <a:p>
                <a:pPr marL="127000" indent="0">
                  <a:buNone/>
                </a:pPr>
                <a:endParaRPr lang="es-MX" sz="18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821400" y="714314"/>
                <a:ext cx="10911672" cy="5952398"/>
              </a:xfrm>
              <a:prstGeom prst="rect">
                <a:avLst/>
              </a:prstGeom>
              <a:blipFill>
                <a:blip r:embed="rId3"/>
                <a:stretch>
                  <a:fillRect r="-447" b="-11668"/>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19274042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4559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Ejemplo 4 - Secondary index</a:t>
            </a:r>
            <a:endParaRPr lang="es-CO"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797941" y="761447"/>
            <a:ext cx="10596118" cy="54875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Sobre la misma tabla de Estudiantes, ahora se construye un índice sobre el atributo Carrera. El archivo sigue ordenado físicamente por ID, y se sabe que las cuatro carreras (Sistemas, Matemáticas, Física y Química) tienen la misma cantidad de estudiantes.</a:t>
            </a:r>
          </a:p>
          <a:p>
            <a:pPr marL="584200" indent="-457200">
              <a:buFont typeface="+mj-lt"/>
              <a:buAutoNum type="arabicPeriod"/>
            </a:pPr>
            <a:r>
              <a:rPr lang="es-MX" sz="2000" dirty="0"/>
              <a:t>¿Por qué este índice sobre Carrera es un secondary index (índice no agrupado)? ¿Qué característica del archivo lo determina?</a:t>
            </a:r>
          </a:p>
          <a:p>
            <a:pPr marL="584200" indent="-457200">
              <a:buFont typeface="+mj-lt"/>
              <a:buAutoNum type="arabicPeriod"/>
            </a:pPr>
            <a:r>
              <a:rPr lang="es-MX" sz="2000" dirty="0"/>
              <a:t>¿Cuántas entradas tiene este índice? ¿Cuántos bloques ocupa si cada bloque almacena 100 entradas?</a:t>
            </a:r>
          </a:p>
          <a:p>
            <a:pPr marL="584200" indent="-457200">
              <a:buFont typeface="+mj-lt"/>
              <a:buAutoNum type="arabicPeriod"/>
            </a:pPr>
            <a:r>
              <a:rPr lang="es-MX" sz="2000" dirty="0"/>
              <a:t>Un usuario ejecuta la consulta </a:t>
            </a:r>
            <a:r>
              <a:rPr lang="es-MX" sz="2000" dirty="0">
                <a:latin typeface="Consolas" panose="020B0609020204030204" pitchFamily="49" charset="0"/>
              </a:rPr>
              <a:t>WHERE Carrera = 'Sistemas'</a:t>
            </a:r>
            <a:r>
              <a:rPr lang="es-MX" sz="2000" dirty="0"/>
              <a:t>. ¿Cuántos registros debe recuperar? En el peor caso, ¿cuántos bloques de datos distintos debe leer el DBMS? ¿Por qué?</a:t>
            </a:r>
          </a:p>
          <a:p>
            <a:pPr marL="584200" indent="-457200">
              <a:buFont typeface="+mj-lt"/>
              <a:buAutoNum type="arabicPeriod"/>
            </a:pPr>
            <a:endParaRPr lang="es-MX" sz="2000" dirty="0"/>
          </a:p>
          <a:p>
            <a:pPr marL="584200" indent="-457200">
              <a:buFont typeface="+mj-lt"/>
              <a:buAutoNum type="arabicPeriod"/>
            </a:pPr>
            <a:endParaRPr lang="es-MX" sz="2000" dirty="0"/>
          </a:p>
          <a:p>
            <a:pPr marL="584200" indent="-457200">
              <a:buFont typeface="+mj-lt"/>
              <a:buAutoNum type="arabicPeriod"/>
            </a:pPr>
            <a:endParaRPr lang="es-MX" sz="2000" dirty="0"/>
          </a:p>
          <a:p>
            <a:pPr marL="584200" indent="-457200">
              <a:buFont typeface="+mj-lt"/>
              <a:buAutoNum type="arabicPeriod"/>
            </a:pPr>
            <a:r>
              <a:rPr lang="es-MX" sz="2000" dirty="0"/>
              <a:t>Compare este costo con el del full scan. ¿Qué conclusión práctica obtiene sobre el uso de secondary indexes en atributos con baja selectividad?</a:t>
            </a:r>
          </a:p>
        </p:txBody>
      </p:sp>
      <p:sp>
        <p:nvSpPr>
          <p:cNvPr id="8" name="CuadroTexto 7">
            <a:extLst>
              <a:ext uri="{FF2B5EF4-FFF2-40B4-BE49-F238E27FC236}">
                <a16:creationId xmlns:a16="http://schemas.microsoft.com/office/drawing/2014/main" id="{E59603AA-2D0B-4F72-8EEC-5A22E0E2EBCA}"/>
              </a:ext>
            </a:extLst>
          </p:cNvPr>
          <p:cNvSpPr txBox="1"/>
          <p:nvPr/>
        </p:nvSpPr>
        <p:spPr>
          <a:xfrm>
            <a:off x="3048000" y="4202668"/>
            <a:ext cx="6096000" cy="923330"/>
          </a:xfrm>
          <a:prstGeom prst="rect">
            <a:avLst/>
          </a:prstGeom>
          <a:noFill/>
          <a:ln>
            <a:solidFill>
              <a:schemeClr val="tx1"/>
            </a:solidFill>
          </a:ln>
        </p:spPr>
        <p:txBody>
          <a:bodyPr wrap="square">
            <a:spAutoFit/>
          </a:bodyPr>
          <a:lstStyle/>
          <a:p>
            <a:r>
              <a:rPr lang="es-CO" sz="1800" dirty="0">
                <a:latin typeface="Consolas" panose="020B0609020204030204" pitchFamily="49" charset="0"/>
              </a:rPr>
              <a:t>SELECT *</a:t>
            </a:r>
          </a:p>
          <a:p>
            <a:r>
              <a:rPr lang="es-CO" sz="1800" dirty="0">
                <a:latin typeface="Consolas" panose="020B0609020204030204" pitchFamily="49" charset="0"/>
              </a:rPr>
              <a:t>FROM Estudiantes</a:t>
            </a:r>
          </a:p>
          <a:p>
            <a:r>
              <a:rPr lang="es-CO" sz="1800" dirty="0">
                <a:latin typeface="Consolas" panose="020B0609020204030204" pitchFamily="49" charset="0"/>
              </a:rPr>
              <a:t>WHERE Carrera = 'Sistemas';</a:t>
            </a:r>
          </a:p>
        </p:txBody>
      </p:sp>
    </p:spTree>
    <p:extLst>
      <p:ext uri="{BB962C8B-B14F-4D97-AF65-F5344CB8AC3E}">
        <p14:creationId xmlns:p14="http://schemas.microsoft.com/office/powerpoint/2010/main" val="6485996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4 – </a:t>
            </a:r>
            <a:r>
              <a:rPr lang="es-CO" sz="3200" dirty="0"/>
              <a:t>Secondary index</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8"/>
            <a:ext cx="11304962" cy="314878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t>Datos del problema</a:t>
            </a:r>
            <a:r>
              <a:rPr lang="es-MX" sz="1800" dirty="0"/>
              <a:t>:</a:t>
            </a:r>
          </a:p>
          <a:p>
            <a:pPr>
              <a:buFont typeface="Arial" panose="020B0604020202020204" pitchFamily="34" charset="0"/>
              <a:buChar char="•"/>
            </a:pPr>
            <a:r>
              <a:rPr lang="es-MX" sz="1800" dirty="0"/>
              <a:t>N = 1000000 registros</a:t>
            </a:r>
          </a:p>
          <a:p>
            <a:pPr>
              <a:buFont typeface="Arial" panose="020B0604020202020204" pitchFamily="34" charset="0"/>
              <a:buChar char="•"/>
            </a:pPr>
            <a:r>
              <a:rPr lang="es-MX" sz="1800" dirty="0"/>
              <a:t>5 registros/bloque  </a:t>
            </a:r>
          </a:p>
          <a:p>
            <a:pPr>
              <a:buFont typeface="Arial" panose="020B0604020202020204" pitchFamily="34" charset="0"/>
              <a:buChar char="•"/>
            </a:pPr>
            <a:r>
              <a:rPr lang="es-MX" sz="1800" dirty="0"/>
              <a:t>B = 200000 bloques </a:t>
            </a:r>
          </a:p>
          <a:p>
            <a:pPr>
              <a:buFont typeface="Arial" panose="020B0604020202020204" pitchFamily="34" charset="0"/>
              <a:buChar char="•"/>
            </a:pPr>
            <a:r>
              <a:rPr lang="es-MX" sz="1800" dirty="0"/>
              <a:t>10 ms/bloque</a:t>
            </a:r>
          </a:p>
          <a:p>
            <a:pPr>
              <a:buFont typeface="Arial" panose="020B0604020202020204" pitchFamily="34" charset="0"/>
              <a:buChar char="•"/>
            </a:pPr>
            <a:r>
              <a:rPr lang="es-MX" sz="1800" dirty="0"/>
              <a:t>Archivo ordenado físicamente por ID</a:t>
            </a:r>
          </a:p>
          <a:p>
            <a:pPr>
              <a:buFont typeface="Arial" panose="020B0604020202020204" pitchFamily="34" charset="0"/>
              <a:buChar char="•"/>
            </a:pPr>
            <a:r>
              <a:rPr lang="es-MX" sz="1800" dirty="0"/>
              <a:t>4 carreras con igual distribución</a:t>
            </a:r>
          </a:p>
          <a:p>
            <a:pPr>
              <a:buFont typeface="Arial" panose="020B0604020202020204" pitchFamily="34" charset="0"/>
              <a:buChar char="•"/>
            </a:pPr>
            <a:r>
              <a:rPr lang="es-MX" sz="1800" dirty="0"/>
              <a:t>Cada bloque del índice almacena 100 entradas</a:t>
            </a:r>
          </a:p>
          <a:p>
            <a:pPr marL="127000" indent="0">
              <a:buNone/>
            </a:pPr>
            <a:endParaRPr lang="es-MX" sz="1800" dirty="0"/>
          </a:p>
        </p:txBody>
      </p:sp>
    </p:spTree>
    <p:extLst>
      <p:ext uri="{BB962C8B-B14F-4D97-AF65-F5344CB8AC3E}">
        <p14:creationId xmlns:p14="http://schemas.microsoft.com/office/powerpoint/2010/main" val="36053870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4 – </a:t>
            </a:r>
            <a:r>
              <a:rPr lang="es-CO" sz="3200" dirty="0"/>
              <a:t>Secondary index</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59219" y="1045539"/>
            <a:ext cx="11304962" cy="12595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a:pPr>
            <a:r>
              <a:rPr lang="es-MX" sz="1800" dirty="0"/>
              <a:t>El índice sobre Carrera es un secondary index (índice no agrupado) por que el archivo está físicamente ordenado por ID, no por Carrera de modo que el orden de las entradas del índice (por Carrera) difiere del orden físico del archivo. Como consecuencia, los registros de una misma carrera no están físicamente contiguos en disco: están dispersos a lo largo de los 200,000 bloques.</a:t>
            </a:r>
          </a:p>
        </p:txBody>
      </p:sp>
      <mc:AlternateContent xmlns:mc="http://schemas.openxmlformats.org/markup-compatibility/2006" xmlns:a14="http://schemas.microsoft.com/office/drawing/2010/main">
        <mc:Choice Requires="a14">
          <p:sp>
            <p:nvSpPr>
              <p:cNvPr id="8" name="Google Shape;310;p34">
                <a:extLst>
                  <a:ext uri="{FF2B5EF4-FFF2-40B4-BE49-F238E27FC236}">
                    <a16:creationId xmlns:a16="http://schemas.microsoft.com/office/drawing/2014/main" id="{AB581E0B-23E0-4315-B86C-6BB5F883F2B3}"/>
                  </a:ext>
                </a:extLst>
              </p:cNvPr>
              <p:cNvSpPr txBox="1">
                <a:spLocks/>
              </p:cNvSpPr>
              <p:nvPr/>
            </p:nvSpPr>
            <p:spPr>
              <a:xfrm>
                <a:off x="759219" y="2247901"/>
                <a:ext cx="11201723" cy="314878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2"/>
                </a:pPr>
                <a:r>
                  <a:rPr lang="es-MX" sz="1800" b="1" dirty="0"/>
                  <a:t>Entradas y bloques del índice</a:t>
                </a:r>
                <a:r>
                  <a:rPr lang="es-MX" sz="1800" dirty="0"/>
                  <a:t>:</a:t>
                </a:r>
              </a:p>
              <a:p>
                <a:pPr marL="469900" indent="-342900">
                  <a:buFont typeface="+mj-lt"/>
                  <a:buAutoNum type="arabicPeriod" startAt="2"/>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𝑖𝑛𝑑𝑒𝑥</m:t>
                          </m:r>
                        </m:sub>
                      </m:sSub>
                      <m:r>
                        <a:rPr lang="es-MX" sz="1800" i="1">
                          <a:latin typeface="Cambria Math" panose="02040503050406030204" pitchFamily="18" charset="0"/>
                        </a:rPr>
                        <m:t>=</m:t>
                      </m:r>
                      <m:r>
                        <a:rPr lang="es-MX" sz="1800" b="0" i="1" smtClean="0">
                          <a:latin typeface="Cambria Math" panose="02040503050406030204" pitchFamily="18" charset="0"/>
                        </a:rPr>
                        <m:t>𝑁</m:t>
                      </m:r>
                      <m:r>
                        <a:rPr lang="es-MX" sz="1800" b="0" i="1" smtClean="0">
                          <a:latin typeface="Cambria Math" panose="02040503050406030204" pitchFamily="18" charset="0"/>
                        </a:rPr>
                        <m:t>=1000000 </m:t>
                      </m:r>
                      <m:r>
                        <a:rPr lang="es-MX" sz="1800" b="0" i="1" smtClean="0">
                          <a:latin typeface="Cambria Math" panose="02040503050406030204" pitchFamily="18" charset="0"/>
                        </a:rPr>
                        <m:t>𝑟𝑒𝑔</m:t>
                      </m:r>
                    </m:oMath>
                  </m:oMathPara>
                </a14:m>
                <a:endParaRPr lang="es-MX" sz="1800" b="0"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r>
                        <a:rPr lang="es-MX" sz="1800" i="1">
                          <a:latin typeface="Cambria Math" panose="02040503050406030204" pitchFamily="18" charset="0"/>
                        </a:rPr>
                        <m:t>=</m:t>
                      </m:r>
                      <m:f>
                        <m:fPr>
                          <m:ctrlPr>
                            <a:rPr lang="es-MX" sz="1800" b="0" i="1" smtClean="0">
                              <a:latin typeface="Cambria Math" panose="02040503050406030204" pitchFamily="18" charset="0"/>
                            </a:rPr>
                          </m:ctrlPr>
                        </m:fPr>
                        <m:num>
                          <m:sSub>
                            <m:sSubPr>
                              <m:ctrlPr>
                                <a:rPr lang="es-MX" sz="1800" i="1">
                                  <a:latin typeface="Cambria Math" panose="02040503050406030204" pitchFamily="18" charset="0"/>
                                </a:rPr>
                              </m:ctrlPr>
                            </m:sSubPr>
                            <m:e>
                              <m:r>
                                <a:rPr lang="es-MX" sz="1800" i="1">
                                  <a:latin typeface="Cambria Math" panose="02040503050406030204" pitchFamily="18" charset="0"/>
                                </a:rPr>
                                <m:t>𝑁</m:t>
                              </m:r>
                            </m:e>
                            <m:sub>
                              <m:r>
                                <a:rPr lang="es-MX" sz="1800" i="1">
                                  <a:latin typeface="Cambria Math" panose="02040503050406030204" pitchFamily="18" charset="0"/>
                                </a:rPr>
                                <m:t>𝑖𝑛𝑑𝑒𝑥</m:t>
                              </m:r>
                            </m:sub>
                          </m:sSub>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sub>
                          </m:sSub>
                        </m:den>
                      </m:f>
                      <m:r>
                        <a:rPr lang="es-MX" sz="1800" b="0" i="1" smtClean="0">
                          <a:latin typeface="Cambria Math" panose="02040503050406030204" pitchFamily="18" charset="0"/>
                        </a:rPr>
                        <m:t>=1000000 </m:t>
                      </m:r>
                      <m:r>
                        <a:rPr lang="es-MX" sz="1800" b="0" i="1" smtClean="0">
                          <a:latin typeface="Cambria Math" panose="02040503050406030204" pitchFamily="18" charset="0"/>
                        </a:rPr>
                        <m:t>𝑟𝑒𝑔</m:t>
                      </m:r>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1 </m:t>
                          </m:r>
                          <m:r>
                            <a:rPr lang="es-MX" sz="1800" b="0" i="1" smtClean="0">
                              <a:latin typeface="Cambria Math" panose="02040503050406030204" pitchFamily="18" charset="0"/>
                            </a:rPr>
                            <m:t>𝑏𝑙𝑜𝑞𝑢𝑒</m:t>
                          </m:r>
                        </m:num>
                        <m:den>
                          <m:r>
                            <a:rPr lang="es-MX" sz="1800" b="0" i="1" smtClean="0">
                              <a:latin typeface="Cambria Math" panose="02040503050406030204" pitchFamily="18" charset="0"/>
                            </a:rPr>
                            <m:t>100 </m:t>
                          </m:r>
                          <m:r>
                            <a:rPr lang="es-MX" sz="1800" b="0" i="1" smtClean="0">
                              <a:latin typeface="Cambria Math" panose="02040503050406030204" pitchFamily="18" charset="0"/>
                            </a:rPr>
                            <m:t>𝑟𝑒𝑔</m:t>
                          </m:r>
                        </m:den>
                      </m:f>
                      <m:r>
                        <a:rPr lang="es-MX" sz="1800" b="0" i="1" smtClean="0">
                          <a:latin typeface="Cambria Math" panose="02040503050406030204" pitchFamily="18" charset="0"/>
                        </a:rPr>
                        <m:t>=10000 </m:t>
                      </m:r>
                      <m:r>
                        <a:rPr lang="es-MX" sz="1800" b="0" i="1" smtClean="0">
                          <a:latin typeface="Cambria Math" panose="02040503050406030204" pitchFamily="18" charset="0"/>
                        </a:rPr>
                        <m:t>𝑏𝑙𝑜𝑞𝑢𝑒𝑠</m:t>
                      </m:r>
                    </m:oMath>
                  </m:oMathPara>
                </a14:m>
                <a:endParaRPr lang="es-MX" sz="1800" dirty="0"/>
              </a:p>
              <a:p>
                <a:pPr marL="584200" lvl="1" indent="0">
                  <a:buNone/>
                </a:pPr>
                <a:endParaRPr lang="es-MX" sz="2000" dirty="0"/>
              </a:p>
            </p:txBody>
          </p:sp>
        </mc:Choice>
        <mc:Fallback xmlns="">
          <p:sp>
            <p:nvSpPr>
              <p:cNvPr id="8" name="Google Shape;310;p34">
                <a:extLst>
                  <a:ext uri="{FF2B5EF4-FFF2-40B4-BE49-F238E27FC236}">
                    <a16:creationId xmlns:a16="http://schemas.microsoft.com/office/drawing/2014/main" id="{AB581E0B-23E0-4315-B86C-6BB5F883F2B3}"/>
                  </a:ext>
                </a:extLst>
              </p:cNvPr>
              <p:cNvSpPr txBox="1">
                <a:spLocks noRot="1" noChangeAspect="1" noMove="1" noResize="1" noEditPoints="1" noAdjustHandles="1" noChangeArrowheads="1" noChangeShapeType="1" noTextEdit="1"/>
              </p:cNvSpPr>
              <p:nvPr/>
            </p:nvSpPr>
            <p:spPr>
              <a:xfrm>
                <a:off x="759219" y="2247901"/>
                <a:ext cx="11201723" cy="3148781"/>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20828756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4 – </a:t>
            </a:r>
            <a:r>
              <a:rPr lang="es-CO" sz="3200" dirty="0"/>
              <a:t>Secondary index</a:t>
            </a:r>
            <a:endParaRPr dirty="0"/>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FA8BE337-BA28-473F-8E01-C2EBA7C19F03}"/>
                  </a:ext>
                </a:extLst>
              </p:cNvPr>
              <p:cNvSpPr txBox="1">
                <a:spLocks/>
              </p:cNvSpPr>
              <p:nvPr/>
            </p:nvSpPr>
            <p:spPr>
              <a:xfrm>
                <a:off x="821400" y="714314"/>
                <a:ext cx="10911672" cy="59523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Costo I/O de la consulta </a:t>
                </a:r>
                <a:r>
                  <a:rPr lang="es-MX" sz="1800" b="1" dirty="0">
                    <a:latin typeface="Consolas" panose="020B0609020204030204" pitchFamily="49" charset="0"/>
                  </a:rPr>
                  <a:t>WHERE Carrera = 'Sistemas’</a:t>
                </a:r>
                <a:r>
                  <a:rPr lang="es-MX" sz="1800" dirty="0"/>
                  <a:t>: </a:t>
                </a:r>
              </a:p>
              <a:p>
                <a:pPr marL="584200" lvl="1" indent="0">
                  <a:buNone/>
                </a:pPr>
                <a:r>
                  <a:rPr lang="es-MX" sz="1800" dirty="0"/>
                  <a:t>Como hay 4 carreras con igual distribución el numero de registros por carrera, y mas específicamente para sistemas (carrera de interés), esta dado por:</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𝑐𝑎𝑟𝑟𝑒𝑟</m:t>
                          </m:r>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𝑎</m:t>
                              </m:r>
                            </m:e>
                            <m:sub>
                              <m:r>
                                <a:rPr lang="es-MX" sz="1800" b="0" i="1" smtClean="0">
                                  <a:latin typeface="Cambria Math" panose="02040503050406030204" pitchFamily="18" charset="0"/>
                                </a:rPr>
                                <m:t>𝑖</m:t>
                              </m:r>
                            </m:sub>
                          </m:sSub>
                        </m:sub>
                      </m:sSub>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1000000</m:t>
                          </m:r>
                        </m:num>
                        <m:den>
                          <m:r>
                            <a:rPr lang="es-MX" sz="1800" b="0" i="1" smtClean="0">
                              <a:latin typeface="Cambria Math" panose="02040503050406030204" pitchFamily="18" charset="0"/>
                            </a:rPr>
                            <m:t>4</m:t>
                          </m:r>
                        </m:den>
                      </m:f>
                      <m:r>
                        <a:rPr lang="es-MX" sz="1800" b="0" i="1" smtClean="0">
                          <a:latin typeface="Cambria Math" panose="02040503050406030204" pitchFamily="18" charset="0"/>
                        </a:rPr>
                        <m:t>=250000=</m:t>
                      </m:r>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𝑠𝑖𝑠𝑡𝑒𝑚𝑎𝑠</m:t>
                          </m:r>
                        </m:sub>
                      </m:sSub>
                    </m:oMath>
                  </m:oMathPara>
                </a14:m>
                <a:endParaRPr lang="es-MX" sz="1800" dirty="0"/>
              </a:p>
              <a:p>
                <a:pPr marL="584200" lvl="1" indent="0">
                  <a:buNone/>
                </a:pPr>
                <a:endParaRPr lang="es-MX" sz="1800" dirty="0"/>
              </a:p>
              <a:p>
                <a:pPr marL="584200" lvl="1" indent="0">
                  <a:buNone/>
                </a:pPr>
                <a:r>
                  <a:rPr lang="es-MX" sz="1800" dirty="0"/>
                  <a:t>Como el archivo está ordenado por ID y no por Carrera, los 250000 registros de Sistemas están dispersos por todo el archivo. En el peor caso, cada registro está en un bloque distinto:</a:t>
                </a:r>
              </a:p>
              <a:p>
                <a:pPr marL="469900" indent="-342900">
                  <a:buFont typeface="+mj-lt"/>
                  <a:buAutoNum type="arabicPeriod" startAt="3"/>
                </a:pPr>
                <a:endParaRPr lang="es-MX" sz="1800" b="1"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den>
                      </m:f>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oMath>
                  </m:oMathPara>
                </a14:m>
                <a:endParaRPr lang="es-MX" sz="1800" b="1" dirty="0"/>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𝑠𝑒𝑎𝑟𝑐h</m:t>
                          </m:r>
                        </m:sub>
                      </m:sSub>
                      <m:r>
                        <a:rPr lang="es-MX" sz="1800" b="0" i="1" smtClean="0">
                          <a:latin typeface="Cambria Math" panose="02040503050406030204" pitchFamily="18" charset="0"/>
                        </a:rPr>
                        <m:t>=</m:t>
                      </m:r>
                      <m:d>
                        <m:dPr>
                          <m:begChr m:val="⌈"/>
                          <m:endChr m:val="⌉"/>
                          <m:ctrlPr>
                            <a:rPr lang="es-MX" sz="1800" b="0" i="1" smtClean="0">
                              <a:latin typeface="Cambria Math" panose="02040503050406030204" pitchFamily="18" charset="0"/>
                            </a:rPr>
                          </m:ctrlPr>
                        </m:dPr>
                        <m:e>
                          <m:func>
                            <m:funcPr>
                              <m:ctrlPr>
                                <a:rPr lang="es-MX" sz="1800" b="0" i="1" smtClean="0">
                                  <a:latin typeface="Cambria Math" panose="02040503050406030204" pitchFamily="18" charset="0"/>
                                </a:rPr>
                              </m:ctrlPr>
                            </m:funcPr>
                            <m:fName>
                              <m:sSub>
                                <m:sSubPr>
                                  <m:ctrlPr>
                                    <a:rPr lang="es-MX" sz="1800" b="0" i="1" smtClean="0">
                                      <a:latin typeface="Cambria Math" panose="02040503050406030204" pitchFamily="18" charset="0"/>
                                    </a:rPr>
                                  </m:ctrlPr>
                                </m:sSubPr>
                                <m:e>
                                  <m:r>
                                    <m:rPr>
                                      <m:sty m:val="p"/>
                                    </m:rPr>
                                    <a:rPr lang="es-MX" sz="1800" b="0" i="0" smtClean="0">
                                      <a:latin typeface="Cambria Math" panose="02040503050406030204" pitchFamily="18" charset="0"/>
                                    </a:rPr>
                                    <m:t>log</m:t>
                                  </m:r>
                                </m:e>
                                <m:sub>
                                  <m:r>
                                    <a:rPr lang="es-MX" sz="1800" b="0" i="1" smtClean="0">
                                      <a:latin typeface="Cambria Math" panose="02040503050406030204" pitchFamily="18" charset="0"/>
                                    </a:rPr>
                                    <m:t>2</m:t>
                                  </m:r>
                                </m:sub>
                              </m:sSub>
                            </m:fName>
                            <m:e>
                              <m:r>
                                <a:rPr lang="es-MX" sz="1800" b="0" i="1" smtClean="0">
                                  <a:latin typeface="Cambria Math" panose="02040503050406030204" pitchFamily="18" charset="0"/>
                                </a:rPr>
                                <m:t>𝐵</m:t>
                              </m:r>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func>
                            <m:funcPr>
                              <m:ctrlPr>
                                <a:rPr lang="es-MX" sz="1800" i="1">
                                  <a:latin typeface="Cambria Math" panose="02040503050406030204" pitchFamily="18" charset="0"/>
                                </a:rPr>
                              </m:ctrlPr>
                            </m:funcPr>
                            <m:fName>
                              <m:sSub>
                                <m:sSubPr>
                                  <m:ctrlPr>
                                    <a:rPr lang="es-MX" sz="1800" i="1">
                                      <a:latin typeface="Cambria Math" panose="02040503050406030204" pitchFamily="18" charset="0"/>
                                    </a:rPr>
                                  </m:ctrlPr>
                                </m:sSubPr>
                                <m:e>
                                  <m:r>
                                    <m:rPr>
                                      <m:sty m:val="p"/>
                                    </m:rPr>
                                    <a:rPr lang="es-MX" sz="1800">
                                      <a:latin typeface="Cambria Math" panose="02040503050406030204" pitchFamily="18" charset="0"/>
                                    </a:rPr>
                                    <m:t>log</m:t>
                                  </m:r>
                                </m:e>
                                <m:sub>
                                  <m:r>
                                    <a:rPr lang="es-MX" sz="1800" i="1">
                                      <a:latin typeface="Cambria Math" panose="02040503050406030204" pitchFamily="18" charset="0"/>
                                    </a:rPr>
                                    <m:t>2</m:t>
                                  </m:r>
                                </m:sub>
                              </m:sSub>
                            </m:fName>
                            <m:e>
                              <m:d>
                                <m:dPr>
                                  <m:ctrlPr>
                                    <a:rPr lang="es-MX" sz="1800" b="0" i="1" smtClean="0">
                                      <a:latin typeface="Cambria Math" panose="02040503050406030204" pitchFamily="18" charset="0"/>
                                    </a:rPr>
                                  </m:ctrlPr>
                                </m:dPr>
                                <m:e>
                                  <m:r>
                                    <a:rPr lang="es-MX" sz="1800" b="0" i="1" smtClean="0">
                                      <a:latin typeface="Cambria Math" panose="02040503050406030204" pitchFamily="18" charset="0"/>
                                    </a:rPr>
                                    <m:t>10000</m:t>
                                  </m:r>
                                </m:e>
                              </m:d>
                            </m:e>
                          </m:func>
                        </m:e>
                      </m:d>
                      <m:r>
                        <a:rPr lang="es-MX" sz="1800" b="0" i="1" smtClean="0">
                          <a:latin typeface="Cambria Math" panose="02040503050406030204" pitchFamily="18" charset="0"/>
                        </a:rPr>
                        <m:t>=</m:t>
                      </m:r>
                      <m:d>
                        <m:dPr>
                          <m:begChr m:val="⌈"/>
                          <m:endChr m:val="⌉"/>
                          <m:ctrlPr>
                            <a:rPr lang="es-MX" sz="1800" i="1">
                              <a:latin typeface="Cambria Math" panose="02040503050406030204" pitchFamily="18" charset="0"/>
                            </a:rPr>
                          </m:ctrlPr>
                        </m:dPr>
                        <m:e>
                          <m:r>
                            <a:rPr lang="es-MX" sz="1800" b="0" i="1" smtClean="0">
                              <a:latin typeface="Cambria Math" panose="02040503050406030204" pitchFamily="18" charset="0"/>
                            </a:rPr>
                            <m:t>13.28</m:t>
                          </m:r>
                        </m:e>
                      </m:d>
                      <m:r>
                        <a:rPr lang="es-MX" sz="1800" b="0" i="1" smtClean="0">
                          <a:latin typeface="Cambria Math" panose="02040503050406030204" pitchFamily="18" charset="0"/>
                        </a:rPr>
                        <m:t>=14</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r>
                                <a:rPr lang="es-MX" sz="1800" i="1">
                                  <a:latin typeface="Cambria Math" panose="02040503050406030204" pitchFamily="18" charset="0"/>
                                </a:rPr>
                                <m:t>𝑂</m:t>
                              </m:r>
                            </m:den>
                          </m:f>
                        </m:e>
                        <m:sub>
                          <m:r>
                            <a:rPr lang="es-MX" sz="1800" b="0" i="1" smtClean="0">
                              <a:latin typeface="Cambria Math" panose="02040503050406030204" pitchFamily="18" charset="0"/>
                            </a:rPr>
                            <m:t>𝑑𝑎𝑡𝑜𝑠</m:t>
                          </m:r>
                        </m:sub>
                      </m:sSub>
                      <m:r>
                        <a:rPr lang="es-MX" sz="1800" b="0" i="1" smtClean="0">
                          <a:latin typeface="Cambria Math" panose="02040503050406030204" pitchFamily="18" charset="0"/>
                        </a:rPr>
                        <m:t>=250000 </m:t>
                      </m:r>
                      <m:r>
                        <a:rPr lang="es-MX" sz="1800" b="0" i="1" smtClean="0">
                          <a:latin typeface="Cambria Math" panose="02040503050406030204" pitchFamily="18" charset="0"/>
                        </a:rPr>
                        <m:t>𝑏𝑙𝑜𝑞𝑢𝑒𝑠</m:t>
                      </m:r>
                      <m:r>
                        <a:rPr lang="es-MX" sz="1800" b="0" i="1" smtClean="0">
                          <a:latin typeface="Cambria Math" panose="02040503050406030204" pitchFamily="18" charset="0"/>
                        </a:rPr>
                        <m:t> </m:t>
                      </m:r>
                      <m:r>
                        <a:rPr lang="es-MX" sz="1800" b="0" i="0" smtClean="0">
                          <a:latin typeface="Cambria Math" panose="02040503050406030204" pitchFamily="18" charset="0"/>
                        </a:rPr>
                        <m:t>(</m:t>
                      </m:r>
                      <m:r>
                        <m:rPr>
                          <m:sty m:val="p"/>
                        </m:rPr>
                        <a:rPr lang="es-MX" sz="1800" b="0" i="0" smtClean="0">
                          <a:latin typeface="Cambria Math" panose="02040503050406030204" pitchFamily="18" charset="0"/>
                        </a:rPr>
                        <m:t>peor</m:t>
                      </m:r>
                      <m:r>
                        <a:rPr lang="es-MX" sz="1800" b="0" i="0" smtClean="0">
                          <a:latin typeface="Cambria Math" panose="02040503050406030204" pitchFamily="18" charset="0"/>
                        </a:rPr>
                        <m:t> </m:t>
                      </m:r>
                      <m:r>
                        <m:rPr>
                          <m:sty m:val="p"/>
                        </m:rPr>
                        <a:rPr lang="es-MX" sz="1800" b="0" i="0" smtClean="0">
                          <a:latin typeface="Cambria Math" panose="02040503050406030204" pitchFamily="18" charset="0"/>
                        </a:rPr>
                        <m:t>caso</m:t>
                      </m:r>
                      <m:r>
                        <a:rPr lang="es-MX" sz="1800" b="0" i="0" smtClean="0">
                          <a:latin typeface="Cambria Math" panose="02040503050406030204" pitchFamily="18" charset="0"/>
                        </a:rPr>
                        <m:t>)</m:t>
                      </m:r>
                    </m:oMath>
                  </m:oMathPara>
                </a14:m>
                <a:endParaRPr lang="es-MX" sz="1800" b="1"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r>
                            <a:rPr lang="es-MX" sz="1800" b="0" i="1" smtClean="0">
                              <a:latin typeface="Cambria Math" panose="02040503050406030204" pitchFamily="18" charset="0"/>
                            </a:rPr>
                            <m:t> </m:t>
                          </m:r>
                        </m:den>
                      </m:f>
                      <m:r>
                        <a:rPr lang="es-MX" sz="1800" b="0" i="1" smtClean="0">
                          <a:latin typeface="Cambria Math" panose="02040503050406030204" pitchFamily="18" charset="0"/>
                        </a:rPr>
                        <m:t>=14+250000=250014→</m:t>
                      </m:r>
                      <m:sSub>
                        <m:sSubPr>
                          <m:ctrlPr>
                            <a:rPr lang="es-MX" sz="1800" i="1">
                              <a:latin typeface="Cambria Math" panose="02040503050406030204" pitchFamily="18" charset="0"/>
                            </a:rPr>
                          </m:ctrlPr>
                        </m:sSubPr>
                        <m:e>
                          <m:r>
                            <a:rPr lang="es-MX" sz="1800" i="1">
                              <a:latin typeface="Cambria Math" panose="02040503050406030204" pitchFamily="18" charset="0"/>
                            </a:rPr>
                            <m:t>𝑇</m:t>
                          </m:r>
                        </m:e>
                        <m:sub>
                          <m:r>
                            <a:rPr lang="es-MX" sz="1800" i="1">
                              <a:latin typeface="Cambria Math" panose="02040503050406030204" pitchFamily="18" charset="0"/>
                            </a:rPr>
                            <m:t>𝑡𝑜𝑡𝑎𝑙</m:t>
                          </m:r>
                        </m:sub>
                      </m:sSub>
                      <m:r>
                        <a:rPr lang="es-MX" sz="1800" i="1">
                          <a:latin typeface="Cambria Math" panose="02040503050406030204" pitchFamily="18" charset="0"/>
                        </a:rPr>
                        <m:t>=250014×10 </m:t>
                      </m:r>
                      <m:r>
                        <a:rPr lang="es-MX" sz="1800" i="1">
                          <a:latin typeface="Cambria Math" panose="02040503050406030204" pitchFamily="18" charset="0"/>
                        </a:rPr>
                        <m:t>𝑚𝑠</m:t>
                      </m:r>
                      <m:r>
                        <a:rPr lang="es-MX" sz="1800" i="1">
                          <a:latin typeface="Cambria Math" panose="02040503050406030204" pitchFamily="18" charset="0"/>
                        </a:rPr>
                        <m:t>=2500140 </m:t>
                      </m:r>
                      <m:r>
                        <a:rPr lang="es-MX" sz="1800" i="1">
                          <a:latin typeface="Cambria Math" panose="02040503050406030204" pitchFamily="18" charset="0"/>
                        </a:rPr>
                        <m:t>𝑚𝑠</m:t>
                      </m:r>
                      <m:r>
                        <a:rPr lang="es-MX" sz="1800" b="0" i="1" smtClean="0">
                          <a:latin typeface="Cambria Math" panose="02040503050406030204" pitchFamily="18" charset="0"/>
                        </a:rPr>
                        <m:t>≈41.7 </m:t>
                      </m:r>
                      <m:r>
                        <a:rPr lang="es-MX" sz="1800" b="0" i="1" smtClean="0">
                          <a:latin typeface="Cambria Math" panose="02040503050406030204" pitchFamily="18" charset="0"/>
                        </a:rPr>
                        <m:t>𝑚𝑖𝑛</m:t>
                      </m:r>
                    </m:oMath>
                  </m:oMathPara>
                </a14:m>
                <a:endParaRPr lang="es-MX" sz="1800" b="1" dirty="0"/>
              </a:p>
              <a:p>
                <a:pPr marL="127000" indent="0">
                  <a:buNone/>
                </a:pPr>
                <a:endParaRPr lang="es-MX" sz="1800" b="1" dirty="0"/>
              </a:p>
              <a:p>
                <a:pPr marL="127000" indent="0">
                  <a:buNone/>
                </a:pPr>
                <a:endParaRPr lang="es-MX" sz="1800" dirty="0"/>
              </a:p>
            </p:txBody>
          </p:sp>
        </mc:Choice>
        <mc:Fallback xmlns="">
          <p:sp>
            <p:nvSpPr>
              <p:cNvPr id="5" name="Google Shape;310;p34">
                <a:extLst>
                  <a:ext uri="{FF2B5EF4-FFF2-40B4-BE49-F238E27FC236}">
                    <a16:creationId xmlns:a16="http://schemas.microsoft.com/office/drawing/2014/main" id="{FA8BE337-BA28-473F-8E01-C2EBA7C19F03}"/>
                  </a:ext>
                </a:extLst>
              </p:cNvPr>
              <p:cNvSpPr txBox="1">
                <a:spLocks noRot="1" noChangeAspect="1" noMove="1" noResize="1" noEditPoints="1" noAdjustHandles="1" noChangeArrowheads="1" noChangeShapeType="1" noTextEdit="1"/>
              </p:cNvSpPr>
              <p:nvPr/>
            </p:nvSpPr>
            <p:spPr>
              <a:xfrm>
                <a:off x="821400" y="714314"/>
                <a:ext cx="10911672" cy="5952398"/>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066561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4 – </a:t>
            </a:r>
            <a:r>
              <a:rPr lang="es-CO" sz="3200" dirty="0"/>
              <a:t>Secondary index</a:t>
            </a:r>
            <a:endParaRPr dirty="0"/>
          </a:p>
        </p:txBody>
      </p:sp>
      <mc:AlternateContent xmlns:mc="http://schemas.openxmlformats.org/markup-compatibility/2006" xmlns:a14="http://schemas.microsoft.com/office/drawing/2010/main">
        <mc:Choice Requires="a14">
          <p:sp>
            <p:nvSpPr>
              <p:cNvPr id="6" name="Google Shape;310;p34">
                <a:extLst>
                  <a:ext uri="{FF2B5EF4-FFF2-40B4-BE49-F238E27FC236}">
                    <a16:creationId xmlns:a16="http://schemas.microsoft.com/office/drawing/2014/main" id="{9BC09D97-416F-4134-93CC-9883973D3E43}"/>
                  </a:ext>
                </a:extLst>
              </p:cNvPr>
              <p:cNvSpPr txBox="1">
                <a:spLocks/>
              </p:cNvSpPr>
              <p:nvPr/>
            </p:nvSpPr>
            <p:spPr>
              <a:xfrm>
                <a:off x="916650" y="809564"/>
                <a:ext cx="10911672" cy="49054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4"/>
                </a:pPr>
                <a:r>
                  <a:rPr lang="es-MX" sz="1800" b="1" dirty="0"/>
                  <a:t>Comparación con full scan</a:t>
                </a:r>
                <a:r>
                  <a:rPr lang="es-MX" sz="1800" dirty="0"/>
                  <a:t>:</a:t>
                </a:r>
              </a:p>
              <a:p>
                <a:pPr marL="469900" indent="-342900">
                  <a:buFont typeface="+mj-lt"/>
                  <a:buAutoNum type="arabicPeriod" startAt="4"/>
                </a:pPr>
                <a:endParaRPr lang="es-MX" sz="1800"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𝑇</m:t>
                          </m:r>
                        </m:e>
                        <m:sub>
                          <m:r>
                            <a:rPr lang="es-MX" sz="1800" b="0" i="1" smtClean="0">
                              <a:latin typeface="Cambria Math" panose="02040503050406030204" pitchFamily="18" charset="0"/>
                            </a:rPr>
                            <m:t>𝐹𝑆</m:t>
                          </m:r>
                        </m:sub>
                      </m:sSub>
                      <m:r>
                        <a:rPr lang="es-MX" sz="1800" b="0" i="1" smtClean="0">
                          <a:latin typeface="Cambria Math" panose="02040503050406030204" pitchFamily="18" charset="0"/>
                        </a:rPr>
                        <m:t>=1000000 </m:t>
                      </m:r>
                      <m:r>
                        <a:rPr lang="es-MX" sz="1800" b="0" i="1" smtClean="0">
                          <a:latin typeface="Cambria Math" panose="02040503050406030204" pitchFamily="18" charset="0"/>
                        </a:rPr>
                        <m:t>𝑟𝑒𝑔</m:t>
                      </m:r>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1 </m:t>
                          </m:r>
                          <m:r>
                            <a:rPr lang="es-MX" sz="1800" b="0" i="1" smtClean="0">
                              <a:latin typeface="Cambria Math" panose="02040503050406030204" pitchFamily="18" charset="0"/>
                            </a:rPr>
                            <m:t>𝑏𝑙𝑜𝑞𝑢𝑒</m:t>
                          </m:r>
                        </m:num>
                        <m:den>
                          <m:r>
                            <a:rPr lang="es-MX" sz="1800" b="0" i="1" smtClean="0">
                              <a:latin typeface="Cambria Math" panose="02040503050406030204" pitchFamily="18" charset="0"/>
                            </a:rPr>
                            <m:t>5 </m:t>
                          </m:r>
                          <m:r>
                            <a:rPr lang="es-MX" sz="1800" b="0" i="1" smtClean="0">
                              <a:latin typeface="Cambria Math" panose="02040503050406030204" pitchFamily="18" charset="0"/>
                            </a:rPr>
                            <m:t>𝑟𝑒𝑔</m:t>
                          </m:r>
                        </m:den>
                      </m:f>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10 </m:t>
                          </m:r>
                          <m:r>
                            <a:rPr lang="es-MX" sz="1800" b="0" i="1" smtClean="0">
                              <a:latin typeface="Cambria Math" panose="02040503050406030204" pitchFamily="18" charset="0"/>
                            </a:rPr>
                            <m:t>𝑚𝑠</m:t>
                          </m:r>
                        </m:num>
                        <m:den>
                          <m:r>
                            <a:rPr lang="es-MX" sz="1800" b="0" i="1" smtClean="0">
                              <a:latin typeface="Cambria Math" panose="02040503050406030204" pitchFamily="18" charset="0"/>
                            </a:rPr>
                            <m:t>1 </m:t>
                          </m:r>
                          <m:r>
                            <a:rPr lang="es-MX" sz="1800" b="0" i="1" smtClean="0">
                              <a:latin typeface="Cambria Math" panose="02040503050406030204" pitchFamily="18" charset="0"/>
                            </a:rPr>
                            <m:t>𝑏𝑙𝑜𝑞𝑢𝑒</m:t>
                          </m:r>
                        </m:den>
                      </m:f>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1 </m:t>
                          </m:r>
                          <m:r>
                            <a:rPr lang="es-MX" sz="1800" b="0" i="1" smtClean="0">
                              <a:latin typeface="Cambria Math" panose="02040503050406030204" pitchFamily="18" charset="0"/>
                            </a:rPr>
                            <m:t>𝑠</m:t>
                          </m:r>
                        </m:num>
                        <m:den>
                          <m:r>
                            <a:rPr lang="es-MX" sz="1800" b="0" i="1" smtClean="0">
                              <a:latin typeface="Cambria Math" panose="02040503050406030204" pitchFamily="18" charset="0"/>
                            </a:rPr>
                            <m:t>1000 </m:t>
                          </m:r>
                          <m:r>
                            <a:rPr lang="es-MX" sz="1800" b="0" i="1" smtClean="0">
                              <a:latin typeface="Cambria Math" panose="02040503050406030204" pitchFamily="18" charset="0"/>
                            </a:rPr>
                            <m:t>𝑚𝑠</m:t>
                          </m:r>
                        </m:den>
                      </m:f>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1 </m:t>
                          </m:r>
                          <m:r>
                            <a:rPr lang="es-MX" sz="1800" b="0" i="1" smtClean="0">
                              <a:latin typeface="Cambria Math" panose="02040503050406030204" pitchFamily="18" charset="0"/>
                            </a:rPr>
                            <m:t>𝑚𝑖𝑛</m:t>
                          </m:r>
                        </m:num>
                        <m:den>
                          <m:r>
                            <a:rPr lang="es-MX" sz="1800" b="0" i="1" smtClean="0">
                              <a:latin typeface="Cambria Math" panose="02040503050406030204" pitchFamily="18" charset="0"/>
                            </a:rPr>
                            <m:t>60</m:t>
                          </m:r>
                        </m:den>
                      </m:f>
                      <m:r>
                        <a:rPr lang="es-MX" sz="1800" b="0" i="1" smtClean="0">
                          <a:latin typeface="Cambria Math" panose="02040503050406030204" pitchFamily="18" charset="0"/>
                        </a:rPr>
                        <m:t>≈33 </m:t>
                      </m:r>
                      <m:r>
                        <a:rPr lang="es-MX" sz="1800" b="0" i="1" smtClean="0">
                          <a:latin typeface="Cambria Math" panose="02040503050406030204" pitchFamily="18" charset="0"/>
                        </a:rPr>
                        <m:t>𝑚𝑖𝑛</m:t>
                      </m:r>
                    </m:oMath>
                  </m:oMathPara>
                </a14:m>
                <a:endParaRPr lang="es-MX" sz="1800" dirty="0"/>
              </a:p>
              <a:p>
                <a:pPr marL="127000" indent="0">
                  <a:buNone/>
                </a:pPr>
                <a:endParaRPr lang="es-MX" sz="1800" b="1" dirty="0"/>
              </a:p>
              <a:p>
                <a:pPr marL="127000" indent="0">
                  <a:buNone/>
                </a:pPr>
                <a:endParaRPr lang="es-MX" sz="1800" b="1" dirty="0"/>
              </a:p>
              <a:p>
                <a:pPr marL="127000" indent="0">
                  <a:buNone/>
                </a:pPr>
                <a:endParaRPr lang="es-MX" sz="1800" b="1" dirty="0"/>
              </a:p>
              <a:p>
                <a:pPr marL="127000" indent="0">
                  <a:buNone/>
                </a:pPr>
                <a:endParaRPr lang="es-MX" sz="1800" b="1" dirty="0"/>
              </a:p>
              <a:p>
                <a:pPr marL="584200" lvl="1" indent="0">
                  <a:buNone/>
                </a:pPr>
                <a:endParaRPr lang="es-MX" sz="1800" b="1" dirty="0"/>
              </a:p>
              <a:p>
                <a:pPr marL="584200" lvl="1" indent="0">
                  <a:buNone/>
                </a:pPr>
                <a:r>
                  <a:rPr lang="es-MX" sz="1800" b="1" dirty="0"/>
                  <a:t>Conclusión:</a:t>
                </a:r>
                <a:r>
                  <a:rPr lang="es-MX" sz="1800" dirty="0"/>
                  <a:t> El secondary index sobre Carrera es en este caso más lento que hacer un full scan. Esto ocurre porque Carrera tiene baja selectividad — el 25% de los registros coincide con la consulta. Con tanta coincidencia y registros dispersos físicamente, el DBMS termina haciendo más I/Os que si simplemente leyera todos los bloques del archivo en orden. Este es el </a:t>
                </a:r>
                <a:r>
                  <a:rPr lang="es-MX" sz="1800" dirty="0" err="1"/>
                  <a:t>trade</a:t>
                </a:r>
                <a:r>
                  <a:rPr lang="es-MX" sz="1800" dirty="0"/>
                  <a:t>-off central del </a:t>
                </a:r>
                <a:r>
                  <a:rPr lang="es-MX" sz="1800" b="1" dirty="0"/>
                  <a:t>secondary index</a:t>
                </a:r>
                <a:r>
                  <a:rPr lang="es-MX" sz="1800" dirty="0"/>
                  <a:t>: es muy eficiente cuando se busca un valor raro (alta selectividad), pero puede ser contraproducente cuando el resultado es grande.</a:t>
                </a:r>
              </a:p>
            </p:txBody>
          </p:sp>
        </mc:Choice>
        <mc:Fallback xmlns="">
          <p:sp>
            <p:nvSpPr>
              <p:cNvPr id="6" name="Google Shape;310;p34">
                <a:extLst>
                  <a:ext uri="{FF2B5EF4-FFF2-40B4-BE49-F238E27FC236}">
                    <a16:creationId xmlns:a16="http://schemas.microsoft.com/office/drawing/2014/main" id="{9BC09D97-416F-4134-93CC-9883973D3E43}"/>
                  </a:ext>
                </a:extLst>
              </p:cNvPr>
              <p:cNvSpPr txBox="1">
                <a:spLocks noRot="1" noChangeAspect="1" noMove="1" noResize="1" noEditPoints="1" noAdjustHandles="1" noChangeArrowheads="1" noChangeShapeType="1" noTextEdit="1"/>
              </p:cNvSpPr>
              <p:nvPr/>
            </p:nvSpPr>
            <p:spPr>
              <a:xfrm>
                <a:off x="916650" y="809564"/>
                <a:ext cx="10911672" cy="4905436"/>
              </a:xfrm>
              <a:prstGeom prst="rect">
                <a:avLst/>
              </a:prstGeom>
              <a:blipFill>
                <a:blip r:embed="rId3"/>
                <a:stretch>
                  <a:fillRect/>
                </a:stretch>
              </a:blipFill>
              <a:ln>
                <a:noFill/>
              </a:ln>
            </p:spPr>
            <p:txBody>
              <a:bodyPr/>
              <a:lstStyle/>
              <a:p>
                <a:r>
                  <a:rPr lang="es-CO">
                    <a:noFill/>
                  </a:rPr>
                  <a:t> </a:t>
                </a:r>
              </a:p>
            </p:txBody>
          </p:sp>
        </mc:Fallback>
      </mc:AlternateContent>
      <p:graphicFrame>
        <p:nvGraphicFramePr>
          <p:cNvPr id="3" name="Tabla 2">
            <a:extLst>
              <a:ext uri="{FF2B5EF4-FFF2-40B4-BE49-F238E27FC236}">
                <a16:creationId xmlns:a16="http://schemas.microsoft.com/office/drawing/2014/main" id="{9CEBD644-2D45-47D6-AEAA-077A16DBF598}"/>
              </a:ext>
            </a:extLst>
          </p:cNvPr>
          <p:cNvGraphicFramePr>
            <a:graphicFrameLocks noGrp="1"/>
          </p:cNvGraphicFramePr>
          <p:nvPr>
            <p:extLst>
              <p:ext uri="{D42A27DB-BD31-4B8C-83A1-F6EECF244321}">
                <p14:modId xmlns:p14="http://schemas.microsoft.com/office/powerpoint/2010/main" val="1634621924"/>
              </p:ext>
            </p:extLst>
          </p:nvPr>
        </p:nvGraphicFramePr>
        <p:xfrm>
          <a:off x="3645372" y="2544609"/>
          <a:ext cx="4901256" cy="1097280"/>
        </p:xfrm>
        <a:graphic>
          <a:graphicData uri="http://schemas.openxmlformats.org/drawingml/2006/table">
            <a:tbl>
              <a:tblPr/>
              <a:tblGrid>
                <a:gridCol w="1873568">
                  <a:extLst>
                    <a:ext uri="{9D8B030D-6E8A-4147-A177-3AD203B41FA5}">
                      <a16:colId xmlns:a16="http://schemas.microsoft.com/office/drawing/2014/main" val="4026569377"/>
                    </a:ext>
                  </a:extLst>
                </a:gridCol>
                <a:gridCol w="1513844">
                  <a:extLst>
                    <a:ext uri="{9D8B030D-6E8A-4147-A177-3AD203B41FA5}">
                      <a16:colId xmlns:a16="http://schemas.microsoft.com/office/drawing/2014/main" val="3767656688"/>
                    </a:ext>
                  </a:extLst>
                </a:gridCol>
                <a:gridCol w="1513844">
                  <a:extLst>
                    <a:ext uri="{9D8B030D-6E8A-4147-A177-3AD203B41FA5}">
                      <a16:colId xmlns:a16="http://schemas.microsoft.com/office/drawing/2014/main" val="1786236994"/>
                    </a:ext>
                  </a:extLst>
                </a:gridCol>
              </a:tblGrid>
              <a:tr h="0">
                <a:tc>
                  <a:txBody>
                    <a:bodyPr/>
                    <a:lstStyle/>
                    <a:p>
                      <a:endParaRPr lang="es-CO" sz="180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b="1" dirty="0">
                          <a:latin typeface="Roboto" panose="02000000000000000000" pitchFamily="2" charset="0"/>
                          <a:ea typeface="Roboto" panose="02000000000000000000" pitchFamily="2" charset="0"/>
                        </a:rPr>
                        <a:t>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sz="1800" b="1" dirty="0">
                          <a:latin typeface="Roboto" panose="02000000000000000000" pitchFamily="2" charset="0"/>
                          <a:ea typeface="Roboto" panose="02000000000000000000" pitchFamily="2" charset="0"/>
                        </a:rPr>
                        <a:t>Tiempo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943799993"/>
                  </a:ext>
                </a:extLst>
              </a:tr>
              <a:tr h="0">
                <a:tc>
                  <a:txBody>
                    <a:bodyPr/>
                    <a:lstStyle/>
                    <a:p>
                      <a:r>
                        <a:rPr lang="es-CO" sz="1800">
                          <a:latin typeface="Roboto" panose="02000000000000000000" pitchFamily="2" charset="0"/>
                          <a:ea typeface="Roboto" panose="02000000000000000000" pitchFamily="2" charset="0"/>
                        </a:rPr>
                        <a:t>Secondary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250,014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~41.7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7969978"/>
                  </a:ext>
                </a:extLst>
              </a:tr>
              <a:tr h="0">
                <a:tc>
                  <a:txBody>
                    <a:bodyPr/>
                    <a:lstStyle/>
                    <a:p>
                      <a:r>
                        <a:rPr lang="es-CO" sz="1800">
                          <a:latin typeface="Roboto" panose="02000000000000000000" pitchFamily="2" charset="0"/>
                          <a:ea typeface="Roboto" panose="02000000000000000000" pitchFamily="2" charset="0"/>
                        </a:rPr>
                        <a:t>Full scan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~33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7288898"/>
                  </a:ext>
                </a:extLst>
              </a:tr>
            </a:tbl>
          </a:graphicData>
        </a:graphic>
      </p:graphicFrame>
    </p:spTree>
    <p:extLst>
      <p:ext uri="{BB962C8B-B14F-4D97-AF65-F5344CB8AC3E}">
        <p14:creationId xmlns:p14="http://schemas.microsoft.com/office/powerpoint/2010/main" val="888971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4 – </a:t>
            </a:r>
            <a:r>
              <a:rPr lang="es-CO" sz="3200" dirty="0"/>
              <a:t>Secondary index</a:t>
            </a:r>
            <a:endParaRPr dirty="0"/>
          </a:p>
        </p:txBody>
      </p:sp>
      <p:pic>
        <p:nvPicPr>
          <p:cNvPr id="4" name="Imagen 3">
            <a:extLst>
              <a:ext uri="{FF2B5EF4-FFF2-40B4-BE49-F238E27FC236}">
                <a16:creationId xmlns:a16="http://schemas.microsoft.com/office/drawing/2014/main" id="{1952F6D5-F411-4F8E-A57D-BCF935B7AF85}"/>
              </a:ext>
            </a:extLst>
          </p:cNvPr>
          <p:cNvPicPr>
            <a:picLocks noChangeAspect="1"/>
          </p:cNvPicPr>
          <p:nvPr/>
        </p:nvPicPr>
        <p:blipFill>
          <a:blip r:embed="rId3"/>
          <a:stretch>
            <a:fillRect/>
          </a:stretch>
        </p:blipFill>
        <p:spPr>
          <a:xfrm>
            <a:off x="2286784" y="800100"/>
            <a:ext cx="7618432" cy="6057900"/>
          </a:xfrm>
          <a:prstGeom prst="rect">
            <a:avLst/>
          </a:prstGeom>
        </p:spPr>
      </p:pic>
    </p:spTree>
    <p:extLst>
      <p:ext uri="{BB962C8B-B14F-4D97-AF65-F5344CB8AC3E}">
        <p14:creationId xmlns:p14="http://schemas.microsoft.com/office/powerpoint/2010/main" val="39705543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01902" y="361509"/>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Cuando el índice también necesita un índice</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773969" y="1311009"/>
            <a:ext cx="6084031" cy="48040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Hasta ahora hemos asumido que el índice cabe completamente en memoria. Pero ¿qué ocurre cuando el índice es tan grande que</a:t>
            </a:r>
            <a:r>
              <a:rPr lang="es-MX" sz="2000" b="1" dirty="0"/>
              <a:t> tampoco cabe en memoria</a:t>
            </a:r>
            <a:r>
              <a:rPr lang="es-MX" sz="2000" dirty="0"/>
              <a:t>?</a:t>
            </a:r>
          </a:p>
          <a:p>
            <a:r>
              <a:rPr lang="es-MX" sz="2000" dirty="0"/>
              <a:t>La solución es aplicar el mismo principio de indexación sobre el propio índice: construir un índice </a:t>
            </a:r>
            <a:r>
              <a:rPr lang="es-MX" sz="2000" b="1" dirty="0"/>
              <a:t>sobre el índice</a:t>
            </a:r>
            <a:r>
              <a:rPr lang="es-MX" sz="2000" dirty="0"/>
              <a:t>.</a:t>
            </a:r>
          </a:p>
          <a:p>
            <a:r>
              <a:rPr lang="es-MX" sz="2000" dirty="0"/>
              <a:t>A esta estructura se le denomina </a:t>
            </a:r>
            <a:r>
              <a:rPr lang="es-MX" sz="2000" b="1" dirty="0"/>
              <a:t>índice multinivel</a:t>
            </a:r>
            <a:r>
              <a:rPr lang="es-MX" sz="2000" dirty="0"/>
              <a:t> (</a:t>
            </a:r>
            <a:r>
              <a:rPr lang="es-MX" sz="2000" i="1" dirty="0"/>
              <a:t>multilevel index</a:t>
            </a:r>
            <a:r>
              <a:rPr lang="es-MX" sz="2000" dirty="0"/>
              <a:t>) y se organiza en dos capas:</a:t>
            </a:r>
          </a:p>
          <a:p>
            <a:pPr lvl="1"/>
            <a:r>
              <a:rPr lang="es-MX" sz="2000" b="1" dirty="0"/>
              <a:t>Índice interno (inner index)</a:t>
            </a:r>
            <a:r>
              <a:rPr lang="es-MX" sz="2000" dirty="0"/>
              <a:t>: el archivo de índice básico, almacenado en disco.</a:t>
            </a:r>
          </a:p>
          <a:p>
            <a:pPr lvl="1"/>
            <a:r>
              <a:rPr lang="es-MX" sz="2000" b="1" dirty="0"/>
              <a:t>Índice externo (outer index)</a:t>
            </a:r>
            <a:r>
              <a:rPr lang="es-MX" sz="2000" dirty="0"/>
              <a:t>: un índice disperso construido sobre el índice interno.</a:t>
            </a:r>
          </a:p>
          <a:p>
            <a:pPr marL="127000" indent="0">
              <a:buNone/>
            </a:pPr>
            <a:endParaRPr lang="es-MX" sz="2000" dirty="0"/>
          </a:p>
        </p:txBody>
      </p:sp>
      <p:pic>
        <p:nvPicPr>
          <p:cNvPr id="9" name="Picture 1">
            <a:extLst>
              <a:ext uri="{FF2B5EF4-FFF2-40B4-BE49-F238E27FC236}">
                <a16:creationId xmlns:a16="http://schemas.microsoft.com/office/drawing/2014/main" id="{6C21D378-BFFA-4CB2-B55C-9C074181BA57}"/>
              </a:ext>
            </a:extLst>
          </p:cNvPr>
          <p:cNvPicPr>
            <a:picLocks noChangeAspect="1"/>
          </p:cNvPicPr>
          <p:nvPr/>
        </p:nvPicPr>
        <p:blipFill>
          <a:blip r:embed="rId3"/>
          <a:stretch>
            <a:fillRect/>
          </a:stretch>
        </p:blipFill>
        <p:spPr>
          <a:xfrm>
            <a:off x="7120780" y="1530138"/>
            <a:ext cx="4618839" cy="4454272"/>
          </a:xfrm>
          <a:prstGeom prst="rect">
            <a:avLst/>
          </a:prstGeom>
        </p:spPr>
      </p:pic>
    </p:spTree>
    <p:extLst>
      <p:ext uri="{BB962C8B-B14F-4D97-AF65-F5344CB8AC3E}">
        <p14:creationId xmlns:p14="http://schemas.microsoft.com/office/powerpoint/2010/main" val="20549721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01902" y="361509"/>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Cuando el índice también necesita un índice</a:t>
            </a:r>
            <a:endParaRPr dirty="0"/>
          </a:p>
        </p:txBody>
      </p:sp>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901902" y="1425750"/>
            <a:ext cx="10699547" cy="143219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Si el índice externo tampoco cabe en memoria, se puede agregar otro nivel más, y así sucesivamente.</a:t>
            </a:r>
          </a:p>
          <a:p>
            <a:r>
              <a:rPr lang="es-MX" sz="2000" dirty="0"/>
              <a:t>Los índices en todos los niveles deben actualizarse ante cualquier inserción o eliminación en el archivo.</a:t>
            </a:r>
            <a:endParaRPr lang="es-MX" sz="1800" dirty="0">
              <a:solidFill>
                <a:schemeClr val="tx1"/>
              </a:solidFill>
            </a:endParaRPr>
          </a:p>
        </p:txBody>
      </p:sp>
      <p:sp>
        <p:nvSpPr>
          <p:cNvPr id="6" name="CuadroTexto 5">
            <a:extLst>
              <a:ext uri="{FF2B5EF4-FFF2-40B4-BE49-F238E27FC236}">
                <a16:creationId xmlns:a16="http://schemas.microsoft.com/office/drawing/2014/main" id="{B239C45A-50BB-4367-BFD6-09D5F0E528AE}"/>
              </a:ext>
            </a:extLst>
          </p:cNvPr>
          <p:cNvSpPr txBox="1"/>
          <p:nvPr/>
        </p:nvSpPr>
        <p:spPr>
          <a:xfrm>
            <a:off x="1123950" y="5508010"/>
            <a:ext cx="10699546" cy="707886"/>
          </a:xfrm>
          <a:prstGeom prst="rect">
            <a:avLst/>
          </a:prstGeom>
          <a:solidFill>
            <a:schemeClr val="tx2"/>
          </a:solidFill>
        </p:spPr>
        <p:txBody>
          <a:bodyPr wrap="square">
            <a:spAutoFit/>
          </a:bodyPr>
          <a:lstStyle/>
          <a:p>
            <a:r>
              <a:rPr lang="es-MX" sz="2000" i="1" dirty="0">
                <a:latin typeface="Roboto" panose="02000000000000000000" pitchFamily="2" charset="0"/>
                <a:ea typeface="Roboto" panose="02000000000000000000" pitchFamily="2" charset="0"/>
              </a:rPr>
              <a:t>El índice multinivel es la respuesta natural a la escalabilidad: cuando los datos crecen, la estructura de acceso crece con ellos de forma jerárquica.</a:t>
            </a:r>
            <a:endParaRPr lang="es-CO" sz="2000"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11938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p:sp>
        <p:nvSpPr>
          <p:cNvPr id="5" name="Google Shape;310;p34">
            <a:extLst>
              <a:ext uri="{FF2B5EF4-FFF2-40B4-BE49-F238E27FC236}">
                <a16:creationId xmlns:a16="http://schemas.microsoft.com/office/drawing/2014/main" id="{FB3DC913-18D9-4E43-8418-424D90056CE0}"/>
              </a:ext>
            </a:extLst>
          </p:cNvPr>
          <p:cNvSpPr txBox="1">
            <a:spLocks/>
          </p:cNvSpPr>
          <p:nvPr/>
        </p:nvSpPr>
        <p:spPr>
          <a:xfrm>
            <a:off x="797941" y="842279"/>
            <a:ext cx="10596118" cy="40916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Siguiendo el contexto del ejemplo anterior, el índice denso sobre ID tiene 10,000 bloques. Suponga que ese índice es demasiado grande para caber en memoria principal. Se decide construir un </a:t>
            </a:r>
            <a:r>
              <a:rPr lang="es-MX" sz="2000" b="1" dirty="0"/>
              <a:t>índice multinivel</a:t>
            </a:r>
            <a:r>
              <a:rPr lang="es-MX" sz="2000" dirty="0"/>
              <a:t>: un índice externo (</a:t>
            </a:r>
            <a:r>
              <a:rPr lang="es-MX" sz="2000" b="1" dirty="0"/>
              <a:t>outer index</a:t>
            </a:r>
            <a:r>
              <a:rPr lang="es-MX" sz="2000" dirty="0"/>
              <a:t>) disperso sobre el índice interno (</a:t>
            </a:r>
            <a:r>
              <a:rPr lang="es-MX" sz="2000" b="1" dirty="0"/>
              <a:t>inner index</a:t>
            </a:r>
            <a:r>
              <a:rPr lang="es-MX" sz="2000" dirty="0"/>
              <a:t>) denso, con una entrada por cada bloque del índice interno.</a:t>
            </a:r>
          </a:p>
          <a:p>
            <a:pPr>
              <a:buFont typeface="+mj-lt"/>
              <a:buAutoNum type="arabicPeriod"/>
            </a:pPr>
            <a:r>
              <a:rPr lang="es-MX" sz="2000" dirty="0"/>
              <a:t>¿Cuántas entradas tiene el outer index? ¿Cuántos bloques ocupa si cada bloque almacena 100 entradas?</a:t>
            </a:r>
          </a:p>
          <a:p>
            <a:pPr>
              <a:buFont typeface="+mj-lt"/>
              <a:buAutoNum type="arabicPeriod"/>
            </a:pPr>
            <a:r>
              <a:rPr lang="es-MX" sz="2000" dirty="0"/>
              <a:t>¿Por qué el outer index sí cabe en memoria y el inner index no necesariamente?</a:t>
            </a:r>
          </a:p>
          <a:p>
            <a:pPr>
              <a:buFont typeface="+mj-lt"/>
              <a:buAutoNum type="arabicPeriod"/>
            </a:pPr>
            <a:r>
              <a:rPr lang="es-MX" sz="2000" dirty="0"/>
              <a:t>¿Cuál es el costo en I/Os para recuperar el registro con ID = 500,001 usando el índice multinivel?</a:t>
            </a:r>
          </a:p>
          <a:p>
            <a:pPr>
              <a:buFont typeface="+mj-lt"/>
              <a:buAutoNum type="arabicPeriod"/>
            </a:pPr>
            <a:r>
              <a:rPr lang="es-MX" sz="2000" dirty="0"/>
              <a:t>Compare el costo con el índice denso de un solo nivel, el disperso de un solo nivel y el full scan. ¿Qué concluye?</a:t>
            </a:r>
          </a:p>
          <a:p>
            <a:pPr marL="127000" indent="0">
              <a:buNone/>
            </a:pPr>
            <a:endParaRPr lang="es-MX" sz="2000" dirty="0"/>
          </a:p>
        </p:txBody>
      </p:sp>
    </p:spTree>
    <p:extLst>
      <p:ext uri="{BB962C8B-B14F-4D97-AF65-F5344CB8AC3E}">
        <p14:creationId xmlns:p14="http://schemas.microsoft.com/office/powerpoint/2010/main" val="34965974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p:sp>
        <p:nvSpPr>
          <p:cNvPr id="4" name="Google Shape;310;p34">
            <a:extLst>
              <a:ext uri="{FF2B5EF4-FFF2-40B4-BE49-F238E27FC236}">
                <a16:creationId xmlns:a16="http://schemas.microsoft.com/office/drawing/2014/main" id="{2CDBE6DD-58A3-496B-AD00-3FA41E036AAF}"/>
              </a:ext>
            </a:extLst>
          </p:cNvPr>
          <p:cNvSpPr txBox="1">
            <a:spLocks/>
          </p:cNvSpPr>
          <p:nvPr/>
        </p:nvSpPr>
        <p:spPr>
          <a:xfrm>
            <a:off x="759219" y="1045538"/>
            <a:ext cx="11304962" cy="4859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t>Datos del problema</a:t>
            </a:r>
            <a:r>
              <a:rPr lang="es-MX" sz="1800" dirty="0"/>
              <a:t>:</a:t>
            </a:r>
          </a:p>
          <a:p>
            <a:pPr>
              <a:buFont typeface="Arial" panose="020B0604020202020204" pitchFamily="34" charset="0"/>
              <a:buChar char="•"/>
            </a:pPr>
            <a:r>
              <a:rPr lang="es-MX" sz="1800" dirty="0"/>
              <a:t>N = 1000000 registros</a:t>
            </a:r>
          </a:p>
          <a:p>
            <a:pPr>
              <a:buFont typeface="Arial" panose="020B0604020202020204" pitchFamily="34" charset="0"/>
              <a:buChar char="•"/>
            </a:pPr>
            <a:r>
              <a:rPr lang="es-MX" sz="1800" dirty="0"/>
              <a:t>5 registros/bloque  </a:t>
            </a:r>
          </a:p>
          <a:p>
            <a:pPr>
              <a:buFont typeface="Arial" panose="020B0604020202020204" pitchFamily="34" charset="0"/>
              <a:buChar char="•"/>
            </a:pPr>
            <a:r>
              <a:rPr lang="es-MX" sz="1800" dirty="0"/>
              <a:t>B = 200000 bloques </a:t>
            </a:r>
          </a:p>
          <a:p>
            <a:pPr>
              <a:buFont typeface="Arial" panose="020B0604020202020204" pitchFamily="34" charset="0"/>
              <a:buChar char="•"/>
            </a:pPr>
            <a:r>
              <a:rPr lang="es-MX" sz="1800" dirty="0"/>
              <a:t>10 ms/bloque</a:t>
            </a:r>
          </a:p>
          <a:p>
            <a:pPr>
              <a:buFont typeface="Arial" panose="020B0604020202020204" pitchFamily="34" charset="0"/>
              <a:buChar char="•"/>
            </a:pPr>
            <a:r>
              <a:rPr lang="es-MX" sz="1800" dirty="0"/>
              <a:t>Archivo ordenado físicamente por ID</a:t>
            </a:r>
          </a:p>
          <a:p>
            <a:pPr>
              <a:buFont typeface="Arial" panose="020B0604020202020204" pitchFamily="34" charset="0"/>
              <a:buChar char="•"/>
            </a:pPr>
            <a:r>
              <a:rPr lang="es-MX" sz="1800" dirty="0"/>
              <a:t>4 carreras con igual distribución</a:t>
            </a:r>
          </a:p>
          <a:p>
            <a:pPr>
              <a:buFont typeface="Arial" panose="020B0604020202020204" pitchFamily="34" charset="0"/>
              <a:buChar char="•"/>
            </a:pPr>
            <a:r>
              <a:rPr lang="es-MX" sz="1800" dirty="0">
                <a:solidFill>
                  <a:schemeClr val="tx1"/>
                </a:solidFill>
              </a:rPr>
              <a:t>Cada bloque almacena 100 entradas | 10 ms/bloque</a:t>
            </a:r>
          </a:p>
          <a:p>
            <a:pPr>
              <a:buFont typeface="Arial" panose="020B0604020202020204" pitchFamily="34" charset="0"/>
              <a:buChar char="•"/>
            </a:pPr>
            <a:r>
              <a:rPr lang="es-MX" sz="1800" dirty="0"/>
              <a:t>Índice disperso sobre ID: 200,000 entradas → 2,000 bloques de índice</a:t>
            </a:r>
          </a:p>
          <a:p>
            <a:pPr>
              <a:buFont typeface="Arial" panose="020B0604020202020204" pitchFamily="34" charset="0"/>
              <a:buChar char="•"/>
            </a:pPr>
            <a:r>
              <a:rPr lang="es-MX" sz="1800" b="1" dirty="0">
                <a:solidFill>
                  <a:schemeClr val="accent2"/>
                </a:solidFill>
              </a:rPr>
              <a:t>Índice denso sobre ID (inner index)</a:t>
            </a:r>
            <a:r>
              <a:rPr lang="es-MX" sz="1800" dirty="0">
                <a:solidFill>
                  <a:schemeClr val="accent2"/>
                </a:solidFill>
              </a:rPr>
              <a:t>: </a:t>
            </a:r>
            <a:r>
              <a:rPr lang="es-MX" sz="1800" dirty="0">
                <a:solidFill>
                  <a:schemeClr val="tx1"/>
                </a:solidFill>
              </a:rPr>
              <a:t>1,000,000 entradas → 10,000 bloques</a:t>
            </a:r>
          </a:p>
          <a:p>
            <a:pPr>
              <a:buFont typeface="Arial" panose="020B0604020202020204" pitchFamily="34" charset="0"/>
              <a:buChar char="•"/>
            </a:pPr>
            <a:r>
              <a:rPr lang="es-MX" sz="1800" b="1" dirty="0">
                <a:solidFill>
                  <a:schemeClr val="accent2"/>
                </a:solidFill>
              </a:rPr>
              <a:t>Outer index</a:t>
            </a:r>
            <a:r>
              <a:rPr lang="es-MX" sz="1800" dirty="0">
                <a:solidFill>
                  <a:schemeClr val="accent2"/>
                </a:solidFill>
              </a:rPr>
              <a:t>: </a:t>
            </a:r>
            <a:r>
              <a:rPr lang="es-MX" sz="1800" dirty="0">
                <a:solidFill>
                  <a:schemeClr val="tx1"/>
                </a:solidFill>
              </a:rPr>
              <a:t>disperso, 1 entrada por bloque del inner index</a:t>
            </a:r>
          </a:p>
          <a:p>
            <a:pPr marL="127000" indent="0">
              <a:buNone/>
            </a:pPr>
            <a:endParaRPr lang="es-MX" sz="1800" dirty="0"/>
          </a:p>
        </p:txBody>
      </p:sp>
    </p:spTree>
    <p:extLst>
      <p:ext uri="{BB962C8B-B14F-4D97-AF65-F5344CB8AC3E}">
        <p14:creationId xmlns:p14="http://schemas.microsoft.com/office/powerpoint/2010/main" val="39541326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1FF711C6-88C5-4E0C-A715-C0A4B3276427}"/>
                  </a:ext>
                </a:extLst>
              </p:cNvPr>
              <p:cNvSpPr txBox="1">
                <a:spLocks/>
              </p:cNvSpPr>
              <p:nvPr/>
            </p:nvSpPr>
            <p:spPr>
              <a:xfrm>
                <a:off x="625869" y="778838"/>
                <a:ext cx="11304962" cy="22138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a:pPr>
                <a:r>
                  <a:rPr lang="es-MX" sz="1800" b="1" dirty="0"/>
                  <a:t>Entradas y bloques del outer index</a:t>
                </a:r>
              </a:p>
              <a:p>
                <a:pPr marL="127000" indent="0">
                  <a:buNone/>
                </a:pPr>
                <a:endParaRPr lang="es-MX" sz="18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𝑜𝑢𝑡𝑒𝑟</m:t>
                          </m:r>
                        </m:sub>
                      </m:sSub>
                      <m:r>
                        <a:rPr lang="es-MX" sz="1800" i="1">
                          <a:latin typeface="Cambria Math" panose="02040503050406030204" pitchFamily="18" charset="0"/>
                        </a:rPr>
                        <m:t>=</m:t>
                      </m:r>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𝑖𝑛𝑛𝑒𝑟</m:t>
                          </m:r>
                        </m:sub>
                      </m:sSub>
                      <m:r>
                        <a:rPr lang="es-MX" sz="1800" b="0" i="1" smtClean="0">
                          <a:latin typeface="Cambria Math" panose="02040503050406030204" pitchFamily="18" charset="0"/>
                        </a:rPr>
                        <m:t>=10000 </m:t>
                      </m:r>
                      <m:r>
                        <a:rPr lang="es-MX" sz="1800" b="0" i="1" smtClean="0">
                          <a:latin typeface="Cambria Math" panose="02040503050406030204" pitchFamily="18" charset="0"/>
                        </a:rPr>
                        <m:t>𝑒𝑛𝑡𝑟𝑎𝑑𝑎𝑠</m:t>
                      </m:r>
                    </m:oMath>
                  </m:oMathPara>
                </a14:m>
                <a:endParaRPr lang="es-MX" sz="1800" b="0" dirty="0"/>
              </a:p>
              <a:p>
                <a:pPr marL="127000" indent="0">
                  <a:buNone/>
                </a:pPr>
                <a:endParaRPr lang="es-MX" sz="1800" b="1"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𝑜𝑢𝑡𝑒𝑟</m:t>
                          </m:r>
                        </m:sub>
                      </m:sSub>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r>
                                <a:rPr lang="es-MX" sz="1800" b="0" i="1" smtClean="0">
                                  <a:latin typeface="Cambria Math" panose="02040503050406030204" pitchFamily="18" charset="0"/>
                                </a:rPr>
                                <m:t>𝑜𝑢𝑡𝑒𝑟</m:t>
                              </m:r>
                            </m:sub>
                          </m:sSub>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𝑁</m:t>
                              </m:r>
                            </m:e>
                            <m:sub>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𝐵</m:t>
                                  </m:r>
                                </m:e>
                                <m:sub>
                                  <m:r>
                                    <a:rPr lang="es-MX" sz="1800" b="0" i="1" smtClean="0">
                                      <a:latin typeface="Cambria Math" panose="02040503050406030204" pitchFamily="18" charset="0"/>
                                    </a:rPr>
                                    <m:t>𝐼</m:t>
                                  </m:r>
                                </m:sub>
                              </m:sSub>
                            </m:sub>
                          </m:sSub>
                        </m:den>
                      </m:f>
                      <m:r>
                        <a:rPr lang="es-MX" sz="1800" b="0" i="1" smtClean="0">
                          <a:latin typeface="Cambria Math" panose="02040503050406030204" pitchFamily="18" charset="0"/>
                        </a:rPr>
                        <m:t>=</m:t>
                      </m:r>
                      <m:f>
                        <m:fPr>
                          <m:ctrlPr>
                            <a:rPr lang="es-MX" sz="1800" b="0" i="1" smtClean="0">
                              <a:latin typeface="Cambria Math" panose="02040503050406030204" pitchFamily="18" charset="0"/>
                            </a:rPr>
                          </m:ctrlPr>
                        </m:fPr>
                        <m:num>
                          <m:r>
                            <a:rPr lang="es-MX" sz="1800" b="0" i="1" smtClean="0">
                              <a:latin typeface="Cambria Math" panose="02040503050406030204" pitchFamily="18" charset="0"/>
                            </a:rPr>
                            <m:t>10000</m:t>
                          </m:r>
                        </m:num>
                        <m:den>
                          <m:r>
                            <a:rPr lang="es-MX" sz="1800" b="0" i="1" smtClean="0">
                              <a:latin typeface="Cambria Math" panose="02040503050406030204" pitchFamily="18" charset="0"/>
                            </a:rPr>
                            <m:t>100</m:t>
                          </m:r>
                        </m:den>
                      </m:f>
                      <m:r>
                        <a:rPr lang="es-MX" sz="1800" b="0" i="1" smtClean="0">
                          <a:latin typeface="Cambria Math" panose="02040503050406030204" pitchFamily="18" charset="0"/>
                        </a:rPr>
                        <m:t>=100 </m:t>
                      </m:r>
                      <m:r>
                        <a:rPr lang="es-MX" sz="1800" b="0" i="1" smtClean="0">
                          <a:latin typeface="Cambria Math" panose="02040503050406030204" pitchFamily="18" charset="0"/>
                        </a:rPr>
                        <m:t>𝑏𝑙𝑜𝑞𝑢𝑒𝑠</m:t>
                      </m:r>
                    </m:oMath>
                  </m:oMathPara>
                </a14:m>
                <a:endParaRPr lang="es-MX" sz="1800" b="1" dirty="0"/>
              </a:p>
            </p:txBody>
          </p:sp>
        </mc:Choice>
        <mc:Fallback xmlns="">
          <p:sp>
            <p:nvSpPr>
              <p:cNvPr id="5" name="Google Shape;310;p34">
                <a:extLst>
                  <a:ext uri="{FF2B5EF4-FFF2-40B4-BE49-F238E27FC236}">
                    <a16:creationId xmlns:a16="http://schemas.microsoft.com/office/drawing/2014/main" id="{1FF711C6-88C5-4E0C-A715-C0A4B3276427}"/>
                  </a:ext>
                </a:extLst>
              </p:cNvPr>
              <p:cNvSpPr txBox="1">
                <a:spLocks noRot="1" noChangeAspect="1" noMove="1" noResize="1" noEditPoints="1" noAdjustHandles="1" noChangeArrowheads="1" noChangeShapeType="1" noTextEdit="1"/>
              </p:cNvSpPr>
              <p:nvPr/>
            </p:nvSpPr>
            <p:spPr>
              <a:xfrm>
                <a:off x="625869" y="778838"/>
                <a:ext cx="11304962" cy="2213855"/>
              </a:xfrm>
              <a:prstGeom prst="rect">
                <a:avLst/>
              </a:prstGeom>
              <a:blipFill>
                <a:blip r:embed="rId3"/>
                <a:stretch>
                  <a:fillRect/>
                </a:stretch>
              </a:blipFill>
              <a:ln>
                <a:noFill/>
              </a:ln>
            </p:spPr>
            <p:txBody>
              <a:bodyPr/>
              <a:lstStyle/>
              <a:p>
                <a:r>
                  <a:rPr lang="es-CO">
                    <a:noFill/>
                  </a:rPr>
                  <a:t> </a:t>
                </a:r>
              </a:p>
            </p:txBody>
          </p:sp>
        </mc:Fallback>
      </mc:AlternateContent>
      <p:sp>
        <p:nvSpPr>
          <p:cNvPr id="6" name="Google Shape;310;p34">
            <a:extLst>
              <a:ext uri="{FF2B5EF4-FFF2-40B4-BE49-F238E27FC236}">
                <a16:creationId xmlns:a16="http://schemas.microsoft.com/office/drawing/2014/main" id="{181FDECC-744A-4AB6-8A8C-45410F7C5BD9}"/>
              </a:ext>
            </a:extLst>
          </p:cNvPr>
          <p:cNvSpPr txBox="1">
            <a:spLocks/>
          </p:cNvSpPr>
          <p:nvPr/>
        </p:nvSpPr>
        <p:spPr>
          <a:xfrm>
            <a:off x="625868" y="3162301"/>
            <a:ext cx="11201723" cy="2381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2"/>
            </a:pPr>
            <a:r>
              <a:rPr lang="es-MX" sz="1800" b="1" dirty="0"/>
              <a:t>¿Por qué el outer cabe en memoria?</a:t>
            </a:r>
          </a:p>
          <a:p>
            <a:pPr marL="469900" indent="-342900">
              <a:buFont typeface="+mj-lt"/>
              <a:buAutoNum type="arabicPeriod" startAt="2"/>
            </a:pPr>
            <a:endParaRPr lang="es-MX" sz="1800" b="0" i="1" dirty="0">
              <a:latin typeface="Cambria Math" panose="02040503050406030204" pitchFamily="18" charset="0"/>
            </a:endParaRPr>
          </a:p>
          <a:p>
            <a:pPr marL="584200" lvl="1" indent="0">
              <a:buNone/>
            </a:pPr>
            <a:r>
              <a:rPr lang="es-MX" sz="2000" dirty="0"/>
              <a:t>El inner index ocupa 10000 bloques — potencialmente varios MB dependiendo del tamaño de bloque, demasiado para garantizar su presencia en memoria. El outer index en cambio ocupa solo 100 bloques, un tamaño suficientemente pequeño para mantenerse en memoria principal de forma permanente. Por eso la búsqueda sobre el outer index no genera ninguna operación de disco.</a:t>
            </a:r>
          </a:p>
        </p:txBody>
      </p:sp>
    </p:spTree>
    <p:extLst>
      <p:ext uri="{BB962C8B-B14F-4D97-AF65-F5344CB8AC3E}">
        <p14:creationId xmlns:p14="http://schemas.microsoft.com/office/powerpoint/2010/main" val="1994148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8F324CEE-C59E-4E63-AF60-2EB672476D57}"/>
                  </a:ext>
                </a:extLst>
              </p:cNvPr>
              <p:cNvSpPr txBox="1">
                <a:spLocks/>
              </p:cNvSpPr>
              <p:nvPr/>
            </p:nvSpPr>
            <p:spPr>
              <a:xfrm>
                <a:off x="821400" y="714314"/>
                <a:ext cx="11122950" cy="59523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3"/>
                </a:pPr>
                <a:r>
                  <a:rPr lang="es-MX" sz="1800" b="1" dirty="0"/>
                  <a:t>Costo I/O para recuperar </a:t>
                </a:r>
                <a:r>
                  <a:rPr lang="es-MX" sz="1800" b="1" dirty="0">
                    <a:latin typeface="Consolas" panose="020B0609020204030204" pitchFamily="49" charset="0"/>
                  </a:rPr>
                  <a:t>ID = 500001</a:t>
                </a:r>
              </a:p>
              <a:p>
                <a:pPr marL="584200" lvl="1" indent="0">
                  <a:buNone/>
                </a:pPr>
                <a:r>
                  <a:rPr lang="es-CO" sz="1800" dirty="0"/>
                  <a:t>El proceso tiene tres pasos:</a:t>
                </a:r>
              </a:p>
              <a:p>
                <a:pPr marL="584200" lvl="1" indent="0">
                  <a:buNone/>
                </a:pPr>
                <a:endParaRPr lang="es-CO" sz="1800" b="1" dirty="0"/>
              </a:p>
              <a:p>
                <a:pPr marL="584200" lvl="1" indent="0">
                  <a:buNone/>
                </a:pPr>
                <a:r>
                  <a:rPr lang="es-CO" sz="1800" b="1" dirty="0"/>
                  <a:t>Paso 1</a:t>
                </a:r>
                <a:r>
                  <a:rPr lang="es-CO" sz="1800" dirty="0"/>
                  <a:t> — Buscar en el outer index (en memoria, sin I/Os de disco):</a:t>
                </a:r>
              </a:p>
              <a:p>
                <a:pPr marL="584200" lvl="1" indent="0">
                  <a:buNone/>
                </a:pPr>
                <a:endParaRPr lang="es-CO" sz="1800" dirty="0"/>
              </a:p>
              <a:p>
                <a:pPr marL="584200" lvl="1"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𝑂𝑢𝑡𝑒𝑟</m:t>
                              </m:r>
                            </m:sub>
                          </m:sSub>
                        </m:den>
                      </m:f>
                      <m:r>
                        <a:rPr lang="es-MX" sz="1800" b="0" i="1" smtClean="0">
                          <a:latin typeface="Cambria Math" panose="02040503050406030204" pitchFamily="18" charset="0"/>
                        </a:rPr>
                        <m:t>=0 (</m:t>
                      </m:r>
                      <m:r>
                        <m:rPr>
                          <m:sty m:val="p"/>
                        </m:rPr>
                        <a:rPr lang="es-MX" sz="1800" b="0" i="0" smtClean="0">
                          <a:latin typeface="Cambria Math" panose="02040503050406030204" pitchFamily="18" charset="0"/>
                        </a:rPr>
                        <m:t>Esta</m:t>
                      </m:r>
                      <m:r>
                        <a:rPr lang="es-MX" sz="1800" b="0" i="0" smtClean="0">
                          <a:latin typeface="Cambria Math" panose="02040503050406030204" pitchFamily="18" charset="0"/>
                        </a:rPr>
                        <m:t> </m:t>
                      </m:r>
                      <m:r>
                        <m:rPr>
                          <m:sty m:val="p"/>
                        </m:rPr>
                        <a:rPr lang="es-MX" sz="1800" b="0" i="0" smtClean="0">
                          <a:latin typeface="Cambria Math" panose="02040503050406030204" pitchFamily="18" charset="0"/>
                        </a:rPr>
                        <m:t>en</m:t>
                      </m:r>
                      <m:r>
                        <a:rPr lang="es-MX" sz="1800" b="0" i="0" smtClean="0">
                          <a:latin typeface="Cambria Math" panose="02040503050406030204" pitchFamily="18" charset="0"/>
                        </a:rPr>
                        <m:t> </m:t>
                      </m:r>
                      <m:r>
                        <m:rPr>
                          <m:sty m:val="p"/>
                        </m:rPr>
                        <a:rPr lang="es-MX" sz="1800" b="0" i="0" smtClean="0">
                          <a:latin typeface="Cambria Math" panose="02040503050406030204" pitchFamily="18" charset="0"/>
                        </a:rPr>
                        <m:t>memoria</m:t>
                      </m:r>
                      <m:r>
                        <a:rPr lang="es-MX" sz="1800" b="0" i="1" smtClean="0">
                          <a:latin typeface="Cambria Math" panose="02040503050406030204" pitchFamily="18" charset="0"/>
                        </a:rPr>
                        <m:t>)</m:t>
                      </m:r>
                    </m:oMath>
                  </m:oMathPara>
                </a14:m>
                <a:endParaRPr lang="es-MX" sz="1800" b="0" dirty="0"/>
              </a:p>
              <a:p>
                <a:pPr marL="584200" lvl="1" indent="0">
                  <a:buNone/>
                </a:pPr>
                <a:endParaRPr lang="es-CO" sz="1800" b="1" dirty="0"/>
              </a:p>
              <a:p>
                <a:pPr marL="584200" lvl="1" indent="0">
                  <a:buNone/>
                </a:pPr>
                <a:r>
                  <a:rPr lang="es-CO" sz="1800" b="1" dirty="0"/>
                  <a:t>Paso 2</a:t>
                </a:r>
                <a:r>
                  <a:rPr lang="es-CO" sz="1800" dirty="0"/>
                  <a:t> — Leer el bloque del inner index apuntado por el outer:</a:t>
                </a:r>
              </a:p>
              <a:p>
                <a:pPr marL="584200" lvl="1" indent="0">
                  <a:buNone/>
                </a:pPr>
                <a:endParaRPr lang="es-CO" sz="1800" dirty="0"/>
              </a:p>
              <a:p>
                <a:pPr marL="584200" lvl="1"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𝑖𝑛𝑛𝑒𝑟</m:t>
                              </m:r>
                            </m:sub>
                          </m:sSub>
                        </m:den>
                      </m:f>
                      <m:r>
                        <a:rPr lang="es-MX" sz="1800" b="0" i="1" smtClean="0">
                          <a:latin typeface="Cambria Math" panose="02040503050406030204" pitchFamily="18" charset="0"/>
                        </a:rPr>
                        <m:t>=1</m:t>
                      </m:r>
                    </m:oMath>
                  </m:oMathPara>
                </a14:m>
                <a:endParaRPr lang="es-MX" sz="1800" b="0" dirty="0"/>
              </a:p>
              <a:p>
                <a:pPr marL="584200" lvl="1" indent="0">
                  <a:buNone/>
                </a:pPr>
                <a:endParaRPr lang="es-CO" sz="1800" b="1" dirty="0"/>
              </a:p>
              <a:p>
                <a:pPr marL="584200" lvl="1" indent="0">
                  <a:buNone/>
                </a:pPr>
                <a:r>
                  <a:rPr lang="es-CO" sz="1800" b="1" dirty="0"/>
                  <a:t>Paso 3</a:t>
                </a:r>
                <a:r>
                  <a:rPr lang="es-CO" sz="1800" dirty="0"/>
                  <a:t> — Leer el bloque de datos apuntado por el inner index:</a:t>
                </a:r>
              </a:p>
              <a:p>
                <a:pPr marL="584200" lvl="1" indent="0">
                  <a:buNone/>
                </a:pPr>
                <a:endParaRPr lang="es-CO" sz="1800" dirty="0"/>
              </a:p>
              <a:p>
                <a:pPr marL="584200" lvl="1"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𝑑𝑎𝑡𝑜𝑠</m:t>
                              </m:r>
                            </m:sub>
                          </m:sSub>
                        </m:den>
                      </m:f>
                      <m:r>
                        <a:rPr lang="es-MX" sz="1800" b="0" i="1" smtClean="0">
                          <a:latin typeface="Cambria Math" panose="02040503050406030204" pitchFamily="18" charset="0"/>
                        </a:rPr>
                        <m:t>=1</m:t>
                      </m:r>
                    </m:oMath>
                  </m:oMathPara>
                </a14:m>
                <a:endParaRPr lang="es-MX" sz="1800" b="0" dirty="0"/>
              </a:p>
              <a:p>
                <a:pPr marL="584200" lvl="1" indent="0">
                  <a:buNone/>
                </a:pPr>
                <a:endParaRPr lang="es-CO" sz="1800" dirty="0"/>
              </a:p>
              <a:p>
                <a:pPr marL="127000" indent="0">
                  <a:buNone/>
                </a:pPr>
                <a14:m>
                  <m:oMathPara xmlns:m="http://schemas.openxmlformats.org/officeDocument/2006/math">
                    <m:oMathParaPr>
                      <m:jc m:val="centerGroup"/>
                    </m:oMathParaPr>
                    <m:oMath xmlns:m="http://schemas.openxmlformats.org/officeDocument/2006/math">
                      <m:f>
                        <m:fPr>
                          <m:type m:val="lin"/>
                          <m:ctrlPr>
                            <a:rPr lang="es-MX" sz="1800" b="0" i="1" smtClean="0">
                              <a:latin typeface="Cambria Math" panose="02040503050406030204" pitchFamily="18" charset="0"/>
                            </a:rPr>
                          </m:ctrlPr>
                        </m:fPr>
                        <m:num>
                          <m:r>
                            <a:rPr lang="es-MX" sz="1800" b="0" i="1" smtClean="0">
                              <a:latin typeface="Cambria Math" panose="02040503050406030204" pitchFamily="18" charset="0"/>
                            </a:rPr>
                            <m:t>𝐼</m:t>
                          </m:r>
                        </m:num>
                        <m:den>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𝑂</m:t>
                              </m:r>
                            </m:e>
                            <m:sub>
                              <m:r>
                                <a:rPr lang="es-MX" sz="1800" b="0" i="1" smtClean="0">
                                  <a:latin typeface="Cambria Math" panose="02040503050406030204" pitchFamily="18" charset="0"/>
                                </a:rPr>
                                <m:t>𝑇𝑜𝑡𝑎𝑙</m:t>
                              </m:r>
                            </m:sub>
                          </m:sSub>
                          <m:r>
                            <a:rPr lang="es-MX" sz="1800" b="0" i="1" smtClean="0">
                              <a:latin typeface="Cambria Math" panose="02040503050406030204" pitchFamily="18" charset="0"/>
                            </a:rPr>
                            <m:t>=</m:t>
                          </m:r>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sSub>
                                <m:sSubPr>
                                  <m:ctrlPr>
                                    <a:rPr lang="es-MX" sz="1800" i="1">
                                      <a:latin typeface="Cambria Math" panose="02040503050406030204" pitchFamily="18" charset="0"/>
                                    </a:rPr>
                                  </m:ctrlPr>
                                </m:sSubPr>
                                <m:e>
                                  <m:r>
                                    <a:rPr lang="es-MX" sz="1800" i="1">
                                      <a:latin typeface="Cambria Math" panose="02040503050406030204" pitchFamily="18" charset="0"/>
                                    </a:rPr>
                                    <m:t>𝑂</m:t>
                                  </m:r>
                                </m:e>
                                <m:sub>
                                  <m:r>
                                    <a:rPr lang="es-MX" sz="1800" i="1">
                                      <a:latin typeface="Cambria Math" panose="02040503050406030204" pitchFamily="18" charset="0"/>
                                    </a:rPr>
                                    <m:t>𝑂𝑢𝑡𝑒𝑟</m:t>
                                  </m:r>
                                </m:sub>
                              </m:sSub>
                            </m:den>
                          </m:f>
                          <m:r>
                            <a:rPr lang="es-MX" sz="1800" b="0" i="1" smtClean="0">
                              <a:latin typeface="Cambria Math" panose="02040503050406030204" pitchFamily="18" charset="0"/>
                            </a:rPr>
                            <m:t>+</m:t>
                          </m:r>
                        </m:den>
                      </m:f>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sSub>
                            <m:sSubPr>
                              <m:ctrlPr>
                                <a:rPr lang="es-MX" sz="1800" i="1">
                                  <a:latin typeface="Cambria Math" panose="02040503050406030204" pitchFamily="18" charset="0"/>
                                </a:rPr>
                              </m:ctrlPr>
                            </m:sSubPr>
                            <m:e>
                              <m:r>
                                <a:rPr lang="es-MX" sz="1800" i="1">
                                  <a:latin typeface="Cambria Math" panose="02040503050406030204" pitchFamily="18" charset="0"/>
                                </a:rPr>
                                <m:t>𝑂</m:t>
                              </m:r>
                            </m:e>
                            <m:sub>
                              <m:r>
                                <a:rPr lang="es-MX" sz="1800" i="1">
                                  <a:latin typeface="Cambria Math" panose="02040503050406030204" pitchFamily="18" charset="0"/>
                                </a:rPr>
                                <m:t>𝑖𝑛𝑛𝑒𝑟</m:t>
                              </m:r>
                            </m:sub>
                          </m:sSub>
                        </m:den>
                      </m:f>
                      <m:r>
                        <a:rPr lang="es-MX" sz="1800" b="0" i="1" smtClean="0">
                          <a:latin typeface="Cambria Math" panose="02040503050406030204" pitchFamily="18" charset="0"/>
                        </a:rPr>
                        <m:t>+</m:t>
                      </m:r>
                      <m:f>
                        <m:fPr>
                          <m:type m:val="lin"/>
                          <m:ctrlPr>
                            <a:rPr lang="es-MX" sz="1800" i="1">
                              <a:latin typeface="Cambria Math" panose="02040503050406030204" pitchFamily="18" charset="0"/>
                            </a:rPr>
                          </m:ctrlPr>
                        </m:fPr>
                        <m:num>
                          <m:r>
                            <a:rPr lang="es-MX" sz="1800" i="1">
                              <a:latin typeface="Cambria Math" panose="02040503050406030204" pitchFamily="18" charset="0"/>
                            </a:rPr>
                            <m:t>𝐼</m:t>
                          </m:r>
                        </m:num>
                        <m:den>
                          <m:sSub>
                            <m:sSubPr>
                              <m:ctrlPr>
                                <a:rPr lang="es-MX" sz="1800" i="1">
                                  <a:latin typeface="Cambria Math" panose="02040503050406030204" pitchFamily="18" charset="0"/>
                                </a:rPr>
                              </m:ctrlPr>
                            </m:sSubPr>
                            <m:e>
                              <m:r>
                                <a:rPr lang="es-MX" sz="1800" i="1">
                                  <a:latin typeface="Cambria Math" panose="02040503050406030204" pitchFamily="18" charset="0"/>
                                </a:rPr>
                                <m:t>𝑂</m:t>
                              </m:r>
                            </m:e>
                            <m:sub>
                              <m:r>
                                <a:rPr lang="es-MX" sz="1800" i="1">
                                  <a:latin typeface="Cambria Math" panose="02040503050406030204" pitchFamily="18" charset="0"/>
                                </a:rPr>
                                <m:t>𝑑𝑎𝑡𝑜𝑠</m:t>
                              </m:r>
                            </m:sub>
                          </m:sSub>
                        </m:den>
                      </m:f>
                      <m:r>
                        <a:rPr lang="es-MX" sz="1800" b="0" i="1" smtClean="0">
                          <a:latin typeface="Cambria Math" panose="02040503050406030204" pitchFamily="18" charset="0"/>
                        </a:rPr>
                        <m:t>=0+1+1=2</m:t>
                      </m:r>
                    </m:oMath>
                  </m:oMathPara>
                </a14:m>
                <a:endParaRPr lang="es-MX" sz="1800" b="0" dirty="0"/>
              </a:p>
              <a:p>
                <a:pPr marL="127000" indent="0">
                  <a:buNone/>
                </a:pPr>
                <a:endParaRPr lang="es-MX" sz="1800" dirty="0"/>
              </a:p>
              <a:p>
                <a:pPr marL="12700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rPr>
                          </m:ctrlPr>
                        </m:sSubPr>
                        <m:e>
                          <m:r>
                            <a:rPr lang="es-MX" sz="1800" b="0" i="1" smtClean="0">
                              <a:latin typeface="Cambria Math" panose="02040503050406030204" pitchFamily="18" charset="0"/>
                            </a:rPr>
                            <m:t>𝑇</m:t>
                          </m:r>
                        </m:e>
                        <m:sub>
                          <m:r>
                            <a:rPr lang="es-MX" sz="1800" b="0" i="1" smtClean="0">
                              <a:latin typeface="Cambria Math" panose="02040503050406030204" pitchFamily="18" charset="0"/>
                            </a:rPr>
                            <m:t>𝑇𝑜𝑡𝑎𝑙</m:t>
                          </m:r>
                        </m:sub>
                      </m:sSub>
                      <m:r>
                        <a:rPr lang="es-MX" sz="1800" b="0" i="1" smtClean="0">
                          <a:latin typeface="Cambria Math" panose="02040503050406030204" pitchFamily="18" charset="0"/>
                        </a:rPr>
                        <m:t>=2×10 </m:t>
                      </m:r>
                      <m:r>
                        <a:rPr lang="es-MX" sz="1800" b="0" i="1" smtClean="0">
                          <a:latin typeface="Cambria Math" panose="02040503050406030204" pitchFamily="18" charset="0"/>
                        </a:rPr>
                        <m:t>𝑚𝑠</m:t>
                      </m:r>
                      <m:r>
                        <a:rPr lang="es-MX" sz="1800" b="0" i="1" smtClean="0">
                          <a:latin typeface="Cambria Math" panose="02040503050406030204" pitchFamily="18" charset="0"/>
                        </a:rPr>
                        <m:t>=20 </m:t>
                      </m:r>
                      <m:r>
                        <a:rPr lang="es-MX" sz="1800" b="0" i="1" smtClean="0">
                          <a:latin typeface="Cambria Math" panose="02040503050406030204" pitchFamily="18" charset="0"/>
                        </a:rPr>
                        <m:t>𝑚𝑠</m:t>
                      </m:r>
                    </m:oMath>
                  </m:oMathPara>
                </a14:m>
                <a:endParaRPr lang="es-MX" sz="1800" dirty="0"/>
              </a:p>
            </p:txBody>
          </p:sp>
        </mc:Choice>
        <mc:Fallback xmlns="">
          <p:sp>
            <p:nvSpPr>
              <p:cNvPr id="5" name="Google Shape;310;p34">
                <a:extLst>
                  <a:ext uri="{FF2B5EF4-FFF2-40B4-BE49-F238E27FC236}">
                    <a16:creationId xmlns:a16="http://schemas.microsoft.com/office/drawing/2014/main" id="{8F324CEE-C59E-4E63-AF60-2EB672476D57}"/>
                  </a:ext>
                </a:extLst>
              </p:cNvPr>
              <p:cNvSpPr txBox="1">
                <a:spLocks noRot="1" noChangeAspect="1" noMove="1" noResize="1" noEditPoints="1" noAdjustHandles="1" noChangeArrowheads="1" noChangeShapeType="1" noTextEdit="1"/>
              </p:cNvSpPr>
              <p:nvPr/>
            </p:nvSpPr>
            <p:spPr>
              <a:xfrm>
                <a:off x="821400" y="714314"/>
                <a:ext cx="11122950" cy="5952398"/>
              </a:xfrm>
              <a:prstGeom prst="rect">
                <a:avLst/>
              </a:prstGeom>
              <a:blipFill>
                <a:blip r:embed="rId3"/>
                <a:stretch>
                  <a:fillRect/>
                </a:stretch>
              </a:blipFill>
              <a:ln>
                <a:noFill/>
              </a:ln>
            </p:spPr>
            <p:txBody>
              <a:bodyPr/>
              <a:lstStyle/>
              <a:p>
                <a:r>
                  <a:rPr lang="es-CO">
                    <a:noFill/>
                  </a:rPr>
                  <a:t> </a:t>
                </a:r>
              </a:p>
            </p:txBody>
          </p:sp>
        </mc:Fallback>
      </mc:AlternateContent>
    </p:spTree>
    <p:extLst>
      <p:ext uri="{BB962C8B-B14F-4D97-AF65-F5344CB8AC3E}">
        <p14:creationId xmlns:p14="http://schemas.microsoft.com/office/powerpoint/2010/main" val="3889207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p:sp>
        <p:nvSpPr>
          <p:cNvPr id="5" name="Google Shape;310;p34">
            <a:extLst>
              <a:ext uri="{FF2B5EF4-FFF2-40B4-BE49-F238E27FC236}">
                <a16:creationId xmlns:a16="http://schemas.microsoft.com/office/drawing/2014/main" id="{8F324CEE-C59E-4E63-AF60-2EB672476D57}"/>
              </a:ext>
            </a:extLst>
          </p:cNvPr>
          <p:cNvSpPr txBox="1">
            <a:spLocks/>
          </p:cNvSpPr>
          <p:nvPr/>
        </p:nvSpPr>
        <p:spPr>
          <a:xfrm>
            <a:off x="821400" y="714314"/>
            <a:ext cx="11122950" cy="595239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469900" indent="-342900">
              <a:buFont typeface="+mj-lt"/>
              <a:buAutoNum type="arabicPeriod" startAt="4"/>
            </a:pPr>
            <a:r>
              <a:rPr lang="es-MX" sz="1800" b="1" dirty="0"/>
              <a:t>Tabla comparativa final</a:t>
            </a: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endParaRPr lang="es-MX" sz="1800" b="1" dirty="0">
              <a:latin typeface="Consolas" panose="020B0609020204030204" pitchFamily="49" charset="0"/>
            </a:endParaRPr>
          </a:p>
          <a:p>
            <a:pPr marL="584200" lvl="1" indent="0">
              <a:buNone/>
            </a:pPr>
            <a:r>
              <a:rPr lang="es-MX" sz="1800" b="1" dirty="0"/>
              <a:t>Conclusión:</a:t>
            </a:r>
            <a:r>
              <a:rPr lang="es-MX" sz="1800" dirty="0"/>
              <a:t> El índice multinivel logra el menor costo de búsqueda de todos los casos — solo 2 I/Os — porque elimina la búsqueda binaria sobre el inner index al mantener el outer index en memoria. El trade-off es que ocupa más espacio total (10,100 bloques de índice vs 2,000 del disperso), pero la ganancia en velocidad es significativa. Esta lógica de construir índices sobre índices es exactamente el principio detrás de los árboles B⁺, que generalizan esta idea de forma dinámica y balanceada.</a:t>
            </a:r>
            <a:endParaRPr lang="es-MX" sz="2400" b="1" dirty="0">
              <a:latin typeface="Consolas" panose="020B0609020204030204" pitchFamily="49" charset="0"/>
            </a:endParaRPr>
          </a:p>
          <a:p>
            <a:pPr marL="584200" lvl="1" indent="0">
              <a:buNone/>
            </a:pPr>
            <a:endParaRPr lang="es-MX" sz="1800" b="1" dirty="0">
              <a:latin typeface="Consolas" panose="020B0609020204030204" pitchFamily="49" charset="0"/>
            </a:endParaRPr>
          </a:p>
        </p:txBody>
      </p:sp>
      <p:graphicFrame>
        <p:nvGraphicFramePr>
          <p:cNvPr id="2" name="Tabla 1">
            <a:extLst>
              <a:ext uri="{FF2B5EF4-FFF2-40B4-BE49-F238E27FC236}">
                <a16:creationId xmlns:a16="http://schemas.microsoft.com/office/drawing/2014/main" id="{07BD8865-3C3D-4770-B35B-824EA700489E}"/>
              </a:ext>
            </a:extLst>
          </p:cNvPr>
          <p:cNvGraphicFramePr>
            <a:graphicFrameLocks noGrp="1"/>
          </p:cNvGraphicFramePr>
          <p:nvPr>
            <p:extLst>
              <p:ext uri="{D42A27DB-BD31-4B8C-83A1-F6EECF244321}">
                <p14:modId xmlns:p14="http://schemas.microsoft.com/office/powerpoint/2010/main" val="1530654750"/>
              </p:ext>
            </p:extLst>
          </p:nvPr>
        </p:nvGraphicFramePr>
        <p:xfrm>
          <a:off x="1850879" y="1663814"/>
          <a:ext cx="9063991" cy="1828800"/>
        </p:xfrm>
        <a:graphic>
          <a:graphicData uri="http://schemas.openxmlformats.org/drawingml/2006/table">
            <a:tbl>
              <a:tblPr/>
              <a:tblGrid>
                <a:gridCol w="2656205">
                  <a:extLst>
                    <a:ext uri="{9D8B030D-6E8A-4147-A177-3AD203B41FA5}">
                      <a16:colId xmlns:a16="http://schemas.microsoft.com/office/drawing/2014/main" val="2841304670"/>
                    </a:ext>
                  </a:extLst>
                </a:gridCol>
                <a:gridCol w="3022918">
                  <a:extLst>
                    <a:ext uri="{9D8B030D-6E8A-4147-A177-3AD203B41FA5}">
                      <a16:colId xmlns:a16="http://schemas.microsoft.com/office/drawing/2014/main" val="3693033712"/>
                    </a:ext>
                  </a:extLst>
                </a:gridCol>
                <a:gridCol w="1056005">
                  <a:extLst>
                    <a:ext uri="{9D8B030D-6E8A-4147-A177-3AD203B41FA5}">
                      <a16:colId xmlns:a16="http://schemas.microsoft.com/office/drawing/2014/main" val="911299649"/>
                    </a:ext>
                  </a:extLst>
                </a:gridCol>
                <a:gridCol w="2328863">
                  <a:extLst>
                    <a:ext uri="{9D8B030D-6E8A-4147-A177-3AD203B41FA5}">
                      <a16:colId xmlns:a16="http://schemas.microsoft.com/office/drawing/2014/main" val="2967531898"/>
                    </a:ext>
                  </a:extLst>
                </a:gridCol>
              </a:tblGrid>
              <a:tr h="0">
                <a:tc>
                  <a:txBody>
                    <a:bodyPr/>
                    <a:lstStyle/>
                    <a:p>
                      <a:endParaRPr lang="es-CO" sz="1800">
                        <a:latin typeface="Roboto" panose="02000000000000000000" pitchFamily="2" charset="0"/>
                        <a:ea typeface="Roboto" panose="02000000000000000000" pitchFamily="2"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b="1" dirty="0">
                          <a:latin typeface="Roboto" panose="02000000000000000000" pitchFamily="2" charset="0"/>
                          <a:ea typeface="Roboto" panose="02000000000000000000" pitchFamily="2" charset="0"/>
                        </a:rPr>
                        <a:t>Bloques del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b="1">
                          <a:latin typeface="Roboto" panose="02000000000000000000" pitchFamily="2" charset="0"/>
                          <a:ea typeface="Roboto" panose="02000000000000000000" pitchFamily="2" charset="0"/>
                        </a:rPr>
                        <a:t>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b="1" dirty="0">
                          <a:latin typeface="Roboto" panose="02000000000000000000" pitchFamily="2" charset="0"/>
                          <a:ea typeface="Roboto" panose="02000000000000000000" pitchFamily="2" charset="0"/>
                        </a:rPr>
                        <a:t>Tiempo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575712"/>
                  </a:ext>
                </a:extLst>
              </a:tr>
              <a:tr h="0">
                <a:tc>
                  <a:txBody>
                    <a:bodyPr/>
                    <a:lstStyle/>
                    <a:p>
                      <a:r>
                        <a:rPr lang="es-CO" sz="1800" b="1" dirty="0">
                          <a:latin typeface="Roboto" panose="02000000000000000000" pitchFamily="2" charset="0"/>
                          <a:ea typeface="Roboto" panose="02000000000000000000" pitchFamily="2" charset="0"/>
                        </a:rPr>
                        <a:t>Índice multinivel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100 (outer) + 10000 (inner)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20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6357501"/>
                  </a:ext>
                </a:extLst>
              </a:tr>
              <a:tr h="0">
                <a:tc>
                  <a:txBody>
                    <a:bodyPr/>
                    <a:lstStyle/>
                    <a:p>
                      <a:r>
                        <a:rPr lang="es-CO" sz="1800" b="1" dirty="0">
                          <a:latin typeface="Roboto" panose="02000000000000000000" pitchFamily="2" charset="0"/>
                          <a:ea typeface="Roboto" panose="02000000000000000000" pitchFamily="2" charset="0"/>
                        </a:rPr>
                        <a:t>Índice denso (1 nivel)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150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094232"/>
                  </a:ext>
                </a:extLst>
              </a:tr>
              <a:tr h="0">
                <a:tc>
                  <a:txBody>
                    <a:bodyPr/>
                    <a:lstStyle/>
                    <a:p>
                      <a:r>
                        <a:rPr lang="es-CO" sz="1800" b="1" dirty="0">
                          <a:latin typeface="Roboto" panose="02000000000000000000" pitchFamily="2" charset="0"/>
                          <a:ea typeface="Roboto" panose="02000000000000000000" pitchFamily="2" charset="0"/>
                        </a:rPr>
                        <a:t>Índice disperso (1 nivel)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a:latin typeface="Roboto" panose="02000000000000000000" pitchFamily="2" charset="0"/>
                          <a:ea typeface="Roboto" panose="02000000000000000000" pitchFamily="2" charset="0"/>
                        </a:rPr>
                        <a:t>120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9406594"/>
                  </a:ext>
                </a:extLst>
              </a:tr>
              <a:tr h="0">
                <a:tc>
                  <a:txBody>
                    <a:bodyPr/>
                    <a:lstStyle/>
                    <a:p>
                      <a:r>
                        <a:rPr lang="es-CO" sz="1800" b="1" dirty="0">
                          <a:latin typeface="Roboto" panose="02000000000000000000" pitchFamily="2" charset="0"/>
                          <a:ea typeface="Roboto" panose="02000000000000000000" pitchFamily="2" charset="0"/>
                        </a:rPr>
                        <a:t>Sin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~33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7195722"/>
                  </a:ext>
                </a:extLst>
              </a:tr>
            </a:tbl>
          </a:graphicData>
        </a:graphic>
      </p:graphicFrame>
    </p:spTree>
    <p:extLst>
      <p:ext uri="{BB962C8B-B14F-4D97-AF65-F5344CB8AC3E}">
        <p14:creationId xmlns:p14="http://schemas.microsoft.com/office/powerpoint/2010/main" val="296754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797941" y="3810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Ejemplo 5 – Indice multinivel </a:t>
            </a:r>
            <a:endParaRPr dirty="0"/>
          </a:p>
        </p:txBody>
      </p:sp>
      <p:pic>
        <p:nvPicPr>
          <p:cNvPr id="7" name="Imagen 6">
            <a:extLst>
              <a:ext uri="{FF2B5EF4-FFF2-40B4-BE49-F238E27FC236}">
                <a16:creationId xmlns:a16="http://schemas.microsoft.com/office/drawing/2014/main" id="{C8868A78-0B7F-481D-8AFC-8D5111A5E7F1}"/>
              </a:ext>
            </a:extLst>
          </p:cNvPr>
          <p:cNvPicPr>
            <a:picLocks noChangeAspect="1"/>
          </p:cNvPicPr>
          <p:nvPr/>
        </p:nvPicPr>
        <p:blipFill>
          <a:blip r:embed="rId3"/>
          <a:stretch>
            <a:fillRect/>
          </a:stretch>
        </p:blipFill>
        <p:spPr>
          <a:xfrm>
            <a:off x="2339640" y="827008"/>
            <a:ext cx="7512720" cy="5973842"/>
          </a:xfrm>
          <a:prstGeom prst="rect">
            <a:avLst/>
          </a:prstGeom>
        </p:spPr>
      </p:pic>
    </p:spTree>
    <p:extLst>
      <p:ext uri="{BB962C8B-B14F-4D97-AF65-F5344CB8AC3E}">
        <p14:creationId xmlns:p14="http://schemas.microsoft.com/office/powerpoint/2010/main" val="12831601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10031"/>
            <a:ext cx="6059337" cy="56202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Sin importar el tipo de índice que se esté usando, los índices se deben actualizar siempre que se inserte o borre un registro del archivo.</a:t>
            </a:r>
          </a:p>
          <a:p>
            <a:pPr marL="342900" indent="-342900"/>
            <a:r>
              <a:rPr lang="es-MX" sz="1800" dirty="0"/>
              <a:t>Si un registro del archivo es modificado, cualquier índice cuyo atributo de clave de búsqueda se vea afectado por dicha modificación también debe actualizarse:</a:t>
            </a:r>
          </a:p>
          <a:p>
            <a:pPr marL="800100" lvl="1" indent="-342900"/>
            <a:r>
              <a:rPr lang="es-MX" sz="1400" dirty="0"/>
              <a:t>Si se cambia el departamento de un profesor, un índice sobre el atributo </a:t>
            </a:r>
            <a:r>
              <a:rPr lang="es-MX" sz="1400" b="1" i="1" dirty="0"/>
              <a:t>dept_name</a:t>
            </a:r>
            <a:r>
              <a:rPr lang="es-MX" sz="1400" dirty="0"/>
              <a:t> de la relación </a:t>
            </a:r>
            <a:r>
              <a:rPr lang="es-MX" sz="1400" b="1" i="1" dirty="0"/>
              <a:t>instructor</a:t>
            </a:r>
            <a:r>
              <a:rPr lang="es-MX" sz="1400" dirty="0"/>
              <a:t> debe actualizarse de forma correspondiente.</a:t>
            </a:r>
          </a:p>
          <a:p>
            <a:pPr marL="342900" indent="-342900"/>
            <a:r>
              <a:rPr lang="es-MX" sz="2000" dirty="0"/>
              <a:t>Una actualización se modela como:</a:t>
            </a:r>
          </a:p>
          <a:p>
            <a:pPr marL="800100" lvl="1" indent="-342900">
              <a:buFont typeface="+mj-lt"/>
              <a:buAutoNum type="arabicPeriod"/>
            </a:pPr>
            <a:r>
              <a:rPr lang="es-MX" sz="1800" b="1" dirty="0"/>
              <a:t>Eliminación</a:t>
            </a:r>
            <a:r>
              <a:rPr lang="es-MX" sz="1800" dirty="0"/>
              <a:t> del </a:t>
            </a:r>
            <a:r>
              <a:rPr lang="es-MX" sz="1800" u="sng" dirty="0"/>
              <a:t>registro</a:t>
            </a:r>
            <a:r>
              <a:rPr lang="es-MX" sz="1800" dirty="0"/>
              <a:t> antiguo</a:t>
            </a:r>
          </a:p>
          <a:p>
            <a:pPr marL="800100" lvl="1" indent="-342900">
              <a:buFont typeface="+mj-lt"/>
              <a:buAutoNum type="arabicPeriod"/>
            </a:pPr>
            <a:r>
              <a:rPr lang="es-MX" sz="1800" b="1" dirty="0"/>
              <a:t>Inserción</a:t>
            </a:r>
            <a:r>
              <a:rPr lang="es-MX" sz="1800" dirty="0"/>
              <a:t> del nuevo valor del </a:t>
            </a:r>
            <a:r>
              <a:rPr lang="es-MX" sz="1800" u="sng" dirty="0"/>
              <a:t>registro</a:t>
            </a:r>
          </a:p>
          <a:p>
            <a:pPr marL="800100" lvl="1" indent="-342900">
              <a:buFont typeface="+mj-lt"/>
              <a:buAutoNum type="arabicPeriod"/>
            </a:pPr>
            <a:r>
              <a:rPr lang="es-MX" sz="1800" b="1" dirty="0"/>
              <a:t>Eliminación</a:t>
            </a:r>
            <a:r>
              <a:rPr lang="es-MX" sz="1800" dirty="0"/>
              <a:t> del índice seguida de una </a:t>
            </a:r>
            <a:r>
              <a:rPr lang="es-MX" sz="1800" b="1" dirty="0"/>
              <a:t>inserción</a:t>
            </a:r>
            <a:r>
              <a:rPr lang="es-MX" sz="1800" dirty="0"/>
              <a:t> en el índice.</a:t>
            </a:r>
          </a:p>
          <a:p>
            <a:pPr marL="342900" indent="-342900"/>
            <a:r>
              <a:rPr lang="es-MX" sz="2000" dirty="0"/>
              <a:t>Debido a lo anterior, solo es necesario considerar inserción y eliminación sobre un índice; las actualizaciones no se tratan de forma explícita.</a:t>
            </a:r>
          </a:p>
        </p:txBody>
      </p:sp>
      <p:pic>
        <p:nvPicPr>
          <p:cNvPr id="6" name="Picture 7">
            <a:extLst>
              <a:ext uri="{FF2B5EF4-FFF2-40B4-BE49-F238E27FC236}">
                <a16:creationId xmlns:a16="http://schemas.microsoft.com/office/drawing/2014/main" id="{C39D25D0-0B43-4F36-903B-7C2E464A7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8487" y="3620164"/>
            <a:ext cx="4451146" cy="204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a:extLst>
              <a:ext uri="{FF2B5EF4-FFF2-40B4-BE49-F238E27FC236}">
                <a16:creationId xmlns:a16="http://schemas.microsoft.com/office/drawing/2014/main" id="{CC2FE5CE-C0F6-46DF-972C-F3047FCA88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3219" y="1189377"/>
            <a:ext cx="4426496" cy="215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74768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 - Eliminación</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36290"/>
            <a:ext cx="10989600" cy="11662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Para eliminar un registro, el sistema primero localiza el registro a eliminar. </a:t>
            </a:r>
          </a:p>
          <a:p>
            <a:pPr marL="342900" indent="-342900"/>
            <a:r>
              <a:rPr lang="es-MX" sz="2000" dirty="0"/>
              <a:t>Las acciones siguientes dependen de si el índice es denso o disperso.</a:t>
            </a:r>
          </a:p>
        </p:txBody>
      </p:sp>
      <p:sp>
        <p:nvSpPr>
          <p:cNvPr id="8" name="Google Shape;310;p34">
            <a:extLst>
              <a:ext uri="{FF2B5EF4-FFF2-40B4-BE49-F238E27FC236}">
                <a16:creationId xmlns:a16="http://schemas.microsoft.com/office/drawing/2014/main" id="{1261C2B9-183D-446F-8498-37321610FE0C}"/>
              </a:ext>
            </a:extLst>
          </p:cNvPr>
          <p:cNvSpPr txBox="1">
            <a:spLocks/>
          </p:cNvSpPr>
          <p:nvPr/>
        </p:nvSpPr>
        <p:spPr>
          <a:xfrm>
            <a:off x="916650" y="1685790"/>
            <a:ext cx="5616885" cy="46653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solidFill>
                  <a:schemeClr val="accent6"/>
                </a:solidFill>
              </a:rPr>
              <a:t>Indices densos</a:t>
            </a:r>
          </a:p>
          <a:p>
            <a:pPr indent="-457200">
              <a:buFont typeface="+mj-lt"/>
              <a:buAutoNum type="arabicPeriod"/>
            </a:pPr>
            <a:r>
              <a:rPr lang="es-MX" sz="1800" dirty="0"/>
              <a:t>Si el registro eliminado era el </a:t>
            </a:r>
            <a:r>
              <a:rPr lang="es-MX" sz="1800" b="1" dirty="0"/>
              <a:t>único</a:t>
            </a:r>
            <a:r>
              <a:rPr lang="es-MX" sz="1800" dirty="0"/>
              <a:t> con ese valor de clave de búsqueda, el sistema elimina la entrada correspondiente del índice.</a:t>
            </a:r>
          </a:p>
          <a:p>
            <a:pPr indent="-457200">
              <a:buFont typeface="+mj-lt"/>
              <a:buAutoNum type="arabicPeriod"/>
            </a:pPr>
            <a:r>
              <a:rPr lang="es-MX" sz="1800" dirty="0"/>
              <a:t>De lo contrario, se toman las siguientes acciones:</a:t>
            </a:r>
          </a:p>
          <a:p>
            <a:pPr lvl="1" indent="-457200">
              <a:buFont typeface="+mj-lt"/>
              <a:buAutoNum type="alphaLcPeriod"/>
            </a:pPr>
            <a:r>
              <a:rPr lang="es-MX" sz="1600" dirty="0"/>
              <a:t>Si la entrada del índice </a:t>
            </a:r>
            <a:r>
              <a:rPr lang="es-MX" sz="1600" b="1" dirty="0"/>
              <a:t>almacena punteros a todos los registros</a:t>
            </a:r>
            <a:r>
              <a:rPr lang="es-MX" sz="1600" dirty="0"/>
              <a:t> con el mismo valor de clave de búsqueda, el sistema elimina el puntero al registro borrado.</a:t>
            </a:r>
          </a:p>
          <a:p>
            <a:pPr lvl="1" indent="-457200">
              <a:buFont typeface="+mj-lt"/>
              <a:buAutoNum type="alphaLcPeriod"/>
            </a:pPr>
            <a:r>
              <a:rPr lang="es-MX" sz="1600" dirty="0"/>
              <a:t>Si la entrada del índice </a:t>
            </a:r>
            <a:r>
              <a:rPr lang="es-MX" sz="1600" b="1" dirty="0"/>
              <a:t>almacena únicamente un puntero al primer</a:t>
            </a:r>
            <a:r>
              <a:rPr lang="es-MX" sz="1600" dirty="0"/>
              <a:t> registro con ese valor de clave de búsqueda, y el registro eliminado era ese primer registro, el sistema actualiza la entrada para apuntar al siguiente registro.</a:t>
            </a:r>
          </a:p>
          <a:p>
            <a:pPr marL="0" indent="0">
              <a:buNone/>
            </a:pPr>
            <a:endParaRPr lang="es-MX" sz="2000" dirty="0"/>
          </a:p>
        </p:txBody>
      </p:sp>
      <p:graphicFrame>
        <p:nvGraphicFramePr>
          <p:cNvPr id="3" name="Tabla 2">
            <a:extLst>
              <a:ext uri="{FF2B5EF4-FFF2-40B4-BE49-F238E27FC236}">
                <a16:creationId xmlns:a16="http://schemas.microsoft.com/office/drawing/2014/main" id="{4F8A1A04-3D62-45FB-BD39-588247D0EF80}"/>
              </a:ext>
            </a:extLst>
          </p:cNvPr>
          <p:cNvGraphicFramePr>
            <a:graphicFrameLocks noGrp="1"/>
          </p:cNvGraphicFramePr>
          <p:nvPr>
            <p:extLst>
              <p:ext uri="{D42A27DB-BD31-4B8C-83A1-F6EECF244321}">
                <p14:modId xmlns:p14="http://schemas.microsoft.com/office/powerpoint/2010/main" val="3787873936"/>
              </p:ext>
            </p:extLst>
          </p:nvPr>
        </p:nvGraphicFramePr>
        <p:xfrm>
          <a:off x="8380922" y="2489448"/>
          <a:ext cx="3135516" cy="1645920"/>
        </p:xfrm>
        <a:graphic>
          <a:graphicData uri="http://schemas.openxmlformats.org/drawingml/2006/table">
            <a:tbl>
              <a:tblPr/>
              <a:tblGrid>
                <a:gridCol w="649605">
                  <a:extLst>
                    <a:ext uri="{9D8B030D-6E8A-4147-A177-3AD203B41FA5}">
                      <a16:colId xmlns:a16="http://schemas.microsoft.com/office/drawing/2014/main" val="1198584746"/>
                    </a:ext>
                  </a:extLst>
                </a:gridCol>
                <a:gridCol w="924243">
                  <a:extLst>
                    <a:ext uri="{9D8B030D-6E8A-4147-A177-3AD203B41FA5}">
                      <a16:colId xmlns:a16="http://schemas.microsoft.com/office/drawing/2014/main" val="1833584730"/>
                    </a:ext>
                  </a:extLst>
                </a:gridCol>
                <a:gridCol w="949643">
                  <a:extLst>
                    <a:ext uri="{9D8B030D-6E8A-4147-A177-3AD203B41FA5}">
                      <a16:colId xmlns:a16="http://schemas.microsoft.com/office/drawing/2014/main" val="2363386365"/>
                    </a:ext>
                  </a:extLst>
                </a:gridCol>
                <a:gridCol w="612025">
                  <a:extLst>
                    <a:ext uri="{9D8B030D-6E8A-4147-A177-3AD203B41FA5}">
                      <a16:colId xmlns:a16="http://schemas.microsoft.com/office/drawing/2014/main" val="2519129690"/>
                    </a:ext>
                  </a:extLst>
                </a:gridCol>
              </a:tblGrid>
              <a:tr h="22352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72583346"/>
                  </a:ext>
                </a:extLst>
              </a:tr>
              <a:tr h="223520">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80928455"/>
                  </a:ext>
                </a:extLst>
              </a:tr>
              <a:tr h="223520">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0243846"/>
                  </a:ext>
                </a:extLst>
              </a:tr>
              <a:tr h="223520">
                <a:tc>
                  <a:txBody>
                    <a:bodyPr/>
                    <a:lstStyle/>
                    <a:p>
                      <a:r>
                        <a:rPr lang="es-CO" sz="120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84854892"/>
                  </a:ext>
                </a:extLst>
              </a:tr>
              <a:tr h="223520">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1253857"/>
                  </a:ext>
                </a:extLst>
              </a:tr>
              <a:tr h="223520">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9965297"/>
                  </a:ext>
                </a:extLst>
              </a:tr>
            </a:tbl>
          </a:graphicData>
        </a:graphic>
      </p:graphicFrame>
      <p:graphicFrame>
        <p:nvGraphicFramePr>
          <p:cNvPr id="4" name="Tabla 3">
            <a:extLst>
              <a:ext uri="{FF2B5EF4-FFF2-40B4-BE49-F238E27FC236}">
                <a16:creationId xmlns:a16="http://schemas.microsoft.com/office/drawing/2014/main" id="{9B8F4AA9-9901-4AF4-891D-1EC6F9903066}"/>
              </a:ext>
            </a:extLst>
          </p:cNvPr>
          <p:cNvGraphicFramePr>
            <a:graphicFrameLocks noGrp="1"/>
          </p:cNvGraphicFramePr>
          <p:nvPr>
            <p:extLst>
              <p:ext uri="{D42A27DB-BD31-4B8C-83A1-F6EECF244321}">
                <p14:modId xmlns:p14="http://schemas.microsoft.com/office/powerpoint/2010/main" val="3785882169"/>
              </p:ext>
            </p:extLst>
          </p:nvPr>
        </p:nvGraphicFramePr>
        <p:xfrm>
          <a:off x="6792596" y="2489448"/>
          <a:ext cx="857885" cy="1645920"/>
        </p:xfrm>
        <a:graphic>
          <a:graphicData uri="http://schemas.openxmlformats.org/drawingml/2006/table">
            <a:tbl>
              <a:tblPr/>
              <a:tblGrid>
                <a:gridCol w="649605">
                  <a:extLst>
                    <a:ext uri="{9D8B030D-6E8A-4147-A177-3AD203B41FA5}">
                      <a16:colId xmlns:a16="http://schemas.microsoft.com/office/drawing/2014/main" val="2958188687"/>
                    </a:ext>
                  </a:extLst>
                </a:gridCol>
                <a:gridCol w="208280">
                  <a:extLst>
                    <a:ext uri="{9D8B030D-6E8A-4147-A177-3AD203B41FA5}">
                      <a16:colId xmlns:a16="http://schemas.microsoft.com/office/drawing/2014/main" val="2549095166"/>
                    </a:ext>
                  </a:extLst>
                </a:gridCol>
              </a:tblGrid>
              <a:tr h="17018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71058487"/>
                  </a:ext>
                </a:extLst>
              </a:tr>
              <a:tr h="170180">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21541917"/>
                  </a:ext>
                </a:extLst>
              </a:tr>
              <a:tr h="170180">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7828874"/>
                  </a:ext>
                </a:extLst>
              </a:tr>
              <a:tr h="170180">
                <a:tc>
                  <a:txBody>
                    <a:bodyPr/>
                    <a:lstStyle/>
                    <a:p>
                      <a:r>
                        <a:rPr lang="es-CO" sz="1200" dirty="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30070680"/>
                  </a:ext>
                </a:extLst>
              </a:tr>
              <a:tr h="170180">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5130179"/>
                  </a:ext>
                </a:extLst>
              </a:tr>
              <a:tr h="170180">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615692"/>
                  </a:ext>
                </a:extLst>
              </a:tr>
            </a:tbl>
          </a:graphicData>
        </a:graphic>
      </p:graphicFrame>
      <p:graphicFrame>
        <p:nvGraphicFramePr>
          <p:cNvPr id="11" name="Tabla 10">
            <a:extLst>
              <a:ext uri="{FF2B5EF4-FFF2-40B4-BE49-F238E27FC236}">
                <a16:creationId xmlns:a16="http://schemas.microsoft.com/office/drawing/2014/main" id="{99AAF8C4-E854-4972-BE48-FA493E4C6637}"/>
              </a:ext>
            </a:extLst>
          </p:cNvPr>
          <p:cNvGraphicFramePr>
            <a:graphicFrameLocks noGrp="1"/>
          </p:cNvGraphicFramePr>
          <p:nvPr>
            <p:extLst>
              <p:ext uri="{D42A27DB-BD31-4B8C-83A1-F6EECF244321}">
                <p14:modId xmlns:p14="http://schemas.microsoft.com/office/powerpoint/2010/main" val="1105372354"/>
              </p:ext>
            </p:extLst>
          </p:nvPr>
        </p:nvGraphicFramePr>
        <p:xfrm>
          <a:off x="8380922" y="4699107"/>
          <a:ext cx="3135516" cy="1645920"/>
        </p:xfrm>
        <a:graphic>
          <a:graphicData uri="http://schemas.openxmlformats.org/drawingml/2006/table">
            <a:tbl>
              <a:tblPr/>
              <a:tblGrid>
                <a:gridCol w="649605">
                  <a:extLst>
                    <a:ext uri="{9D8B030D-6E8A-4147-A177-3AD203B41FA5}">
                      <a16:colId xmlns:a16="http://schemas.microsoft.com/office/drawing/2014/main" val="1198584746"/>
                    </a:ext>
                  </a:extLst>
                </a:gridCol>
                <a:gridCol w="924243">
                  <a:extLst>
                    <a:ext uri="{9D8B030D-6E8A-4147-A177-3AD203B41FA5}">
                      <a16:colId xmlns:a16="http://schemas.microsoft.com/office/drawing/2014/main" val="1833584730"/>
                    </a:ext>
                  </a:extLst>
                </a:gridCol>
                <a:gridCol w="949643">
                  <a:extLst>
                    <a:ext uri="{9D8B030D-6E8A-4147-A177-3AD203B41FA5}">
                      <a16:colId xmlns:a16="http://schemas.microsoft.com/office/drawing/2014/main" val="2363386365"/>
                    </a:ext>
                  </a:extLst>
                </a:gridCol>
                <a:gridCol w="612025">
                  <a:extLst>
                    <a:ext uri="{9D8B030D-6E8A-4147-A177-3AD203B41FA5}">
                      <a16:colId xmlns:a16="http://schemas.microsoft.com/office/drawing/2014/main" val="2519129690"/>
                    </a:ext>
                  </a:extLst>
                </a:gridCol>
              </a:tblGrid>
              <a:tr h="271705">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72583346"/>
                  </a:ext>
                </a:extLst>
              </a:tr>
              <a:tr h="271705">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80928455"/>
                  </a:ext>
                </a:extLst>
              </a:tr>
              <a:tr h="271705">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0243846"/>
                  </a:ext>
                </a:extLst>
              </a:tr>
              <a:tr h="271705">
                <a:tc>
                  <a:txBody>
                    <a:bodyPr/>
                    <a:lstStyle/>
                    <a:p>
                      <a:r>
                        <a:rPr lang="es-CO" sz="120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84854892"/>
                  </a:ext>
                </a:extLst>
              </a:tr>
              <a:tr h="271705">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1253857"/>
                  </a:ext>
                </a:extLst>
              </a:tr>
              <a:tr h="271705">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9965297"/>
                  </a:ext>
                </a:extLst>
              </a:tr>
            </a:tbl>
          </a:graphicData>
        </a:graphic>
      </p:graphicFrame>
      <p:graphicFrame>
        <p:nvGraphicFramePr>
          <p:cNvPr id="5" name="Tabla 4">
            <a:extLst>
              <a:ext uri="{FF2B5EF4-FFF2-40B4-BE49-F238E27FC236}">
                <a16:creationId xmlns:a16="http://schemas.microsoft.com/office/drawing/2014/main" id="{0678AB36-B3A7-483A-BF05-502906AFF4D0}"/>
              </a:ext>
            </a:extLst>
          </p:cNvPr>
          <p:cNvGraphicFramePr>
            <a:graphicFrameLocks noGrp="1"/>
          </p:cNvGraphicFramePr>
          <p:nvPr>
            <p:extLst>
              <p:ext uri="{D42A27DB-BD31-4B8C-83A1-F6EECF244321}">
                <p14:modId xmlns:p14="http://schemas.microsoft.com/office/powerpoint/2010/main" val="3724237841"/>
              </p:ext>
            </p:extLst>
          </p:nvPr>
        </p:nvGraphicFramePr>
        <p:xfrm>
          <a:off x="6688456" y="4705220"/>
          <a:ext cx="1157923" cy="1645920"/>
        </p:xfrm>
        <a:graphic>
          <a:graphicData uri="http://schemas.openxmlformats.org/drawingml/2006/table">
            <a:tbl>
              <a:tblPr/>
              <a:tblGrid>
                <a:gridCol w="949643">
                  <a:extLst>
                    <a:ext uri="{9D8B030D-6E8A-4147-A177-3AD203B41FA5}">
                      <a16:colId xmlns:a16="http://schemas.microsoft.com/office/drawing/2014/main" val="573320033"/>
                    </a:ext>
                  </a:extLst>
                </a:gridCol>
                <a:gridCol w="208280">
                  <a:extLst>
                    <a:ext uri="{9D8B030D-6E8A-4147-A177-3AD203B41FA5}">
                      <a16:colId xmlns:a16="http://schemas.microsoft.com/office/drawing/2014/main" val="1721519235"/>
                    </a:ext>
                  </a:extLst>
                </a:gridCol>
              </a:tblGrid>
              <a:tr h="0">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397026510"/>
                  </a:ext>
                </a:extLst>
              </a:tr>
              <a:tr h="0">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7273481"/>
                  </a:ext>
                </a:extLst>
              </a:tr>
              <a:tr h="0">
                <a:tc>
                  <a:txBody>
                    <a:bodyPr/>
                    <a:lstStyle/>
                    <a:p>
                      <a:r>
                        <a:rPr lang="es-CO" sz="1200" dirty="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47484143"/>
                  </a:ext>
                </a:extLst>
              </a:tr>
              <a:tr h="0">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28941322"/>
                  </a:ext>
                </a:extLst>
              </a:tr>
              <a:tr h="0">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260313519"/>
                  </a:ext>
                </a:extLst>
              </a:tr>
              <a:tr h="0">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1600186"/>
                  </a:ext>
                </a:extLst>
              </a:tr>
            </a:tbl>
          </a:graphicData>
        </a:graphic>
      </p:graphicFrame>
      <p:cxnSp>
        <p:nvCxnSpPr>
          <p:cNvPr id="12" name="Conector recto de flecha 11">
            <a:extLst>
              <a:ext uri="{FF2B5EF4-FFF2-40B4-BE49-F238E27FC236}">
                <a16:creationId xmlns:a16="http://schemas.microsoft.com/office/drawing/2014/main" id="{B208509F-B697-4C9C-A8AC-1DE7840B9724}"/>
              </a:ext>
            </a:extLst>
          </p:cNvPr>
          <p:cNvCxnSpPr/>
          <p:nvPr/>
        </p:nvCxnSpPr>
        <p:spPr>
          <a:xfrm>
            <a:off x="7561839" y="26316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5C168C20-1BEA-4531-B1E3-47D4EC9BFCA5}"/>
              </a:ext>
            </a:extLst>
          </p:cNvPr>
          <p:cNvCxnSpPr/>
          <p:nvPr/>
        </p:nvCxnSpPr>
        <p:spPr>
          <a:xfrm>
            <a:off x="7561839" y="29046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A784839A-EA8C-4855-801A-254696565FBE}"/>
              </a:ext>
            </a:extLst>
          </p:cNvPr>
          <p:cNvCxnSpPr/>
          <p:nvPr/>
        </p:nvCxnSpPr>
        <p:spPr>
          <a:xfrm>
            <a:off x="7561839" y="31777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D603F749-5530-427F-A683-5A539EE369F2}"/>
              </a:ext>
            </a:extLst>
          </p:cNvPr>
          <p:cNvCxnSpPr/>
          <p:nvPr/>
        </p:nvCxnSpPr>
        <p:spPr>
          <a:xfrm>
            <a:off x="7561839" y="34507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5526AFE8-4FA0-46C8-924E-056394A9CE92}"/>
              </a:ext>
            </a:extLst>
          </p:cNvPr>
          <p:cNvCxnSpPr/>
          <p:nvPr/>
        </p:nvCxnSpPr>
        <p:spPr>
          <a:xfrm>
            <a:off x="7561839" y="37301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A4569B4-FD1F-44CD-B314-D7037B2ED498}"/>
              </a:ext>
            </a:extLst>
          </p:cNvPr>
          <p:cNvCxnSpPr/>
          <p:nvPr/>
        </p:nvCxnSpPr>
        <p:spPr>
          <a:xfrm>
            <a:off x="7561839" y="40159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C1180EAB-82EE-402E-A27C-FB87E4D36129}"/>
              </a:ext>
            </a:extLst>
          </p:cNvPr>
          <p:cNvCxnSpPr>
            <a:cxnSpLocks/>
          </p:cNvCxnSpPr>
          <p:nvPr/>
        </p:nvCxnSpPr>
        <p:spPr>
          <a:xfrm>
            <a:off x="7753927" y="484627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DE7F60FB-937A-49DA-AFB9-80490586FEFB}"/>
              </a:ext>
            </a:extLst>
          </p:cNvPr>
          <p:cNvCxnSpPr>
            <a:cxnSpLocks/>
          </p:cNvCxnSpPr>
          <p:nvPr/>
        </p:nvCxnSpPr>
        <p:spPr>
          <a:xfrm>
            <a:off x="7773102" y="512059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E6AE67E1-96F8-4430-BFD0-69B42A14AAFE}"/>
              </a:ext>
            </a:extLst>
          </p:cNvPr>
          <p:cNvCxnSpPr>
            <a:cxnSpLocks/>
          </p:cNvCxnSpPr>
          <p:nvPr/>
        </p:nvCxnSpPr>
        <p:spPr>
          <a:xfrm>
            <a:off x="7764813" y="538729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BFA6A16B-CF36-4F18-82EE-B1FEA18C78EF}"/>
              </a:ext>
            </a:extLst>
          </p:cNvPr>
          <p:cNvCxnSpPr>
            <a:cxnSpLocks/>
          </p:cNvCxnSpPr>
          <p:nvPr/>
        </p:nvCxnSpPr>
        <p:spPr>
          <a:xfrm>
            <a:off x="7753927" y="564637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06FA9FBA-449F-49DD-8B9C-15E5C6D3C3C7}"/>
              </a:ext>
            </a:extLst>
          </p:cNvPr>
          <p:cNvCxnSpPr>
            <a:cxnSpLocks/>
          </p:cNvCxnSpPr>
          <p:nvPr/>
        </p:nvCxnSpPr>
        <p:spPr>
          <a:xfrm>
            <a:off x="7753927" y="594355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169F08CF-5E8F-43DE-8765-74E2B943905B}"/>
              </a:ext>
            </a:extLst>
          </p:cNvPr>
          <p:cNvCxnSpPr>
            <a:cxnSpLocks/>
          </p:cNvCxnSpPr>
          <p:nvPr/>
        </p:nvCxnSpPr>
        <p:spPr>
          <a:xfrm>
            <a:off x="7753926" y="619501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Forma libre: forma 30">
            <a:extLst>
              <a:ext uri="{FF2B5EF4-FFF2-40B4-BE49-F238E27FC236}">
                <a16:creationId xmlns:a16="http://schemas.microsoft.com/office/drawing/2014/main" id="{2D25C3E7-1EB9-48D1-85C6-C3E17056B75D}"/>
              </a:ext>
            </a:extLst>
          </p:cNvPr>
          <p:cNvSpPr/>
          <p:nvPr/>
        </p:nvSpPr>
        <p:spPr>
          <a:xfrm>
            <a:off x="11515725" y="261461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Forma libre: forma 32">
            <a:extLst>
              <a:ext uri="{FF2B5EF4-FFF2-40B4-BE49-F238E27FC236}">
                <a16:creationId xmlns:a16="http://schemas.microsoft.com/office/drawing/2014/main" id="{E9341A48-AE39-4F00-A13A-E9B4954D24F1}"/>
              </a:ext>
            </a:extLst>
          </p:cNvPr>
          <p:cNvSpPr/>
          <p:nvPr/>
        </p:nvSpPr>
        <p:spPr>
          <a:xfrm>
            <a:off x="11515725" y="289580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Forma libre: forma 33">
            <a:extLst>
              <a:ext uri="{FF2B5EF4-FFF2-40B4-BE49-F238E27FC236}">
                <a16:creationId xmlns:a16="http://schemas.microsoft.com/office/drawing/2014/main" id="{985D8F97-BFC9-49B0-8118-BE7A8F633A90}"/>
              </a:ext>
            </a:extLst>
          </p:cNvPr>
          <p:cNvSpPr/>
          <p:nvPr/>
        </p:nvSpPr>
        <p:spPr>
          <a:xfrm>
            <a:off x="11515725" y="3178352"/>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Forma libre: forma 34">
            <a:extLst>
              <a:ext uri="{FF2B5EF4-FFF2-40B4-BE49-F238E27FC236}">
                <a16:creationId xmlns:a16="http://schemas.microsoft.com/office/drawing/2014/main" id="{FA8BF8C8-1907-47C7-B6C9-9B72DD385543}"/>
              </a:ext>
            </a:extLst>
          </p:cNvPr>
          <p:cNvSpPr/>
          <p:nvPr/>
        </p:nvSpPr>
        <p:spPr>
          <a:xfrm>
            <a:off x="11515725" y="346822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Forma libre: forma 35">
            <a:extLst>
              <a:ext uri="{FF2B5EF4-FFF2-40B4-BE49-F238E27FC236}">
                <a16:creationId xmlns:a16="http://schemas.microsoft.com/office/drawing/2014/main" id="{F6A41EAD-5B28-4761-A23D-B8B8A6333F4D}"/>
              </a:ext>
            </a:extLst>
          </p:cNvPr>
          <p:cNvSpPr/>
          <p:nvPr/>
        </p:nvSpPr>
        <p:spPr>
          <a:xfrm>
            <a:off x="11515725" y="376181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Forma libre: forma 36">
            <a:extLst>
              <a:ext uri="{FF2B5EF4-FFF2-40B4-BE49-F238E27FC236}">
                <a16:creationId xmlns:a16="http://schemas.microsoft.com/office/drawing/2014/main" id="{00F004DE-7747-44B2-97CA-BFDC7F1415EA}"/>
              </a:ext>
            </a:extLst>
          </p:cNvPr>
          <p:cNvSpPr/>
          <p:nvPr/>
        </p:nvSpPr>
        <p:spPr>
          <a:xfrm>
            <a:off x="11515725" y="481293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Forma libre: forma 37">
            <a:extLst>
              <a:ext uri="{FF2B5EF4-FFF2-40B4-BE49-F238E27FC236}">
                <a16:creationId xmlns:a16="http://schemas.microsoft.com/office/drawing/2014/main" id="{165BE51E-A9A8-4FE4-985F-A22C6402AFC2}"/>
              </a:ext>
            </a:extLst>
          </p:cNvPr>
          <p:cNvSpPr/>
          <p:nvPr/>
        </p:nvSpPr>
        <p:spPr>
          <a:xfrm>
            <a:off x="11525250" y="509392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Forma libre: forma 38">
            <a:extLst>
              <a:ext uri="{FF2B5EF4-FFF2-40B4-BE49-F238E27FC236}">
                <a16:creationId xmlns:a16="http://schemas.microsoft.com/office/drawing/2014/main" id="{8C6951C5-9090-415F-90BB-98FB0B691200}"/>
              </a:ext>
            </a:extLst>
          </p:cNvPr>
          <p:cNvSpPr/>
          <p:nvPr/>
        </p:nvSpPr>
        <p:spPr>
          <a:xfrm>
            <a:off x="11520487" y="5374907"/>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Forma libre: forma 39">
            <a:extLst>
              <a:ext uri="{FF2B5EF4-FFF2-40B4-BE49-F238E27FC236}">
                <a16:creationId xmlns:a16="http://schemas.microsoft.com/office/drawing/2014/main" id="{B5C08201-CE29-4E26-AAAF-FDBF784E235A}"/>
              </a:ext>
            </a:extLst>
          </p:cNvPr>
          <p:cNvSpPr/>
          <p:nvPr/>
        </p:nvSpPr>
        <p:spPr>
          <a:xfrm>
            <a:off x="11525250" y="565589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Forma libre: forma 40">
            <a:extLst>
              <a:ext uri="{FF2B5EF4-FFF2-40B4-BE49-F238E27FC236}">
                <a16:creationId xmlns:a16="http://schemas.microsoft.com/office/drawing/2014/main" id="{07BAD682-6F49-4998-B262-5206F69AF151}"/>
              </a:ext>
            </a:extLst>
          </p:cNvPr>
          <p:cNvSpPr/>
          <p:nvPr/>
        </p:nvSpPr>
        <p:spPr>
          <a:xfrm>
            <a:off x="11525250" y="593688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66" name="Grupo 65">
            <a:extLst>
              <a:ext uri="{FF2B5EF4-FFF2-40B4-BE49-F238E27FC236}">
                <a16:creationId xmlns:a16="http://schemas.microsoft.com/office/drawing/2014/main" id="{2A709C6A-8D8F-46AA-B72E-F9D1FC16B388}"/>
              </a:ext>
            </a:extLst>
          </p:cNvPr>
          <p:cNvGrpSpPr/>
          <p:nvPr/>
        </p:nvGrpSpPr>
        <p:grpSpPr>
          <a:xfrm>
            <a:off x="11444290" y="6288514"/>
            <a:ext cx="342898" cy="113104"/>
            <a:chOff x="11444290" y="6288514"/>
            <a:chExt cx="342898" cy="113104"/>
          </a:xfrm>
        </p:grpSpPr>
        <p:cxnSp>
          <p:nvCxnSpPr>
            <p:cNvPr id="42" name="Conector: angular 41">
              <a:extLst>
                <a:ext uri="{FF2B5EF4-FFF2-40B4-BE49-F238E27FC236}">
                  <a16:creationId xmlns:a16="http://schemas.microsoft.com/office/drawing/2014/main" id="{6122592C-5D4C-43A9-B042-C9DEBE897C11}"/>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A093AF4-ED3F-4435-83EF-9187DBF9CEF1}"/>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2A5F3B30-6397-45AB-8838-35EA44B3526C}"/>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473A06A9-D9B2-4516-9AF8-AE028E183601}"/>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5404664A-0F5E-453E-9384-4EEA75FEAAA1}"/>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upo 69">
            <a:extLst>
              <a:ext uri="{FF2B5EF4-FFF2-40B4-BE49-F238E27FC236}">
                <a16:creationId xmlns:a16="http://schemas.microsoft.com/office/drawing/2014/main" id="{0AEC2F4A-59FD-4DB4-B97A-DC83D85BFF98}"/>
              </a:ext>
            </a:extLst>
          </p:cNvPr>
          <p:cNvGrpSpPr/>
          <p:nvPr/>
        </p:nvGrpSpPr>
        <p:grpSpPr>
          <a:xfrm>
            <a:off x="11421894" y="4075691"/>
            <a:ext cx="342898" cy="113104"/>
            <a:chOff x="11444290" y="6288514"/>
            <a:chExt cx="342898" cy="113104"/>
          </a:xfrm>
        </p:grpSpPr>
        <p:cxnSp>
          <p:nvCxnSpPr>
            <p:cNvPr id="71" name="Conector: angular 70">
              <a:extLst>
                <a:ext uri="{FF2B5EF4-FFF2-40B4-BE49-F238E27FC236}">
                  <a16:creationId xmlns:a16="http://schemas.microsoft.com/office/drawing/2014/main" id="{0086E8BE-B916-4706-BE97-A27CAA60758E}"/>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7615572C-4787-4E52-9FC8-295111928C36}"/>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09DFBD0A-92D6-446D-B1E0-C9FED100127E}"/>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C9358C79-2308-4211-BFC9-BC6D793FAE02}"/>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A2D45E0F-3857-48A3-816B-097181DB5BC7}"/>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04578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 - Eliminación</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36290"/>
            <a:ext cx="10989600" cy="11662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Para eliminar un registro, el sistema primero localiza el registro a eliminar. </a:t>
            </a:r>
          </a:p>
          <a:p>
            <a:pPr marL="342900" indent="-342900"/>
            <a:r>
              <a:rPr lang="es-MX" sz="2000" dirty="0"/>
              <a:t>Las acciones siguientes dependen de si el índice es denso o disperso.</a:t>
            </a:r>
          </a:p>
        </p:txBody>
      </p:sp>
      <p:sp>
        <p:nvSpPr>
          <p:cNvPr id="8" name="Google Shape;310;p34">
            <a:extLst>
              <a:ext uri="{FF2B5EF4-FFF2-40B4-BE49-F238E27FC236}">
                <a16:creationId xmlns:a16="http://schemas.microsoft.com/office/drawing/2014/main" id="{1261C2B9-183D-446F-8498-37321610FE0C}"/>
              </a:ext>
            </a:extLst>
          </p:cNvPr>
          <p:cNvSpPr txBox="1">
            <a:spLocks/>
          </p:cNvSpPr>
          <p:nvPr/>
        </p:nvSpPr>
        <p:spPr>
          <a:xfrm>
            <a:off x="916650" y="1685790"/>
            <a:ext cx="5720124" cy="46653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solidFill>
                  <a:schemeClr val="accent6"/>
                </a:solidFill>
              </a:rPr>
              <a:t>Indices dispersos</a:t>
            </a:r>
          </a:p>
          <a:p>
            <a:pPr indent="-457200">
              <a:buFont typeface="+mj-lt"/>
              <a:buAutoNum type="arabicPeriod"/>
            </a:pPr>
            <a:r>
              <a:rPr lang="es-MX" sz="1800" dirty="0"/>
              <a:t>Si el índice </a:t>
            </a:r>
            <a:r>
              <a:rPr lang="es-MX" sz="1800" b="1" dirty="0"/>
              <a:t>no contiene</a:t>
            </a:r>
            <a:r>
              <a:rPr lang="es-MX" sz="1800" dirty="0"/>
              <a:t> una entrada con el valor de clave de búsqueda del registro eliminado, no es necesario realizar ningún cambio en el índice.</a:t>
            </a:r>
          </a:p>
          <a:p>
            <a:pPr indent="-457200">
              <a:buFont typeface="+mj-lt"/>
              <a:buAutoNum type="arabicPeriod"/>
            </a:pPr>
            <a:r>
              <a:rPr lang="es-MX" sz="1800" dirty="0"/>
              <a:t>De lo contrario, el sistema toma las siguientes acciones:</a:t>
            </a:r>
          </a:p>
          <a:p>
            <a:pPr lvl="1" indent="-457200">
              <a:buFont typeface="+mj-lt"/>
              <a:buAutoNum type="alphaLcPeriod"/>
            </a:pPr>
            <a:r>
              <a:rPr lang="es-MX" sz="1600" dirty="0"/>
              <a:t>Si el registro eliminado era el </a:t>
            </a:r>
            <a:r>
              <a:rPr lang="es-MX" sz="1600" b="1" dirty="0"/>
              <a:t>único</a:t>
            </a:r>
            <a:r>
              <a:rPr lang="es-MX" sz="1600" dirty="0"/>
              <a:t> con esa clave de búsqueda, el sistema </a:t>
            </a:r>
            <a:r>
              <a:rPr lang="es-MX" sz="1600" b="1" dirty="0"/>
              <a:t>reemplaza</a:t>
            </a:r>
            <a:r>
              <a:rPr lang="es-MX" sz="1600" dirty="0"/>
              <a:t> la entrada del índice por una entrada con el siguiente valor de clave de búsqueda (en orden de clave de búsqueda). Si el siguiente valor ya tiene una entrada en el índice, la entrada se </a:t>
            </a:r>
            <a:r>
              <a:rPr lang="es-MX" sz="1600" b="1" dirty="0"/>
              <a:t>elimina</a:t>
            </a:r>
            <a:r>
              <a:rPr lang="es-MX" sz="1600" dirty="0"/>
              <a:t> en lugar de ser reemplazada.</a:t>
            </a:r>
          </a:p>
          <a:p>
            <a:pPr lvl="1" indent="-457200">
              <a:buFont typeface="+mj-lt"/>
              <a:buAutoNum type="alphaLcPeriod"/>
            </a:pPr>
            <a:r>
              <a:rPr lang="es-MX" sz="1600" dirty="0"/>
              <a:t>Si la entrada del índice apunta al registro que se está eliminando, el sistema </a:t>
            </a:r>
            <a:r>
              <a:rPr lang="es-MX" sz="1600" b="1" dirty="0"/>
              <a:t>actualiza</a:t>
            </a:r>
            <a:r>
              <a:rPr lang="es-MX" sz="1600" dirty="0"/>
              <a:t> dicha entrada para apuntar al siguiente registro con el mismo valor de clave de búsqueda.</a:t>
            </a:r>
          </a:p>
        </p:txBody>
      </p:sp>
      <p:graphicFrame>
        <p:nvGraphicFramePr>
          <p:cNvPr id="4" name="Tabla 3">
            <a:extLst>
              <a:ext uri="{FF2B5EF4-FFF2-40B4-BE49-F238E27FC236}">
                <a16:creationId xmlns:a16="http://schemas.microsoft.com/office/drawing/2014/main" id="{7E9D99B0-C037-402A-A225-4452E7AA1B0C}"/>
              </a:ext>
            </a:extLst>
          </p:cNvPr>
          <p:cNvGraphicFramePr>
            <a:graphicFrameLocks noGrp="1"/>
          </p:cNvGraphicFramePr>
          <p:nvPr>
            <p:extLst>
              <p:ext uri="{D42A27DB-BD31-4B8C-83A1-F6EECF244321}">
                <p14:modId xmlns:p14="http://schemas.microsoft.com/office/powerpoint/2010/main" val="1333754402"/>
              </p:ext>
            </p:extLst>
          </p:nvPr>
        </p:nvGraphicFramePr>
        <p:xfrm>
          <a:off x="8465184" y="2245441"/>
          <a:ext cx="3192782" cy="3291840"/>
        </p:xfrm>
        <a:graphic>
          <a:graphicData uri="http://schemas.openxmlformats.org/drawingml/2006/table">
            <a:tbl>
              <a:tblPr/>
              <a:tblGrid>
                <a:gridCol w="649605">
                  <a:extLst>
                    <a:ext uri="{9D8B030D-6E8A-4147-A177-3AD203B41FA5}">
                      <a16:colId xmlns:a16="http://schemas.microsoft.com/office/drawing/2014/main" val="1580478247"/>
                    </a:ext>
                  </a:extLst>
                </a:gridCol>
                <a:gridCol w="924243">
                  <a:extLst>
                    <a:ext uri="{9D8B030D-6E8A-4147-A177-3AD203B41FA5}">
                      <a16:colId xmlns:a16="http://schemas.microsoft.com/office/drawing/2014/main" val="151529866"/>
                    </a:ext>
                  </a:extLst>
                </a:gridCol>
                <a:gridCol w="949643">
                  <a:extLst>
                    <a:ext uri="{9D8B030D-6E8A-4147-A177-3AD203B41FA5}">
                      <a16:colId xmlns:a16="http://schemas.microsoft.com/office/drawing/2014/main" val="544247180"/>
                    </a:ext>
                  </a:extLst>
                </a:gridCol>
                <a:gridCol w="669291">
                  <a:extLst>
                    <a:ext uri="{9D8B030D-6E8A-4147-A177-3AD203B41FA5}">
                      <a16:colId xmlns:a16="http://schemas.microsoft.com/office/drawing/2014/main" val="1179216737"/>
                    </a:ext>
                  </a:extLst>
                </a:gridCol>
              </a:tblGrid>
              <a:tr h="0">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01010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0728908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927365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15457130"/>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29472339"/>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6338979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00373092"/>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45565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Katz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38887533"/>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58583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Califieri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12669602"/>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76543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Singh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46172901"/>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76766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Crick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err="1">
                          <a:solidFill>
                            <a:schemeClr val="tx1"/>
                          </a:solidFill>
                          <a:latin typeface="Roboto" panose="02000000000000000000" pitchFamily="2" charset="0"/>
                          <a:ea typeface="Roboto" panose="02000000000000000000" pitchFamily="2" charset="0"/>
                          <a:cs typeface="+mn-cs"/>
                          <a:sym typeface="Arial"/>
                        </a:rPr>
                        <a:t>Biology</a:t>
                      </a:r>
                      <a:endParaRPr lang="es-CO" sz="1200" b="0" i="0" u="none" strike="noStrike" cap="none" dirty="0">
                        <a:solidFill>
                          <a:schemeClr val="tx1"/>
                        </a:solidFill>
                        <a:latin typeface="Roboto" panose="02000000000000000000" pitchFamily="2" charset="0"/>
                        <a:ea typeface="Roboto" panose="02000000000000000000" pitchFamily="2" charset="0"/>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91928259"/>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83821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Brandt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92000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43234154"/>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98345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Kim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err="1">
                          <a:solidFill>
                            <a:schemeClr val="tx1"/>
                          </a:solidFill>
                          <a:latin typeface="Roboto" panose="02000000000000000000" pitchFamily="2" charset="0"/>
                          <a:ea typeface="Roboto" panose="02000000000000000000" pitchFamily="2" charset="0"/>
                          <a:cs typeface="+mn-cs"/>
                          <a:sym typeface="Arial"/>
                        </a:rPr>
                        <a:t>Elec</a:t>
                      </a: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 Eng.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49835715"/>
                  </a:ext>
                </a:extLst>
              </a:tr>
            </a:tbl>
          </a:graphicData>
        </a:graphic>
      </p:graphicFrame>
      <p:sp>
        <p:nvSpPr>
          <p:cNvPr id="11" name="Forma libre: forma 10">
            <a:extLst>
              <a:ext uri="{FF2B5EF4-FFF2-40B4-BE49-F238E27FC236}">
                <a16:creationId xmlns:a16="http://schemas.microsoft.com/office/drawing/2014/main" id="{6D35CD1A-D312-4129-A339-865997599B13}"/>
              </a:ext>
            </a:extLst>
          </p:cNvPr>
          <p:cNvSpPr/>
          <p:nvPr/>
        </p:nvSpPr>
        <p:spPr>
          <a:xfrm>
            <a:off x="11649709" y="237331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2" name="Grupo 11">
            <a:extLst>
              <a:ext uri="{FF2B5EF4-FFF2-40B4-BE49-F238E27FC236}">
                <a16:creationId xmlns:a16="http://schemas.microsoft.com/office/drawing/2014/main" id="{E8D1B534-1AA6-4E11-A742-5D8AAE2E0C95}"/>
              </a:ext>
            </a:extLst>
          </p:cNvPr>
          <p:cNvGrpSpPr/>
          <p:nvPr/>
        </p:nvGrpSpPr>
        <p:grpSpPr>
          <a:xfrm>
            <a:off x="11563352" y="5484008"/>
            <a:ext cx="342898" cy="113104"/>
            <a:chOff x="11444290" y="6288514"/>
            <a:chExt cx="342898" cy="113104"/>
          </a:xfrm>
        </p:grpSpPr>
        <p:cxnSp>
          <p:nvCxnSpPr>
            <p:cNvPr id="13" name="Conector: angular 12">
              <a:extLst>
                <a:ext uri="{FF2B5EF4-FFF2-40B4-BE49-F238E27FC236}">
                  <a16:creationId xmlns:a16="http://schemas.microsoft.com/office/drawing/2014/main" id="{2D9BBB68-6E46-41BB-802D-0F7DCE540C90}"/>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8D0723FA-728F-4D3B-A567-FD68FE6720E2}"/>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CB021831-E1FE-41FB-BB2B-34AF49C270BF}"/>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0E9646AB-DB06-419E-9D58-6D109B6BE99D}"/>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B52B58DB-5F7E-4940-8F67-B50C6311A23E}"/>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Forma libre: forma 17">
            <a:extLst>
              <a:ext uri="{FF2B5EF4-FFF2-40B4-BE49-F238E27FC236}">
                <a16:creationId xmlns:a16="http://schemas.microsoft.com/office/drawing/2014/main" id="{FB2E3FC5-2F46-4CFB-BBDF-D78B5948CB54}"/>
              </a:ext>
            </a:extLst>
          </p:cNvPr>
          <p:cNvSpPr/>
          <p:nvPr/>
        </p:nvSpPr>
        <p:spPr>
          <a:xfrm>
            <a:off x="11649709" y="2655749"/>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Forma libre: forma 18">
            <a:extLst>
              <a:ext uri="{FF2B5EF4-FFF2-40B4-BE49-F238E27FC236}">
                <a16:creationId xmlns:a16="http://schemas.microsoft.com/office/drawing/2014/main" id="{FCA560FA-C336-4A07-B9BB-EBABC7BC243C}"/>
              </a:ext>
            </a:extLst>
          </p:cNvPr>
          <p:cNvSpPr/>
          <p:nvPr/>
        </p:nvSpPr>
        <p:spPr>
          <a:xfrm>
            <a:off x="11663567" y="2938038"/>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Forma libre: forma 19">
            <a:extLst>
              <a:ext uri="{FF2B5EF4-FFF2-40B4-BE49-F238E27FC236}">
                <a16:creationId xmlns:a16="http://schemas.microsoft.com/office/drawing/2014/main" id="{981BC00E-3A47-4DCB-A00D-16E0A27740EA}"/>
              </a:ext>
            </a:extLst>
          </p:cNvPr>
          <p:cNvSpPr/>
          <p:nvPr/>
        </p:nvSpPr>
        <p:spPr>
          <a:xfrm>
            <a:off x="11649709" y="321867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Forma libre: forma 20">
            <a:extLst>
              <a:ext uri="{FF2B5EF4-FFF2-40B4-BE49-F238E27FC236}">
                <a16:creationId xmlns:a16="http://schemas.microsoft.com/office/drawing/2014/main" id="{AAC00663-B58C-4C90-BE26-2F4648C967A3}"/>
              </a:ext>
            </a:extLst>
          </p:cNvPr>
          <p:cNvSpPr/>
          <p:nvPr/>
        </p:nvSpPr>
        <p:spPr>
          <a:xfrm>
            <a:off x="11636836" y="3497016"/>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Forma libre: forma 21">
            <a:extLst>
              <a:ext uri="{FF2B5EF4-FFF2-40B4-BE49-F238E27FC236}">
                <a16:creationId xmlns:a16="http://schemas.microsoft.com/office/drawing/2014/main" id="{9A27E2A8-9BC0-4D08-BA44-3961E37385D7}"/>
              </a:ext>
            </a:extLst>
          </p:cNvPr>
          <p:cNvSpPr/>
          <p:nvPr/>
        </p:nvSpPr>
        <p:spPr>
          <a:xfrm>
            <a:off x="11663567" y="3775236"/>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Forma libre: forma 22">
            <a:extLst>
              <a:ext uri="{FF2B5EF4-FFF2-40B4-BE49-F238E27FC236}">
                <a16:creationId xmlns:a16="http://schemas.microsoft.com/office/drawing/2014/main" id="{FCC7EDD4-38A1-417F-8B79-9A4F525F5B6F}"/>
              </a:ext>
            </a:extLst>
          </p:cNvPr>
          <p:cNvSpPr/>
          <p:nvPr/>
        </p:nvSpPr>
        <p:spPr>
          <a:xfrm>
            <a:off x="11663567" y="406510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Forma libre: forma 24">
            <a:extLst>
              <a:ext uri="{FF2B5EF4-FFF2-40B4-BE49-F238E27FC236}">
                <a16:creationId xmlns:a16="http://schemas.microsoft.com/office/drawing/2014/main" id="{EC9DD969-228B-4576-99CD-CECB5DF109CD}"/>
              </a:ext>
            </a:extLst>
          </p:cNvPr>
          <p:cNvSpPr/>
          <p:nvPr/>
        </p:nvSpPr>
        <p:spPr>
          <a:xfrm>
            <a:off x="11663567" y="4345734"/>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Forma libre: forma 25">
            <a:extLst>
              <a:ext uri="{FF2B5EF4-FFF2-40B4-BE49-F238E27FC236}">
                <a16:creationId xmlns:a16="http://schemas.microsoft.com/office/drawing/2014/main" id="{A065B19F-F6E0-423F-A3C3-8B61A6F449AD}"/>
              </a:ext>
            </a:extLst>
          </p:cNvPr>
          <p:cNvSpPr/>
          <p:nvPr/>
        </p:nvSpPr>
        <p:spPr>
          <a:xfrm>
            <a:off x="11663567" y="4635018"/>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Forma libre: forma 26">
            <a:extLst>
              <a:ext uri="{FF2B5EF4-FFF2-40B4-BE49-F238E27FC236}">
                <a16:creationId xmlns:a16="http://schemas.microsoft.com/office/drawing/2014/main" id="{0F4ACC91-C012-427C-8C92-2B12C87EFEE1}"/>
              </a:ext>
            </a:extLst>
          </p:cNvPr>
          <p:cNvSpPr/>
          <p:nvPr/>
        </p:nvSpPr>
        <p:spPr>
          <a:xfrm>
            <a:off x="11663567" y="491354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Forma libre: forma 27">
            <a:extLst>
              <a:ext uri="{FF2B5EF4-FFF2-40B4-BE49-F238E27FC236}">
                <a16:creationId xmlns:a16="http://schemas.microsoft.com/office/drawing/2014/main" id="{5D1FA724-1984-4177-A271-CF32CF4FFD07}"/>
              </a:ext>
            </a:extLst>
          </p:cNvPr>
          <p:cNvSpPr/>
          <p:nvPr/>
        </p:nvSpPr>
        <p:spPr>
          <a:xfrm>
            <a:off x="11636836" y="5192072"/>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31" name="Tabla 30">
            <a:extLst>
              <a:ext uri="{FF2B5EF4-FFF2-40B4-BE49-F238E27FC236}">
                <a16:creationId xmlns:a16="http://schemas.microsoft.com/office/drawing/2014/main" id="{8BF28B67-3FBB-4968-8BAA-A9D9A5574E5A}"/>
              </a:ext>
            </a:extLst>
          </p:cNvPr>
          <p:cNvGraphicFramePr>
            <a:graphicFrameLocks noGrp="1"/>
          </p:cNvGraphicFramePr>
          <p:nvPr>
            <p:extLst>
              <p:ext uri="{D42A27DB-BD31-4B8C-83A1-F6EECF244321}">
                <p14:modId xmlns:p14="http://schemas.microsoft.com/office/powerpoint/2010/main" val="3420312333"/>
              </p:ext>
            </p:extLst>
          </p:nvPr>
        </p:nvGraphicFramePr>
        <p:xfrm>
          <a:off x="6883974" y="2248428"/>
          <a:ext cx="857885" cy="822960"/>
        </p:xfrm>
        <a:graphic>
          <a:graphicData uri="http://schemas.openxmlformats.org/drawingml/2006/table">
            <a:tbl>
              <a:tblPr/>
              <a:tblGrid>
                <a:gridCol w="649605">
                  <a:extLst>
                    <a:ext uri="{9D8B030D-6E8A-4147-A177-3AD203B41FA5}">
                      <a16:colId xmlns:a16="http://schemas.microsoft.com/office/drawing/2014/main" val="2958188687"/>
                    </a:ext>
                  </a:extLst>
                </a:gridCol>
                <a:gridCol w="208280">
                  <a:extLst>
                    <a:ext uri="{9D8B030D-6E8A-4147-A177-3AD203B41FA5}">
                      <a16:colId xmlns:a16="http://schemas.microsoft.com/office/drawing/2014/main" val="2549095166"/>
                    </a:ext>
                  </a:extLst>
                </a:gridCol>
              </a:tblGrid>
              <a:tr h="17018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71058487"/>
                  </a:ext>
                </a:extLst>
              </a:tr>
              <a:tr h="1701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21541917"/>
                  </a:ext>
                </a:extLst>
              </a:tr>
              <a:tr h="170180">
                <a:tc>
                  <a:txBody>
                    <a:bodyPr/>
                    <a:lstStyle/>
                    <a:p>
                      <a:r>
                        <a:rPr lang="es-CO" sz="1200" dirty="0">
                          <a:latin typeface="Roboto" panose="02000000000000000000" pitchFamily="2" charset="0"/>
                          <a:ea typeface="Roboto" panose="02000000000000000000" pitchFamily="2" charset="0"/>
                        </a:rPr>
                        <a:t>76766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7828874"/>
                  </a:ext>
                </a:extLst>
              </a:tr>
            </a:tbl>
          </a:graphicData>
        </a:graphic>
      </p:graphicFrame>
      <p:cxnSp>
        <p:nvCxnSpPr>
          <p:cNvPr id="32" name="Conector recto de flecha 31">
            <a:extLst>
              <a:ext uri="{FF2B5EF4-FFF2-40B4-BE49-F238E27FC236}">
                <a16:creationId xmlns:a16="http://schemas.microsoft.com/office/drawing/2014/main" id="{D5FB3B5F-8362-4A78-A132-CC8AF80B6E5D}"/>
              </a:ext>
            </a:extLst>
          </p:cNvPr>
          <p:cNvCxnSpPr/>
          <p:nvPr/>
        </p:nvCxnSpPr>
        <p:spPr>
          <a:xfrm>
            <a:off x="7636576" y="2385545"/>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B5A089F5-79B3-494F-BCD2-CE32A9D05FB1}"/>
              </a:ext>
            </a:extLst>
          </p:cNvPr>
          <p:cNvCxnSpPr>
            <a:cxnSpLocks/>
          </p:cNvCxnSpPr>
          <p:nvPr/>
        </p:nvCxnSpPr>
        <p:spPr>
          <a:xfrm>
            <a:off x="7629525" y="2667001"/>
            <a:ext cx="826134" cy="830015"/>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70056012-B57E-46C0-9B2D-EBD41B12C598}"/>
              </a:ext>
            </a:extLst>
          </p:cNvPr>
          <p:cNvCxnSpPr>
            <a:cxnSpLocks/>
          </p:cNvCxnSpPr>
          <p:nvPr/>
        </p:nvCxnSpPr>
        <p:spPr>
          <a:xfrm>
            <a:off x="7629525" y="2924175"/>
            <a:ext cx="819150" cy="1933575"/>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5727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 - Inserción</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06171"/>
            <a:ext cx="10989600" cy="949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Para los índices de un solo nivel, se realiza una búsqueda usando el valor de clave de búsqueda del registro a insertar.</a:t>
            </a:r>
          </a:p>
          <a:p>
            <a:pPr marL="342900" indent="-342900"/>
            <a:endParaRPr lang="es-MX" sz="2000" dirty="0"/>
          </a:p>
        </p:txBody>
      </p:sp>
      <p:pic>
        <p:nvPicPr>
          <p:cNvPr id="9" name="Picture 7">
            <a:extLst>
              <a:ext uri="{FF2B5EF4-FFF2-40B4-BE49-F238E27FC236}">
                <a16:creationId xmlns:a16="http://schemas.microsoft.com/office/drawing/2014/main" id="{5FEF9723-D87F-4158-A2C3-0A81BBBA9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601" y="2465804"/>
            <a:ext cx="4451146" cy="204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a:extLst>
              <a:ext uri="{FF2B5EF4-FFF2-40B4-BE49-F238E27FC236}">
                <a16:creationId xmlns:a16="http://schemas.microsoft.com/office/drawing/2014/main" id="{A97EAAF2-1439-479E-BDF6-839EB478C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846" y="2353993"/>
            <a:ext cx="4426496" cy="215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7144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 - Inserción</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36290"/>
            <a:ext cx="10989600" cy="117689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Primero, el sistema realiza una búsqueda usando el valor de clave de búsqueda del registro a insertar. </a:t>
            </a:r>
          </a:p>
          <a:p>
            <a:pPr marL="342900" indent="-342900"/>
            <a:r>
              <a:rPr lang="es-MX" sz="2000" dirty="0"/>
              <a:t>Las acciones siguientes dependen de si el índice es denso o disperso.</a:t>
            </a:r>
          </a:p>
        </p:txBody>
      </p:sp>
      <p:sp>
        <p:nvSpPr>
          <p:cNvPr id="8" name="Google Shape;310;p34">
            <a:extLst>
              <a:ext uri="{FF2B5EF4-FFF2-40B4-BE49-F238E27FC236}">
                <a16:creationId xmlns:a16="http://schemas.microsoft.com/office/drawing/2014/main" id="{1261C2B9-183D-446F-8498-37321610FE0C}"/>
              </a:ext>
            </a:extLst>
          </p:cNvPr>
          <p:cNvSpPr txBox="1">
            <a:spLocks/>
          </p:cNvSpPr>
          <p:nvPr/>
        </p:nvSpPr>
        <p:spPr>
          <a:xfrm>
            <a:off x="874640" y="1961561"/>
            <a:ext cx="5616885" cy="46653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solidFill>
                  <a:schemeClr val="accent6"/>
                </a:solidFill>
              </a:rPr>
              <a:t>Indices densos</a:t>
            </a:r>
          </a:p>
          <a:p>
            <a:pPr indent="-457200">
              <a:buFont typeface="+mj-lt"/>
              <a:buAutoNum type="arabicPeriod"/>
            </a:pPr>
            <a:r>
              <a:rPr lang="es-MX" sz="1800" dirty="0"/>
              <a:t>Si el valor de clave </a:t>
            </a:r>
            <a:r>
              <a:rPr lang="es-MX" sz="1800" b="1" dirty="0"/>
              <a:t>de búsqueda</a:t>
            </a:r>
            <a:r>
              <a:rPr lang="es-MX" sz="1800" dirty="0"/>
              <a:t> no aparece en el índice, el sistema inserta una nueva entrada en la posición correspondiente.</a:t>
            </a:r>
          </a:p>
          <a:p>
            <a:pPr indent="-457200">
              <a:buFont typeface="+mj-lt"/>
              <a:buAutoNum type="arabicPeriod"/>
            </a:pPr>
            <a:r>
              <a:rPr lang="es-MX" sz="1800" dirty="0"/>
              <a:t>De lo contrario, se toman las siguientes acciones:</a:t>
            </a:r>
          </a:p>
          <a:p>
            <a:pPr lvl="1" indent="-457200">
              <a:buFont typeface="+mj-lt"/>
              <a:buAutoNum type="alphaLcPeriod"/>
            </a:pPr>
            <a:r>
              <a:rPr lang="es-MX" sz="1600" dirty="0"/>
              <a:t>Si la entrada almacena</a:t>
            </a:r>
            <a:r>
              <a:rPr lang="es-MX" sz="1600" b="1" dirty="0"/>
              <a:t> punteros a todos los registros</a:t>
            </a:r>
            <a:r>
              <a:rPr lang="es-MX" sz="1600" dirty="0"/>
              <a:t> con el mismo valor, el sistema agrega un puntero al nuevo registro en la entrada existente.</a:t>
            </a:r>
          </a:p>
          <a:p>
            <a:pPr lvl="1" indent="-457200">
              <a:buFont typeface="+mj-lt"/>
              <a:buAutoNum type="alphaLcPeriod"/>
            </a:pPr>
            <a:r>
              <a:rPr lang="es-MX" sz="1600" dirty="0"/>
              <a:t>Si la entrada almacena</a:t>
            </a:r>
            <a:r>
              <a:rPr lang="es-MX" sz="1600" b="1" dirty="0"/>
              <a:t> únicamente un puntero al primer registro</a:t>
            </a:r>
            <a:r>
              <a:rPr lang="es-MX" sz="1600" dirty="0"/>
              <a:t>, el sistema simplemente ubica el nuevo registro después de los demás registros con el mismo valor de clave de búsqueda.</a:t>
            </a:r>
          </a:p>
        </p:txBody>
      </p:sp>
      <p:graphicFrame>
        <p:nvGraphicFramePr>
          <p:cNvPr id="3" name="Tabla 2">
            <a:extLst>
              <a:ext uri="{FF2B5EF4-FFF2-40B4-BE49-F238E27FC236}">
                <a16:creationId xmlns:a16="http://schemas.microsoft.com/office/drawing/2014/main" id="{4F8A1A04-3D62-45FB-BD39-588247D0EF80}"/>
              </a:ext>
            </a:extLst>
          </p:cNvPr>
          <p:cNvGraphicFramePr>
            <a:graphicFrameLocks noGrp="1"/>
          </p:cNvGraphicFramePr>
          <p:nvPr/>
        </p:nvGraphicFramePr>
        <p:xfrm>
          <a:off x="8380922" y="2489448"/>
          <a:ext cx="3135516" cy="1645920"/>
        </p:xfrm>
        <a:graphic>
          <a:graphicData uri="http://schemas.openxmlformats.org/drawingml/2006/table">
            <a:tbl>
              <a:tblPr/>
              <a:tblGrid>
                <a:gridCol w="649605">
                  <a:extLst>
                    <a:ext uri="{9D8B030D-6E8A-4147-A177-3AD203B41FA5}">
                      <a16:colId xmlns:a16="http://schemas.microsoft.com/office/drawing/2014/main" val="1198584746"/>
                    </a:ext>
                  </a:extLst>
                </a:gridCol>
                <a:gridCol w="924243">
                  <a:extLst>
                    <a:ext uri="{9D8B030D-6E8A-4147-A177-3AD203B41FA5}">
                      <a16:colId xmlns:a16="http://schemas.microsoft.com/office/drawing/2014/main" val="1833584730"/>
                    </a:ext>
                  </a:extLst>
                </a:gridCol>
                <a:gridCol w="949643">
                  <a:extLst>
                    <a:ext uri="{9D8B030D-6E8A-4147-A177-3AD203B41FA5}">
                      <a16:colId xmlns:a16="http://schemas.microsoft.com/office/drawing/2014/main" val="2363386365"/>
                    </a:ext>
                  </a:extLst>
                </a:gridCol>
                <a:gridCol w="612025">
                  <a:extLst>
                    <a:ext uri="{9D8B030D-6E8A-4147-A177-3AD203B41FA5}">
                      <a16:colId xmlns:a16="http://schemas.microsoft.com/office/drawing/2014/main" val="2519129690"/>
                    </a:ext>
                  </a:extLst>
                </a:gridCol>
              </a:tblGrid>
              <a:tr h="22352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72583346"/>
                  </a:ext>
                </a:extLst>
              </a:tr>
              <a:tr h="223520">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80928455"/>
                  </a:ext>
                </a:extLst>
              </a:tr>
              <a:tr h="223520">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0243846"/>
                  </a:ext>
                </a:extLst>
              </a:tr>
              <a:tr h="223520">
                <a:tc>
                  <a:txBody>
                    <a:bodyPr/>
                    <a:lstStyle/>
                    <a:p>
                      <a:r>
                        <a:rPr lang="es-CO" sz="120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84854892"/>
                  </a:ext>
                </a:extLst>
              </a:tr>
              <a:tr h="223520">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1253857"/>
                  </a:ext>
                </a:extLst>
              </a:tr>
              <a:tr h="223520">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9965297"/>
                  </a:ext>
                </a:extLst>
              </a:tr>
            </a:tbl>
          </a:graphicData>
        </a:graphic>
      </p:graphicFrame>
      <p:graphicFrame>
        <p:nvGraphicFramePr>
          <p:cNvPr id="4" name="Tabla 3">
            <a:extLst>
              <a:ext uri="{FF2B5EF4-FFF2-40B4-BE49-F238E27FC236}">
                <a16:creationId xmlns:a16="http://schemas.microsoft.com/office/drawing/2014/main" id="{9B8F4AA9-9901-4AF4-891D-1EC6F9903066}"/>
              </a:ext>
            </a:extLst>
          </p:cNvPr>
          <p:cNvGraphicFramePr>
            <a:graphicFrameLocks noGrp="1"/>
          </p:cNvGraphicFramePr>
          <p:nvPr/>
        </p:nvGraphicFramePr>
        <p:xfrm>
          <a:off x="6792596" y="2489448"/>
          <a:ext cx="857885" cy="1645920"/>
        </p:xfrm>
        <a:graphic>
          <a:graphicData uri="http://schemas.openxmlformats.org/drawingml/2006/table">
            <a:tbl>
              <a:tblPr/>
              <a:tblGrid>
                <a:gridCol w="649605">
                  <a:extLst>
                    <a:ext uri="{9D8B030D-6E8A-4147-A177-3AD203B41FA5}">
                      <a16:colId xmlns:a16="http://schemas.microsoft.com/office/drawing/2014/main" val="2958188687"/>
                    </a:ext>
                  </a:extLst>
                </a:gridCol>
                <a:gridCol w="208280">
                  <a:extLst>
                    <a:ext uri="{9D8B030D-6E8A-4147-A177-3AD203B41FA5}">
                      <a16:colId xmlns:a16="http://schemas.microsoft.com/office/drawing/2014/main" val="2549095166"/>
                    </a:ext>
                  </a:extLst>
                </a:gridCol>
              </a:tblGrid>
              <a:tr h="17018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71058487"/>
                  </a:ext>
                </a:extLst>
              </a:tr>
              <a:tr h="170180">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21541917"/>
                  </a:ext>
                </a:extLst>
              </a:tr>
              <a:tr h="170180">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7828874"/>
                  </a:ext>
                </a:extLst>
              </a:tr>
              <a:tr h="170180">
                <a:tc>
                  <a:txBody>
                    <a:bodyPr/>
                    <a:lstStyle/>
                    <a:p>
                      <a:r>
                        <a:rPr lang="es-CO" sz="1200" dirty="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30070680"/>
                  </a:ext>
                </a:extLst>
              </a:tr>
              <a:tr h="170180">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5130179"/>
                  </a:ext>
                </a:extLst>
              </a:tr>
              <a:tr h="170180">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72615692"/>
                  </a:ext>
                </a:extLst>
              </a:tr>
            </a:tbl>
          </a:graphicData>
        </a:graphic>
      </p:graphicFrame>
      <p:graphicFrame>
        <p:nvGraphicFramePr>
          <p:cNvPr id="11" name="Tabla 10">
            <a:extLst>
              <a:ext uri="{FF2B5EF4-FFF2-40B4-BE49-F238E27FC236}">
                <a16:creationId xmlns:a16="http://schemas.microsoft.com/office/drawing/2014/main" id="{99AAF8C4-E854-4972-BE48-FA493E4C6637}"/>
              </a:ext>
            </a:extLst>
          </p:cNvPr>
          <p:cNvGraphicFramePr>
            <a:graphicFrameLocks noGrp="1"/>
          </p:cNvGraphicFramePr>
          <p:nvPr/>
        </p:nvGraphicFramePr>
        <p:xfrm>
          <a:off x="8380922" y="4699107"/>
          <a:ext cx="3135516" cy="1645920"/>
        </p:xfrm>
        <a:graphic>
          <a:graphicData uri="http://schemas.openxmlformats.org/drawingml/2006/table">
            <a:tbl>
              <a:tblPr/>
              <a:tblGrid>
                <a:gridCol w="649605">
                  <a:extLst>
                    <a:ext uri="{9D8B030D-6E8A-4147-A177-3AD203B41FA5}">
                      <a16:colId xmlns:a16="http://schemas.microsoft.com/office/drawing/2014/main" val="1198584746"/>
                    </a:ext>
                  </a:extLst>
                </a:gridCol>
                <a:gridCol w="924243">
                  <a:extLst>
                    <a:ext uri="{9D8B030D-6E8A-4147-A177-3AD203B41FA5}">
                      <a16:colId xmlns:a16="http://schemas.microsoft.com/office/drawing/2014/main" val="1833584730"/>
                    </a:ext>
                  </a:extLst>
                </a:gridCol>
                <a:gridCol w="949643">
                  <a:extLst>
                    <a:ext uri="{9D8B030D-6E8A-4147-A177-3AD203B41FA5}">
                      <a16:colId xmlns:a16="http://schemas.microsoft.com/office/drawing/2014/main" val="2363386365"/>
                    </a:ext>
                  </a:extLst>
                </a:gridCol>
                <a:gridCol w="612025">
                  <a:extLst>
                    <a:ext uri="{9D8B030D-6E8A-4147-A177-3AD203B41FA5}">
                      <a16:colId xmlns:a16="http://schemas.microsoft.com/office/drawing/2014/main" val="2519129690"/>
                    </a:ext>
                  </a:extLst>
                </a:gridCol>
              </a:tblGrid>
              <a:tr h="271705">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72583346"/>
                  </a:ext>
                </a:extLst>
              </a:tr>
              <a:tr h="271705">
                <a:tc>
                  <a:txBody>
                    <a:bodyPr/>
                    <a:lstStyle/>
                    <a:p>
                      <a:r>
                        <a:rPr lang="es-CO" sz="1200" dirty="0">
                          <a:latin typeface="Roboto" panose="02000000000000000000" pitchFamily="2" charset="0"/>
                          <a:ea typeface="Roboto" panose="02000000000000000000" pitchFamily="2" charset="0"/>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80928455"/>
                  </a:ext>
                </a:extLst>
              </a:tr>
              <a:tr h="271705">
                <a:tc>
                  <a:txBody>
                    <a:bodyPr/>
                    <a:lstStyle/>
                    <a:p>
                      <a:r>
                        <a:rPr lang="es-CO" sz="1200" dirty="0">
                          <a:latin typeface="Roboto" panose="02000000000000000000" pitchFamily="2" charset="0"/>
                          <a:ea typeface="Roboto" panose="02000000000000000000" pitchFamily="2" charset="0"/>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0243846"/>
                  </a:ext>
                </a:extLst>
              </a:tr>
              <a:tr h="271705">
                <a:tc>
                  <a:txBody>
                    <a:bodyPr/>
                    <a:lstStyle/>
                    <a:p>
                      <a:r>
                        <a:rPr lang="es-CO" sz="1200">
                          <a:latin typeface="Roboto" panose="02000000000000000000" pitchFamily="2" charset="0"/>
                          <a:ea typeface="Roboto" panose="02000000000000000000" pitchFamily="2" charset="0"/>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84854892"/>
                  </a:ext>
                </a:extLst>
              </a:tr>
              <a:tr h="271705">
                <a:tc>
                  <a:txBody>
                    <a:bodyPr/>
                    <a:lstStyle/>
                    <a:p>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a:latin typeface="Roboto" panose="02000000000000000000" pitchFamily="2" charset="0"/>
                          <a:ea typeface="Roboto" panose="02000000000000000000" pitchFamily="2" charset="0"/>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1253857"/>
                  </a:ext>
                </a:extLst>
              </a:tr>
              <a:tr h="271705">
                <a:tc>
                  <a:txBody>
                    <a:bodyPr/>
                    <a:lstStyle/>
                    <a:p>
                      <a:r>
                        <a:rPr lang="es-CO" sz="1200" dirty="0">
                          <a:latin typeface="Roboto" panose="02000000000000000000" pitchFamily="2" charset="0"/>
                          <a:ea typeface="Roboto" panose="02000000000000000000" pitchFamily="2" charset="0"/>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s-CO" sz="1200" dirty="0">
                          <a:latin typeface="Roboto" panose="02000000000000000000" pitchFamily="2" charset="0"/>
                          <a:ea typeface="Roboto" panose="02000000000000000000" pitchFamily="2" charset="0"/>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99965297"/>
                  </a:ext>
                </a:extLst>
              </a:tr>
            </a:tbl>
          </a:graphicData>
        </a:graphic>
      </p:graphicFrame>
      <p:graphicFrame>
        <p:nvGraphicFramePr>
          <p:cNvPr id="5" name="Tabla 4">
            <a:extLst>
              <a:ext uri="{FF2B5EF4-FFF2-40B4-BE49-F238E27FC236}">
                <a16:creationId xmlns:a16="http://schemas.microsoft.com/office/drawing/2014/main" id="{0678AB36-B3A7-483A-BF05-502906AFF4D0}"/>
              </a:ext>
            </a:extLst>
          </p:cNvPr>
          <p:cNvGraphicFramePr>
            <a:graphicFrameLocks noGrp="1"/>
          </p:cNvGraphicFramePr>
          <p:nvPr/>
        </p:nvGraphicFramePr>
        <p:xfrm>
          <a:off x="6688456" y="4705220"/>
          <a:ext cx="1157923" cy="1645920"/>
        </p:xfrm>
        <a:graphic>
          <a:graphicData uri="http://schemas.openxmlformats.org/drawingml/2006/table">
            <a:tbl>
              <a:tblPr/>
              <a:tblGrid>
                <a:gridCol w="949643">
                  <a:extLst>
                    <a:ext uri="{9D8B030D-6E8A-4147-A177-3AD203B41FA5}">
                      <a16:colId xmlns:a16="http://schemas.microsoft.com/office/drawing/2014/main" val="573320033"/>
                    </a:ext>
                  </a:extLst>
                </a:gridCol>
                <a:gridCol w="208280">
                  <a:extLst>
                    <a:ext uri="{9D8B030D-6E8A-4147-A177-3AD203B41FA5}">
                      <a16:colId xmlns:a16="http://schemas.microsoft.com/office/drawing/2014/main" val="1721519235"/>
                    </a:ext>
                  </a:extLst>
                </a:gridCol>
              </a:tblGrid>
              <a:tr h="0">
                <a:tc>
                  <a:txBody>
                    <a:bodyPr/>
                    <a:lstStyle/>
                    <a:p>
                      <a:r>
                        <a:rPr lang="es-CO" sz="1200" dirty="0">
                          <a:latin typeface="Roboto" panose="02000000000000000000" pitchFamily="2" charset="0"/>
                          <a:ea typeface="Roboto" panose="02000000000000000000" pitchFamily="2" charset="0"/>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397026510"/>
                  </a:ext>
                </a:extLst>
              </a:tr>
              <a:tr h="0">
                <a:tc>
                  <a:txBody>
                    <a:bodyPr/>
                    <a:lstStyle/>
                    <a:p>
                      <a:r>
                        <a:rPr lang="es-CO" sz="1200" dirty="0">
                          <a:latin typeface="Roboto" panose="02000000000000000000" pitchFamily="2" charset="0"/>
                          <a:ea typeface="Roboto" panose="02000000000000000000" pitchFamily="2" charset="0"/>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7273481"/>
                  </a:ext>
                </a:extLst>
              </a:tr>
              <a:tr h="0">
                <a:tc>
                  <a:txBody>
                    <a:bodyPr/>
                    <a:lstStyle/>
                    <a:p>
                      <a:r>
                        <a:rPr lang="es-CO" sz="1200" dirty="0">
                          <a:latin typeface="Roboto" panose="02000000000000000000" pitchFamily="2" charset="0"/>
                          <a:ea typeface="Roboto" panose="02000000000000000000" pitchFamily="2" charset="0"/>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47484143"/>
                  </a:ext>
                </a:extLst>
              </a:tr>
              <a:tr h="0">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28941322"/>
                  </a:ext>
                </a:extLst>
              </a:tr>
              <a:tr h="0">
                <a:tc>
                  <a:txBody>
                    <a:bodyPr/>
                    <a:lstStyle/>
                    <a:p>
                      <a:r>
                        <a:rPr lang="es-CO" sz="1200" dirty="0">
                          <a:latin typeface="Roboto" panose="02000000000000000000" pitchFamily="2" charset="0"/>
                          <a:ea typeface="Roboto" panose="02000000000000000000" pitchFamily="2" charset="0"/>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260313519"/>
                  </a:ext>
                </a:extLst>
              </a:tr>
              <a:tr h="0">
                <a:tc>
                  <a:txBody>
                    <a:bodyPr/>
                    <a:lstStyle/>
                    <a:p>
                      <a:r>
                        <a:rPr lang="es-CO" sz="1200" dirty="0">
                          <a:latin typeface="Roboto" panose="02000000000000000000" pitchFamily="2" charset="0"/>
                          <a:ea typeface="Roboto" panose="02000000000000000000" pitchFamily="2" charset="0"/>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1600186"/>
                  </a:ext>
                </a:extLst>
              </a:tr>
            </a:tbl>
          </a:graphicData>
        </a:graphic>
      </p:graphicFrame>
      <p:cxnSp>
        <p:nvCxnSpPr>
          <p:cNvPr id="12" name="Conector recto de flecha 11">
            <a:extLst>
              <a:ext uri="{FF2B5EF4-FFF2-40B4-BE49-F238E27FC236}">
                <a16:creationId xmlns:a16="http://schemas.microsoft.com/office/drawing/2014/main" id="{B208509F-B697-4C9C-A8AC-1DE7840B9724}"/>
              </a:ext>
            </a:extLst>
          </p:cNvPr>
          <p:cNvCxnSpPr/>
          <p:nvPr/>
        </p:nvCxnSpPr>
        <p:spPr>
          <a:xfrm>
            <a:off x="7561839" y="26316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5C168C20-1BEA-4531-B1E3-47D4EC9BFCA5}"/>
              </a:ext>
            </a:extLst>
          </p:cNvPr>
          <p:cNvCxnSpPr/>
          <p:nvPr/>
        </p:nvCxnSpPr>
        <p:spPr>
          <a:xfrm>
            <a:off x="7561839" y="29046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A784839A-EA8C-4855-801A-254696565FBE}"/>
              </a:ext>
            </a:extLst>
          </p:cNvPr>
          <p:cNvCxnSpPr/>
          <p:nvPr/>
        </p:nvCxnSpPr>
        <p:spPr>
          <a:xfrm>
            <a:off x="7561839" y="31777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D603F749-5530-427F-A683-5A539EE369F2}"/>
              </a:ext>
            </a:extLst>
          </p:cNvPr>
          <p:cNvCxnSpPr/>
          <p:nvPr/>
        </p:nvCxnSpPr>
        <p:spPr>
          <a:xfrm>
            <a:off x="7561839" y="34507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5526AFE8-4FA0-46C8-924E-056394A9CE92}"/>
              </a:ext>
            </a:extLst>
          </p:cNvPr>
          <p:cNvCxnSpPr/>
          <p:nvPr/>
        </p:nvCxnSpPr>
        <p:spPr>
          <a:xfrm>
            <a:off x="7561839" y="373015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A4569B4-FD1F-44CD-B314-D7037B2ED498}"/>
              </a:ext>
            </a:extLst>
          </p:cNvPr>
          <p:cNvCxnSpPr/>
          <p:nvPr/>
        </p:nvCxnSpPr>
        <p:spPr>
          <a:xfrm>
            <a:off x="7561839" y="4015907"/>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C1180EAB-82EE-402E-A27C-FB87E4D36129}"/>
              </a:ext>
            </a:extLst>
          </p:cNvPr>
          <p:cNvCxnSpPr>
            <a:cxnSpLocks/>
          </p:cNvCxnSpPr>
          <p:nvPr/>
        </p:nvCxnSpPr>
        <p:spPr>
          <a:xfrm>
            <a:off x="7753927" y="484627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DE7F60FB-937A-49DA-AFB9-80490586FEFB}"/>
              </a:ext>
            </a:extLst>
          </p:cNvPr>
          <p:cNvCxnSpPr>
            <a:cxnSpLocks/>
          </p:cNvCxnSpPr>
          <p:nvPr/>
        </p:nvCxnSpPr>
        <p:spPr>
          <a:xfrm>
            <a:off x="7773102" y="512059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E6AE67E1-96F8-4430-BFD0-69B42A14AAFE}"/>
              </a:ext>
            </a:extLst>
          </p:cNvPr>
          <p:cNvCxnSpPr>
            <a:cxnSpLocks/>
          </p:cNvCxnSpPr>
          <p:nvPr/>
        </p:nvCxnSpPr>
        <p:spPr>
          <a:xfrm>
            <a:off x="7764813" y="538729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BFA6A16B-CF36-4F18-82EE-B1FEA18C78EF}"/>
              </a:ext>
            </a:extLst>
          </p:cNvPr>
          <p:cNvCxnSpPr>
            <a:cxnSpLocks/>
          </p:cNvCxnSpPr>
          <p:nvPr/>
        </p:nvCxnSpPr>
        <p:spPr>
          <a:xfrm>
            <a:off x="7753927" y="564637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06FA9FBA-449F-49DD-8B9C-15E5C6D3C3C7}"/>
              </a:ext>
            </a:extLst>
          </p:cNvPr>
          <p:cNvCxnSpPr>
            <a:cxnSpLocks/>
          </p:cNvCxnSpPr>
          <p:nvPr/>
        </p:nvCxnSpPr>
        <p:spPr>
          <a:xfrm>
            <a:off x="7753927" y="594355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169F08CF-5E8F-43DE-8765-74E2B943905B}"/>
              </a:ext>
            </a:extLst>
          </p:cNvPr>
          <p:cNvCxnSpPr>
            <a:cxnSpLocks/>
          </p:cNvCxnSpPr>
          <p:nvPr/>
        </p:nvCxnSpPr>
        <p:spPr>
          <a:xfrm>
            <a:off x="7753926" y="6195011"/>
            <a:ext cx="626995"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Forma libre: forma 30">
            <a:extLst>
              <a:ext uri="{FF2B5EF4-FFF2-40B4-BE49-F238E27FC236}">
                <a16:creationId xmlns:a16="http://schemas.microsoft.com/office/drawing/2014/main" id="{2D25C3E7-1EB9-48D1-85C6-C3E17056B75D}"/>
              </a:ext>
            </a:extLst>
          </p:cNvPr>
          <p:cNvSpPr/>
          <p:nvPr/>
        </p:nvSpPr>
        <p:spPr>
          <a:xfrm>
            <a:off x="11515725" y="261461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Forma libre: forma 32">
            <a:extLst>
              <a:ext uri="{FF2B5EF4-FFF2-40B4-BE49-F238E27FC236}">
                <a16:creationId xmlns:a16="http://schemas.microsoft.com/office/drawing/2014/main" id="{E9341A48-AE39-4F00-A13A-E9B4954D24F1}"/>
              </a:ext>
            </a:extLst>
          </p:cNvPr>
          <p:cNvSpPr/>
          <p:nvPr/>
        </p:nvSpPr>
        <p:spPr>
          <a:xfrm>
            <a:off x="11515725" y="289580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Forma libre: forma 33">
            <a:extLst>
              <a:ext uri="{FF2B5EF4-FFF2-40B4-BE49-F238E27FC236}">
                <a16:creationId xmlns:a16="http://schemas.microsoft.com/office/drawing/2014/main" id="{985D8F97-BFC9-49B0-8118-BE7A8F633A90}"/>
              </a:ext>
            </a:extLst>
          </p:cNvPr>
          <p:cNvSpPr/>
          <p:nvPr/>
        </p:nvSpPr>
        <p:spPr>
          <a:xfrm>
            <a:off x="11515725" y="3178352"/>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Forma libre: forma 34">
            <a:extLst>
              <a:ext uri="{FF2B5EF4-FFF2-40B4-BE49-F238E27FC236}">
                <a16:creationId xmlns:a16="http://schemas.microsoft.com/office/drawing/2014/main" id="{FA8BF8C8-1907-47C7-B6C9-9B72DD385543}"/>
              </a:ext>
            </a:extLst>
          </p:cNvPr>
          <p:cNvSpPr/>
          <p:nvPr/>
        </p:nvSpPr>
        <p:spPr>
          <a:xfrm>
            <a:off x="11515725" y="346822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Forma libre: forma 35">
            <a:extLst>
              <a:ext uri="{FF2B5EF4-FFF2-40B4-BE49-F238E27FC236}">
                <a16:creationId xmlns:a16="http://schemas.microsoft.com/office/drawing/2014/main" id="{F6A41EAD-5B28-4761-A23D-B8B8A6333F4D}"/>
              </a:ext>
            </a:extLst>
          </p:cNvPr>
          <p:cNvSpPr/>
          <p:nvPr/>
        </p:nvSpPr>
        <p:spPr>
          <a:xfrm>
            <a:off x="11515725" y="376181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Forma libre: forma 36">
            <a:extLst>
              <a:ext uri="{FF2B5EF4-FFF2-40B4-BE49-F238E27FC236}">
                <a16:creationId xmlns:a16="http://schemas.microsoft.com/office/drawing/2014/main" id="{00F004DE-7747-44B2-97CA-BFDC7F1415EA}"/>
              </a:ext>
            </a:extLst>
          </p:cNvPr>
          <p:cNvSpPr/>
          <p:nvPr/>
        </p:nvSpPr>
        <p:spPr>
          <a:xfrm>
            <a:off x="11515725" y="481293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Forma libre: forma 37">
            <a:extLst>
              <a:ext uri="{FF2B5EF4-FFF2-40B4-BE49-F238E27FC236}">
                <a16:creationId xmlns:a16="http://schemas.microsoft.com/office/drawing/2014/main" id="{165BE51E-A9A8-4FE4-985F-A22C6402AFC2}"/>
              </a:ext>
            </a:extLst>
          </p:cNvPr>
          <p:cNvSpPr/>
          <p:nvPr/>
        </p:nvSpPr>
        <p:spPr>
          <a:xfrm>
            <a:off x="11525250" y="5093920"/>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Forma libre: forma 38">
            <a:extLst>
              <a:ext uri="{FF2B5EF4-FFF2-40B4-BE49-F238E27FC236}">
                <a16:creationId xmlns:a16="http://schemas.microsoft.com/office/drawing/2014/main" id="{8C6951C5-9090-415F-90BB-98FB0B691200}"/>
              </a:ext>
            </a:extLst>
          </p:cNvPr>
          <p:cNvSpPr/>
          <p:nvPr/>
        </p:nvSpPr>
        <p:spPr>
          <a:xfrm>
            <a:off x="11520487" y="5374907"/>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Forma libre: forma 39">
            <a:extLst>
              <a:ext uri="{FF2B5EF4-FFF2-40B4-BE49-F238E27FC236}">
                <a16:creationId xmlns:a16="http://schemas.microsoft.com/office/drawing/2014/main" id="{B5C08201-CE29-4E26-AAAF-FDBF784E235A}"/>
              </a:ext>
            </a:extLst>
          </p:cNvPr>
          <p:cNvSpPr/>
          <p:nvPr/>
        </p:nvSpPr>
        <p:spPr>
          <a:xfrm>
            <a:off x="11525250" y="565589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Forma libre: forma 40">
            <a:extLst>
              <a:ext uri="{FF2B5EF4-FFF2-40B4-BE49-F238E27FC236}">
                <a16:creationId xmlns:a16="http://schemas.microsoft.com/office/drawing/2014/main" id="{07BAD682-6F49-4998-B262-5206F69AF151}"/>
              </a:ext>
            </a:extLst>
          </p:cNvPr>
          <p:cNvSpPr/>
          <p:nvPr/>
        </p:nvSpPr>
        <p:spPr>
          <a:xfrm>
            <a:off x="11525250" y="593688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66" name="Grupo 65">
            <a:extLst>
              <a:ext uri="{FF2B5EF4-FFF2-40B4-BE49-F238E27FC236}">
                <a16:creationId xmlns:a16="http://schemas.microsoft.com/office/drawing/2014/main" id="{2A709C6A-8D8F-46AA-B72E-F9D1FC16B388}"/>
              </a:ext>
            </a:extLst>
          </p:cNvPr>
          <p:cNvGrpSpPr/>
          <p:nvPr/>
        </p:nvGrpSpPr>
        <p:grpSpPr>
          <a:xfrm>
            <a:off x="11444290" y="6288514"/>
            <a:ext cx="342898" cy="113104"/>
            <a:chOff x="11444290" y="6288514"/>
            <a:chExt cx="342898" cy="113104"/>
          </a:xfrm>
        </p:grpSpPr>
        <p:cxnSp>
          <p:nvCxnSpPr>
            <p:cNvPr id="42" name="Conector: angular 41">
              <a:extLst>
                <a:ext uri="{FF2B5EF4-FFF2-40B4-BE49-F238E27FC236}">
                  <a16:creationId xmlns:a16="http://schemas.microsoft.com/office/drawing/2014/main" id="{6122592C-5D4C-43A9-B042-C9DEBE897C11}"/>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A093AF4-ED3F-4435-83EF-9187DBF9CEF1}"/>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2A5F3B30-6397-45AB-8838-35EA44B3526C}"/>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473A06A9-D9B2-4516-9AF8-AE028E183601}"/>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5404664A-0F5E-453E-9384-4EEA75FEAAA1}"/>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upo 69">
            <a:extLst>
              <a:ext uri="{FF2B5EF4-FFF2-40B4-BE49-F238E27FC236}">
                <a16:creationId xmlns:a16="http://schemas.microsoft.com/office/drawing/2014/main" id="{0AEC2F4A-59FD-4DB4-B97A-DC83D85BFF98}"/>
              </a:ext>
            </a:extLst>
          </p:cNvPr>
          <p:cNvGrpSpPr/>
          <p:nvPr/>
        </p:nvGrpSpPr>
        <p:grpSpPr>
          <a:xfrm>
            <a:off x="11421894" y="4075691"/>
            <a:ext cx="342898" cy="113104"/>
            <a:chOff x="11444290" y="6288514"/>
            <a:chExt cx="342898" cy="113104"/>
          </a:xfrm>
        </p:grpSpPr>
        <p:cxnSp>
          <p:nvCxnSpPr>
            <p:cNvPr id="71" name="Conector: angular 70">
              <a:extLst>
                <a:ext uri="{FF2B5EF4-FFF2-40B4-BE49-F238E27FC236}">
                  <a16:creationId xmlns:a16="http://schemas.microsoft.com/office/drawing/2014/main" id="{0086E8BE-B916-4706-BE97-A27CAA60758E}"/>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7615572C-4787-4E52-9FC8-295111928C36}"/>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09DFBD0A-92D6-446D-B1E0-C9FED100127E}"/>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C9358C79-2308-4211-BFC9-BC6D793FAE02}"/>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A2D45E0F-3857-48A3-816B-097181DB5BC7}"/>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7161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Actualización de índices - Inserción</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736290"/>
            <a:ext cx="10989600" cy="11662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Primero, el sistema realiza una búsqueda usando el valor de clave de búsqueda del registro a insertar. </a:t>
            </a:r>
          </a:p>
          <a:p>
            <a:pPr marL="342900" indent="-342900"/>
            <a:r>
              <a:rPr lang="es-MX" sz="2000" dirty="0"/>
              <a:t>Las acciones siguientes dependen de si el índice es denso o disperso.</a:t>
            </a:r>
          </a:p>
        </p:txBody>
      </p:sp>
      <p:sp>
        <p:nvSpPr>
          <p:cNvPr id="8" name="Google Shape;310;p34">
            <a:extLst>
              <a:ext uri="{FF2B5EF4-FFF2-40B4-BE49-F238E27FC236}">
                <a16:creationId xmlns:a16="http://schemas.microsoft.com/office/drawing/2014/main" id="{1261C2B9-183D-446F-8498-37321610FE0C}"/>
              </a:ext>
            </a:extLst>
          </p:cNvPr>
          <p:cNvSpPr txBox="1">
            <a:spLocks/>
          </p:cNvSpPr>
          <p:nvPr/>
        </p:nvSpPr>
        <p:spPr>
          <a:xfrm>
            <a:off x="866755" y="1999126"/>
            <a:ext cx="5720124" cy="295633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solidFill>
                  <a:schemeClr val="accent6"/>
                </a:solidFill>
              </a:rPr>
              <a:t>Indices dispersos</a:t>
            </a:r>
          </a:p>
          <a:p>
            <a:pPr indent="-457200"/>
            <a:r>
              <a:rPr lang="es-MX" sz="1800" dirty="0"/>
              <a:t>Si se crea un </a:t>
            </a:r>
            <a:r>
              <a:rPr lang="es-MX" sz="1800" b="1" dirty="0"/>
              <a:t>nuevo bloque</a:t>
            </a:r>
            <a:r>
              <a:rPr lang="es-MX" sz="1800" dirty="0"/>
              <a:t>, el primer valor de clave de búsqueda del nuevo bloque se inserta en el índice.</a:t>
            </a:r>
          </a:p>
          <a:p>
            <a:pPr indent="-457200"/>
            <a:r>
              <a:rPr lang="es-MX" sz="1800" dirty="0"/>
              <a:t>Si el nuevo registro tiene el </a:t>
            </a:r>
            <a:r>
              <a:rPr lang="es-MX" sz="1800" b="1" dirty="0"/>
              <a:t>menor valor de clave en su bloque</a:t>
            </a:r>
            <a:r>
              <a:rPr lang="es-MX" sz="1800" dirty="0"/>
              <a:t>, se actualiza la entrada del índice para apuntar al bloque.</a:t>
            </a:r>
          </a:p>
          <a:p>
            <a:pPr indent="-457200"/>
            <a:r>
              <a:rPr lang="es-MX" sz="1800" dirty="0"/>
              <a:t>Si </a:t>
            </a:r>
            <a:r>
              <a:rPr lang="es-MX" sz="1800" b="1" dirty="0"/>
              <a:t>no</a:t>
            </a:r>
            <a:r>
              <a:rPr lang="es-MX" sz="1800" dirty="0"/>
              <a:t> tiene el menor valor, no se realiza ningún cambio en el índice.</a:t>
            </a:r>
          </a:p>
        </p:txBody>
      </p:sp>
      <p:graphicFrame>
        <p:nvGraphicFramePr>
          <p:cNvPr id="4" name="Tabla 3">
            <a:extLst>
              <a:ext uri="{FF2B5EF4-FFF2-40B4-BE49-F238E27FC236}">
                <a16:creationId xmlns:a16="http://schemas.microsoft.com/office/drawing/2014/main" id="{7E9D99B0-C037-402A-A225-4452E7AA1B0C}"/>
              </a:ext>
            </a:extLst>
          </p:cNvPr>
          <p:cNvGraphicFramePr>
            <a:graphicFrameLocks noGrp="1"/>
          </p:cNvGraphicFramePr>
          <p:nvPr/>
        </p:nvGraphicFramePr>
        <p:xfrm>
          <a:off x="8465184" y="2245441"/>
          <a:ext cx="3192782" cy="3291840"/>
        </p:xfrm>
        <a:graphic>
          <a:graphicData uri="http://schemas.openxmlformats.org/drawingml/2006/table">
            <a:tbl>
              <a:tblPr/>
              <a:tblGrid>
                <a:gridCol w="649605">
                  <a:extLst>
                    <a:ext uri="{9D8B030D-6E8A-4147-A177-3AD203B41FA5}">
                      <a16:colId xmlns:a16="http://schemas.microsoft.com/office/drawing/2014/main" val="1580478247"/>
                    </a:ext>
                  </a:extLst>
                </a:gridCol>
                <a:gridCol w="924243">
                  <a:extLst>
                    <a:ext uri="{9D8B030D-6E8A-4147-A177-3AD203B41FA5}">
                      <a16:colId xmlns:a16="http://schemas.microsoft.com/office/drawing/2014/main" val="151529866"/>
                    </a:ext>
                  </a:extLst>
                </a:gridCol>
                <a:gridCol w="949643">
                  <a:extLst>
                    <a:ext uri="{9D8B030D-6E8A-4147-A177-3AD203B41FA5}">
                      <a16:colId xmlns:a16="http://schemas.microsoft.com/office/drawing/2014/main" val="544247180"/>
                    </a:ext>
                  </a:extLst>
                </a:gridCol>
                <a:gridCol w="669291">
                  <a:extLst>
                    <a:ext uri="{9D8B030D-6E8A-4147-A177-3AD203B41FA5}">
                      <a16:colId xmlns:a16="http://schemas.microsoft.com/office/drawing/2014/main" val="1179216737"/>
                    </a:ext>
                  </a:extLst>
                </a:gridCol>
              </a:tblGrid>
              <a:tr h="0">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01010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Srinivasan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0728908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12121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Wu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927365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15151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Mozart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Music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15457130"/>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22222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Einstein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29472339"/>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El Said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63389795"/>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33456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Gold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00373092"/>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45565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Katz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38887533"/>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58583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Califieri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62000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12669602"/>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76543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Singh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Finance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46172901"/>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76766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Crick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err="1">
                          <a:solidFill>
                            <a:schemeClr val="tx1"/>
                          </a:solidFill>
                          <a:latin typeface="Roboto" panose="02000000000000000000" pitchFamily="2" charset="0"/>
                          <a:ea typeface="Roboto" panose="02000000000000000000" pitchFamily="2" charset="0"/>
                          <a:cs typeface="+mn-cs"/>
                          <a:sym typeface="Arial"/>
                        </a:rPr>
                        <a:t>Biology</a:t>
                      </a:r>
                      <a:endParaRPr lang="es-CO" sz="1200" b="0" i="0" u="none" strike="noStrike" cap="none" dirty="0">
                        <a:solidFill>
                          <a:schemeClr val="tx1"/>
                        </a:solidFill>
                        <a:latin typeface="Roboto" panose="02000000000000000000" pitchFamily="2" charset="0"/>
                        <a:ea typeface="Roboto" panose="02000000000000000000" pitchFamily="2" charset="0"/>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72000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91928259"/>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83821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Brandt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Comp. Sci.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92000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43234154"/>
                  </a:ext>
                </a:extLst>
              </a:tr>
              <a:tr h="0">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98345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a:solidFill>
                            <a:schemeClr val="tx1"/>
                          </a:solidFill>
                          <a:latin typeface="Roboto" panose="02000000000000000000" pitchFamily="2" charset="0"/>
                          <a:ea typeface="Roboto" panose="02000000000000000000" pitchFamily="2" charset="0"/>
                          <a:cs typeface="+mn-cs"/>
                          <a:sym typeface="Arial"/>
                        </a:rPr>
                        <a:t>Kim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err="1">
                          <a:solidFill>
                            <a:schemeClr val="tx1"/>
                          </a:solidFill>
                          <a:latin typeface="Roboto" panose="02000000000000000000" pitchFamily="2" charset="0"/>
                          <a:ea typeface="Roboto" panose="02000000000000000000" pitchFamily="2" charset="0"/>
                          <a:cs typeface="+mn-cs"/>
                          <a:sym typeface="Arial"/>
                        </a:rPr>
                        <a:t>Elec</a:t>
                      </a: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 Eng.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s-CO" sz="1200" b="0" i="0" u="none" strike="noStrike" cap="none" dirty="0">
                          <a:solidFill>
                            <a:schemeClr val="tx1"/>
                          </a:solidFill>
                          <a:latin typeface="Roboto" panose="02000000000000000000" pitchFamily="2" charset="0"/>
                          <a:ea typeface="Roboto" panose="02000000000000000000" pitchFamily="2" charset="0"/>
                          <a:cs typeface="+mn-cs"/>
                          <a:sym typeface="Arial"/>
                        </a:rPr>
                        <a:t>80000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49835715"/>
                  </a:ext>
                </a:extLst>
              </a:tr>
            </a:tbl>
          </a:graphicData>
        </a:graphic>
      </p:graphicFrame>
      <p:sp>
        <p:nvSpPr>
          <p:cNvPr id="11" name="Forma libre: forma 10">
            <a:extLst>
              <a:ext uri="{FF2B5EF4-FFF2-40B4-BE49-F238E27FC236}">
                <a16:creationId xmlns:a16="http://schemas.microsoft.com/office/drawing/2014/main" id="{6D35CD1A-D312-4129-A339-865997599B13}"/>
              </a:ext>
            </a:extLst>
          </p:cNvPr>
          <p:cNvSpPr/>
          <p:nvPr/>
        </p:nvSpPr>
        <p:spPr>
          <a:xfrm>
            <a:off x="11649709" y="2373313"/>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2" name="Grupo 11">
            <a:extLst>
              <a:ext uri="{FF2B5EF4-FFF2-40B4-BE49-F238E27FC236}">
                <a16:creationId xmlns:a16="http://schemas.microsoft.com/office/drawing/2014/main" id="{E8D1B534-1AA6-4E11-A742-5D8AAE2E0C95}"/>
              </a:ext>
            </a:extLst>
          </p:cNvPr>
          <p:cNvGrpSpPr/>
          <p:nvPr/>
        </p:nvGrpSpPr>
        <p:grpSpPr>
          <a:xfrm>
            <a:off x="11563352" y="5484008"/>
            <a:ext cx="342898" cy="113104"/>
            <a:chOff x="11444290" y="6288514"/>
            <a:chExt cx="342898" cy="113104"/>
          </a:xfrm>
        </p:grpSpPr>
        <p:cxnSp>
          <p:nvCxnSpPr>
            <p:cNvPr id="13" name="Conector: angular 12">
              <a:extLst>
                <a:ext uri="{FF2B5EF4-FFF2-40B4-BE49-F238E27FC236}">
                  <a16:creationId xmlns:a16="http://schemas.microsoft.com/office/drawing/2014/main" id="{2D9BBB68-6E46-41BB-802D-0F7DCE540C90}"/>
                </a:ext>
              </a:extLst>
            </p:cNvPr>
            <p:cNvCxnSpPr>
              <a:cxnSpLocks/>
            </p:cNvCxnSpPr>
            <p:nvPr/>
          </p:nvCxnSpPr>
          <p:spPr>
            <a:xfrm>
              <a:off x="11444290" y="6288514"/>
              <a:ext cx="269079" cy="57517"/>
            </a:xfrm>
            <a:prstGeom prst="bentConnector3">
              <a:avLst>
                <a:gd name="adj1" fmla="val 1013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8D0723FA-728F-4D3B-A567-FD68FE6720E2}"/>
                </a:ext>
              </a:extLst>
            </p:cNvPr>
            <p:cNvCxnSpPr>
              <a:cxnSpLocks/>
            </p:cNvCxnSpPr>
            <p:nvPr/>
          </p:nvCxnSpPr>
          <p:spPr>
            <a:xfrm>
              <a:off x="11649075" y="6344892"/>
              <a:ext cx="1381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CB021831-E1FE-41FB-BB2B-34AF49C270BF}"/>
                </a:ext>
              </a:extLst>
            </p:cNvPr>
            <p:cNvCxnSpPr>
              <a:cxnSpLocks/>
            </p:cNvCxnSpPr>
            <p:nvPr/>
          </p:nvCxnSpPr>
          <p:spPr>
            <a:xfrm flipH="1">
              <a:off x="11620502" y="6346031"/>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0E9646AB-DB06-419E-9D58-6D109B6BE99D}"/>
                </a:ext>
              </a:extLst>
            </p:cNvPr>
            <p:cNvCxnSpPr>
              <a:cxnSpLocks/>
            </p:cNvCxnSpPr>
            <p:nvPr/>
          </p:nvCxnSpPr>
          <p:spPr>
            <a:xfrm flipH="1">
              <a:off x="11687886" y="6343937"/>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B52B58DB-5F7E-4940-8F67-B50C6311A23E}"/>
                </a:ext>
              </a:extLst>
            </p:cNvPr>
            <p:cNvCxnSpPr>
              <a:cxnSpLocks/>
            </p:cNvCxnSpPr>
            <p:nvPr/>
          </p:nvCxnSpPr>
          <p:spPr>
            <a:xfrm flipH="1">
              <a:off x="11748124" y="6346378"/>
              <a:ext cx="33337" cy="552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Forma libre: forma 17">
            <a:extLst>
              <a:ext uri="{FF2B5EF4-FFF2-40B4-BE49-F238E27FC236}">
                <a16:creationId xmlns:a16="http://schemas.microsoft.com/office/drawing/2014/main" id="{FB2E3FC5-2F46-4CFB-BBDF-D78B5948CB54}"/>
              </a:ext>
            </a:extLst>
          </p:cNvPr>
          <p:cNvSpPr/>
          <p:nvPr/>
        </p:nvSpPr>
        <p:spPr>
          <a:xfrm>
            <a:off x="11649709" y="2655749"/>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Forma libre: forma 18">
            <a:extLst>
              <a:ext uri="{FF2B5EF4-FFF2-40B4-BE49-F238E27FC236}">
                <a16:creationId xmlns:a16="http://schemas.microsoft.com/office/drawing/2014/main" id="{FCA560FA-C336-4A07-B9BB-EBABC7BC243C}"/>
              </a:ext>
            </a:extLst>
          </p:cNvPr>
          <p:cNvSpPr/>
          <p:nvPr/>
        </p:nvSpPr>
        <p:spPr>
          <a:xfrm>
            <a:off x="11663567" y="2938038"/>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Forma libre: forma 19">
            <a:extLst>
              <a:ext uri="{FF2B5EF4-FFF2-40B4-BE49-F238E27FC236}">
                <a16:creationId xmlns:a16="http://schemas.microsoft.com/office/drawing/2014/main" id="{981BC00E-3A47-4DCB-A00D-16E0A27740EA}"/>
              </a:ext>
            </a:extLst>
          </p:cNvPr>
          <p:cNvSpPr/>
          <p:nvPr/>
        </p:nvSpPr>
        <p:spPr>
          <a:xfrm>
            <a:off x="11649709" y="321867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Forma libre: forma 20">
            <a:extLst>
              <a:ext uri="{FF2B5EF4-FFF2-40B4-BE49-F238E27FC236}">
                <a16:creationId xmlns:a16="http://schemas.microsoft.com/office/drawing/2014/main" id="{AAC00663-B58C-4C90-BE26-2F4648C967A3}"/>
              </a:ext>
            </a:extLst>
          </p:cNvPr>
          <p:cNvSpPr/>
          <p:nvPr/>
        </p:nvSpPr>
        <p:spPr>
          <a:xfrm>
            <a:off x="11636836" y="3497016"/>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Forma libre: forma 21">
            <a:extLst>
              <a:ext uri="{FF2B5EF4-FFF2-40B4-BE49-F238E27FC236}">
                <a16:creationId xmlns:a16="http://schemas.microsoft.com/office/drawing/2014/main" id="{9A27E2A8-9BC0-4D08-BA44-3961E37385D7}"/>
              </a:ext>
            </a:extLst>
          </p:cNvPr>
          <p:cNvSpPr/>
          <p:nvPr/>
        </p:nvSpPr>
        <p:spPr>
          <a:xfrm>
            <a:off x="11663567" y="3775236"/>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Forma libre: forma 22">
            <a:extLst>
              <a:ext uri="{FF2B5EF4-FFF2-40B4-BE49-F238E27FC236}">
                <a16:creationId xmlns:a16="http://schemas.microsoft.com/office/drawing/2014/main" id="{FCC7EDD4-38A1-417F-8B79-9A4F525F5B6F}"/>
              </a:ext>
            </a:extLst>
          </p:cNvPr>
          <p:cNvSpPr/>
          <p:nvPr/>
        </p:nvSpPr>
        <p:spPr>
          <a:xfrm>
            <a:off x="11663567" y="4065101"/>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Forma libre: forma 24">
            <a:extLst>
              <a:ext uri="{FF2B5EF4-FFF2-40B4-BE49-F238E27FC236}">
                <a16:creationId xmlns:a16="http://schemas.microsoft.com/office/drawing/2014/main" id="{EC9DD969-228B-4576-99CD-CECB5DF109CD}"/>
              </a:ext>
            </a:extLst>
          </p:cNvPr>
          <p:cNvSpPr/>
          <p:nvPr/>
        </p:nvSpPr>
        <p:spPr>
          <a:xfrm>
            <a:off x="11663567" y="4345734"/>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Forma libre: forma 25">
            <a:extLst>
              <a:ext uri="{FF2B5EF4-FFF2-40B4-BE49-F238E27FC236}">
                <a16:creationId xmlns:a16="http://schemas.microsoft.com/office/drawing/2014/main" id="{A065B19F-F6E0-423F-A3C3-8B61A6F449AD}"/>
              </a:ext>
            </a:extLst>
          </p:cNvPr>
          <p:cNvSpPr/>
          <p:nvPr/>
        </p:nvSpPr>
        <p:spPr>
          <a:xfrm>
            <a:off x="11663567" y="4635018"/>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Forma libre: forma 26">
            <a:extLst>
              <a:ext uri="{FF2B5EF4-FFF2-40B4-BE49-F238E27FC236}">
                <a16:creationId xmlns:a16="http://schemas.microsoft.com/office/drawing/2014/main" id="{0F4ACC91-C012-427C-8C92-2B12C87EFEE1}"/>
              </a:ext>
            </a:extLst>
          </p:cNvPr>
          <p:cNvSpPr/>
          <p:nvPr/>
        </p:nvSpPr>
        <p:spPr>
          <a:xfrm>
            <a:off x="11663567" y="4913545"/>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Forma libre: forma 27">
            <a:extLst>
              <a:ext uri="{FF2B5EF4-FFF2-40B4-BE49-F238E27FC236}">
                <a16:creationId xmlns:a16="http://schemas.microsoft.com/office/drawing/2014/main" id="{5D1FA724-1984-4177-A271-CF32CF4FFD07}"/>
              </a:ext>
            </a:extLst>
          </p:cNvPr>
          <p:cNvSpPr/>
          <p:nvPr/>
        </p:nvSpPr>
        <p:spPr>
          <a:xfrm>
            <a:off x="11636836" y="5192072"/>
            <a:ext cx="209554" cy="266700"/>
          </a:xfrm>
          <a:custGeom>
            <a:avLst/>
            <a:gdLst>
              <a:gd name="connsiteX0" fmla="*/ 0 w 209554"/>
              <a:gd name="connsiteY0" fmla="*/ 0 h 266700"/>
              <a:gd name="connsiteX1" fmla="*/ 209550 w 209554"/>
              <a:gd name="connsiteY1" fmla="*/ 95250 h 266700"/>
              <a:gd name="connsiteX2" fmla="*/ 4763 w 209554"/>
              <a:gd name="connsiteY2" fmla="*/ 266700 h 266700"/>
            </a:gdLst>
            <a:ahLst/>
            <a:cxnLst>
              <a:cxn ang="0">
                <a:pos x="connsiteX0" y="connsiteY0"/>
              </a:cxn>
              <a:cxn ang="0">
                <a:pos x="connsiteX1" y="connsiteY1"/>
              </a:cxn>
              <a:cxn ang="0">
                <a:pos x="connsiteX2" y="connsiteY2"/>
              </a:cxn>
            </a:cxnLst>
            <a:rect l="l" t="t" r="r" b="b"/>
            <a:pathLst>
              <a:path w="209554" h="266700">
                <a:moveTo>
                  <a:pt x="0" y="0"/>
                </a:moveTo>
                <a:cubicBezTo>
                  <a:pt x="104378" y="25400"/>
                  <a:pt x="208756" y="50800"/>
                  <a:pt x="209550" y="95250"/>
                </a:cubicBezTo>
                <a:cubicBezTo>
                  <a:pt x="210344" y="139700"/>
                  <a:pt x="107553" y="203200"/>
                  <a:pt x="4763" y="266700"/>
                </a:cubicBez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31" name="Tabla 30">
            <a:extLst>
              <a:ext uri="{FF2B5EF4-FFF2-40B4-BE49-F238E27FC236}">
                <a16:creationId xmlns:a16="http://schemas.microsoft.com/office/drawing/2014/main" id="{8BF28B67-3FBB-4968-8BAA-A9D9A5574E5A}"/>
              </a:ext>
            </a:extLst>
          </p:cNvPr>
          <p:cNvGraphicFramePr>
            <a:graphicFrameLocks noGrp="1"/>
          </p:cNvGraphicFramePr>
          <p:nvPr/>
        </p:nvGraphicFramePr>
        <p:xfrm>
          <a:off x="6883974" y="2248428"/>
          <a:ext cx="857885" cy="822960"/>
        </p:xfrm>
        <a:graphic>
          <a:graphicData uri="http://schemas.openxmlformats.org/drawingml/2006/table">
            <a:tbl>
              <a:tblPr/>
              <a:tblGrid>
                <a:gridCol w="649605">
                  <a:extLst>
                    <a:ext uri="{9D8B030D-6E8A-4147-A177-3AD203B41FA5}">
                      <a16:colId xmlns:a16="http://schemas.microsoft.com/office/drawing/2014/main" val="2958188687"/>
                    </a:ext>
                  </a:extLst>
                </a:gridCol>
                <a:gridCol w="208280">
                  <a:extLst>
                    <a:ext uri="{9D8B030D-6E8A-4147-A177-3AD203B41FA5}">
                      <a16:colId xmlns:a16="http://schemas.microsoft.com/office/drawing/2014/main" val="2549095166"/>
                    </a:ext>
                  </a:extLst>
                </a:gridCol>
              </a:tblGrid>
              <a:tr h="170180">
                <a:tc>
                  <a:txBody>
                    <a:bodyPr/>
                    <a:lstStyle/>
                    <a:p>
                      <a:r>
                        <a:rPr lang="es-CO" sz="1200" dirty="0">
                          <a:latin typeface="Roboto" panose="02000000000000000000" pitchFamily="2" charset="0"/>
                          <a:ea typeface="Roboto" panose="02000000000000000000" pitchFamily="2" charset="0"/>
                        </a:rPr>
                        <a:t>10101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71058487"/>
                  </a:ext>
                </a:extLst>
              </a:tr>
              <a:tr h="1701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32343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21541917"/>
                  </a:ext>
                </a:extLst>
              </a:tr>
              <a:tr h="170180">
                <a:tc>
                  <a:txBody>
                    <a:bodyPr/>
                    <a:lstStyle/>
                    <a:p>
                      <a:r>
                        <a:rPr lang="es-CO" sz="1200" dirty="0">
                          <a:latin typeface="Roboto" panose="02000000000000000000" pitchFamily="2" charset="0"/>
                          <a:ea typeface="Roboto" panose="02000000000000000000" pitchFamily="2" charset="0"/>
                        </a:rPr>
                        <a:t>76766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s-CO" sz="12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7828874"/>
                  </a:ext>
                </a:extLst>
              </a:tr>
            </a:tbl>
          </a:graphicData>
        </a:graphic>
      </p:graphicFrame>
      <p:cxnSp>
        <p:nvCxnSpPr>
          <p:cNvPr id="32" name="Conector recto de flecha 31">
            <a:extLst>
              <a:ext uri="{FF2B5EF4-FFF2-40B4-BE49-F238E27FC236}">
                <a16:creationId xmlns:a16="http://schemas.microsoft.com/office/drawing/2014/main" id="{D5FB3B5F-8362-4A78-A132-CC8AF80B6E5D}"/>
              </a:ext>
            </a:extLst>
          </p:cNvPr>
          <p:cNvCxnSpPr/>
          <p:nvPr/>
        </p:nvCxnSpPr>
        <p:spPr>
          <a:xfrm>
            <a:off x="7636576" y="2385545"/>
            <a:ext cx="819083" cy="0"/>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B5A089F5-79B3-494F-BCD2-CE32A9D05FB1}"/>
              </a:ext>
            </a:extLst>
          </p:cNvPr>
          <p:cNvCxnSpPr>
            <a:cxnSpLocks/>
          </p:cNvCxnSpPr>
          <p:nvPr/>
        </p:nvCxnSpPr>
        <p:spPr>
          <a:xfrm>
            <a:off x="7629525" y="2667001"/>
            <a:ext cx="826134" cy="830015"/>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70056012-B57E-46C0-9B2D-EBD41B12C598}"/>
              </a:ext>
            </a:extLst>
          </p:cNvPr>
          <p:cNvCxnSpPr>
            <a:cxnSpLocks/>
          </p:cNvCxnSpPr>
          <p:nvPr/>
        </p:nvCxnSpPr>
        <p:spPr>
          <a:xfrm>
            <a:off x="7629525" y="2924175"/>
            <a:ext cx="819150" cy="1933575"/>
          </a:xfrm>
          <a:prstGeom prst="straightConnector1">
            <a:avLst/>
          </a:prstGeom>
          <a:ln>
            <a:solidFill>
              <a:schemeClr val="tx1"/>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0696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6845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Indices ordenados – Lo que aprendimos</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10032"/>
            <a:ext cx="10989600" cy="52097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t>Los índices ordenados se pueden caracterizar a lo largo de </a:t>
            </a:r>
            <a:r>
              <a:rPr lang="es-MX" sz="2000" b="1" dirty="0"/>
              <a:t>tres dimensiones</a:t>
            </a:r>
            <a:r>
              <a:rPr lang="es-MX" sz="2000" dirty="0"/>
              <a:t> que determinan su comportamiento, costo y eficiencia:</a:t>
            </a:r>
          </a:p>
          <a:p>
            <a:pPr marL="342900" indent="-342900"/>
            <a:endParaRPr lang="es-MX" sz="2000" dirty="0"/>
          </a:p>
          <a:p>
            <a:pPr marL="342900" indent="-342900"/>
            <a:endParaRPr lang="es-MX" sz="2000" dirty="0"/>
          </a:p>
          <a:p>
            <a:pPr marL="342900" indent="-342900"/>
            <a:endParaRPr lang="es-MX" sz="2000" dirty="0"/>
          </a:p>
          <a:p>
            <a:pPr marL="342900" indent="-342900"/>
            <a:endParaRPr lang="es-MX" sz="2000" dirty="0"/>
          </a:p>
          <a:p>
            <a:pPr marL="342900" indent="-342900"/>
            <a:endParaRPr lang="es-MX" sz="2000" dirty="0"/>
          </a:p>
          <a:p>
            <a:r>
              <a:rPr lang="es-MX" sz="2000" dirty="0"/>
              <a:t>Estas tres dimensiones </a:t>
            </a:r>
            <a:r>
              <a:rPr lang="es-MX" sz="2000" b="1" dirty="0"/>
              <a:t>no son independientes</a:t>
            </a:r>
            <a:r>
              <a:rPr lang="es-MX" sz="2000" dirty="0"/>
              <a:t>: la elección en una afecta las opciones en las otras. </a:t>
            </a:r>
          </a:p>
          <a:p>
            <a:pPr lvl="1"/>
            <a:r>
              <a:rPr lang="es-MX" sz="1800" dirty="0"/>
              <a:t>Un índice secundario </a:t>
            </a:r>
            <a:r>
              <a:rPr lang="es-MX" sz="1800" b="1" dirty="0"/>
              <a:t>debe ser denso</a:t>
            </a:r>
            <a:r>
              <a:rPr lang="es-MX" sz="1800" dirty="0"/>
              <a:t>.</a:t>
            </a:r>
          </a:p>
          <a:p>
            <a:pPr lvl="1"/>
            <a:r>
              <a:rPr lang="es-MX" sz="1800" dirty="0"/>
              <a:t>Un índice disperso </a:t>
            </a:r>
            <a:r>
              <a:rPr lang="es-MX" sz="1800" b="1" dirty="0"/>
              <a:t>requiere</a:t>
            </a:r>
            <a:r>
              <a:rPr lang="es-MX" sz="1800" dirty="0"/>
              <a:t> que el archivo esté ordenado.</a:t>
            </a:r>
          </a:p>
          <a:p>
            <a:pPr lvl="1"/>
            <a:r>
              <a:rPr lang="es-MX" sz="1800" dirty="0"/>
              <a:t>Un índice multinivel surge cuando el índice de </a:t>
            </a:r>
            <a:r>
              <a:rPr lang="es-MX" sz="1800" b="1" dirty="0"/>
              <a:t>un solo nivel</a:t>
            </a:r>
            <a:r>
              <a:rPr lang="es-MX" sz="1800" dirty="0"/>
              <a:t> no cabe en memoria.</a:t>
            </a:r>
          </a:p>
          <a:p>
            <a:pPr marL="342900" indent="-342900"/>
            <a:r>
              <a:rPr lang="es-MX" sz="2000" dirty="0"/>
              <a:t>En la práctica, la mayoría de los DBMS implementan los índices ordenados mediante </a:t>
            </a:r>
            <a:r>
              <a:rPr lang="es-MX" sz="2000" b="1" dirty="0"/>
              <a:t>árboles B⁺</a:t>
            </a:r>
            <a:r>
              <a:rPr lang="es-MX" sz="2000" dirty="0"/>
              <a:t> (</a:t>
            </a:r>
            <a:r>
              <a:rPr lang="es-MX" sz="2000" i="1" dirty="0"/>
              <a:t>B⁺-Tree</a:t>
            </a:r>
            <a:r>
              <a:rPr lang="es-MX" sz="2000" dirty="0"/>
              <a:t>), que incorporan estas tres dimensiones de forma integrada y eficiente.</a:t>
            </a:r>
            <a:endParaRPr lang="es-MX" sz="3200" dirty="0"/>
          </a:p>
        </p:txBody>
      </p:sp>
      <p:graphicFrame>
        <p:nvGraphicFramePr>
          <p:cNvPr id="2" name="Tabla 1">
            <a:extLst>
              <a:ext uri="{FF2B5EF4-FFF2-40B4-BE49-F238E27FC236}">
                <a16:creationId xmlns:a16="http://schemas.microsoft.com/office/drawing/2014/main" id="{11854A3A-C8AF-409A-B8E1-2C110FC4E395}"/>
              </a:ext>
            </a:extLst>
          </p:cNvPr>
          <p:cNvGraphicFramePr>
            <a:graphicFrameLocks noGrp="1"/>
          </p:cNvGraphicFramePr>
          <p:nvPr>
            <p:extLst>
              <p:ext uri="{D42A27DB-BD31-4B8C-83A1-F6EECF244321}">
                <p14:modId xmlns:p14="http://schemas.microsoft.com/office/powerpoint/2010/main" val="4262292582"/>
              </p:ext>
            </p:extLst>
          </p:nvPr>
        </p:nvGraphicFramePr>
        <p:xfrm>
          <a:off x="1909603" y="1804566"/>
          <a:ext cx="8715693" cy="1493520"/>
        </p:xfrm>
        <a:graphic>
          <a:graphicData uri="http://schemas.openxmlformats.org/drawingml/2006/table">
            <a:tbl>
              <a:tblPr/>
              <a:tblGrid>
                <a:gridCol w="1705293">
                  <a:extLst>
                    <a:ext uri="{9D8B030D-6E8A-4147-A177-3AD203B41FA5}">
                      <a16:colId xmlns:a16="http://schemas.microsoft.com/office/drawing/2014/main" val="1299554801"/>
                    </a:ext>
                  </a:extLst>
                </a:gridCol>
                <a:gridCol w="3505200">
                  <a:extLst>
                    <a:ext uri="{9D8B030D-6E8A-4147-A177-3AD203B41FA5}">
                      <a16:colId xmlns:a16="http://schemas.microsoft.com/office/drawing/2014/main" val="1218730637"/>
                    </a:ext>
                  </a:extLst>
                </a:gridCol>
                <a:gridCol w="3505200">
                  <a:extLst>
                    <a:ext uri="{9D8B030D-6E8A-4147-A177-3AD203B41FA5}">
                      <a16:colId xmlns:a16="http://schemas.microsoft.com/office/drawing/2014/main" val="3346949232"/>
                    </a:ext>
                  </a:extLst>
                </a:gridCol>
              </a:tblGrid>
              <a:tr h="0">
                <a:tc>
                  <a:txBody>
                    <a:bodyPr/>
                    <a:lstStyle/>
                    <a:p>
                      <a:r>
                        <a:rPr lang="es-CO" sz="2000" b="1" dirty="0">
                          <a:latin typeface="Roboto" panose="02000000000000000000" pitchFamily="2" charset="0"/>
                          <a:ea typeface="Roboto" panose="02000000000000000000" pitchFamily="2" charset="0"/>
                        </a:rPr>
                        <a:t>Dimensión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sz="2000" b="1" dirty="0">
                          <a:latin typeface="Roboto" panose="02000000000000000000" pitchFamily="2" charset="0"/>
                          <a:ea typeface="Roboto" panose="02000000000000000000" pitchFamily="2" charset="0"/>
                        </a:rPr>
                        <a:t>Tipos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s-CO" sz="2000" b="1" dirty="0">
                          <a:latin typeface="Roboto" panose="02000000000000000000" pitchFamily="2" charset="0"/>
                          <a:ea typeface="Roboto" panose="02000000000000000000" pitchFamily="2" charset="0"/>
                        </a:rPr>
                        <a:t>Criterio de elección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940039430"/>
                  </a:ext>
                </a:extLst>
              </a:tr>
              <a:tr h="0">
                <a:tc>
                  <a:txBody>
                    <a:bodyPr/>
                    <a:lstStyle/>
                    <a:p>
                      <a:r>
                        <a:rPr lang="es-CO" sz="1800" b="1" dirty="0">
                          <a:latin typeface="Roboto" panose="02000000000000000000" pitchFamily="2" charset="0"/>
                          <a:ea typeface="Roboto" panose="02000000000000000000" pitchFamily="2" charset="0"/>
                        </a:rPr>
                        <a:t>Densidad</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CO" sz="1800" dirty="0">
                          <a:latin typeface="Roboto" panose="02000000000000000000" pitchFamily="2" charset="0"/>
                          <a:ea typeface="Roboto" panose="02000000000000000000" pitchFamily="2" charset="0"/>
                        </a:rPr>
                        <a:t>Denso / Disperso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s-CO" sz="1800" dirty="0">
                          <a:latin typeface="Roboto" panose="02000000000000000000" pitchFamily="2" charset="0"/>
                          <a:ea typeface="Roboto" panose="02000000000000000000" pitchFamily="2" charset="0"/>
                        </a:rPr>
                        <a:t>Velocidad vs. espacio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190711501"/>
                  </a:ext>
                </a:extLst>
              </a:tr>
              <a:tr h="0">
                <a:tc>
                  <a:txBody>
                    <a:bodyPr/>
                    <a:lstStyle/>
                    <a:p>
                      <a:r>
                        <a:rPr lang="es-CO" sz="1800" b="1" dirty="0">
                          <a:latin typeface="Roboto" panose="02000000000000000000" pitchFamily="2" charset="0"/>
                          <a:ea typeface="Roboto" panose="02000000000000000000" pitchFamily="2" charset="0"/>
                        </a:rPr>
                        <a:t>Agrupamiento</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Clustering / Secondary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s-CO" sz="1800" dirty="0">
                          <a:latin typeface="Roboto" panose="02000000000000000000" pitchFamily="2" charset="0"/>
                          <a:ea typeface="Roboto" panose="02000000000000000000" pitchFamily="2" charset="0"/>
                        </a:rPr>
                        <a:t>Orden físico del archivo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660880819"/>
                  </a:ext>
                </a:extLst>
              </a:tr>
              <a:tr h="0">
                <a:tc>
                  <a:txBody>
                    <a:bodyPr/>
                    <a:lstStyle/>
                    <a:p>
                      <a:r>
                        <a:rPr lang="es-CO" sz="1800" b="1" dirty="0">
                          <a:latin typeface="Roboto" panose="02000000000000000000" pitchFamily="2" charset="0"/>
                          <a:ea typeface="Roboto" panose="02000000000000000000" pitchFamily="2" charset="0"/>
                        </a:rPr>
                        <a:t>Niveles</a:t>
                      </a:r>
                      <a:endParaRPr lang="es-CO" sz="18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CO" sz="1800" dirty="0">
                          <a:latin typeface="Roboto" panose="02000000000000000000" pitchFamily="2" charset="0"/>
                          <a:ea typeface="Roboto" panose="02000000000000000000" pitchFamily="2" charset="0"/>
                        </a:rPr>
                        <a:t>Un nivel / Multinivel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s-MX" sz="1800" dirty="0">
                          <a:latin typeface="Roboto" panose="02000000000000000000" pitchFamily="2" charset="0"/>
                          <a:ea typeface="Roboto" panose="02000000000000000000" pitchFamily="2" charset="0"/>
                        </a:rPr>
                        <a:t>Tamaño del índice vs. memoria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579937"/>
                  </a:ext>
                </a:extLst>
              </a:tr>
            </a:tbl>
          </a:graphicData>
        </a:graphic>
      </p:graphicFrame>
      <p:sp>
        <p:nvSpPr>
          <p:cNvPr id="8" name="CuadroTexto 7">
            <a:extLst>
              <a:ext uri="{FF2B5EF4-FFF2-40B4-BE49-F238E27FC236}">
                <a16:creationId xmlns:a16="http://schemas.microsoft.com/office/drawing/2014/main" id="{F8BD8184-40B3-4B59-939D-B415841298DF}"/>
              </a:ext>
            </a:extLst>
          </p:cNvPr>
          <p:cNvSpPr txBox="1"/>
          <p:nvPr/>
        </p:nvSpPr>
        <p:spPr>
          <a:xfrm>
            <a:off x="916650" y="6019799"/>
            <a:ext cx="10989600" cy="707886"/>
          </a:xfrm>
          <a:prstGeom prst="rect">
            <a:avLst/>
          </a:prstGeom>
          <a:solidFill>
            <a:schemeClr val="tx2"/>
          </a:solidFill>
        </p:spPr>
        <p:txBody>
          <a:bodyPr wrap="square">
            <a:spAutoFit/>
          </a:bodyPr>
          <a:lstStyle/>
          <a:p>
            <a:r>
              <a:rPr lang="es-CO" sz="2000" i="1" dirty="0">
                <a:latin typeface="Roboto" panose="02000000000000000000" pitchFamily="2" charset="0"/>
                <a:ea typeface="Roboto" panose="02000000000000000000" pitchFamily="2" charset="0"/>
              </a:rPr>
              <a:t>Las tres dimensiones vistas no son categorías aisladas del libro — son las decisiones de diseño reales que todo motor de base de datos debe resolver.</a:t>
            </a:r>
          </a:p>
        </p:txBody>
      </p:sp>
    </p:spTree>
    <p:extLst>
      <p:ext uri="{BB962C8B-B14F-4D97-AF65-F5344CB8AC3E}">
        <p14:creationId xmlns:p14="http://schemas.microsoft.com/office/powerpoint/2010/main" val="2163388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6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Referencias</a:t>
            </a:r>
            <a:endParaRPr/>
          </a:p>
        </p:txBody>
      </p:sp>
      <p:sp>
        <p:nvSpPr>
          <p:cNvPr id="715" name="Google Shape;715;p66"/>
          <p:cNvSpPr txBox="1">
            <a:spLocks noGrp="1"/>
          </p:cNvSpPr>
          <p:nvPr>
            <p:ph type="body" idx="1"/>
          </p:nvPr>
        </p:nvSpPr>
        <p:spPr>
          <a:xfrm>
            <a:off x="916650" y="834260"/>
            <a:ext cx="10639097" cy="5718940"/>
          </a:xfrm>
          <a:prstGeom prst="rect">
            <a:avLst/>
          </a:prstGeom>
        </p:spPr>
        <p:txBody>
          <a:bodyPr spcFirstLastPara="1" wrap="square" lIns="91425" tIns="45700" rIns="91425" bIns="45700" anchor="t" anchorCtr="0">
            <a:noAutofit/>
          </a:bodyPr>
          <a:lstStyle/>
          <a:p>
            <a:pPr marL="457200" lvl="0" indent="-381000" algn="l" rtl="0">
              <a:lnSpc>
                <a:spcPct val="100000"/>
              </a:lnSpc>
              <a:spcBef>
                <a:spcPts val="600"/>
              </a:spcBef>
              <a:spcAft>
                <a:spcPts val="0"/>
              </a:spcAft>
              <a:buSzPts val="2400"/>
              <a:buFont typeface="Roboto"/>
              <a:buChar char="●"/>
            </a:pPr>
            <a:r>
              <a:rPr lang="es-MX" sz="2000" dirty="0">
                <a:hlinkClick r:id="rId3"/>
              </a:rPr>
              <a:t>https://www.mongodb.com/resources/basics/databases/nosql-explained</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4"/>
              </a:rPr>
              <a:t>https://blog.bytebytego.com/p/sql-vs-nosql-choosing-the-right-database</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5"/>
              </a:rPr>
              <a:t>https://cs186berkeley.net/notes/note17/</a:t>
            </a:r>
            <a:endParaRPr lang="es-CO" sz="2000" dirty="0"/>
          </a:p>
          <a:p>
            <a:pPr marL="457200" lvl="0" indent="-381000" algn="l" rtl="0">
              <a:lnSpc>
                <a:spcPct val="100000"/>
              </a:lnSpc>
              <a:spcBef>
                <a:spcPts val="600"/>
              </a:spcBef>
              <a:spcAft>
                <a:spcPts val="0"/>
              </a:spcAft>
              <a:buSzPts val="2400"/>
              <a:buFont typeface="Roboto"/>
              <a:buChar char="●"/>
            </a:pPr>
            <a:r>
              <a:rPr lang="es-MX" sz="2000" dirty="0">
                <a:hlinkClick r:id="rId6"/>
              </a:rPr>
              <a:t>https://levelup.gitconnected.com/postgresql-deep-dive-the-anatomy-of-disk-file-and-page-layout-part-2-9b6fb7ede383</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7"/>
              </a:rPr>
              <a:t>https://medium.com/@pablo.lopez.santori/what-do-postgres-tables-actually-look-like-426028eabc1a</a:t>
            </a:r>
            <a:r>
              <a:rPr lang="es-MX" sz="2000" dirty="0"/>
              <a:t> </a:t>
            </a:r>
          </a:p>
          <a:p>
            <a:pPr marL="457200" lvl="0" indent="-381000" algn="l" rtl="0">
              <a:lnSpc>
                <a:spcPct val="100000"/>
              </a:lnSpc>
              <a:spcBef>
                <a:spcPts val="600"/>
              </a:spcBef>
              <a:spcAft>
                <a:spcPts val="0"/>
              </a:spcAft>
              <a:buSzPts val="2400"/>
              <a:buFont typeface="Roboto"/>
              <a:buChar char="●"/>
            </a:pPr>
            <a:r>
              <a:rPr lang="es-CO" sz="2000" dirty="0">
                <a:hlinkClick r:id="rId8"/>
              </a:rPr>
              <a:t>https://michalpitr.substack.com/p/how-does-sqlite-store-data</a:t>
            </a:r>
            <a:r>
              <a:rPr lang="es-MX" sz="2000" dirty="0"/>
              <a:t> </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9"/>
              </a:rPr>
              <a:t>https://cs186berkeley.net/notes/note3/</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0"/>
              </a:rPr>
              <a:t>https://github.com/MIT-DB-Class/simple-db-hw</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1"/>
              </a:rPr>
              <a:t>https://simpledb-java.netlify.app/#/</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2"/>
              </a:rPr>
              <a:t>https://github.com/quazi-irfan/pySimpleDB</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13"/>
              </a:rPr>
              <a:t>https://tinydb.readthedocs.io/en/latest/</a:t>
            </a:r>
            <a:r>
              <a:rPr lang="es-MX" sz="2000" dirty="0"/>
              <a:t> </a:t>
            </a:r>
            <a:r>
              <a:rPr lang="es-CO" sz="2000" dirty="0"/>
              <a:t> </a:t>
            </a:r>
            <a:endParaRPr lang="es-MX" sz="2000" dirty="0"/>
          </a:p>
          <a:p>
            <a:pPr marL="457200" lvl="0" indent="-381000" algn="l" rtl="0">
              <a:lnSpc>
                <a:spcPct val="100000"/>
              </a:lnSpc>
              <a:spcBef>
                <a:spcPts val="600"/>
              </a:spcBef>
              <a:spcAft>
                <a:spcPts val="0"/>
              </a:spcAft>
              <a:buSzPts val="2400"/>
              <a:buFont typeface="Roboto"/>
              <a:buChar char="●"/>
            </a:pPr>
            <a:endParaRPr sz="2000" dirty="0"/>
          </a:p>
          <a:p>
            <a:pPr marL="0" lvl="0" indent="0" algn="l" rtl="0">
              <a:spcBef>
                <a:spcPts val="1000"/>
              </a:spcBef>
              <a:spcAft>
                <a:spcPts val="0"/>
              </a:spcAft>
              <a:buNone/>
            </a:pPr>
            <a:endParaRPr sz="1050" dirty="0">
              <a:latin typeface="Arial"/>
              <a:ea typeface="Arial"/>
              <a:cs typeface="Arial"/>
              <a:sym typeface="Arial"/>
            </a:endParaRPr>
          </a:p>
          <a:p>
            <a:pPr marL="0" lvl="0" indent="0" algn="l" rtl="0">
              <a:spcBef>
                <a:spcPts val="1000"/>
              </a:spcBef>
              <a:spcAft>
                <a:spcPts val="0"/>
              </a:spcAft>
              <a:buNone/>
            </a:pPr>
            <a:endParaRPr sz="2400" dirty="0"/>
          </a:p>
          <a:p>
            <a:pPr marL="457200" lvl="0" indent="0" algn="l" rtl="0">
              <a:spcBef>
                <a:spcPts val="1000"/>
              </a:spcBef>
              <a:spcAft>
                <a:spcPts val="0"/>
              </a:spcAft>
              <a:buNone/>
            </a:pPr>
            <a:endParaRPr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67"/>
          <p:cNvSpPr txBox="1">
            <a:spLocks noGrp="1"/>
          </p:cNvSpPr>
          <p:nvPr>
            <p:ph type="subTitle" idx="1"/>
          </p:nvPr>
        </p:nvSpPr>
        <p:spPr>
          <a:xfrm>
            <a:off x="1524000" y="4872871"/>
            <a:ext cx="9144000" cy="110640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dirty="0"/>
              <a:t>Curso de </a:t>
            </a:r>
            <a:r>
              <a:rPr lang="es-MX" dirty="0"/>
              <a:t>Estructuras de datos</a:t>
            </a:r>
            <a:endParaRPr dirty="0"/>
          </a:p>
          <a:p>
            <a:pPr marL="0" lvl="0" indent="0" algn="ctr" rtl="0">
              <a:spcBef>
                <a:spcPts val="1000"/>
              </a:spcBef>
              <a:spcAft>
                <a:spcPts val="0"/>
              </a:spcAft>
              <a:buClr>
                <a:schemeClr val="dk1"/>
              </a:buClr>
              <a:buSzPts val="1100"/>
              <a:buFont typeface="Arial"/>
              <a:buNone/>
            </a:pPr>
            <a:r>
              <a:rPr lang="es-ES" dirty="0"/>
              <a:t>Clase 7 – </a:t>
            </a:r>
            <a:r>
              <a:rPr lang="es-MX" dirty="0"/>
              <a:t>Indexación</a:t>
            </a:r>
            <a:endParaRPr dirty="0"/>
          </a:p>
          <a:p>
            <a:pPr marL="0" lvl="0" indent="0" algn="ctr" rtl="0">
              <a:spcBef>
                <a:spcPts val="1000"/>
              </a:spcBef>
              <a:spcAft>
                <a:spcPts val="0"/>
              </a:spcAft>
              <a:buNone/>
            </a:pPr>
            <a:endParaRPr dirty="0"/>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23601</TotalTime>
  <Words>8375</Words>
  <Application>Microsoft Office PowerPoint</Application>
  <PresentationFormat>Panorámica</PresentationFormat>
  <Paragraphs>1189</Paragraphs>
  <Slides>79</Slides>
  <Notes>79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79</vt:i4>
      </vt:variant>
    </vt:vector>
  </HeadingPairs>
  <TitlesOfParts>
    <vt:vector size="86" baseType="lpstr">
      <vt:lpstr>Roboto Slab</vt:lpstr>
      <vt:lpstr>Roboto</vt:lpstr>
      <vt:lpstr>Consolas</vt:lpstr>
      <vt:lpstr>Arial</vt:lpstr>
      <vt:lpstr>Calibri</vt:lpstr>
      <vt:lpstr>Cambria Math</vt:lpstr>
      <vt:lpstr>Tema de Office</vt:lpstr>
      <vt:lpstr>Curso Estructuras de datos</vt:lpstr>
      <vt:lpstr>Contextualización</vt:lpstr>
      <vt:lpstr>Jerarquia de almacenamiento</vt:lpstr>
      <vt:lpstr>Organización de los archivos</vt:lpstr>
      <vt:lpstr>Archivos tipo heap</vt:lpstr>
      <vt:lpstr>Archivos ordenados (sorted files)</vt:lpstr>
      <vt:lpstr>Archivos ordenados (sorted files)</vt:lpstr>
      <vt:lpstr>Contextualización</vt:lpstr>
      <vt:lpstr>Indexando en un libro</vt:lpstr>
      <vt:lpstr>Indexando en una base de datos</vt:lpstr>
      <vt:lpstr>Conceptos básicos</vt:lpstr>
      <vt:lpstr>Conceptos básicos</vt:lpstr>
      <vt:lpstr>Conceptos básicos</vt:lpstr>
      <vt:lpstr>Conceptos básicos</vt:lpstr>
      <vt:lpstr>¿Cuál técnica de indexación seleccionar?</vt:lpstr>
      <vt:lpstr>Mecanismos</vt:lpstr>
      <vt:lpstr>Tipos de Mecanismos de Organización de Archivos</vt:lpstr>
      <vt:lpstr>Organización de archivo secuencial</vt:lpstr>
      <vt:lpstr>Organización de archivo hash</vt:lpstr>
      <vt:lpstr>Ejemplo 1 – Costo sin índice</vt:lpstr>
      <vt:lpstr>Ejemplo 1 – Costo sin índice</vt:lpstr>
      <vt:lpstr>De los mecanismos a los índices ordenados</vt:lpstr>
      <vt:lpstr>¿Qué tan denso es un índice?</vt:lpstr>
      <vt:lpstr>Índice denso (Dense index)</vt:lpstr>
      <vt:lpstr>Índice denso (Dense index)</vt:lpstr>
      <vt:lpstr>Índice denso (Dense index)</vt:lpstr>
      <vt:lpstr>Índice denso (Dense index)</vt:lpstr>
      <vt:lpstr>Índice denso: Búsqueda (Lookup)</vt:lpstr>
      <vt:lpstr>Índice disperso (Sparse index)</vt:lpstr>
      <vt:lpstr>Índice disperso: Busqueda (Lookup)</vt:lpstr>
      <vt:lpstr>¿Denso o disperso? El compromiso (trade-off)</vt:lpstr>
      <vt:lpstr>¿Denso o disperso? El compromiso (trade-off)</vt:lpstr>
      <vt:lpstr>Ejemplo 2 – Costo con índice denso</vt:lpstr>
      <vt:lpstr>Ejemplo 2 – Costo con índice denso</vt:lpstr>
      <vt:lpstr>Ejemplo 2 – Costo con índice denso</vt:lpstr>
      <vt:lpstr>Ejemplo 2 – Costo con índice denso</vt:lpstr>
      <vt:lpstr>Ejemplo 2 – Costo con índice denso</vt:lpstr>
      <vt:lpstr>Ejemplo 3 – Costo con índice disperso</vt:lpstr>
      <vt:lpstr>Ejemplo 3 – Costo con índice disperso</vt:lpstr>
      <vt:lpstr>Ejemplo 3 – Costo con índice disperso</vt:lpstr>
      <vt:lpstr>Ejemplo 3 – Costo con índice disperso</vt:lpstr>
      <vt:lpstr>Ejemplo 3 – Costo con índice disperso</vt:lpstr>
      <vt:lpstr>¿El índice sigue el orden del archivo?</vt:lpstr>
      <vt:lpstr>¿El índice sigue el orden del archivo?</vt:lpstr>
      <vt:lpstr>Índice de agrupamiento (Clustering index)</vt:lpstr>
      <vt:lpstr>Índice de agrupamiento (Clustering index)</vt:lpstr>
      <vt:lpstr>Índice secundario (Secondary index)</vt:lpstr>
      <vt:lpstr>Índice secundario (Secondary index)</vt:lpstr>
      <vt:lpstr>Comparación: clustering vs. secondary index</vt:lpstr>
      <vt:lpstr>Comparación: clustering vs. secondary index</vt:lpstr>
      <vt:lpstr>Ejemplo 3 - Clustering index</vt:lpstr>
      <vt:lpstr>Ejemplo 3 – Clustering index</vt:lpstr>
      <vt:lpstr>Ejemplo 3 – Clustering index</vt:lpstr>
      <vt:lpstr>Ejemplo 3 – Clustering index</vt:lpstr>
      <vt:lpstr>Ejemplo 3 – Clustering index</vt:lpstr>
      <vt:lpstr>Ejemplo 3 – Clustering index</vt:lpstr>
      <vt:lpstr>Ejemplo 4 - Secondary index</vt:lpstr>
      <vt:lpstr>Ejemplo 4 – Secondary index</vt:lpstr>
      <vt:lpstr>Ejemplo 4 – Secondary index</vt:lpstr>
      <vt:lpstr>Ejemplo 4 – Secondary index</vt:lpstr>
      <vt:lpstr>Ejemplo 4 – Secondary index</vt:lpstr>
      <vt:lpstr>Ejemplo 4 – Secondary index</vt:lpstr>
      <vt:lpstr>Cuando el índice también necesita un índice</vt:lpstr>
      <vt:lpstr>Cuando el índice también necesita un índice</vt:lpstr>
      <vt:lpstr>Ejemplo 5 – Indice multinivel </vt:lpstr>
      <vt:lpstr>Ejemplo 5 – Indice multinivel </vt:lpstr>
      <vt:lpstr>Ejemplo 5 – Indice multinivel </vt:lpstr>
      <vt:lpstr>Ejemplo 5 – Indice multinivel </vt:lpstr>
      <vt:lpstr>Ejemplo 5 – Indice multinivel </vt:lpstr>
      <vt:lpstr>Ejemplo 5 – Indice multinivel </vt:lpstr>
      <vt:lpstr>Actualización de índices</vt:lpstr>
      <vt:lpstr>Actualización de índices - Eliminación</vt:lpstr>
      <vt:lpstr>Actualización de índices - Eliminación</vt:lpstr>
      <vt:lpstr>Actualización de índices - Inserción</vt:lpstr>
      <vt:lpstr>Actualización de índices - Inserción</vt:lpstr>
      <vt:lpstr>Actualización de índices - Inserción</vt:lpstr>
      <vt:lpstr>Indices ordenados – Lo que aprendimos</vt:lpstr>
      <vt:lpstr>Referencias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231</cp:revision>
  <dcterms:modified xsi:type="dcterms:W3CDTF">2026-03-25T05:32:25Z</dcterms:modified>
</cp:coreProperties>
</file>