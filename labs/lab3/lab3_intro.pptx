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394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AB648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822960"/>
            <a:ext cx="80467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822960"/>
            <a:ext cx="201168" cy="3291840"/>
          </a:xfrm>
          <a:prstGeom prst="rect">
            <a:avLst/>
          </a:prstGeom>
          <a:solidFill>
            <a:srgbClr val="7AB648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8F74"/>
                </a:solidFill>
              </a:rPr>
              <a:t>Lab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C38"/>
                </a:solidFill>
              </a:rPr>
              <a:t>Acceso a Disco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A5C38"/>
                </a:solidFill>
              </a:rPr>
              <a:t>y Costo de I/O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05840" y="2926080"/>
            <a:ext cx="6858000" cy="0"/>
          </a:xfrm>
          <a:prstGeom prst="line">
            <a:avLst/>
          </a:prstGeom>
          <a:noFill/>
          <a:ln w="12700">
            <a:solidFill>
              <a:srgbClr val="D5E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F74"/>
                </a:solidFill>
              </a:rPr>
              <a:t>Estructuras de Datos  ·  Universidad de Antioquia  ·  2026-1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Mida. Compare. Comprenda.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¿De qué trata este laboratorio?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47472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Motivación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C38"/>
                </a:solidFill>
              </a:rPr>
              <a:t>¿Por qué la misma consulta tarda milisegundos en un caso y segundos en otro?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A5C45"/>
                </a:solidFill>
              </a:rPr>
              <a:t>La respuesta no siempre está en el algoritmo — está en cómo se accede a los datos.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8892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27614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F"/>
                </a:solidFill>
              </a:rPr>
              <a:t>Medir empíricamente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127248"/>
            <a:ext cx="2194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5C45"/>
                </a:solidFill>
              </a:rPr>
              <a:t>Ejecute benchmarks reales sobre su disco y obtenga throughput y latencia.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265176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78892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27614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F"/>
                </a:solidFill>
              </a:rPr>
              <a:t>Comparar patrones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3127248"/>
            <a:ext cx="2194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5C45"/>
                </a:solidFill>
              </a:rPr>
              <a:t>Acceso secuencial vs aleatorio: ¿cuánto importa el orden en que se leen los datos?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265176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7889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27614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F"/>
                </a:solidFill>
              </a:rPr>
              <a:t>Contrastar con teoría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0" y="3127248"/>
            <a:ext cx="2194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5C45"/>
                </a:solidFill>
              </a:rPr>
              <a:t>Valide sus resultados contra el modelo de costo I/O visto en clase.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Estructuras de Datos — Universidad de Antioquia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Objetivos de aprendizaje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47472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Al finalizar este laboratorio...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904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41732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F"/>
                </a:solidFill>
              </a:rPr>
              <a:t>Comprender cómo se almacena información en disco en bloques.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2039112"/>
            <a:ext cx="8321040" cy="0"/>
          </a:xfrm>
          <a:prstGeom prst="line">
            <a:avLst/>
          </a:prstGeom>
          <a:noFill/>
          <a:ln w="6350">
            <a:solidFill>
              <a:srgbClr val="D5E8D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1226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039112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F"/>
                </a:solidFill>
              </a:rPr>
              <a:t>Entender la diferencia entre acceso secuencial y acceso aleatorio.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11480" y="2660904"/>
            <a:ext cx="8321040" cy="0"/>
          </a:xfrm>
          <a:prstGeom prst="line">
            <a:avLst/>
          </a:prstGeom>
          <a:noFill/>
          <a:ln w="6350">
            <a:solidFill>
              <a:srgbClr val="D5E8D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3405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66090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F"/>
                </a:solidFill>
              </a:rPr>
              <a:t>Medir empíricamente el rendimiento de acceso a disco.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11480" y="3282696"/>
            <a:ext cx="8321040" cy="0"/>
          </a:xfrm>
          <a:prstGeom prst="line">
            <a:avLst/>
          </a:prstGeom>
          <a:noFill/>
          <a:ln w="6350">
            <a:solidFill>
              <a:srgbClr val="D5E8DB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35584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3282696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F"/>
                </a:solidFill>
              </a:rPr>
              <a:t>Comparar resultados experimentales con el modelo teórico de costo I/O.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411480" y="3904488"/>
            <a:ext cx="8321040" cy="0"/>
          </a:xfrm>
          <a:prstGeom prst="line">
            <a:avLst/>
          </a:prstGeom>
          <a:noFill/>
          <a:ln w="6350">
            <a:solidFill>
              <a:srgbClr val="D5E8DB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97764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2960" y="3904488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1F"/>
                </a:solidFill>
              </a:rPr>
              <a:t>Analizar el impacto del patrón de acceso en el rendimiento de sistemas.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Estructuras de Datos — Universidad de Antioquia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Conceptos clave del laboratorio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47472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Conectados con la Clase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3931920" cy="438912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Bloques de I/O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1F"/>
                </a:solidFill>
              </a:rPr>
              <a:t>El disco no lee bytes individuales.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1F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1F"/>
                </a:solidFill>
              </a:rPr>
              <a:t>Lee bloques completos (4 KB en SO, 4–16 KB en bases de datos).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1F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1F"/>
                </a:solidFill>
              </a:rPr>
              <a:t>Aunque pida 1 byte, el sistema transfiere el bloque entero.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931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17320"/>
            <a:ext cx="3931920" cy="438912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173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Modelo de costo I/O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993392"/>
            <a:ext cx="3566160" cy="548640"/>
          </a:xfrm>
          <a:prstGeom prst="rect">
            <a:avLst/>
          </a:prstGeom>
          <a:solidFill>
            <a:srgbClr val="EBF5EE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9933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C38"/>
                </a:solidFill>
              </a:rPr>
              <a:t>TotalTime = Latency × M + DataSize / Throughput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E1F"/>
                </a:solidFill>
              </a:rPr>
              <a:t>M </a:t>
            </a:r>
            <a:r>
              <a:rPr lang="en-US" sz="1200" dirty="0">
                <a:solidFill>
                  <a:srgbClr val="1A2E1F"/>
                </a:solidFill>
              </a:rPr>
              <a:t>= número de accesos no contiguos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1F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E1F"/>
                </a:solidFill>
              </a:rPr>
              <a:t>Secuencial:</a:t>
            </a:r>
            <a:r>
              <a:rPr lang="en-US" sz="1200" dirty="0">
                <a:solidFill>
                  <a:srgbClr val="1A2E1F"/>
                </a:solidFill>
              </a:rPr>
              <a:t>  M ≈ 1  →  latencia mínima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1F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E1F"/>
                </a:solidFill>
              </a:rPr>
              <a:t>Aleatorio:</a:t>
            </a:r>
            <a:r>
              <a:rPr lang="en-US" sz="1200" dirty="0">
                <a:solidFill>
                  <a:srgbClr val="1A2E1F"/>
                </a:solidFill>
              </a:rPr>
              <a:t>  M grande  →  latencia acumulada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Estructuras de Datos — Universidad de Antioquia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Cómo ejecutar el laboratorio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47472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Paso 1 — Preparación del entorno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411480" cy="1371600"/>
          </a:xfrm>
          <a:prstGeom prst="rect">
            <a:avLst/>
          </a:prstGeom>
          <a:solidFill>
            <a:srgbClr val="7AB648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5270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</a:rPr>
              <a:t>Identifique su disco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A5C45"/>
                </a:solidFill>
              </a:rPr>
              <a:t>Linux</a:t>
            </a:r>
            <a:r>
              <a:rPr lang="en-US" sz="1050" dirty="0">
                <a:solidFill>
                  <a:srgbClr val="3A5C45"/>
                </a:solidFill>
              </a:rPr>
              <a:t>: lsblk -d -o name,rota,size,model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A5C45"/>
                </a:solidFill>
              </a:rPr>
              <a:t>Windows</a:t>
            </a:r>
            <a:r>
              <a:rPr lang="en-US" sz="1050" dirty="0">
                <a:solidFill>
                  <a:srgbClr val="3A5C45"/>
                </a:solidFill>
              </a:rPr>
              <a:t>: Get-PhysicalDisk | Select-Object FriendlyName, MediaType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A5C45"/>
                </a:solidFill>
              </a:rPr>
              <a:t>macOS</a:t>
            </a:r>
            <a:r>
              <a:rPr lang="en-US" sz="1050" dirty="0">
                <a:solidFill>
                  <a:srgbClr val="3A5C45"/>
                </a:solidFill>
              </a:rPr>
              <a:t>: diskutil info disk0 | grep 'Solid State'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17320"/>
            <a:ext cx="411480" cy="1371600"/>
          </a:xfrm>
          <a:prstGeom prst="rect">
            <a:avLst/>
          </a:prstGeom>
          <a:solidFill>
            <a:srgbClr val="7AB648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9240" y="15270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</a:rPr>
              <a:t>Registre sus especificaciones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187452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5C45"/>
                </a:solidFill>
              </a:rPr>
              <a:t>Complete la tabla de caracterización del equipo: SO, CPU, RAM, tipo de disco y carga en reposo.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411480" cy="1371600"/>
          </a:xfrm>
          <a:prstGeom prst="rect">
            <a:avLst/>
          </a:prstGeom>
          <a:solidFill>
            <a:srgbClr val="7AB648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2608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0358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</a:rPr>
              <a:t>Aísle el experimento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3832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5C45"/>
                </a:solidFill>
              </a:rPr>
              <a:t>Cierre navegadores, IDEs y aplicaciones pesadas. Suspenda actualizaciones. Desconecte VMs o Docker.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926080"/>
            <a:ext cx="411480" cy="1371600"/>
          </a:xfrm>
          <a:prstGeom prst="rect">
            <a:avLst/>
          </a:prstGeom>
          <a:solidFill>
            <a:srgbClr val="7AB648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2608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30358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</a:rPr>
              <a:t>Controle la caché del SO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49240" y="338328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5C45"/>
                </a:solidFill>
              </a:rPr>
              <a:t>Use un archivo de prueba grande (≥ 256 MB) para forzar acceso real al disco y evitar mediciones de RAM.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Estructuras de Datos — Universidad de Antioquia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Cómo ejecutar el laboratorio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47472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Paso 2 — Ejecución del notebook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3931920" cy="420624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▶  Ejecución local (recomendado)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3657600" cy="438912"/>
          </a:xfrm>
          <a:prstGeom prst="rect">
            <a:avLst/>
          </a:prstGeom>
          <a:solidFill>
            <a:srgbClr val="1A2E1F"/>
          </a:solidFill>
          <a:ln w="12700">
            <a:solidFill>
              <a:srgbClr val="1A2E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3852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&lt;URL_DEL_REPOSITORIO&gt;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3657600" cy="438912"/>
          </a:xfrm>
          <a:prstGeom prst="rect">
            <a:avLst/>
          </a:prstGeom>
          <a:solidFill>
            <a:srgbClr val="1A2E1F"/>
          </a:solidFill>
          <a:ln w="12700">
            <a:solidFill>
              <a:srgbClr val="1A2E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0545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lab3-IO_performance-NombreApellido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072384"/>
            <a:ext cx="3657600" cy="438912"/>
          </a:xfrm>
          <a:prstGeom prst="rect">
            <a:avLst/>
          </a:prstGeom>
          <a:solidFill>
            <a:srgbClr val="1A2E1F"/>
          </a:solidFill>
          <a:ln w="12700">
            <a:solidFill>
              <a:srgbClr val="1A2E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7238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notebook disk_io_lab_guided.ipynb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639312"/>
            <a:ext cx="3657600" cy="438912"/>
          </a:xfrm>
          <a:prstGeom prst="rect">
            <a:avLst/>
          </a:prstGeom>
          <a:solidFill>
            <a:srgbClr val="EBF5EE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393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Ejecute celda por celda en orden, de arriba hacia abajo.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39319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417320"/>
            <a:ext cx="3931920" cy="420624"/>
          </a:xfrm>
          <a:prstGeom prst="rect">
            <a:avLst/>
          </a:prstGeom>
          <a:solidFill>
            <a:srgbClr val="6B8F74"/>
          </a:solidFill>
          <a:ln w="12700">
            <a:solidFill>
              <a:srgbClr val="6B8F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4173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☁  Google Colab (alternativo)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19385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1F"/>
                </a:solidFill>
              </a:rPr>
              <a:t>Use el botón </a:t>
            </a:r>
            <a:r>
              <a:rPr lang="en-US" sz="1200" b="1" dirty="0">
                <a:solidFill>
                  <a:srgbClr val="1A2E1F"/>
                </a:solidFill>
              </a:rPr>
              <a:t>"Open in Colab"</a:t>
            </a:r>
            <a:r>
              <a:rPr lang="en-US" sz="1200" dirty="0">
                <a:solidFill>
                  <a:srgbClr val="1A2E1F"/>
                </a:solidFill>
              </a:rPr>
              <a:t> al inicio del archivo .ipynb en GitHub.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2697480"/>
            <a:ext cx="3657600" cy="1645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0C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914"/>
                </a:solidFill>
              </a:rPr>
              <a:t>⚠ Limitación importante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3090672"/>
            <a:ext cx="3383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4F12"/>
                </a:solidFill>
              </a:rPr>
              <a:t>Colab mide el hardware de Google, no el suyo. Los resultados son válidos para analizar el modelo pero no para comparar con las especificaciones de su equipo.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Estructuras de Datos — Universidad de Antioquia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¿Qué hace el notebook automáticamente?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47472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Paso 3 — Flujo de ejecución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618488"/>
            <a:ext cx="475488" cy="47548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4984" y="1508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</a:rPr>
              <a:t>Verifica el entorno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4984" y="185623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C45"/>
                </a:solidFill>
              </a:rPr>
              <a:t>Confirma que todas las librerías están disponibles.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4608" y="1618488"/>
            <a:ext cx="475488" cy="47548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49824" y="1508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</a:rPr>
              <a:t>Genera el archivo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9824" y="185623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C45"/>
                </a:solidFill>
              </a:rPr>
              <a:t>Crea un archivo binario de tamaño controlado (256 MB por defecto).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53288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2734056"/>
            <a:ext cx="475488" cy="47548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734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14984" y="26243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</a:rPr>
              <a:t>Benchmark secuencial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14984" y="2971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C45"/>
                </a:solidFill>
              </a:rPr>
              <a:t>Mide lectura contigua de bloques para cada tamaño de página.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532888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2734056"/>
            <a:ext cx="475488" cy="47548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2734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49824" y="26243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</a:rPr>
              <a:t>Benchmark aleatorio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9824" y="2971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C45"/>
                </a:solidFill>
              </a:rPr>
              <a:t>Simula 4000 saltos dispersos y mide latencia acumulada.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648456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" y="3849624"/>
            <a:ext cx="475488" cy="47548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3849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14984" y="37398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</a:rPr>
              <a:t>Calcula modelo teórico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14984" y="40873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C45"/>
                </a:solidFill>
              </a:rPr>
              <a:t>Compara mediciones con estimaciones del modelo I/O.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648456"/>
            <a:ext cx="4114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3849624"/>
            <a:ext cx="475488" cy="47548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849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49824" y="37398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8"/>
                </a:solidFill>
              </a:rPr>
              <a:t>Genera y guarda gráficas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9824" y="40873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C45"/>
                </a:solidFill>
              </a:rPr>
              <a:t>Exporta 4 figuras PNG a la carpeta images/ para su informe.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Estructuras de Datos — Universidad de Antioquia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¿Qué debo entregar?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47472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Repositorio GitHub con tres componentes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7490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3749040" cy="42062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Estructura del repositorio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566160" cy="2468880"/>
          </a:xfrm>
          <a:prstGeom prst="rect">
            <a:avLst/>
          </a:prstGeom>
          <a:solidFill>
            <a:srgbClr val="1A2E1F"/>
          </a:solidFill>
          <a:ln w="12700">
            <a:solidFill>
              <a:srgbClr val="1A2E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659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AB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lab-io/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AB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README.md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AB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disk_io_lab_guided.ipynb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AB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images/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AB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fig_throughput.png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AB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fig_tiempo_teoria_vs_practica_secuencial.png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AB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fig_tiempo_teoria_vs_practica_aleatorio.png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AB6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└── fig_speedup.png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43434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417320"/>
            <a:ext cx="4343400" cy="420624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41732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 README.md debe contener: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44568" y="1938528"/>
            <a:ext cx="4114800" cy="713232"/>
          </a:xfrm>
          <a:prstGeom prst="rect">
            <a:avLst/>
          </a:prstGeom>
          <a:solidFill>
            <a:srgbClr val="EBF5EE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8"/>
                </a:solidFill>
              </a:rPr>
              <a:t>1. Especificaciones del equipo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286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C45"/>
                </a:solidFill>
              </a:rPr>
              <a:t>Tabla completada con sus datos reales.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44568" y="2779776"/>
            <a:ext cx="4114800" cy="713232"/>
          </a:xfrm>
          <a:prstGeom prst="rect">
            <a:avLst/>
          </a:prstGeom>
          <a:solidFill>
            <a:srgbClr val="EBF5EE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825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8"/>
                </a:solidFill>
              </a:rPr>
              <a:t>2. Resultados del experimento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1272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C45"/>
                </a:solidFill>
              </a:rPr>
              <a:t>Las 4 gráficas incrustadas con sus nombres correctos.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44568" y="3621024"/>
            <a:ext cx="4114800" cy="713232"/>
          </a:xfrm>
          <a:prstGeom prst="rect">
            <a:avLst/>
          </a:prstGeom>
          <a:solidFill>
            <a:srgbClr val="EBF5EE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666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8"/>
                </a:solidFill>
              </a:rPr>
              <a:t>3. Análisis y conclusiones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39684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C45"/>
                </a:solidFill>
              </a:rPr>
              <a:t>Las 5 preguntas respondidas con argumentos propios, valores numéricos y conexión con la teoría.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Estructuras de Datos — Universidad de Antioquia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Antes de hacer el commit final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347472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Lista de verificación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D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4475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1F"/>
                </a:solidFill>
              </a:rPr>
              <a:t>El notebook tiene todas las celdas ejecutadas y los resultados visibles.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5760" y="2029968"/>
            <a:ext cx="8412480" cy="475488"/>
          </a:xfrm>
          <a:prstGeom prst="rect">
            <a:avLst/>
          </a:prstGeom>
          <a:solidFill>
            <a:srgbClr val="F5F9F6"/>
          </a:solidFill>
          <a:ln w="6350">
            <a:solidFill>
              <a:srgbClr val="D5E8D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214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02996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1F"/>
                </a:solidFill>
              </a:rPr>
              <a:t>La carpeta images/ contiene las cuatro gráficas con los nombres correctos.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65760" y="2615184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DB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0662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615184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1F"/>
                </a:solidFill>
              </a:rPr>
              <a:t>El README incluye la tabla de caracterización con datos reales (no los ejemplos).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365760" y="3200400"/>
            <a:ext cx="8412480" cy="475488"/>
          </a:xfrm>
          <a:prstGeom prst="rect">
            <a:avLst/>
          </a:prstGeom>
          <a:solidFill>
            <a:srgbClr val="F5F9F6"/>
          </a:solidFill>
          <a:ln w="6350">
            <a:solidFill>
              <a:srgbClr val="D5E8D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9184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20040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1F"/>
                </a:solidFill>
              </a:rPr>
              <a:t>Cada pregunta tiene al menos un párrafo de respuesta argumentada.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365760" y="3785616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DB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77056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3785616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1F"/>
                </a:solidFill>
              </a:rPr>
              <a:t>Las gráficas están incrustadas correctamente y se visualizan en el README.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365760" y="4370832"/>
            <a:ext cx="8412480" cy="475488"/>
          </a:xfrm>
          <a:prstGeom prst="rect">
            <a:avLst/>
          </a:prstGeom>
          <a:solidFill>
            <a:srgbClr val="F5F9F6"/>
          </a:solidFill>
          <a:ln w="6350">
            <a:solidFill>
              <a:srgbClr val="D5E8DB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462272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4400" y="43708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1F"/>
                </a:solidFill>
              </a:rPr>
              <a:t>El repositorio es público o fue compartido con el docente.</a:t>
            </a:r>
            <a:endParaRPr lang="en-US" sz="1250" dirty="0"/>
          </a:p>
        </p:txBody>
      </p:sp>
      <p:sp>
        <p:nvSpPr>
          <p:cNvPr id="24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Estructuras de Datos — Universidad de Antioquia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5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AB648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822960"/>
            <a:ext cx="80467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822960"/>
            <a:ext cx="201168" cy="3291840"/>
          </a:xfrm>
          <a:prstGeom prst="rect">
            <a:avLst/>
          </a:prstGeom>
          <a:solidFill>
            <a:srgbClr val="7AB648"/>
          </a:solidFill>
          <a:ln w="12700">
            <a:solidFill>
              <a:srgbClr val="7AB6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601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8F74"/>
                </a:solidFill>
              </a:rPr>
              <a:t>Recuerde: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C38"/>
                </a:solidFill>
              </a:rPr>
              <a:t>"La diferencia entre un buen sistema y uno malo no suele ser el algoritmo — es dónde están los datos."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2651760"/>
            <a:ext cx="6858000" cy="0"/>
          </a:xfrm>
          <a:prstGeom prst="line">
            <a:avLst/>
          </a:prstGeom>
          <a:noFill/>
          <a:ln w="12700">
            <a:solidFill>
              <a:srgbClr val="D5E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5C45"/>
                </a:solidFill>
              </a:rPr>
              <a:t>Repositorio del curso: github.com/DS-UdeA/2026-1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7A3F"/>
                </a:solidFill>
              </a:rPr>
              <a:t>¡Buena suerte con el laboratorio!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7A3F"/>
          </a:solidFill>
          <a:ln w="12700">
            <a:solidFill>
              <a:srgbClr val="2C7A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Estructuras de Datos  ·  Universidad de Antioquia  ·  2026-1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934</Words>
  <Application>Microsoft Office PowerPoint</Application>
  <PresentationFormat>Presentación en pantalla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 — Acceso a Disco y Costo de I/O</dc:title>
  <dc:subject>PptxGenJS Presentation</dc:subject>
  <dc:creator>DS-UdeA</dc:creator>
  <cp:lastModifiedBy>HENRY ALBERTO ARCILA RAMIREZ</cp:lastModifiedBy>
  <cp:revision>2</cp:revision>
  <dcterms:created xsi:type="dcterms:W3CDTF">2026-03-14T02:48:59Z</dcterms:created>
  <dcterms:modified xsi:type="dcterms:W3CDTF">2026-03-16T14:45:11Z</dcterms:modified>
</cp:coreProperties>
</file>